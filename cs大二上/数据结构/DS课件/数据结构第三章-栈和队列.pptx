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notesMasterIdLst>
    <p:notesMasterId r:id="rId113"/>
  </p:notesMasterIdLst>
  <p:sldIdLst>
    <p:sldId id="430" r:id="rId2"/>
    <p:sldId id="431" r:id="rId3"/>
    <p:sldId id="333" r:id="rId4"/>
    <p:sldId id="334" r:id="rId5"/>
    <p:sldId id="335" r:id="rId6"/>
    <p:sldId id="336" r:id="rId7"/>
    <p:sldId id="337" r:id="rId8"/>
    <p:sldId id="434" r:id="rId9"/>
    <p:sldId id="435" r:id="rId10"/>
    <p:sldId id="338" r:id="rId11"/>
    <p:sldId id="339" r:id="rId12"/>
    <p:sldId id="392" r:id="rId13"/>
    <p:sldId id="326" r:id="rId14"/>
    <p:sldId id="346" r:id="rId15"/>
    <p:sldId id="347" r:id="rId16"/>
    <p:sldId id="348" r:id="rId17"/>
    <p:sldId id="349" r:id="rId18"/>
    <p:sldId id="350" r:id="rId19"/>
    <p:sldId id="351" r:id="rId20"/>
    <p:sldId id="352" r:id="rId21"/>
    <p:sldId id="353" r:id="rId22"/>
    <p:sldId id="354" r:id="rId23"/>
    <p:sldId id="355" r:id="rId24"/>
    <p:sldId id="356" r:id="rId25"/>
    <p:sldId id="357" r:id="rId26"/>
    <p:sldId id="257" r:id="rId27"/>
    <p:sldId id="366" r:id="rId28"/>
    <p:sldId id="259" r:id="rId29"/>
    <p:sldId id="359" r:id="rId30"/>
    <p:sldId id="260" r:id="rId31"/>
    <p:sldId id="360" r:id="rId32"/>
    <p:sldId id="437" r:id="rId33"/>
    <p:sldId id="361" r:id="rId34"/>
    <p:sldId id="362" r:id="rId35"/>
    <p:sldId id="363" r:id="rId36"/>
    <p:sldId id="364" r:id="rId37"/>
    <p:sldId id="266" r:id="rId38"/>
    <p:sldId id="433" r:id="rId39"/>
    <p:sldId id="261" r:id="rId40"/>
    <p:sldId id="369" r:id="rId41"/>
    <p:sldId id="370" r:id="rId42"/>
    <p:sldId id="367" r:id="rId43"/>
    <p:sldId id="368" r:id="rId44"/>
    <p:sldId id="390" r:id="rId45"/>
    <p:sldId id="380" r:id="rId46"/>
    <p:sldId id="397" r:id="rId47"/>
    <p:sldId id="381" r:id="rId48"/>
    <p:sldId id="382" r:id="rId49"/>
    <p:sldId id="383" r:id="rId50"/>
    <p:sldId id="384" r:id="rId51"/>
    <p:sldId id="443" r:id="rId52"/>
    <p:sldId id="385" r:id="rId53"/>
    <p:sldId id="386" r:id="rId54"/>
    <p:sldId id="444" r:id="rId55"/>
    <p:sldId id="445" r:id="rId56"/>
    <p:sldId id="446" r:id="rId57"/>
    <p:sldId id="447" r:id="rId58"/>
    <p:sldId id="420" r:id="rId59"/>
    <p:sldId id="423" r:id="rId60"/>
    <p:sldId id="421" r:id="rId61"/>
    <p:sldId id="262" r:id="rId62"/>
    <p:sldId id="270" r:id="rId63"/>
    <p:sldId id="372" r:id="rId64"/>
    <p:sldId id="373" r:id="rId65"/>
    <p:sldId id="376" r:id="rId66"/>
    <p:sldId id="374" r:id="rId67"/>
    <p:sldId id="375" r:id="rId68"/>
    <p:sldId id="378" r:id="rId69"/>
    <p:sldId id="379" r:id="rId70"/>
    <p:sldId id="308" r:id="rId71"/>
    <p:sldId id="317" r:id="rId72"/>
    <p:sldId id="448" r:id="rId73"/>
    <p:sldId id="449" r:id="rId74"/>
    <p:sldId id="322" r:id="rId75"/>
    <p:sldId id="391" r:id="rId76"/>
    <p:sldId id="450" r:id="rId77"/>
    <p:sldId id="323" r:id="rId78"/>
    <p:sldId id="451" r:id="rId79"/>
    <p:sldId id="452" r:id="rId80"/>
    <p:sldId id="453" r:id="rId81"/>
    <p:sldId id="454" r:id="rId82"/>
    <p:sldId id="455" r:id="rId83"/>
    <p:sldId id="318" r:id="rId84"/>
    <p:sldId id="319" r:id="rId85"/>
    <p:sldId id="456" r:id="rId86"/>
    <p:sldId id="310" r:id="rId87"/>
    <p:sldId id="311" r:id="rId88"/>
    <p:sldId id="457" r:id="rId89"/>
    <p:sldId id="258" r:id="rId90"/>
    <p:sldId id="401" r:id="rId91"/>
    <p:sldId id="402" r:id="rId92"/>
    <p:sldId id="272" r:id="rId93"/>
    <p:sldId id="273" r:id="rId94"/>
    <p:sldId id="404" r:id="rId95"/>
    <p:sldId id="441" r:id="rId96"/>
    <p:sldId id="442" r:id="rId97"/>
    <p:sldId id="405" r:id="rId98"/>
    <p:sldId id="406" r:id="rId99"/>
    <p:sldId id="407" r:id="rId100"/>
    <p:sldId id="408" r:id="rId101"/>
    <p:sldId id="298" r:id="rId102"/>
    <p:sldId id="409" r:id="rId103"/>
    <p:sldId id="410" r:id="rId104"/>
    <p:sldId id="411" r:id="rId105"/>
    <p:sldId id="315" r:id="rId106"/>
    <p:sldId id="425" r:id="rId107"/>
    <p:sldId id="412" r:id="rId108"/>
    <p:sldId id="413" r:id="rId109"/>
    <p:sldId id="414" r:id="rId110"/>
    <p:sldId id="415" r:id="rId111"/>
    <p:sldId id="416" r:id="rId112"/>
  </p:sldIdLst>
  <p:sldSz cx="12192000" cy="6858000"/>
  <p:notesSz cx="6858000" cy="9144000"/>
  <p:defaultTextStyle>
    <a:defPPr>
      <a:defRPr lang="zh-CN"/>
    </a:defPPr>
    <a:lvl1pPr algn="l" rtl="0" eaLnBrk="0" fontAlgn="base" hangingPunct="0">
      <a:spcBef>
        <a:spcPct val="0"/>
      </a:spcBef>
      <a:spcAft>
        <a:spcPct val="0"/>
      </a:spcAft>
      <a:defRPr sz="1700" kern="1200">
        <a:solidFill>
          <a:schemeClr val="tx1"/>
        </a:solidFill>
        <a:latin typeface="Verdana" panose="020B0604030504040204" pitchFamily="34" charset="0"/>
        <a:ea typeface="宋体" panose="02010600030101010101" pitchFamily="2" charset="-122"/>
        <a:cs typeface="+mn-cs"/>
        <a:sym typeface="Symbol" panose="05050102010706020507" pitchFamily="18" charset="2"/>
      </a:defRPr>
    </a:lvl1pPr>
    <a:lvl2pPr marL="457200" algn="l" rtl="0" eaLnBrk="0" fontAlgn="base" hangingPunct="0">
      <a:spcBef>
        <a:spcPct val="0"/>
      </a:spcBef>
      <a:spcAft>
        <a:spcPct val="0"/>
      </a:spcAft>
      <a:defRPr sz="1700" kern="1200">
        <a:solidFill>
          <a:schemeClr val="tx1"/>
        </a:solidFill>
        <a:latin typeface="Verdana" panose="020B0604030504040204" pitchFamily="34" charset="0"/>
        <a:ea typeface="宋体" panose="02010600030101010101" pitchFamily="2" charset="-122"/>
        <a:cs typeface="+mn-cs"/>
        <a:sym typeface="Symbol" panose="05050102010706020507" pitchFamily="18" charset="2"/>
      </a:defRPr>
    </a:lvl2pPr>
    <a:lvl3pPr marL="914400" algn="l" rtl="0" eaLnBrk="0" fontAlgn="base" hangingPunct="0">
      <a:spcBef>
        <a:spcPct val="0"/>
      </a:spcBef>
      <a:spcAft>
        <a:spcPct val="0"/>
      </a:spcAft>
      <a:defRPr sz="1700" kern="1200">
        <a:solidFill>
          <a:schemeClr val="tx1"/>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algn="l" rtl="0" eaLnBrk="0" fontAlgn="base" hangingPunct="0">
      <a:spcBef>
        <a:spcPct val="0"/>
      </a:spcBef>
      <a:spcAft>
        <a:spcPct val="0"/>
      </a:spcAft>
      <a:defRPr sz="1700" kern="1200">
        <a:solidFill>
          <a:schemeClr val="tx1"/>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algn="l" rtl="0" eaLnBrk="0" fontAlgn="base" hangingPunct="0">
      <a:spcBef>
        <a:spcPct val="0"/>
      </a:spcBef>
      <a:spcAft>
        <a:spcPct val="0"/>
      </a:spcAft>
      <a:defRPr sz="1700" kern="1200">
        <a:solidFill>
          <a:schemeClr val="tx1"/>
        </a:solidFill>
        <a:latin typeface="Verdana" panose="020B0604030504040204" pitchFamily="34" charset="0"/>
        <a:ea typeface="宋体" panose="02010600030101010101" pitchFamily="2" charset="-122"/>
        <a:cs typeface="+mn-cs"/>
        <a:sym typeface="Symbol" panose="05050102010706020507" pitchFamily="18" charset="2"/>
      </a:defRPr>
    </a:lvl5pPr>
    <a:lvl6pPr marL="2286000" algn="l" defTabSz="914400" rtl="0" eaLnBrk="1" latinLnBrk="0" hangingPunct="1">
      <a:defRPr sz="1700" kern="1200">
        <a:solidFill>
          <a:schemeClr val="tx1"/>
        </a:solidFill>
        <a:latin typeface="Verdana" panose="020B0604030504040204" pitchFamily="34" charset="0"/>
        <a:ea typeface="宋体" panose="02010600030101010101" pitchFamily="2" charset="-122"/>
        <a:cs typeface="+mn-cs"/>
        <a:sym typeface="Symbol" panose="05050102010706020507" pitchFamily="18" charset="2"/>
      </a:defRPr>
    </a:lvl6pPr>
    <a:lvl7pPr marL="2743200" algn="l" defTabSz="914400" rtl="0" eaLnBrk="1" latinLnBrk="0" hangingPunct="1">
      <a:defRPr sz="1700" kern="1200">
        <a:solidFill>
          <a:schemeClr val="tx1"/>
        </a:solidFill>
        <a:latin typeface="Verdana" panose="020B0604030504040204" pitchFamily="34" charset="0"/>
        <a:ea typeface="宋体" panose="02010600030101010101" pitchFamily="2" charset="-122"/>
        <a:cs typeface="+mn-cs"/>
        <a:sym typeface="Symbol" panose="05050102010706020507" pitchFamily="18" charset="2"/>
      </a:defRPr>
    </a:lvl7pPr>
    <a:lvl8pPr marL="3200400" algn="l" defTabSz="914400" rtl="0" eaLnBrk="1" latinLnBrk="0" hangingPunct="1">
      <a:defRPr sz="1700" kern="1200">
        <a:solidFill>
          <a:schemeClr val="tx1"/>
        </a:solidFill>
        <a:latin typeface="Verdana" panose="020B0604030504040204" pitchFamily="34" charset="0"/>
        <a:ea typeface="宋体" panose="02010600030101010101" pitchFamily="2" charset="-122"/>
        <a:cs typeface="+mn-cs"/>
        <a:sym typeface="Symbol" panose="05050102010706020507" pitchFamily="18" charset="2"/>
      </a:defRPr>
    </a:lvl8pPr>
    <a:lvl9pPr marL="3657600" algn="l" defTabSz="914400" rtl="0" eaLnBrk="1" latinLnBrk="0" hangingPunct="1">
      <a:defRPr sz="1700" kern="1200">
        <a:solidFill>
          <a:schemeClr val="tx1"/>
        </a:solidFill>
        <a:latin typeface="Verdana" panose="020B0604030504040204" pitchFamily="34" charset="0"/>
        <a:ea typeface="宋体" panose="02010600030101010101" pitchFamily="2" charset="-122"/>
        <a:cs typeface="+mn-cs"/>
        <a:sym typeface="Symbol" panose="05050102010706020507" pitchFamily="18" charset="2"/>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F7"/>
    <a:srgbClr val="993300"/>
    <a:srgbClr val="800000"/>
    <a:srgbClr val="FF6600"/>
    <a:srgbClr val="FF9933"/>
    <a:srgbClr val="FFFF99"/>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40" autoAdjust="0"/>
    <p:restoredTop sz="87649" autoAdjust="0"/>
  </p:normalViewPr>
  <p:slideViewPr>
    <p:cSldViewPr>
      <p:cViewPr varScale="1">
        <p:scale>
          <a:sx n="63" d="100"/>
          <a:sy n="63" d="100"/>
        </p:scale>
        <p:origin x="1194" y="7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5586"/>
    </p:cViewPr>
  </p:sorterViewPr>
  <p:notesViewPr>
    <p:cSldViewPr>
      <p:cViewPr varScale="1">
        <p:scale>
          <a:sx n="25" d="100"/>
          <a:sy n="25" d="100"/>
        </p:scale>
        <p:origin x="-126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buClrTx/>
              <a:buFontTx/>
              <a:buNone/>
              <a:defRPr kumimoji="1" sz="1200">
                <a:latin typeface="Times New Roman" pitchFamily="18" charset="0"/>
              </a:defRPr>
            </a:lvl1pPr>
          </a:lstStyle>
          <a:p>
            <a:pPr>
              <a:defRPr/>
            </a:pPr>
            <a:endParaRPr lang="en-US" altLang="zh-CN"/>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ClrTx/>
              <a:buFontTx/>
              <a:buNone/>
              <a:defRPr kumimoji="1" sz="1200">
                <a:latin typeface="Times New Roman" pitchFamily="18" charset="0"/>
              </a:defRPr>
            </a:lvl1pPr>
          </a:lstStyle>
          <a:p>
            <a:pPr>
              <a:defRPr/>
            </a:pPr>
            <a:endParaRPr lang="en-US" altLang="zh-CN"/>
          </a:p>
        </p:txBody>
      </p:sp>
      <p:sp>
        <p:nvSpPr>
          <p:cNvPr id="1229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buClrTx/>
              <a:buFontTx/>
              <a:buNone/>
              <a:defRPr kumimoji="1" sz="1200">
                <a:latin typeface="Times New Roman" pitchFamily="18"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buClrTx/>
              <a:buFontTx/>
              <a:buNone/>
              <a:defRPr kumimoji="1" sz="1200">
                <a:latin typeface="Times New Roman" panose="02020603050405020304" pitchFamily="18" charset="0"/>
              </a:defRPr>
            </a:lvl1pPr>
          </a:lstStyle>
          <a:p>
            <a:pPr>
              <a:defRPr/>
            </a:pPr>
            <a:fld id="{8926110F-98F4-4C19-A2F9-ECF235B92E8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ln/>
        </p:spPr>
      </p:sp>
      <p:sp>
        <p:nvSpPr>
          <p:cNvPr id="655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ln/>
        </p:spPr>
      </p:sp>
      <p:sp>
        <p:nvSpPr>
          <p:cNvPr id="69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a:ln/>
        </p:spPr>
      </p:sp>
      <p:sp>
        <p:nvSpPr>
          <p:cNvPr id="716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0BCE5D5-5A18-4102-9015-196F7385E4DE}" type="slidenum">
              <a:rPr lang="en-US" altLang="zh-CN" smtClean="0"/>
              <a:pPr>
                <a:spcBef>
                  <a:spcPct val="0"/>
                </a:spcBef>
              </a:pPr>
              <a:t>71</a:t>
            </a:fld>
            <a:endParaRPr lang="en-US" altLang="zh-CN"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a:ln/>
        </p:spPr>
      </p:sp>
      <p:sp>
        <p:nvSpPr>
          <p:cNvPr id="1003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632D8849-ABEF-43A8-811E-465D1DEB1055}" type="datetimeFigureOut">
              <a:rPr lang="en-US"/>
              <a:pPr>
                <a:defRPr/>
              </a:pPr>
              <a:t>9/23/2025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7DCEC1E-B475-46F3-973A-1F19B3D59CB6}" type="slidenum">
              <a:rPr lang="en-US"/>
              <a:pPr>
                <a:defRPr/>
              </a:pPr>
              <a:t>‹#›</a:t>
            </a:fld>
            <a:endParaRPr lang="en-US"/>
          </a:p>
        </p:txBody>
      </p:sp>
    </p:spTree>
    <p:extLst>
      <p:ext uri="{BB962C8B-B14F-4D97-AF65-F5344CB8AC3E}">
        <p14:creationId xmlns:p14="http://schemas.microsoft.com/office/powerpoint/2010/main" val="2291352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7"/>
          <p:cNvSpPr>
            <a:spLocks noChangeShapeType="1"/>
          </p:cNvSpPr>
          <p:nvPr userDrawn="1"/>
        </p:nvSpPr>
        <p:spPr bwMode="auto">
          <a:xfrm>
            <a:off x="527050" y="1196975"/>
            <a:ext cx="2954338" cy="0"/>
          </a:xfrm>
          <a:prstGeom prst="line">
            <a:avLst/>
          </a:prstGeom>
          <a:noFill/>
          <a:ln w="44450" cmpd="sng">
            <a:solidFill>
              <a:schemeClr val="accent1">
                <a:lumMod val="40000"/>
                <a:lumOff val="60000"/>
              </a:schemeClr>
            </a:solidFill>
            <a:prstDash val="solid"/>
            <a:round/>
            <a:headEnd/>
            <a:tailEnd/>
          </a:ln>
          <a:extLst>
            <a:ext uri="{909E8E84-426E-40DD-AFC4-6F175D3DCCD1}">
              <a14:hiddenFill xmlns:a14="http://schemas.microsoft.com/office/drawing/2010/main">
                <a:noFill/>
              </a14:hiddenFill>
            </a:ext>
          </a:extLst>
        </p:spPr>
        <p:txBody>
          <a:bodyPr/>
          <a:lstStyle/>
          <a:p>
            <a:pPr defTabSz="385763">
              <a:defRPr/>
            </a:pPr>
            <a:endParaRPr lang="zh-CN" altLang="en-US" sz="760">
              <a:solidFill>
                <a:prstClr val="black"/>
              </a:solidFill>
            </a:endParaRPr>
          </a:p>
        </p:txBody>
      </p:sp>
      <p:sp>
        <p:nvSpPr>
          <p:cNvPr id="2" name="Title 1"/>
          <p:cNvSpPr>
            <a:spLocks noGrp="1"/>
          </p:cNvSpPr>
          <p:nvPr>
            <p:ph type="title"/>
          </p:nvPr>
        </p:nvSpPr>
        <p:spPr>
          <a:xfrm>
            <a:off x="527049" y="332656"/>
            <a:ext cx="10321479" cy="864320"/>
          </a:xfrm>
        </p:spPr>
        <p:txBody>
          <a:bodyPr>
            <a:normAutofit/>
          </a:bodyPr>
          <a:lstStyle>
            <a:lvl1pPr>
              <a:defRPr sz="2800">
                <a:solidFill>
                  <a:schemeClr val="accent1"/>
                </a:solidFill>
                <a:latin typeface="隶书" panose="02010509060101010101" pitchFamily="49" charset="-122"/>
                <a:ea typeface="隶书" panose="02010509060101010101"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527049" y="1772816"/>
            <a:ext cx="10321479" cy="4351338"/>
          </a:xfrm>
        </p:spPr>
        <p:txBody>
          <a:bodyPr/>
          <a:lstStyle>
            <a:lvl1pPr marL="228600" indent="-228600">
              <a:buFont typeface="Wingdings" panose="05000000000000000000" pitchFamily="2" charset="2"/>
              <a:buChar char="Ø"/>
              <a:defRPr>
                <a:latin typeface="Times New Roman" panose="02020603050405020304" pitchFamily="18" charset="0"/>
                <a:ea typeface="华文楷体" panose="02010600040101010101" pitchFamily="2" charset="-122"/>
                <a:cs typeface="Times New Roman" panose="02020603050405020304" pitchFamily="18" charset="0"/>
              </a:defRPr>
            </a:lvl1pPr>
            <a:lvl2pPr marL="685800" indent="-228600">
              <a:buFont typeface="Wingdings" panose="05000000000000000000" pitchFamily="2" charset="2"/>
              <a:buChar char="Ø"/>
              <a:defRPr>
                <a:latin typeface="Times New Roman" panose="02020603050405020304" pitchFamily="18" charset="0"/>
                <a:ea typeface="华文楷体" panose="02010600040101010101" pitchFamily="2" charset="-122"/>
                <a:cs typeface="Times New Roman" panose="02020603050405020304" pitchFamily="18" charset="0"/>
              </a:defRPr>
            </a:lvl2pPr>
            <a:lvl3pPr marL="1143000" indent="-228600">
              <a:buFont typeface="Wingdings" panose="05000000000000000000" pitchFamily="2" charset="2"/>
              <a:buChar char="Ø"/>
              <a:defRPr>
                <a:latin typeface="Times New Roman" panose="02020603050405020304" pitchFamily="18" charset="0"/>
                <a:ea typeface="华文楷体" panose="02010600040101010101" pitchFamily="2" charset="-122"/>
                <a:cs typeface="Times New Roman" panose="02020603050405020304" pitchFamily="18" charset="0"/>
              </a:defRPr>
            </a:lvl3pPr>
            <a:lvl4pPr marL="1600200" indent="-228600">
              <a:buFont typeface="Wingdings" panose="05000000000000000000" pitchFamily="2" charset="2"/>
              <a:buChar char="Ø"/>
              <a:defRPr>
                <a:latin typeface="Times New Roman" panose="02020603050405020304" pitchFamily="18" charset="0"/>
                <a:ea typeface="华文楷体" panose="02010600040101010101" pitchFamily="2" charset="-122"/>
                <a:cs typeface="Times New Roman" panose="02020603050405020304" pitchFamily="18" charset="0"/>
              </a:defRPr>
            </a:lvl4pPr>
            <a:lvl5pPr marL="2057400" indent="-228600">
              <a:buFont typeface="Wingdings" panose="05000000000000000000" pitchFamily="2" charset="2"/>
              <a:buChar char="Ø"/>
              <a:defRPr>
                <a:latin typeface="Times New Roman" panose="02020603050405020304" pitchFamily="18" charset="0"/>
                <a:ea typeface="华文楷体" panose="02010600040101010101" pitchFamily="2" charset="-122"/>
                <a:cs typeface="Times New Roman" panose="02020603050405020304" pitchFamily="18" charset="0"/>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Tree>
    <p:extLst>
      <p:ext uri="{BB962C8B-B14F-4D97-AF65-F5344CB8AC3E}">
        <p14:creationId xmlns:p14="http://schemas.microsoft.com/office/powerpoint/2010/main" val="1906761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lvl1pPr>
              <a:defRPr/>
            </a:lvl1pPr>
          </a:lstStyle>
          <a:p>
            <a:pPr>
              <a:defRPr/>
            </a:pPr>
            <a:fld id="{4D8E9AD7-6D98-4D44-8213-6CCC3CE80262}" type="datetimeFigureOut">
              <a:rPr lang="zh-CN" altLang="en-US"/>
              <a:pPr>
                <a:defRPr/>
              </a:pPr>
              <a:t>2025/9/23</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CB235FDB-8B9D-499A-886A-104C69244B3C}" type="slidenum">
              <a:rPr lang="zh-CN" altLang="en-US"/>
              <a:pPr>
                <a:defRPr/>
              </a:pPr>
              <a:t>‹#›</a:t>
            </a:fld>
            <a:endParaRPr lang="zh-CN" altLang="en-US"/>
          </a:p>
        </p:txBody>
      </p:sp>
    </p:spTree>
    <p:extLst>
      <p:ext uri="{BB962C8B-B14F-4D97-AF65-F5344CB8AC3E}">
        <p14:creationId xmlns:p14="http://schemas.microsoft.com/office/powerpoint/2010/main" val="1852382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lvl1pPr>
              <a:defRPr/>
            </a:lvl1pPr>
          </a:lstStyle>
          <a:p>
            <a:pPr>
              <a:defRPr/>
            </a:pPr>
            <a:fld id="{A5F3F8A6-4D81-4213-8469-7D440D85F900}" type="datetimeFigureOut">
              <a:rPr lang="zh-CN" altLang="en-US"/>
              <a:pPr>
                <a:defRPr/>
              </a:pPr>
              <a:t>2025/9/23</a:t>
            </a:fld>
            <a:endParaRPr lang="zh-CN" altLang="en-US"/>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3E6E58DD-D794-4892-8A60-7D650DA5513B}" type="slidenum">
              <a:rPr lang="zh-CN" altLang="en-US"/>
              <a:pPr>
                <a:defRPr/>
              </a:pPr>
              <a:t>‹#›</a:t>
            </a:fld>
            <a:endParaRPr lang="zh-CN" altLang="en-US"/>
          </a:p>
        </p:txBody>
      </p:sp>
    </p:spTree>
    <p:extLst>
      <p:ext uri="{BB962C8B-B14F-4D97-AF65-F5344CB8AC3E}">
        <p14:creationId xmlns:p14="http://schemas.microsoft.com/office/powerpoint/2010/main" val="946243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lvl1pPr>
              <a:defRPr/>
            </a:lvl1pPr>
          </a:lstStyle>
          <a:p>
            <a:pPr>
              <a:defRPr/>
            </a:pPr>
            <a:fld id="{335C50F8-A790-472B-9F02-C829FBACF203}" type="datetimeFigureOut">
              <a:rPr lang="zh-CN" altLang="en-US"/>
              <a:pPr>
                <a:defRPr/>
              </a:pPr>
              <a:t>2025/9/23</a:t>
            </a:fld>
            <a:endParaRPr lang="zh-CN" altLang="en-US"/>
          </a:p>
        </p:txBody>
      </p:sp>
      <p:sp>
        <p:nvSpPr>
          <p:cNvPr id="8" name="Footer Placeholder 7"/>
          <p:cNvSpPr>
            <a:spLocks noGrp="1"/>
          </p:cNvSpPr>
          <p:nvPr>
            <p:ph type="ftr" sz="quarter" idx="11"/>
          </p:nvPr>
        </p:nvSpPr>
        <p:spPr/>
        <p:txBody>
          <a:bodyPr/>
          <a:lstStyle>
            <a:lvl1pPr>
              <a:defRPr/>
            </a:lvl1pPr>
          </a:lstStyle>
          <a:p>
            <a:pPr>
              <a:defRPr/>
            </a:pPr>
            <a:endParaRPr lang="zh-CN" altLang="en-US"/>
          </a:p>
        </p:txBody>
      </p:sp>
      <p:sp>
        <p:nvSpPr>
          <p:cNvPr id="9" name="Slide Number Placeholder 8"/>
          <p:cNvSpPr>
            <a:spLocks noGrp="1"/>
          </p:cNvSpPr>
          <p:nvPr>
            <p:ph type="sldNum" sz="quarter" idx="12"/>
          </p:nvPr>
        </p:nvSpPr>
        <p:spPr/>
        <p:txBody>
          <a:bodyPr/>
          <a:lstStyle>
            <a:lvl1pPr>
              <a:defRPr/>
            </a:lvl1pPr>
          </a:lstStyle>
          <a:p>
            <a:pPr>
              <a:defRPr/>
            </a:pPr>
            <a:fld id="{11C690B8-98C8-4AE0-B60D-1F1C26B58085}" type="slidenum">
              <a:rPr lang="zh-CN" altLang="en-US"/>
              <a:pPr>
                <a:defRPr/>
              </a:pPr>
              <a:t>‹#›</a:t>
            </a:fld>
            <a:endParaRPr lang="zh-CN" altLang="en-US"/>
          </a:p>
        </p:txBody>
      </p:sp>
    </p:spTree>
    <p:extLst>
      <p:ext uri="{BB962C8B-B14F-4D97-AF65-F5344CB8AC3E}">
        <p14:creationId xmlns:p14="http://schemas.microsoft.com/office/powerpoint/2010/main" val="919525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lvl1pPr>
              <a:defRPr/>
            </a:lvl1pPr>
          </a:lstStyle>
          <a:p>
            <a:pPr>
              <a:defRPr/>
            </a:pPr>
            <a:fld id="{D21682E0-402D-4445-A372-DC8FC3F5B880}" type="datetimeFigureOut">
              <a:rPr lang="zh-CN" altLang="en-US"/>
              <a:pPr>
                <a:defRPr/>
              </a:pPr>
              <a:t>2025/9/23</a:t>
            </a:fld>
            <a:endParaRPr lang="zh-CN" altLang="en-US"/>
          </a:p>
        </p:txBody>
      </p:sp>
      <p:sp>
        <p:nvSpPr>
          <p:cNvPr id="4" name="Footer Placeholder 3"/>
          <p:cNvSpPr>
            <a:spLocks noGrp="1"/>
          </p:cNvSpPr>
          <p:nvPr>
            <p:ph type="ftr" sz="quarter" idx="11"/>
          </p:nvPr>
        </p:nvSpPr>
        <p:spPr/>
        <p:txBody>
          <a:bodyPr/>
          <a:lstStyle>
            <a:lvl1pPr>
              <a:defRPr/>
            </a:lvl1pPr>
          </a:lstStyle>
          <a:p>
            <a:pPr>
              <a:defRPr/>
            </a:pPr>
            <a:endParaRPr lang="zh-CN" altLang="en-US"/>
          </a:p>
        </p:txBody>
      </p:sp>
      <p:sp>
        <p:nvSpPr>
          <p:cNvPr id="5" name="Slide Number Placeholder 4"/>
          <p:cNvSpPr>
            <a:spLocks noGrp="1"/>
          </p:cNvSpPr>
          <p:nvPr>
            <p:ph type="sldNum" sz="quarter" idx="12"/>
          </p:nvPr>
        </p:nvSpPr>
        <p:spPr/>
        <p:txBody>
          <a:bodyPr/>
          <a:lstStyle>
            <a:lvl1pPr>
              <a:defRPr/>
            </a:lvl1pPr>
          </a:lstStyle>
          <a:p>
            <a:pPr>
              <a:defRPr/>
            </a:pPr>
            <a:fld id="{EF5C06A9-15ED-48CD-AFC1-38080B0D6F33}" type="slidenum">
              <a:rPr lang="zh-CN" altLang="en-US"/>
              <a:pPr>
                <a:defRPr/>
              </a:pPr>
              <a:t>‹#›</a:t>
            </a:fld>
            <a:endParaRPr lang="zh-CN" altLang="en-US"/>
          </a:p>
        </p:txBody>
      </p:sp>
    </p:spTree>
    <p:extLst>
      <p:ext uri="{BB962C8B-B14F-4D97-AF65-F5344CB8AC3E}">
        <p14:creationId xmlns:p14="http://schemas.microsoft.com/office/powerpoint/2010/main" val="1095380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Line 7"/>
          <p:cNvSpPr>
            <a:spLocks noChangeShapeType="1"/>
          </p:cNvSpPr>
          <p:nvPr userDrawn="1"/>
        </p:nvSpPr>
        <p:spPr bwMode="auto">
          <a:xfrm>
            <a:off x="527050" y="1196975"/>
            <a:ext cx="2954338" cy="0"/>
          </a:xfrm>
          <a:prstGeom prst="line">
            <a:avLst/>
          </a:prstGeom>
          <a:noFill/>
          <a:ln w="44450" cmpd="sng">
            <a:solidFill>
              <a:schemeClr val="accent1">
                <a:lumMod val="40000"/>
                <a:lumOff val="60000"/>
              </a:schemeClr>
            </a:solidFill>
            <a:prstDash val="solid"/>
            <a:round/>
            <a:headEnd/>
            <a:tailEnd/>
          </a:ln>
          <a:extLst>
            <a:ext uri="{909E8E84-426E-40DD-AFC4-6F175D3DCCD1}">
              <a14:hiddenFill xmlns:a14="http://schemas.microsoft.com/office/drawing/2010/main">
                <a:noFill/>
              </a14:hiddenFill>
            </a:ext>
          </a:extLst>
        </p:spPr>
        <p:txBody>
          <a:bodyPr/>
          <a:lstStyle/>
          <a:p>
            <a:pPr defTabSz="385763">
              <a:defRPr/>
            </a:pPr>
            <a:endParaRPr lang="zh-CN" altLang="en-US" sz="760">
              <a:solidFill>
                <a:prstClr val="black"/>
              </a:solidFill>
            </a:endParaRPr>
          </a:p>
        </p:txBody>
      </p:sp>
      <p:sp>
        <p:nvSpPr>
          <p:cNvPr id="3" name="Date Placeholder 1"/>
          <p:cNvSpPr>
            <a:spLocks noGrp="1"/>
          </p:cNvSpPr>
          <p:nvPr>
            <p:ph type="dt" sz="half" idx="10"/>
          </p:nvPr>
        </p:nvSpPr>
        <p:spPr/>
        <p:txBody>
          <a:bodyPr/>
          <a:lstStyle>
            <a:lvl1pPr>
              <a:defRPr/>
            </a:lvl1pPr>
          </a:lstStyle>
          <a:p>
            <a:pPr>
              <a:defRPr/>
            </a:pPr>
            <a:fld id="{A2868D82-C192-4D6E-9511-12DD9DEE4611}" type="datetimeFigureOut">
              <a:rPr lang="en-US"/>
              <a:pPr>
                <a:defRPr/>
              </a:pPr>
              <a:t>9/23/2025</a:t>
            </a:fld>
            <a:endParaRPr lang="en-US"/>
          </a:p>
        </p:txBody>
      </p:sp>
      <p:sp>
        <p:nvSpPr>
          <p:cNvPr id="4" name="Footer Placeholder 2"/>
          <p:cNvSpPr>
            <a:spLocks noGrp="1"/>
          </p:cNvSpPr>
          <p:nvPr>
            <p:ph type="ftr" sz="quarter" idx="11"/>
          </p:nvPr>
        </p:nvSpPr>
        <p:spPr/>
        <p:txBody>
          <a:bodyPr/>
          <a:lstStyle>
            <a:lvl1pPr>
              <a:defRPr/>
            </a:lvl1pPr>
          </a:lstStyle>
          <a:p>
            <a:pPr>
              <a:defRPr/>
            </a:pPr>
            <a:endParaRPr lang="zh-CN" altLang="en-US"/>
          </a:p>
        </p:txBody>
      </p:sp>
      <p:sp>
        <p:nvSpPr>
          <p:cNvPr id="5" name="Slide Number Placeholder 3"/>
          <p:cNvSpPr>
            <a:spLocks noGrp="1"/>
          </p:cNvSpPr>
          <p:nvPr>
            <p:ph type="sldNum" sz="quarter" idx="12"/>
          </p:nvPr>
        </p:nvSpPr>
        <p:spPr/>
        <p:txBody>
          <a:bodyPr/>
          <a:lstStyle>
            <a:lvl1pPr>
              <a:defRPr/>
            </a:lvl1pPr>
          </a:lstStyle>
          <a:p>
            <a:pPr>
              <a:defRPr/>
            </a:pPr>
            <a:fld id="{72DCF8D7-96C7-425D-AAFF-D00C87D8E6DE}" type="slidenum">
              <a:rPr lang="en-US"/>
              <a:pPr>
                <a:defRPr/>
              </a:pPr>
              <a:t>‹#›</a:t>
            </a:fld>
            <a:endParaRPr lang="en-US"/>
          </a:p>
        </p:txBody>
      </p:sp>
    </p:spTree>
    <p:extLst>
      <p:ext uri="{BB962C8B-B14F-4D97-AF65-F5344CB8AC3E}">
        <p14:creationId xmlns:p14="http://schemas.microsoft.com/office/powerpoint/2010/main" val="1830316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lvl1pPr>
              <a:defRPr/>
            </a:lvl1pPr>
          </a:lstStyle>
          <a:p>
            <a:pPr>
              <a:defRPr/>
            </a:pPr>
            <a:fld id="{8092DDE3-C0B6-4CD2-84DD-583ADB21A033}" type="datetimeFigureOut">
              <a:rPr lang="zh-CN" altLang="en-US"/>
              <a:pPr>
                <a:defRPr/>
              </a:pPr>
              <a:t>2025/9/23</a:t>
            </a:fld>
            <a:endParaRPr lang="zh-CN" altLang="en-US"/>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73943871-1F43-47B0-A267-7778212F764E}" type="slidenum">
              <a:rPr lang="zh-CN" altLang="en-US"/>
              <a:pPr>
                <a:defRPr/>
              </a:pPr>
              <a:t>‹#›</a:t>
            </a:fld>
            <a:endParaRPr lang="zh-CN" altLang="en-US"/>
          </a:p>
        </p:txBody>
      </p:sp>
    </p:spTree>
    <p:extLst>
      <p:ext uri="{BB962C8B-B14F-4D97-AF65-F5344CB8AC3E}">
        <p14:creationId xmlns:p14="http://schemas.microsoft.com/office/powerpoint/2010/main" val="946394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lvl1pPr>
              <a:defRPr/>
            </a:lvl1pPr>
          </a:lstStyle>
          <a:p>
            <a:pPr>
              <a:defRPr/>
            </a:pPr>
            <a:fld id="{C9A9CA6A-D253-4ECF-BB18-F81F2D0BF744}" type="datetimeFigureOut">
              <a:rPr lang="zh-CN" altLang="en-US"/>
              <a:pPr>
                <a:defRPr/>
              </a:pPr>
              <a:t>2025/9/23</a:t>
            </a:fld>
            <a:endParaRPr lang="zh-CN" altLang="en-US"/>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0D181F8D-E8A9-40AD-AF62-FA4B7D89A90C}" type="slidenum">
              <a:rPr lang="zh-CN" altLang="en-US"/>
              <a:pPr>
                <a:defRPr/>
              </a:pPr>
              <a:t>‹#›</a:t>
            </a:fld>
            <a:endParaRPr lang="zh-CN" altLang="en-US"/>
          </a:p>
        </p:txBody>
      </p:sp>
    </p:spTree>
    <p:extLst>
      <p:ext uri="{BB962C8B-B14F-4D97-AF65-F5344CB8AC3E}">
        <p14:creationId xmlns:p14="http://schemas.microsoft.com/office/powerpoint/2010/main" val="2632739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E3241B6-26DB-49F7-A5FF-4A8877D0C549}" type="datetimeFigureOut">
              <a:rPr lang="zh-CN" altLang="en-US"/>
              <a:pPr>
                <a:defRPr/>
              </a:pPr>
              <a:t>2025/9/23</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2CAE55FD-DAA6-4A53-B0CC-39F695AA29F0}" type="slidenum">
              <a:rPr lang="zh-CN" altLang="en-US"/>
              <a:pPr>
                <a:defRPr/>
              </a:pPr>
              <a:t>‹#›</a:t>
            </a:fld>
            <a:endParaRPr lang="zh-CN" altLang="en-US"/>
          </a:p>
        </p:txBody>
      </p:sp>
    </p:spTree>
    <p:extLst>
      <p:ext uri="{BB962C8B-B14F-4D97-AF65-F5344CB8AC3E}">
        <p14:creationId xmlns:p14="http://schemas.microsoft.com/office/powerpoint/2010/main" val="2083498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73A6A2F2-64AC-44C2-9C5C-D5C5D97D427D}" type="datetimeFigureOut">
              <a:rPr lang="zh-CN" altLang="en-US"/>
              <a:pPr>
                <a:defRPr/>
              </a:pPr>
              <a:t>2025/9/23</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4971501C-2C46-4D1D-B0B4-68120691D0D0}" type="slidenum">
              <a:rPr lang="zh-CN" altLang="en-US"/>
              <a:pPr>
                <a:defRPr/>
              </a:pPr>
              <a:t>‹#›</a:t>
            </a:fld>
            <a:endParaRPr lang="zh-CN" altLang="en-US"/>
          </a:p>
        </p:txBody>
      </p:sp>
    </p:spTree>
    <p:extLst>
      <p:ext uri="{BB962C8B-B14F-4D97-AF65-F5344CB8AC3E}">
        <p14:creationId xmlns:p14="http://schemas.microsoft.com/office/powerpoint/2010/main" val="2838327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endParaRPr lang="en-US" altLang="zh-CN" smtClean="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zh-CN"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2D180B8-9E13-42FD-8F25-BB2844E97702}" type="datetimeFigureOut">
              <a:rPr lang="en-US"/>
              <a:pPr>
                <a:defRPr/>
              </a:pPr>
              <a:t>9/23/2025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3C3D6DB-09AE-4EBF-9E70-4A7BD8613F3B}" type="slidenum">
              <a:rPr lang="en-US"/>
              <a:pPr>
                <a:defRPr/>
              </a:pPr>
              <a:t>‹#›</a:t>
            </a:fld>
            <a:endParaRPr lang="en-US"/>
          </a:p>
        </p:txBody>
      </p:sp>
      <p:pic>
        <p:nvPicPr>
          <p:cNvPr id="7" name="图片 6"/>
          <p:cNvPicPr>
            <a:picLocks noChangeAspect="1"/>
          </p:cNvPicPr>
          <p:nvPr userDrawn="1"/>
        </p:nvPicPr>
        <p:blipFill>
          <a:blip r:embed="rId13">
            <a:clrChange>
              <a:clrFrom>
                <a:srgbClr val="FFFFFF"/>
              </a:clrFrom>
              <a:clrTo>
                <a:srgbClr val="FFFFFF">
                  <a:alpha val="0"/>
                </a:srgbClr>
              </a:clrTo>
            </a:clrChange>
          </a:blip>
          <a:stretch>
            <a:fillRect/>
          </a:stretch>
        </p:blipFill>
        <p:spPr>
          <a:xfrm>
            <a:off x="11055472" y="123750"/>
            <a:ext cx="609149" cy="496938"/>
          </a:xfrm>
          <a:prstGeom prst="rect">
            <a:avLst/>
          </a:prstGeom>
          <a:effectLst>
            <a:softEdge rad="0"/>
          </a:effectLst>
        </p:spPr>
      </p:pic>
      <p:sp>
        <p:nvSpPr>
          <p:cNvPr id="8" name="Line 7"/>
          <p:cNvSpPr>
            <a:spLocks noChangeShapeType="1"/>
          </p:cNvSpPr>
          <p:nvPr userDrawn="1"/>
        </p:nvSpPr>
        <p:spPr bwMode="auto">
          <a:xfrm>
            <a:off x="527050" y="6524625"/>
            <a:ext cx="11074400" cy="0"/>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1275"/>
          </a:p>
        </p:txBody>
      </p:sp>
      <p:sp>
        <p:nvSpPr>
          <p:cNvPr id="9" name="Text Box 8"/>
          <p:cNvSpPr txBox="1">
            <a:spLocks noChangeArrowheads="1"/>
          </p:cNvSpPr>
          <p:nvPr userDrawn="1"/>
        </p:nvSpPr>
        <p:spPr bwMode="auto">
          <a:xfrm>
            <a:off x="10514013" y="6553200"/>
            <a:ext cx="12334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r" defTabSz="385763" eaLnBrk="1" hangingPunct="1">
              <a:spcBef>
                <a:spcPct val="50000"/>
              </a:spcBef>
              <a:defRPr/>
            </a:pPr>
            <a:r>
              <a:rPr lang="en-US" altLang="zh-CN" sz="591" b="1" dirty="0" smtClean="0">
                <a:solidFill>
                  <a:srgbClr val="0066CC"/>
                </a:solidFill>
                <a:latin typeface="Times New Roman" panose="02020603050405020304" pitchFamily="18" charset="0"/>
                <a:cs typeface="Times New Roman" panose="02020603050405020304" pitchFamily="18" charset="0"/>
              </a:rPr>
              <a:t>BUPT</a:t>
            </a:r>
          </a:p>
        </p:txBody>
      </p:sp>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527050" y="333375"/>
            <a:ext cx="10321925" cy="863600"/>
          </a:xfrm>
        </p:spPr>
        <p:txBody>
          <a:bodyPr/>
          <a:lstStyle/>
          <a:p>
            <a:pPr eaLnBrk="1" hangingPunct="1"/>
            <a:r>
              <a:rPr lang="en-US" altLang="zh-CN" smtClean="0"/>
              <a:t>C++</a:t>
            </a:r>
            <a:r>
              <a:rPr lang="zh-CN" altLang="en-US" smtClean="0"/>
              <a:t>语法</a:t>
            </a:r>
          </a:p>
        </p:txBody>
      </p:sp>
      <p:sp>
        <p:nvSpPr>
          <p:cNvPr id="17411" name="Rectangle 3"/>
          <p:cNvSpPr>
            <a:spLocks noGrp="1" noChangeArrowheads="1"/>
          </p:cNvSpPr>
          <p:nvPr>
            <p:ph idx="1"/>
          </p:nvPr>
        </p:nvSpPr>
        <p:spPr>
          <a:xfrm>
            <a:off x="527050" y="1557338"/>
            <a:ext cx="10321925" cy="4351337"/>
          </a:xfrm>
        </p:spPr>
        <p:txBody>
          <a:bodyPr rtlCol="0">
            <a:normAutofit/>
          </a:bodyPr>
          <a:lstStyle/>
          <a:p>
            <a:pPr eaLnBrk="1" fontAlgn="auto" hangingPunct="1">
              <a:spcAft>
                <a:spcPts val="0"/>
              </a:spcAft>
              <a:defRPr/>
            </a:pPr>
            <a:r>
              <a:rPr lang="zh-CN" altLang="en-US" dirty="0" smtClean="0"/>
              <a:t>输出</a:t>
            </a:r>
            <a:endParaRPr lang="en-US" altLang="zh-CN" dirty="0" smtClean="0"/>
          </a:p>
          <a:p>
            <a:pPr marL="0" indent="0" eaLnBrk="1" fontAlgn="auto" hangingPunct="1">
              <a:spcAft>
                <a:spcPts val="0"/>
              </a:spcAft>
              <a:buFont typeface="Wingdings" panose="05000000000000000000" pitchFamily="2" charset="2"/>
              <a:buNone/>
              <a:defRPr/>
            </a:pPr>
            <a:r>
              <a:rPr lang="en-US" altLang="zh-CN" dirty="0" err="1" smtClean="0"/>
              <a:t>Cin</a:t>
            </a:r>
            <a:r>
              <a:rPr lang="zh-CN" altLang="en-US" dirty="0" smtClean="0"/>
              <a:t>，</a:t>
            </a:r>
            <a:r>
              <a:rPr lang="en-US" altLang="zh-CN" dirty="0" err="1" smtClean="0"/>
              <a:t>Cout</a:t>
            </a:r>
            <a:endParaRPr lang="en-US" altLang="zh-CN" dirty="0" smtClean="0"/>
          </a:p>
          <a:p>
            <a:pPr marL="0" indent="0" eaLnBrk="1" fontAlgn="auto" hangingPunct="1">
              <a:spcAft>
                <a:spcPts val="0"/>
              </a:spcAft>
              <a:buFont typeface="Wingdings" panose="05000000000000000000" pitchFamily="2" charset="2"/>
              <a:buNone/>
              <a:defRPr/>
            </a:pPr>
            <a:r>
              <a:rPr lang="en-US" altLang="zh-CN" dirty="0" smtClean="0"/>
              <a:t>C++</a:t>
            </a:r>
            <a:r>
              <a:rPr lang="zh-CN" altLang="en-US" dirty="0" smtClean="0"/>
              <a:t>的输入输出函数作用与</a:t>
            </a:r>
            <a:r>
              <a:rPr lang="en-US" altLang="zh-CN" dirty="0" err="1" smtClean="0"/>
              <a:t>Scanf</a:t>
            </a:r>
            <a:r>
              <a:rPr lang="en-US" altLang="zh-CN" dirty="0" smtClean="0"/>
              <a:t>, </a:t>
            </a:r>
            <a:r>
              <a:rPr lang="en-US" altLang="zh-CN" dirty="0" err="1" smtClean="0"/>
              <a:t>printf</a:t>
            </a:r>
            <a:r>
              <a:rPr lang="en-US" altLang="zh-CN" dirty="0" smtClean="0"/>
              <a:t>,</a:t>
            </a:r>
            <a:r>
              <a:rPr lang="zh-CN" altLang="en-US" dirty="0" smtClean="0"/>
              <a:t>类似，更为简单</a:t>
            </a:r>
          </a:p>
          <a:p>
            <a:pPr marL="0" indent="0" eaLnBrk="1" fontAlgn="auto" hangingPunct="1">
              <a:spcAft>
                <a:spcPts val="0"/>
              </a:spcAft>
              <a:buFont typeface="Wingdings" panose="05000000000000000000" pitchFamily="2" charset="2"/>
              <a:buNone/>
              <a:defRPr/>
            </a:pPr>
            <a:r>
              <a:rPr lang="en-US" altLang="zh-CN" dirty="0" smtClean="0"/>
              <a:t>for (</a:t>
            </a:r>
            <a:r>
              <a:rPr lang="en-US" altLang="zh-CN" dirty="0" err="1" smtClean="0"/>
              <a:t>i</a:t>
            </a:r>
            <a:r>
              <a:rPr lang="en-US" altLang="zh-CN" dirty="0" smtClean="0"/>
              <a:t>=1; </a:t>
            </a:r>
            <a:r>
              <a:rPr lang="en-US" altLang="zh-CN" dirty="0" err="1" smtClean="0"/>
              <a:t>i</a:t>
            </a:r>
            <a:r>
              <a:rPr lang="en-US" altLang="zh-CN" dirty="0" smtClean="0"/>
              <a:t>&lt;=3;i++)</a:t>
            </a:r>
            <a:br>
              <a:rPr lang="en-US" altLang="zh-CN" dirty="0" smtClean="0"/>
            </a:br>
            <a:r>
              <a:rPr lang="en-US" altLang="zh-CN" dirty="0" err="1" smtClean="0"/>
              <a:t>cout</a:t>
            </a:r>
            <a:r>
              <a:rPr lang="en-US" altLang="zh-CN" dirty="0" smtClean="0"/>
              <a:t>&lt;&lt;"count="&lt;&lt;</a:t>
            </a:r>
            <a:r>
              <a:rPr lang="en-US" altLang="zh-CN" dirty="0" err="1" smtClean="0"/>
              <a:t>i</a:t>
            </a:r>
            <a:r>
              <a:rPr lang="en-US" altLang="zh-CN" dirty="0" smtClean="0"/>
              <a:t>&lt;&lt;</a:t>
            </a:r>
            <a:r>
              <a:rPr lang="en-US" altLang="zh-CN" dirty="0" err="1" smtClean="0"/>
              <a:t>endl</a:t>
            </a:r>
            <a:r>
              <a:rPr lang="en-US" altLang="zh-CN" dirty="0" smtClean="0"/>
              <a:t>; </a:t>
            </a:r>
          </a:p>
          <a:p>
            <a:pPr marL="0" indent="0" eaLnBrk="1" fontAlgn="auto" hangingPunct="1">
              <a:spcAft>
                <a:spcPts val="0"/>
              </a:spcAft>
              <a:buFont typeface="Wingdings" panose="05000000000000000000" pitchFamily="2" charset="2"/>
              <a:buNone/>
              <a:defRPr/>
            </a:pPr>
            <a:r>
              <a:rPr lang="en-US" altLang="zh-CN" dirty="0" smtClean="0"/>
              <a:t>count=1</a:t>
            </a:r>
            <a:br>
              <a:rPr lang="en-US" altLang="zh-CN" dirty="0" smtClean="0"/>
            </a:br>
            <a:r>
              <a:rPr lang="en-US" altLang="zh-CN" dirty="0" smtClean="0"/>
              <a:t>count=2</a:t>
            </a:r>
            <a:br>
              <a:rPr lang="en-US" altLang="zh-CN" dirty="0" smtClean="0"/>
            </a:br>
            <a:r>
              <a:rPr lang="en-US" altLang="zh-CN" dirty="0" smtClean="0"/>
              <a:t>count= 3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527050" y="333375"/>
            <a:ext cx="10321925" cy="863600"/>
          </a:xfrm>
        </p:spPr>
        <p:txBody>
          <a:bodyPr/>
          <a:lstStyle/>
          <a:p>
            <a:pPr eaLnBrk="1" hangingPunct="1"/>
            <a:r>
              <a:rPr lang="en-US" altLang="zh-CN" smtClean="0"/>
              <a:t>C++</a:t>
            </a:r>
            <a:r>
              <a:rPr lang="zh-CN" altLang="en-US" smtClean="0"/>
              <a:t>语法</a:t>
            </a:r>
          </a:p>
        </p:txBody>
      </p:sp>
      <p:sp>
        <p:nvSpPr>
          <p:cNvPr id="18435" name="Rectangle 3"/>
          <p:cNvSpPr>
            <a:spLocks noGrp="1" noChangeArrowheads="1"/>
          </p:cNvSpPr>
          <p:nvPr>
            <p:ph idx="1"/>
          </p:nvPr>
        </p:nvSpPr>
        <p:spPr>
          <a:xfrm>
            <a:off x="527050" y="1773238"/>
            <a:ext cx="10321925" cy="4351337"/>
          </a:xfrm>
        </p:spPr>
        <p:txBody>
          <a:bodyPr rtlCol="0">
            <a:normAutofit/>
          </a:bodyPr>
          <a:lstStyle/>
          <a:p>
            <a:pPr eaLnBrk="1" fontAlgn="auto" hangingPunct="1">
              <a:spcAft>
                <a:spcPts val="0"/>
              </a:spcAft>
              <a:defRPr/>
            </a:pPr>
            <a:r>
              <a:rPr lang="zh-CN" altLang="en-US" dirty="0" smtClean="0"/>
              <a:t>输入</a:t>
            </a:r>
            <a:endParaRPr lang="en-US" altLang="zh-CN" dirty="0" smtClean="0"/>
          </a:p>
          <a:p>
            <a:pPr marL="0" indent="0" eaLnBrk="1" fontAlgn="auto" hangingPunct="1">
              <a:spcAft>
                <a:spcPts val="0"/>
              </a:spcAft>
              <a:buFont typeface="Wingdings" panose="05000000000000000000" pitchFamily="2" charset="2"/>
              <a:buNone/>
              <a:defRPr/>
            </a:pPr>
            <a:r>
              <a:rPr lang="en-US" altLang="zh-CN" dirty="0" err="1" smtClean="0"/>
              <a:t>cin</a:t>
            </a:r>
            <a:r>
              <a:rPr lang="en-US" altLang="zh-CN" dirty="0" smtClean="0"/>
              <a:t>&gt;&gt;a&gt;&gt;b; </a:t>
            </a:r>
          </a:p>
          <a:p>
            <a:pPr marL="0" indent="0" eaLnBrk="1" fontAlgn="auto" hangingPunct="1">
              <a:spcAft>
                <a:spcPts val="0"/>
              </a:spcAft>
              <a:buFont typeface="Wingdings" panose="05000000000000000000" pitchFamily="2" charset="2"/>
              <a:buNone/>
              <a:defRPr/>
            </a:pPr>
            <a:r>
              <a:rPr lang="zh-CN" altLang="en-US" dirty="0" smtClean="0"/>
              <a:t>可以从键盘输入</a:t>
            </a:r>
            <a:r>
              <a:rPr lang="en-US" altLang="zh-CN" dirty="0" smtClean="0"/>
              <a:t>:</a:t>
            </a:r>
            <a:br>
              <a:rPr lang="en-US" altLang="zh-CN" dirty="0" smtClean="0"/>
            </a:br>
            <a:r>
              <a:rPr lang="en-US" altLang="zh-CN" dirty="0" smtClean="0"/>
              <a:t>20 32.45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527050" y="333375"/>
            <a:ext cx="10321925" cy="863600"/>
          </a:xfrm>
        </p:spPr>
        <p:txBody>
          <a:bodyPr/>
          <a:lstStyle/>
          <a:p>
            <a:pPr eaLnBrk="1" hangingPunct="1"/>
            <a:r>
              <a:rPr lang="zh-CN" altLang="en-US" smtClean="0"/>
              <a:t>例题</a:t>
            </a:r>
          </a:p>
        </p:txBody>
      </p:sp>
      <p:sp>
        <p:nvSpPr>
          <p:cNvPr id="19459" name="Rectangle 3"/>
          <p:cNvSpPr>
            <a:spLocks noGrp="1" noChangeArrowheads="1"/>
          </p:cNvSpPr>
          <p:nvPr>
            <p:ph idx="1"/>
          </p:nvPr>
        </p:nvSpPr>
        <p:spPr>
          <a:xfrm>
            <a:off x="527050" y="1557338"/>
            <a:ext cx="10321925" cy="4351337"/>
          </a:xfrm>
        </p:spPr>
        <p:txBody>
          <a:bodyPr rtlCol="0">
            <a:normAutofit/>
          </a:bodyPr>
          <a:lstStyle/>
          <a:p>
            <a:pPr eaLnBrk="1" fontAlgn="auto" hangingPunct="1">
              <a:spcAft>
                <a:spcPts val="0"/>
              </a:spcAft>
              <a:defRPr/>
            </a:pPr>
            <a:r>
              <a:rPr lang="en-US" altLang="zh-CN" dirty="0" smtClean="0"/>
              <a:t> </a:t>
            </a:r>
            <a:r>
              <a:rPr lang="zh-CN" altLang="en-US" dirty="0" smtClean="0"/>
              <a:t>如何通过改链的方法，把一个单向链表变成一个与原来链接方向相反的单向链表？</a:t>
            </a:r>
          </a:p>
          <a:p>
            <a:pPr marL="0" indent="0" eaLnBrk="1" fontAlgn="auto" hangingPunct="1">
              <a:spcAft>
                <a:spcPts val="0"/>
              </a:spcAft>
              <a:buFont typeface="Wingdings" panose="05000000000000000000" pitchFamily="2" charset="2"/>
              <a:buNone/>
              <a:defRPr/>
            </a:pPr>
            <a:r>
              <a:rPr lang="zh-CN" altLang="en-US" dirty="0" smtClean="0"/>
              <a:t>本题是链表的逆置问题。设该链表带头结点，将头结点摘下，并将其指针域置空。然后从第一元素结点开始，直到最后一个结点为止，依次前插入头结点的后面，则实现了链表的逆置。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527050" y="333375"/>
            <a:ext cx="10321925" cy="863600"/>
          </a:xfrm>
        </p:spPr>
        <p:txBody>
          <a:bodyPr/>
          <a:lstStyle/>
          <a:p>
            <a:pPr eaLnBrk="1" hangingPunct="1"/>
            <a:r>
              <a:rPr lang="zh-CN" altLang="en-US" smtClean="0"/>
              <a:t>链表置逆</a:t>
            </a:r>
          </a:p>
        </p:txBody>
      </p:sp>
      <p:sp>
        <p:nvSpPr>
          <p:cNvPr id="20483" name="Rectangle 3"/>
          <p:cNvSpPr>
            <a:spLocks noGrp="1" noChangeArrowheads="1"/>
          </p:cNvSpPr>
          <p:nvPr>
            <p:ph idx="1"/>
          </p:nvPr>
        </p:nvSpPr>
        <p:spPr>
          <a:xfrm>
            <a:off x="527050" y="1557338"/>
            <a:ext cx="10321925" cy="4351337"/>
          </a:xfrm>
        </p:spPr>
        <p:txBody>
          <a:bodyPr rtlCol="0">
            <a:normAutofit fontScale="92500" lnSpcReduction="10000"/>
          </a:bodyPr>
          <a:lstStyle/>
          <a:p>
            <a:pPr eaLnBrk="1" fontAlgn="auto" hangingPunct="1">
              <a:spcAft>
                <a:spcPts val="0"/>
              </a:spcAft>
              <a:buFont typeface="Wingdings" panose="05000000000000000000" pitchFamily="2" charset="2"/>
              <a:buNone/>
              <a:defRPr/>
            </a:pPr>
            <a:r>
              <a:rPr lang="en-US" altLang="zh-CN" sz="2100" dirty="0" err="1"/>
              <a:t>LinkedList</a:t>
            </a:r>
            <a:r>
              <a:rPr lang="en-US" altLang="zh-CN" sz="2100" dirty="0"/>
              <a:t> invert1</a:t>
            </a:r>
            <a:r>
              <a:rPr lang="zh-CN" altLang="en-US" sz="2100" dirty="0"/>
              <a:t>（</a:t>
            </a:r>
            <a:r>
              <a:rPr lang="en-US" altLang="zh-CN" sz="2100" dirty="0" err="1"/>
              <a:t>LinkedList</a:t>
            </a:r>
            <a:r>
              <a:rPr lang="en-US" altLang="zh-CN" sz="2100" dirty="0"/>
              <a:t> head</a:t>
            </a:r>
            <a:r>
              <a:rPr lang="zh-CN" altLang="en-US" sz="2100" dirty="0"/>
              <a:t>）</a:t>
            </a:r>
          </a:p>
          <a:p>
            <a:pPr eaLnBrk="1" fontAlgn="auto" hangingPunct="1">
              <a:spcAft>
                <a:spcPts val="0"/>
              </a:spcAft>
              <a:buFont typeface="Wingdings" panose="05000000000000000000" pitchFamily="2" charset="2"/>
              <a:buNone/>
              <a:defRPr/>
            </a:pPr>
            <a:r>
              <a:rPr lang="zh-CN" altLang="en-US" sz="2100" dirty="0"/>
              <a:t> </a:t>
            </a:r>
            <a:r>
              <a:rPr lang="en-US" altLang="zh-CN" sz="2100" dirty="0"/>
              <a:t>/*</a:t>
            </a:r>
            <a:r>
              <a:rPr lang="zh-CN" altLang="en-US" sz="2100" dirty="0"/>
              <a:t>逆置单链表*</a:t>
            </a:r>
            <a:r>
              <a:rPr lang="en-US" altLang="zh-CN" sz="2100" dirty="0"/>
              <a:t>/</a:t>
            </a:r>
          </a:p>
          <a:p>
            <a:pPr eaLnBrk="1" fontAlgn="auto" hangingPunct="1">
              <a:spcAft>
                <a:spcPts val="0"/>
              </a:spcAft>
              <a:buFont typeface="Wingdings" panose="05000000000000000000" pitchFamily="2" charset="2"/>
              <a:buNone/>
              <a:defRPr/>
            </a:pPr>
            <a:r>
              <a:rPr lang="en-US" altLang="zh-CN" sz="2100" dirty="0"/>
              <a:t> </a:t>
            </a:r>
            <a:r>
              <a:rPr lang="en-US" altLang="zh-CN" sz="2100" dirty="0" smtClean="0"/>
              <a:t>{    </a:t>
            </a:r>
            <a:r>
              <a:rPr lang="en-US" altLang="zh-CN" sz="2100" dirty="0" err="1" smtClean="0"/>
              <a:t>LinkedList</a:t>
            </a:r>
            <a:r>
              <a:rPr lang="en-US" altLang="zh-CN" sz="2100" dirty="0" smtClean="0"/>
              <a:t> </a:t>
            </a:r>
            <a:r>
              <a:rPr lang="en-US" altLang="zh-CN" sz="2100" dirty="0"/>
              <a:t>p=head-&gt;next; /*p</a:t>
            </a:r>
            <a:r>
              <a:rPr lang="zh-CN" altLang="en-US" sz="2100" dirty="0"/>
              <a:t>为工作指针*</a:t>
            </a:r>
            <a:r>
              <a:rPr lang="en-US" altLang="zh-CN" sz="2100" dirty="0"/>
              <a:t>/</a:t>
            </a:r>
          </a:p>
          <a:p>
            <a:pPr eaLnBrk="1" fontAlgn="auto" hangingPunct="1">
              <a:spcAft>
                <a:spcPts val="0"/>
              </a:spcAft>
              <a:buFont typeface="Wingdings" panose="05000000000000000000" pitchFamily="2" charset="2"/>
              <a:buNone/>
              <a:defRPr/>
            </a:pPr>
            <a:r>
              <a:rPr lang="en-US" altLang="zh-CN" sz="2100" dirty="0" smtClean="0"/>
              <a:t>       head-</a:t>
            </a:r>
            <a:r>
              <a:rPr lang="en-US" altLang="zh-CN" sz="2100" dirty="0"/>
              <a:t>&gt;next=null</a:t>
            </a:r>
            <a:r>
              <a:rPr lang="zh-CN" altLang="en-US" sz="2100" dirty="0"/>
              <a:t>；</a:t>
            </a:r>
          </a:p>
          <a:p>
            <a:pPr eaLnBrk="1" fontAlgn="auto" hangingPunct="1">
              <a:spcAft>
                <a:spcPts val="0"/>
              </a:spcAft>
              <a:buFont typeface="Wingdings" panose="05000000000000000000" pitchFamily="2" charset="2"/>
              <a:buNone/>
              <a:defRPr/>
            </a:pPr>
            <a:r>
              <a:rPr lang="zh-CN" altLang="en-US" sz="2100" dirty="0"/>
              <a:t>  </a:t>
            </a:r>
            <a:r>
              <a:rPr lang="zh-CN" altLang="en-US" sz="2100" dirty="0" smtClean="0"/>
              <a:t>     </a:t>
            </a:r>
            <a:r>
              <a:rPr lang="en-US" altLang="zh-CN" sz="2100" b="1" dirty="0" smtClean="0"/>
              <a:t>while</a:t>
            </a:r>
            <a:r>
              <a:rPr lang="zh-CN" altLang="en-US" sz="2100" dirty="0"/>
              <a:t>（</a:t>
            </a:r>
            <a:r>
              <a:rPr lang="en-US" altLang="zh-CN" sz="2100" dirty="0"/>
              <a:t>p!=null</a:t>
            </a:r>
            <a:r>
              <a:rPr lang="zh-CN" altLang="en-US" sz="2100" dirty="0"/>
              <a:t>）</a:t>
            </a:r>
          </a:p>
          <a:p>
            <a:pPr eaLnBrk="1" fontAlgn="auto" hangingPunct="1">
              <a:spcAft>
                <a:spcPts val="0"/>
              </a:spcAft>
              <a:buFont typeface="Wingdings" panose="05000000000000000000" pitchFamily="2" charset="2"/>
              <a:buNone/>
              <a:defRPr/>
            </a:pPr>
            <a:r>
              <a:rPr lang="zh-CN" altLang="en-US" sz="2100" dirty="0"/>
              <a:t>    </a:t>
            </a:r>
            <a:r>
              <a:rPr lang="zh-CN" altLang="en-US" sz="2100" dirty="0" smtClean="0"/>
              <a:t>   </a:t>
            </a:r>
            <a:r>
              <a:rPr lang="en-US" altLang="zh-CN" sz="2100" dirty="0" smtClean="0"/>
              <a:t>{   r=p-</a:t>
            </a:r>
            <a:r>
              <a:rPr lang="en-US" altLang="zh-CN" sz="2100" dirty="0"/>
              <a:t>&gt;next</a:t>
            </a:r>
            <a:r>
              <a:rPr lang="zh-CN" altLang="en-US" sz="2100" dirty="0"/>
              <a:t>；         </a:t>
            </a:r>
            <a:r>
              <a:rPr lang="en-US" altLang="zh-CN" sz="2100" dirty="0"/>
              <a:t>/*</a:t>
            </a:r>
            <a:r>
              <a:rPr lang="zh-CN" altLang="en-US" sz="2100" dirty="0"/>
              <a:t>暂存</a:t>
            </a:r>
            <a:r>
              <a:rPr lang="en-US" altLang="zh-CN" sz="2100" dirty="0"/>
              <a:t>p</a:t>
            </a:r>
            <a:r>
              <a:rPr lang="zh-CN" altLang="en-US" sz="2100" dirty="0"/>
              <a:t>的后继*</a:t>
            </a:r>
            <a:r>
              <a:rPr lang="en-US" altLang="zh-CN" sz="2100" dirty="0"/>
              <a:t>/</a:t>
            </a:r>
          </a:p>
          <a:p>
            <a:pPr eaLnBrk="1" fontAlgn="auto" hangingPunct="1">
              <a:spcAft>
                <a:spcPts val="0"/>
              </a:spcAft>
              <a:buFont typeface="Wingdings" panose="05000000000000000000" pitchFamily="2" charset="2"/>
              <a:buNone/>
              <a:defRPr/>
            </a:pPr>
            <a:r>
              <a:rPr lang="en-US" altLang="zh-CN" sz="2100" dirty="0"/>
              <a:t>     </a:t>
            </a:r>
            <a:r>
              <a:rPr lang="en-US" altLang="zh-CN" sz="2100" dirty="0" smtClean="0"/>
              <a:t>       p-</a:t>
            </a:r>
            <a:r>
              <a:rPr lang="en-US" altLang="zh-CN" sz="2100" dirty="0"/>
              <a:t>&gt;next=head-&gt;next</a:t>
            </a:r>
            <a:r>
              <a:rPr lang="zh-CN" altLang="en-US" sz="2100" dirty="0"/>
              <a:t>；</a:t>
            </a:r>
          </a:p>
          <a:p>
            <a:pPr eaLnBrk="1" fontAlgn="auto" hangingPunct="1">
              <a:spcAft>
                <a:spcPts val="0"/>
              </a:spcAft>
              <a:buFont typeface="Wingdings" panose="05000000000000000000" pitchFamily="2" charset="2"/>
              <a:buNone/>
              <a:defRPr/>
            </a:pPr>
            <a:r>
              <a:rPr lang="zh-CN" altLang="en-US" sz="2100" dirty="0"/>
              <a:t>     </a:t>
            </a:r>
            <a:r>
              <a:rPr lang="zh-CN" altLang="en-US" sz="2100" dirty="0" smtClean="0"/>
              <a:t>       </a:t>
            </a:r>
            <a:r>
              <a:rPr lang="en-US" altLang="zh-CN" sz="2100" dirty="0" smtClean="0"/>
              <a:t>head-</a:t>
            </a:r>
            <a:r>
              <a:rPr lang="en-US" altLang="zh-CN" sz="2100" dirty="0"/>
              <a:t>&gt;next=p</a:t>
            </a:r>
            <a:r>
              <a:rPr lang="zh-CN" altLang="en-US" sz="2100" dirty="0"/>
              <a:t>；</a:t>
            </a:r>
          </a:p>
          <a:p>
            <a:pPr eaLnBrk="1" fontAlgn="auto" hangingPunct="1">
              <a:spcAft>
                <a:spcPts val="0"/>
              </a:spcAft>
              <a:buFont typeface="Wingdings" panose="05000000000000000000" pitchFamily="2" charset="2"/>
              <a:buNone/>
              <a:defRPr/>
            </a:pPr>
            <a:r>
              <a:rPr lang="zh-CN" altLang="en-US" sz="2100" dirty="0"/>
              <a:t>     </a:t>
            </a:r>
            <a:r>
              <a:rPr lang="zh-CN" altLang="en-US" sz="2100" dirty="0" smtClean="0"/>
              <a:t>       </a:t>
            </a:r>
            <a:r>
              <a:rPr lang="en-US" altLang="zh-CN" sz="2100" dirty="0" smtClean="0"/>
              <a:t>p=r</a:t>
            </a:r>
            <a:r>
              <a:rPr lang="zh-CN" altLang="en-US" sz="2100" dirty="0"/>
              <a:t>；</a:t>
            </a:r>
          </a:p>
          <a:p>
            <a:pPr eaLnBrk="1" fontAlgn="auto" hangingPunct="1">
              <a:spcAft>
                <a:spcPts val="0"/>
              </a:spcAft>
              <a:buFont typeface="Wingdings" panose="05000000000000000000" pitchFamily="2" charset="2"/>
              <a:buNone/>
              <a:defRPr/>
            </a:pPr>
            <a:r>
              <a:rPr lang="zh-CN" altLang="en-US" sz="2100" dirty="0"/>
              <a:t>   </a:t>
            </a:r>
            <a:r>
              <a:rPr lang="zh-CN" altLang="en-US" sz="2100" dirty="0" smtClean="0"/>
              <a:t>    </a:t>
            </a:r>
            <a:r>
              <a:rPr lang="en-US" altLang="zh-CN" sz="2100" dirty="0"/>
              <a:t>}</a:t>
            </a:r>
          </a:p>
          <a:p>
            <a:pPr eaLnBrk="1" fontAlgn="auto" hangingPunct="1">
              <a:spcAft>
                <a:spcPts val="0"/>
              </a:spcAft>
              <a:buFont typeface="Wingdings" panose="05000000000000000000" pitchFamily="2" charset="2"/>
              <a:buNone/>
              <a:defRPr/>
            </a:pPr>
            <a:r>
              <a:rPr lang="en-US" altLang="zh-CN" sz="2100" dirty="0"/>
              <a:t>   </a:t>
            </a:r>
            <a:r>
              <a:rPr lang="en-US" altLang="zh-CN" sz="2100" dirty="0" smtClean="0"/>
              <a:t>    </a:t>
            </a:r>
            <a:r>
              <a:rPr lang="en-US" altLang="zh-CN" sz="2100" b="1" dirty="0" smtClean="0"/>
              <a:t>return</a:t>
            </a:r>
            <a:r>
              <a:rPr lang="zh-CN" altLang="en-US" sz="2100" dirty="0"/>
              <a:t>（</a:t>
            </a:r>
            <a:r>
              <a:rPr lang="en-US" altLang="zh-CN" sz="2100" dirty="0"/>
              <a:t>head</a:t>
            </a:r>
            <a:r>
              <a:rPr lang="zh-CN" altLang="en-US" sz="2100" dirty="0"/>
              <a:t>）；</a:t>
            </a:r>
          </a:p>
          <a:p>
            <a:pPr eaLnBrk="1" fontAlgn="auto" hangingPunct="1">
              <a:spcAft>
                <a:spcPts val="0"/>
              </a:spcAft>
              <a:buFont typeface="Wingdings" panose="05000000000000000000" pitchFamily="2" charset="2"/>
              <a:buNone/>
              <a:defRPr/>
            </a:pPr>
            <a:r>
              <a:rPr lang="zh-CN" altLang="en-US" sz="2100" dirty="0"/>
              <a:t> </a:t>
            </a:r>
            <a:r>
              <a:rPr lang="en-US" altLang="zh-CN" sz="2100" dirty="0" smtClean="0"/>
              <a:t>}/*</a:t>
            </a:r>
            <a:r>
              <a:rPr lang="zh-CN" altLang="en-US" sz="2100" dirty="0"/>
              <a:t>结束</a:t>
            </a:r>
            <a:r>
              <a:rPr lang="en-US" altLang="zh-CN" sz="2100" dirty="0"/>
              <a:t>invert1</a:t>
            </a:r>
            <a:r>
              <a:rPr lang="zh-CN" altLang="en-US" sz="2100" dirty="0"/>
              <a:t>函数*</a:t>
            </a:r>
            <a:r>
              <a:rPr lang="en-US" altLang="zh-CN" sz="2100" dirty="0"/>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527050" y="333375"/>
            <a:ext cx="10321925" cy="863600"/>
          </a:xfrm>
        </p:spPr>
        <p:txBody>
          <a:bodyPr/>
          <a:lstStyle/>
          <a:p>
            <a:pPr eaLnBrk="1" hangingPunct="1"/>
            <a:r>
              <a:rPr lang="zh-CN" altLang="en-US" smtClean="0"/>
              <a:t>链表置逆示意图</a:t>
            </a:r>
          </a:p>
        </p:txBody>
      </p:sp>
      <p:sp>
        <p:nvSpPr>
          <p:cNvPr id="17411" name="Rectangle 3"/>
          <p:cNvSpPr>
            <a:spLocks noChangeArrowheads="1"/>
          </p:cNvSpPr>
          <p:nvPr/>
        </p:nvSpPr>
        <p:spPr bwMode="auto">
          <a:xfrm>
            <a:off x="4216400" y="2419350"/>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7412" name="Text Box 4"/>
          <p:cNvSpPr txBox="1">
            <a:spLocks noChangeArrowheads="1"/>
          </p:cNvSpPr>
          <p:nvPr/>
        </p:nvSpPr>
        <p:spPr bwMode="auto">
          <a:xfrm>
            <a:off x="4275138" y="2492375"/>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p:txBody>
      </p:sp>
      <p:sp>
        <p:nvSpPr>
          <p:cNvPr id="17413" name="Line 5"/>
          <p:cNvSpPr>
            <a:spLocks noChangeShapeType="1"/>
          </p:cNvSpPr>
          <p:nvPr/>
        </p:nvSpPr>
        <p:spPr bwMode="auto">
          <a:xfrm>
            <a:off x="4635500" y="241935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414" name="Text Box 6"/>
          <p:cNvSpPr txBox="1">
            <a:spLocks noChangeArrowheads="1"/>
          </p:cNvSpPr>
          <p:nvPr/>
        </p:nvSpPr>
        <p:spPr bwMode="auto">
          <a:xfrm>
            <a:off x="2128838" y="2424113"/>
            <a:ext cx="10144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head</a:t>
            </a:r>
            <a:endParaRPr kumimoji="1" lang="en-US" altLang="zh-CN" sz="1000">
              <a:latin typeface="Times New Roman" panose="02020603050405020304" pitchFamily="18" charset="0"/>
              <a:ea typeface="宋体" panose="02010600030101010101" pitchFamily="2" charset="-122"/>
            </a:endParaRPr>
          </a:p>
        </p:txBody>
      </p:sp>
      <p:sp>
        <p:nvSpPr>
          <p:cNvPr id="17415" name="Line 7"/>
          <p:cNvSpPr>
            <a:spLocks noChangeShapeType="1"/>
          </p:cNvSpPr>
          <p:nvPr/>
        </p:nvSpPr>
        <p:spPr bwMode="auto">
          <a:xfrm flipV="1">
            <a:off x="2774950" y="2635250"/>
            <a:ext cx="431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416" name="Rectangle 8"/>
          <p:cNvSpPr>
            <a:spLocks noChangeArrowheads="1"/>
          </p:cNvSpPr>
          <p:nvPr/>
        </p:nvSpPr>
        <p:spPr bwMode="auto">
          <a:xfrm>
            <a:off x="3151188" y="2405063"/>
            <a:ext cx="792162"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7417" name="Line 9"/>
          <p:cNvSpPr>
            <a:spLocks noChangeShapeType="1"/>
          </p:cNvSpPr>
          <p:nvPr/>
        </p:nvSpPr>
        <p:spPr bwMode="auto">
          <a:xfrm>
            <a:off x="3568700" y="24050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418" name="Line 10"/>
          <p:cNvSpPr>
            <a:spLocks noChangeShapeType="1"/>
          </p:cNvSpPr>
          <p:nvPr/>
        </p:nvSpPr>
        <p:spPr bwMode="auto">
          <a:xfrm>
            <a:off x="3767138" y="2659063"/>
            <a:ext cx="4191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419" name="Rectangle 11"/>
          <p:cNvSpPr>
            <a:spLocks noChangeArrowheads="1"/>
          </p:cNvSpPr>
          <p:nvPr/>
        </p:nvSpPr>
        <p:spPr bwMode="auto">
          <a:xfrm>
            <a:off x="7583488" y="2389188"/>
            <a:ext cx="792162" cy="479425"/>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7420" name="Text Box 12"/>
          <p:cNvSpPr txBox="1">
            <a:spLocks noChangeArrowheads="1"/>
          </p:cNvSpPr>
          <p:nvPr/>
        </p:nvSpPr>
        <p:spPr bwMode="auto">
          <a:xfrm>
            <a:off x="7642225" y="2462213"/>
            <a:ext cx="3048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p>
        </p:txBody>
      </p:sp>
      <p:sp>
        <p:nvSpPr>
          <p:cNvPr id="17421" name="Line 13"/>
          <p:cNvSpPr>
            <a:spLocks noChangeShapeType="1"/>
          </p:cNvSpPr>
          <p:nvPr/>
        </p:nvSpPr>
        <p:spPr bwMode="auto">
          <a:xfrm>
            <a:off x="8002588" y="2389188"/>
            <a:ext cx="0" cy="4794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422" name="Line 14"/>
          <p:cNvSpPr>
            <a:spLocks noChangeShapeType="1"/>
          </p:cNvSpPr>
          <p:nvPr/>
        </p:nvSpPr>
        <p:spPr bwMode="auto">
          <a:xfrm>
            <a:off x="7042150" y="2654300"/>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423" name="Rectangle 15"/>
          <p:cNvSpPr>
            <a:spLocks noChangeArrowheads="1"/>
          </p:cNvSpPr>
          <p:nvPr/>
        </p:nvSpPr>
        <p:spPr bwMode="auto">
          <a:xfrm>
            <a:off x="5467350" y="2381250"/>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7424" name="Text Box 16"/>
          <p:cNvSpPr txBox="1">
            <a:spLocks noChangeArrowheads="1"/>
          </p:cNvSpPr>
          <p:nvPr/>
        </p:nvSpPr>
        <p:spPr bwMode="auto">
          <a:xfrm>
            <a:off x="5526088" y="2454275"/>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p:txBody>
      </p:sp>
      <p:sp>
        <p:nvSpPr>
          <p:cNvPr id="17425" name="Line 17"/>
          <p:cNvSpPr>
            <a:spLocks noChangeShapeType="1"/>
          </p:cNvSpPr>
          <p:nvPr/>
        </p:nvSpPr>
        <p:spPr bwMode="auto">
          <a:xfrm>
            <a:off x="5886450" y="238125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426" name="Line 18"/>
          <p:cNvSpPr>
            <a:spLocks noChangeShapeType="1"/>
          </p:cNvSpPr>
          <p:nvPr/>
        </p:nvSpPr>
        <p:spPr bwMode="auto">
          <a:xfrm>
            <a:off x="6051550" y="2636838"/>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427" name="Text Box 19"/>
          <p:cNvSpPr txBox="1">
            <a:spLocks noChangeArrowheads="1"/>
          </p:cNvSpPr>
          <p:nvPr/>
        </p:nvSpPr>
        <p:spPr bwMode="auto">
          <a:xfrm>
            <a:off x="6653213" y="2390775"/>
            <a:ext cx="419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a:t>
            </a:r>
            <a:endParaRPr kumimoji="1" lang="en-US" altLang="zh-CN" sz="1000">
              <a:latin typeface="Times New Roman" panose="02020603050405020304" pitchFamily="18" charset="0"/>
              <a:ea typeface="宋体" panose="02010600030101010101" pitchFamily="2" charset="-122"/>
            </a:endParaRPr>
          </a:p>
        </p:txBody>
      </p:sp>
      <p:sp>
        <p:nvSpPr>
          <p:cNvPr id="17428" name="Line 20"/>
          <p:cNvSpPr>
            <a:spLocks noChangeShapeType="1"/>
          </p:cNvSpPr>
          <p:nvPr/>
        </p:nvSpPr>
        <p:spPr bwMode="auto">
          <a:xfrm>
            <a:off x="4862513" y="2635250"/>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37" name="Text Box 21"/>
          <p:cNvSpPr txBox="1">
            <a:spLocks noChangeArrowheads="1"/>
          </p:cNvSpPr>
          <p:nvPr/>
        </p:nvSpPr>
        <p:spPr bwMode="auto">
          <a:xfrm>
            <a:off x="2128838" y="3500438"/>
            <a:ext cx="10144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head</a:t>
            </a:r>
            <a:endParaRPr kumimoji="1" lang="en-US" altLang="zh-CN" sz="1000">
              <a:latin typeface="Times New Roman" panose="02020603050405020304" pitchFamily="18" charset="0"/>
              <a:ea typeface="宋体" panose="02010600030101010101" pitchFamily="2" charset="-122"/>
            </a:endParaRPr>
          </a:p>
        </p:txBody>
      </p:sp>
      <p:sp>
        <p:nvSpPr>
          <p:cNvPr id="137238" name="Line 22"/>
          <p:cNvSpPr>
            <a:spLocks noChangeShapeType="1"/>
          </p:cNvSpPr>
          <p:nvPr/>
        </p:nvSpPr>
        <p:spPr bwMode="auto">
          <a:xfrm flipV="1">
            <a:off x="2774950" y="3711575"/>
            <a:ext cx="431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39" name="Rectangle 23"/>
          <p:cNvSpPr>
            <a:spLocks noChangeArrowheads="1"/>
          </p:cNvSpPr>
          <p:nvPr/>
        </p:nvSpPr>
        <p:spPr bwMode="auto">
          <a:xfrm>
            <a:off x="3151188" y="3481388"/>
            <a:ext cx="792162"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7240" name="Line 24"/>
          <p:cNvSpPr>
            <a:spLocks noChangeShapeType="1"/>
          </p:cNvSpPr>
          <p:nvPr/>
        </p:nvSpPr>
        <p:spPr bwMode="auto">
          <a:xfrm>
            <a:off x="3568700" y="3481388"/>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433" name="Text Box 25"/>
          <p:cNvSpPr txBox="1">
            <a:spLocks noChangeArrowheads="1"/>
          </p:cNvSpPr>
          <p:nvPr/>
        </p:nvSpPr>
        <p:spPr bwMode="auto">
          <a:xfrm>
            <a:off x="8094663" y="2492375"/>
            <a:ext cx="3048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1800">
                <a:latin typeface="Verdana" panose="020B0604030504040204" pitchFamily="34" charset="0"/>
                <a:ea typeface="宋体" panose="02010600030101010101" pitchFamily="2" charset="-122"/>
              </a:rPr>
              <a:t>∧</a:t>
            </a:r>
          </a:p>
        </p:txBody>
      </p:sp>
      <p:sp>
        <p:nvSpPr>
          <p:cNvPr id="137242" name="Text Box 26"/>
          <p:cNvSpPr txBox="1">
            <a:spLocks noChangeArrowheads="1"/>
          </p:cNvSpPr>
          <p:nvPr/>
        </p:nvSpPr>
        <p:spPr bwMode="auto">
          <a:xfrm>
            <a:off x="3567113" y="3571875"/>
            <a:ext cx="3048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1800">
                <a:latin typeface="Verdana" panose="020B0604030504040204" pitchFamily="34" charset="0"/>
                <a:ea typeface="宋体" panose="02010600030101010101" pitchFamily="2" charset="-122"/>
              </a:rPr>
              <a:t>∧</a:t>
            </a:r>
          </a:p>
        </p:txBody>
      </p:sp>
      <p:sp>
        <p:nvSpPr>
          <p:cNvPr id="137243" name="Line 27"/>
          <p:cNvSpPr>
            <a:spLocks noChangeShapeType="1"/>
          </p:cNvSpPr>
          <p:nvPr/>
        </p:nvSpPr>
        <p:spPr bwMode="auto">
          <a:xfrm>
            <a:off x="3892550" y="1966913"/>
            <a:ext cx="508000" cy="3571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44" name="Text Box 28"/>
          <p:cNvSpPr txBox="1">
            <a:spLocks noChangeArrowheads="1"/>
          </p:cNvSpPr>
          <p:nvPr/>
        </p:nvSpPr>
        <p:spPr bwMode="auto">
          <a:xfrm>
            <a:off x="3638550" y="1700213"/>
            <a:ext cx="3683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37245" name="Line 29"/>
          <p:cNvSpPr>
            <a:spLocks noChangeShapeType="1"/>
          </p:cNvSpPr>
          <p:nvPr/>
        </p:nvSpPr>
        <p:spPr bwMode="auto">
          <a:xfrm flipV="1">
            <a:off x="5045075" y="2852738"/>
            <a:ext cx="393700" cy="55403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46" name="Text Box 30"/>
          <p:cNvSpPr txBox="1">
            <a:spLocks noChangeArrowheads="1"/>
          </p:cNvSpPr>
          <p:nvPr/>
        </p:nvSpPr>
        <p:spPr bwMode="auto">
          <a:xfrm>
            <a:off x="4791075" y="3140075"/>
            <a:ext cx="3683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a:t>
            </a:r>
            <a:endParaRPr kumimoji="1" lang="en-US" altLang="zh-CN" sz="1000">
              <a:latin typeface="Times New Roman" panose="02020603050405020304" pitchFamily="18" charset="0"/>
              <a:ea typeface="宋体" panose="02010600030101010101" pitchFamily="2" charset="-122"/>
            </a:endParaRPr>
          </a:p>
        </p:txBody>
      </p:sp>
      <p:sp>
        <p:nvSpPr>
          <p:cNvPr id="137247" name="Text Box 31"/>
          <p:cNvSpPr txBox="1">
            <a:spLocks noChangeArrowheads="1"/>
          </p:cNvSpPr>
          <p:nvPr/>
        </p:nvSpPr>
        <p:spPr bwMode="auto">
          <a:xfrm>
            <a:off x="2112963" y="4292600"/>
            <a:ext cx="10144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head</a:t>
            </a:r>
            <a:endParaRPr kumimoji="1" lang="en-US" altLang="zh-CN" sz="1000">
              <a:latin typeface="Times New Roman" panose="02020603050405020304" pitchFamily="18" charset="0"/>
              <a:ea typeface="宋体" panose="02010600030101010101" pitchFamily="2" charset="-122"/>
            </a:endParaRPr>
          </a:p>
        </p:txBody>
      </p:sp>
      <p:sp>
        <p:nvSpPr>
          <p:cNvPr id="137248" name="Line 32"/>
          <p:cNvSpPr>
            <a:spLocks noChangeShapeType="1"/>
          </p:cNvSpPr>
          <p:nvPr/>
        </p:nvSpPr>
        <p:spPr bwMode="auto">
          <a:xfrm flipV="1">
            <a:off x="2760663" y="4503738"/>
            <a:ext cx="431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49" name="Rectangle 33"/>
          <p:cNvSpPr>
            <a:spLocks noChangeArrowheads="1"/>
          </p:cNvSpPr>
          <p:nvPr/>
        </p:nvSpPr>
        <p:spPr bwMode="auto">
          <a:xfrm>
            <a:off x="3135313" y="4273550"/>
            <a:ext cx="792162"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7250" name="Line 34"/>
          <p:cNvSpPr>
            <a:spLocks noChangeShapeType="1"/>
          </p:cNvSpPr>
          <p:nvPr/>
        </p:nvSpPr>
        <p:spPr bwMode="auto">
          <a:xfrm>
            <a:off x="3554413" y="427355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51" name="Text Box 35"/>
          <p:cNvSpPr txBox="1">
            <a:spLocks noChangeArrowheads="1"/>
          </p:cNvSpPr>
          <p:nvPr/>
        </p:nvSpPr>
        <p:spPr bwMode="auto">
          <a:xfrm>
            <a:off x="4646613" y="4364038"/>
            <a:ext cx="3048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1800">
                <a:latin typeface="Verdana" panose="020B0604030504040204" pitchFamily="34" charset="0"/>
                <a:ea typeface="宋体" panose="02010600030101010101" pitchFamily="2" charset="-122"/>
              </a:rPr>
              <a:t>∧</a:t>
            </a:r>
          </a:p>
        </p:txBody>
      </p:sp>
      <p:sp>
        <p:nvSpPr>
          <p:cNvPr id="137252" name="Rectangle 36"/>
          <p:cNvSpPr>
            <a:spLocks noChangeArrowheads="1"/>
          </p:cNvSpPr>
          <p:nvPr/>
        </p:nvSpPr>
        <p:spPr bwMode="auto">
          <a:xfrm>
            <a:off x="4229100" y="4291013"/>
            <a:ext cx="793750"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7253" name="Text Box 37"/>
          <p:cNvSpPr txBox="1">
            <a:spLocks noChangeArrowheads="1"/>
          </p:cNvSpPr>
          <p:nvPr/>
        </p:nvSpPr>
        <p:spPr bwMode="auto">
          <a:xfrm>
            <a:off x="4287838" y="4364038"/>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p:txBody>
      </p:sp>
      <p:sp>
        <p:nvSpPr>
          <p:cNvPr id="137254" name="Line 38"/>
          <p:cNvSpPr>
            <a:spLocks noChangeShapeType="1"/>
          </p:cNvSpPr>
          <p:nvPr/>
        </p:nvSpPr>
        <p:spPr bwMode="auto">
          <a:xfrm>
            <a:off x="4648200" y="429101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55" name="Line 39"/>
          <p:cNvSpPr>
            <a:spLocks noChangeShapeType="1"/>
          </p:cNvSpPr>
          <p:nvPr/>
        </p:nvSpPr>
        <p:spPr bwMode="auto">
          <a:xfrm>
            <a:off x="3783013" y="4508500"/>
            <a:ext cx="4191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56" name="Line 40"/>
          <p:cNvSpPr>
            <a:spLocks noChangeShapeType="1"/>
          </p:cNvSpPr>
          <p:nvPr/>
        </p:nvSpPr>
        <p:spPr bwMode="auto">
          <a:xfrm>
            <a:off x="5260975" y="2038350"/>
            <a:ext cx="508000" cy="35718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57" name="Text Box 41"/>
          <p:cNvSpPr txBox="1">
            <a:spLocks noChangeArrowheads="1"/>
          </p:cNvSpPr>
          <p:nvPr/>
        </p:nvSpPr>
        <p:spPr bwMode="auto">
          <a:xfrm>
            <a:off x="5006975" y="1771650"/>
            <a:ext cx="3683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37258" name="Text Box 42"/>
          <p:cNvSpPr txBox="1">
            <a:spLocks noChangeArrowheads="1"/>
          </p:cNvSpPr>
          <p:nvPr/>
        </p:nvSpPr>
        <p:spPr bwMode="auto">
          <a:xfrm>
            <a:off x="2128838" y="5373688"/>
            <a:ext cx="10144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head</a:t>
            </a:r>
            <a:endParaRPr kumimoji="1" lang="en-US" altLang="zh-CN" sz="1000">
              <a:latin typeface="Times New Roman" panose="02020603050405020304" pitchFamily="18" charset="0"/>
              <a:ea typeface="宋体" panose="02010600030101010101" pitchFamily="2" charset="-122"/>
            </a:endParaRPr>
          </a:p>
        </p:txBody>
      </p:sp>
      <p:sp>
        <p:nvSpPr>
          <p:cNvPr id="137259" name="Line 43"/>
          <p:cNvSpPr>
            <a:spLocks noChangeShapeType="1"/>
          </p:cNvSpPr>
          <p:nvPr/>
        </p:nvSpPr>
        <p:spPr bwMode="auto">
          <a:xfrm flipV="1">
            <a:off x="2774950" y="5584825"/>
            <a:ext cx="431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60" name="Rectangle 44"/>
          <p:cNvSpPr>
            <a:spLocks noChangeArrowheads="1"/>
          </p:cNvSpPr>
          <p:nvPr/>
        </p:nvSpPr>
        <p:spPr bwMode="auto">
          <a:xfrm>
            <a:off x="3151188" y="5354638"/>
            <a:ext cx="792162"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7261" name="Line 45"/>
          <p:cNvSpPr>
            <a:spLocks noChangeShapeType="1"/>
          </p:cNvSpPr>
          <p:nvPr/>
        </p:nvSpPr>
        <p:spPr bwMode="auto">
          <a:xfrm>
            <a:off x="3568700" y="5354638"/>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62" name="Text Box 46"/>
          <p:cNvSpPr txBox="1">
            <a:spLocks noChangeArrowheads="1"/>
          </p:cNvSpPr>
          <p:nvPr/>
        </p:nvSpPr>
        <p:spPr bwMode="auto">
          <a:xfrm>
            <a:off x="5727700" y="5445125"/>
            <a:ext cx="3048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1800">
                <a:latin typeface="Verdana" panose="020B0604030504040204" pitchFamily="34" charset="0"/>
                <a:ea typeface="宋体" panose="02010600030101010101" pitchFamily="2" charset="-122"/>
              </a:rPr>
              <a:t>∧</a:t>
            </a:r>
          </a:p>
        </p:txBody>
      </p:sp>
      <p:sp>
        <p:nvSpPr>
          <p:cNvPr id="137263" name="Rectangle 47"/>
          <p:cNvSpPr>
            <a:spLocks noChangeArrowheads="1"/>
          </p:cNvSpPr>
          <p:nvPr/>
        </p:nvSpPr>
        <p:spPr bwMode="auto">
          <a:xfrm>
            <a:off x="4243388" y="5372100"/>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7264" name="Text Box 48"/>
          <p:cNvSpPr txBox="1">
            <a:spLocks noChangeArrowheads="1"/>
          </p:cNvSpPr>
          <p:nvPr/>
        </p:nvSpPr>
        <p:spPr bwMode="auto">
          <a:xfrm>
            <a:off x="4302125" y="5445125"/>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p:txBody>
      </p:sp>
      <p:sp>
        <p:nvSpPr>
          <p:cNvPr id="137265" name="Line 49"/>
          <p:cNvSpPr>
            <a:spLocks noChangeShapeType="1"/>
          </p:cNvSpPr>
          <p:nvPr/>
        </p:nvSpPr>
        <p:spPr bwMode="auto">
          <a:xfrm>
            <a:off x="4662488" y="537210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66" name="Line 50"/>
          <p:cNvSpPr>
            <a:spLocks noChangeShapeType="1"/>
          </p:cNvSpPr>
          <p:nvPr/>
        </p:nvSpPr>
        <p:spPr bwMode="auto">
          <a:xfrm>
            <a:off x="3797300" y="5589588"/>
            <a:ext cx="4191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67" name="Rectangle 51"/>
          <p:cNvSpPr>
            <a:spLocks noChangeArrowheads="1"/>
          </p:cNvSpPr>
          <p:nvPr/>
        </p:nvSpPr>
        <p:spPr bwMode="auto">
          <a:xfrm>
            <a:off x="5308600" y="5372100"/>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7268" name="Text Box 52"/>
          <p:cNvSpPr txBox="1">
            <a:spLocks noChangeArrowheads="1"/>
          </p:cNvSpPr>
          <p:nvPr/>
        </p:nvSpPr>
        <p:spPr bwMode="auto">
          <a:xfrm>
            <a:off x="5367338" y="5445125"/>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p:txBody>
      </p:sp>
      <p:sp>
        <p:nvSpPr>
          <p:cNvPr id="137269" name="Line 53"/>
          <p:cNvSpPr>
            <a:spLocks noChangeShapeType="1"/>
          </p:cNvSpPr>
          <p:nvPr/>
        </p:nvSpPr>
        <p:spPr bwMode="auto">
          <a:xfrm>
            <a:off x="5727700" y="537210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7270" name="Line 54"/>
          <p:cNvSpPr>
            <a:spLocks noChangeShapeType="1"/>
          </p:cNvSpPr>
          <p:nvPr/>
        </p:nvSpPr>
        <p:spPr bwMode="auto">
          <a:xfrm>
            <a:off x="4862513" y="5588000"/>
            <a:ext cx="4191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72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724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72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72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72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72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724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372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724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724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72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724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72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7251"/>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1372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72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725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725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725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xit" presetSubtype="0" fill="hold" nodeType="clickEffect">
                                  <p:stCondLst>
                                    <p:cond delay="0"/>
                                  </p:stCondLst>
                                  <p:childTnLst>
                                    <p:set>
                                      <p:cBhvr>
                                        <p:cTn id="52" dur="1" fill="hold">
                                          <p:stCondLst>
                                            <p:cond delay="0"/>
                                          </p:stCondLst>
                                        </p:cTn>
                                        <p:tgtEl>
                                          <p:spTgt spid="137243"/>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37244"/>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13725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7257"/>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725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725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726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3726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7262"/>
                                        </p:tgtEl>
                                        <p:attrNameLst>
                                          <p:attrName>style.visibility</p:attrName>
                                        </p:attrNameLst>
                                      </p:cBhvr>
                                      <p:to>
                                        <p:strVal val="visible"/>
                                      </p:to>
                                    </p:set>
                                  </p:childTnLst>
                                </p:cTn>
                              </p:par>
                              <p:par>
                                <p:cTn id="71" presetID="1" presetClass="entr" presetSubtype="0" fill="hold" grpId="1" nodeType="withEffect">
                                  <p:stCondLst>
                                    <p:cond delay="0"/>
                                  </p:stCondLst>
                                  <p:childTnLst>
                                    <p:set>
                                      <p:cBhvr>
                                        <p:cTn id="72" dur="1" fill="hold">
                                          <p:stCondLst>
                                            <p:cond delay="0"/>
                                          </p:stCondLst>
                                        </p:cTn>
                                        <p:tgtEl>
                                          <p:spTgt spid="13726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726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3726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3726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3726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3727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3726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3726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37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37" grpId="0"/>
      <p:bldP spid="137239" grpId="0" animBg="1"/>
      <p:bldP spid="137242" grpId="0"/>
      <p:bldP spid="137244" grpId="0"/>
      <p:bldP spid="137244" grpId="1"/>
      <p:bldP spid="137246" grpId="0"/>
      <p:bldP spid="137247" grpId="0"/>
      <p:bldP spid="137249" grpId="0" animBg="1"/>
      <p:bldP spid="137251" grpId="0"/>
      <p:bldP spid="137251" grpId="1"/>
      <p:bldP spid="137252" grpId="0" animBg="1"/>
      <p:bldP spid="137253" grpId="0"/>
      <p:bldP spid="137257" grpId="0"/>
      <p:bldP spid="137258" grpId="0"/>
      <p:bldP spid="137260" grpId="0" animBg="1"/>
      <p:bldP spid="137262" grpId="0"/>
      <p:bldP spid="137262" grpId="1"/>
      <p:bldP spid="137263" grpId="0" animBg="1"/>
      <p:bldP spid="137264" grpId="0"/>
      <p:bldP spid="137267" grpId="0" animBg="1"/>
      <p:bldP spid="13726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27050" y="333375"/>
            <a:ext cx="10321925" cy="863600"/>
          </a:xfrm>
        </p:spPr>
        <p:txBody>
          <a:bodyPr/>
          <a:lstStyle/>
          <a:p>
            <a:pPr eaLnBrk="1" hangingPunct="1"/>
            <a:r>
              <a:rPr lang="zh-CN" altLang="en-US" smtClean="0"/>
              <a:t>完整</a:t>
            </a:r>
            <a:r>
              <a:rPr lang="en-US" altLang="zh-CN" smtClean="0"/>
              <a:t>C</a:t>
            </a:r>
            <a:r>
              <a:rPr lang="zh-CN" altLang="en-US" smtClean="0"/>
              <a:t>语言程序</a:t>
            </a:r>
          </a:p>
        </p:txBody>
      </p:sp>
      <p:sp>
        <p:nvSpPr>
          <p:cNvPr id="22531" name="Rectangle 3"/>
          <p:cNvSpPr>
            <a:spLocks noGrp="1" noChangeArrowheads="1"/>
          </p:cNvSpPr>
          <p:nvPr>
            <p:ph idx="1"/>
          </p:nvPr>
        </p:nvSpPr>
        <p:spPr>
          <a:xfrm>
            <a:off x="517525" y="1341438"/>
            <a:ext cx="10321925" cy="5183187"/>
          </a:xfrm>
        </p:spPr>
        <p:txBody>
          <a:bodyPr rtlCol="0">
            <a:normAutofit fontScale="62500" lnSpcReduction="20000"/>
          </a:bodyPr>
          <a:lstStyle/>
          <a:p>
            <a:pPr eaLnBrk="1" fontAlgn="auto" hangingPunct="1">
              <a:lnSpc>
                <a:spcPct val="80000"/>
              </a:lnSpc>
              <a:spcAft>
                <a:spcPts val="0"/>
              </a:spcAft>
              <a:buFont typeface="Wingdings" panose="05000000000000000000" pitchFamily="2" charset="2"/>
              <a:buNone/>
              <a:defRPr/>
            </a:pPr>
            <a:r>
              <a:rPr lang="en-US" altLang="zh-CN" sz="1500" b="1" dirty="0" err="1"/>
              <a:t>typedef</a:t>
            </a:r>
            <a:r>
              <a:rPr lang="en-US" altLang="zh-CN" sz="1500" b="1" dirty="0"/>
              <a:t>  </a:t>
            </a:r>
            <a:r>
              <a:rPr lang="en-US" altLang="zh-CN" sz="1500" b="1" dirty="0" err="1"/>
              <a:t>struct</a:t>
            </a:r>
            <a:r>
              <a:rPr lang="en-US" altLang="zh-CN" sz="1500" b="1" dirty="0"/>
              <a:t>  node</a:t>
            </a:r>
          </a:p>
          <a:p>
            <a:pPr eaLnBrk="1" fontAlgn="auto" hangingPunct="1">
              <a:lnSpc>
                <a:spcPct val="80000"/>
              </a:lnSpc>
              <a:spcAft>
                <a:spcPts val="0"/>
              </a:spcAft>
              <a:buFont typeface="Wingdings" panose="05000000000000000000" pitchFamily="2" charset="2"/>
              <a:buNone/>
              <a:defRPr/>
            </a:pPr>
            <a:r>
              <a:rPr lang="en-US" altLang="zh-CN" sz="1500" b="1" dirty="0"/>
              <a:t>{</a:t>
            </a:r>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err="1"/>
              <a:t>int</a:t>
            </a:r>
            <a:r>
              <a:rPr lang="en-US" altLang="zh-CN" sz="1500" b="1" dirty="0"/>
              <a:t>  data;//</a:t>
            </a:r>
            <a:r>
              <a:rPr lang="zh-CN" altLang="en-US" sz="1500" b="1" dirty="0"/>
              <a:t>假定结点数据域为整型。</a:t>
            </a:r>
          </a:p>
          <a:p>
            <a:pPr eaLnBrk="1" fontAlgn="auto" hangingPunct="1">
              <a:lnSpc>
                <a:spcPct val="80000"/>
              </a:lnSpc>
              <a:spcAft>
                <a:spcPts val="0"/>
              </a:spcAft>
              <a:buFont typeface="Wingdings" panose="05000000000000000000" pitchFamily="2" charset="2"/>
              <a:buNone/>
              <a:defRPr/>
            </a:pPr>
            <a:r>
              <a:rPr lang="zh-CN" altLang="en-US" sz="1500" b="1" dirty="0"/>
              <a:t>   </a:t>
            </a:r>
            <a:r>
              <a:rPr lang="zh-CN" altLang="en-US" sz="1500" b="1" dirty="0" smtClean="0"/>
              <a:t>     </a:t>
            </a:r>
            <a:r>
              <a:rPr lang="en-US" altLang="zh-CN" sz="1500" b="1" dirty="0" err="1"/>
              <a:t>struct</a:t>
            </a:r>
            <a:r>
              <a:rPr lang="en-US" altLang="zh-CN" sz="1500" b="1" dirty="0"/>
              <a:t>  node  *next;</a:t>
            </a:r>
          </a:p>
          <a:p>
            <a:pPr eaLnBrk="1" fontAlgn="auto" hangingPunct="1">
              <a:lnSpc>
                <a:spcPct val="80000"/>
              </a:lnSpc>
              <a:spcAft>
                <a:spcPts val="0"/>
              </a:spcAft>
              <a:buFont typeface="Wingdings" panose="05000000000000000000" pitchFamily="2" charset="2"/>
              <a:buNone/>
              <a:defRPr/>
            </a:pPr>
            <a:r>
              <a:rPr lang="en-US" altLang="zh-CN" sz="1500" b="1" dirty="0"/>
              <a:t>      </a:t>
            </a:r>
          </a:p>
          <a:p>
            <a:pPr eaLnBrk="1" fontAlgn="auto" hangingPunct="1">
              <a:lnSpc>
                <a:spcPct val="80000"/>
              </a:lnSpc>
              <a:spcAft>
                <a:spcPts val="0"/>
              </a:spcAft>
              <a:buFont typeface="Wingdings" panose="05000000000000000000" pitchFamily="2" charset="2"/>
              <a:buNone/>
              <a:defRPr/>
            </a:pPr>
            <a:r>
              <a:rPr lang="en-US" altLang="zh-CN" sz="1500" b="1" dirty="0"/>
              <a:t>}node,*</a:t>
            </a:r>
            <a:r>
              <a:rPr lang="en-US" altLang="zh-CN" sz="1500" b="1" dirty="0" err="1"/>
              <a:t>LinkedList</a:t>
            </a:r>
            <a:r>
              <a:rPr lang="en-US" altLang="zh-CN" sz="1500" b="1" dirty="0"/>
              <a:t>;</a:t>
            </a:r>
          </a:p>
          <a:p>
            <a:pPr eaLnBrk="1" fontAlgn="auto" hangingPunct="1">
              <a:lnSpc>
                <a:spcPct val="80000"/>
              </a:lnSpc>
              <a:spcAft>
                <a:spcPts val="0"/>
              </a:spcAft>
              <a:buFont typeface="Wingdings" panose="05000000000000000000" pitchFamily="2" charset="2"/>
              <a:buNone/>
              <a:defRPr/>
            </a:pPr>
            <a:endParaRPr lang="en-US" altLang="zh-CN" sz="1500" b="1" dirty="0"/>
          </a:p>
          <a:p>
            <a:pPr eaLnBrk="1" fontAlgn="auto" hangingPunct="1">
              <a:lnSpc>
                <a:spcPct val="80000"/>
              </a:lnSpc>
              <a:spcAft>
                <a:spcPts val="0"/>
              </a:spcAft>
              <a:buFont typeface="Wingdings" panose="05000000000000000000" pitchFamily="2" charset="2"/>
              <a:buNone/>
              <a:defRPr/>
            </a:pPr>
            <a:r>
              <a:rPr lang="en-US" altLang="zh-CN" sz="1500" b="1" dirty="0" err="1"/>
              <a:t>LinkedList</a:t>
            </a:r>
            <a:r>
              <a:rPr lang="en-US" altLang="zh-CN" sz="1500" b="1" dirty="0"/>
              <a:t> </a:t>
            </a:r>
            <a:r>
              <a:rPr lang="en-US" altLang="zh-CN" sz="1500" b="1" dirty="0" err="1"/>
              <a:t>creat</a:t>
            </a:r>
            <a:r>
              <a:rPr lang="en-US" altLang="zh-CN" sz="1500" b="1" dirty="0"/>
              <a:t>()</a:t>
            </a:r>
          </a:p>
          <a:p>
            <a:pPr eaLnBrk="1" fontAlgn="auto" hangingPunct="1">
              <a:lnSpc>
                <a:spcPct val="80000"/>
              </a:lnSpc>
              <a:spcAft>
                <a:spcPts val="0"/>
              </a:spcAft>
              <a:buFont typeface="Wingdings" panose="05000000000000000000" pitchFamily="2" charset="2"/>
              <a:buNone/>
              <a:defRPr/>
            </a:pPr>
            <a:r>
              <a:rPr lang="en-US" altLang="zh-CN" sz="1500" b="1" dirty="0"/>
              <a:t>{</a:t>
            </a:r>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err="1"/>
              <a:t>LinkedList</a:t>
            </a:r>
            <a:r>
              <a:rPr lang="en-US" altLang="zh-CN" sz="1500" b="1" dirty="0"/>
              <a:t> </a:t>
            </a:r>
            <a:r>
              <a:rPr lang="en-US" altLang="zh-CN" sz="1500" b="1" dirty="0" err="1"/>
              <a:t>head,p</a:t>
            </a:r>
            <a:r>
              <a:rPr lang="en-US" altLang="zh-CN" sz="1500" b="1" dirty="0"/>
              <a:t>;</a:t>
            </a:r>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err="1"/>
              <a:t>int</a:t>
            </a:r>
            <a:r>
              <a:rPr lang="en-US" altLang="zh-CN" sz="1500" b="1" dirty="0"/>
              <a:t>  x;</a:t>
            </a:r>
          </a:p>
          <a:p>
            <a:pPr eaLnBrk="1" fontAlgn="auto" hangingPunct="1">
              <a:lnSpc>
                <a:spcPct val="80000"/>
              </a:lnSpc>
              <a:spcAft>
                <a:spcPts val="0"/>
              </a:spcAft>
              <a:buFont typeface="Wingdings" panose="05000000000000000000" pitchFamily="2" charset="2"/>
              <a:buNone/>
              <a:defRPr/>
            </a:pPr>
            <a:r>
              <a:rPr lang="en-US" altLang="zh-CN" sz="1500" b="1" dirty="0"/>
              <a:t>	head=(</a:t>
            </a:r>
            <a:r>
              <a:rPr lang="en-US" altLang="zh-CN" sz="1500" b="1" dirty="0" err="1"/>
              <a:t>LinkedList</a:t>
            </a:r>
            <a:r>
              <a:rPr lang="en-US" altLang="zh-CN" sz="1500" b="1" dirty="0"/>
              <a:t>)</a:t>
            </a:r>
            <a:r>
              <a:rPr lang="en-US" altLang="zh-CN" sz="1500" b="1" dirty="0" err="1"/>
              <a:t>malloc</a:t>
            </a:r>
            <a:r>
              <a:rPr lang="en-US" altLang="zh-CN" sz="1500" b="1" dirty="0"/>
              <a:t>(</a:t>
            </a:r>
            <a:r>
              <a:rPr lang="en-US" altLang="zh-CN" sz="1500" b="1" dirty="0" err="1"/>
              <a:t>sizeof</a:t>
            </a:r>
            <a:r>
              <a:rPr lang="en-US" altLang="zh-CN" sz="1500" b="1" dirty="0"/>
              <a:t>(node));</a:t>
            </a:r>
          </a:p>
          <a:p>
            <a:pPr eaLnBrk="1" fontAlgn="auto" hangingPunct="1">
              <a:lnSpc>
                <a:spcPct val="80000"/>
              </a:lnSpc>
              <a:spcAft>
                <a:spcPts val="0"/>
              </a:spcAft>
              <a:buFont typeface="Wingdings" panose="05000000000000000000" pitchFamily="2" charset="2"/>
              <a:buNone/>
              <a:defRPr/>
            </a:pPr>
            <a:r>
              <a:rPr lang="en-US" altLang="zh-CN" sz="1500" b="1" dirty="0"/>
              <a:t>	head-&gt;next=NULL; /*</a:t>
            </a:r>
            <a:r>
              <a:rPr lang="zh-CN" altLang="en-US" sz="1500" b="1" dirty="0"/>
              <a:t>设置头结点*</a:t>
            </a:r>
            <a:r>
              <a:rPr lang="en-US" altLang="zh-CN" sz="1500" b="1" dirty="0"/>
              <a:t>/</a:t>
            </a:r>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err="1"/>
              <a:t>scanf</a:t>
            </a:r>
            <a:r>
              <a:rPr lang="en-US" altLang="zh-CN" sz="1500" b="1" dirty="0"/>
              <a:t>("%</a:t>
            </a:r>
            <a:r>
              <a:rPr lang="en-US" altLang="zh-CN" sz="1500" b="1" dirty="0" err="1"/>
              <a:t>d",&amp;x</a:t>
            </a:r>
            <a:r>
              <a:rPr lang="en-US" altLang="zh-CN" sz="1500" b="1" dirty="0"/>
              <a:t>);</a:t>
            </a:r>
          </a:p>
          <a:p>
            <a:pPr eaLnBrk="1" fontAlgn="auto" hangingPunct="1">
              <a:lnSpc>
                <a:spcPct val="80000"/>
              </a:lnSpc>
              <a:spcAft>
                <a:spcPts val="0"/>
              </a:spcAft>
              <a:buFont typeface="Wingdings" panose="05000000000000000000" pitchFamily="2" charset="2"/>
              <a:buNone/>
              <a:defRPr/>
            </a:pPr>
            <a:r>
              <a:rPr lang="en-US" altLang="zh-CN" sz="1500" b="1" dirty="0"/>
              <a:t>	while(x!=9999) /*</a:t>
            </a:r>
            <a:r>
              <a:rPr lang="zh-CN" altLang="en-US" sz="1500" b="1" dirty="0"/>
              <a:t>约定输入</a:t>
            </a:r>
            <a:r>
              <a:rPr lang="en-US" altLang="zh-CN" sz="1500" b="1" dirty="0"/>
              <a:t>9999</a:t>
            </a:r>
            <a:r>
              <a:rPr lang="zh-CN" altLang="en-US" sz="1500" b="1" dirty="0"/>
              <a:t>时退出本函数*</a:t>
            </a:r>
            <a:r>
              <a:rPr lang="en-US" altLang="zh-CN" sz="1500" b="1" dirty="0"/>
              <a:t>/</a:t>
            </a:r>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smtClean="0"/>
              <a:t>   {</a:t>
            </a:r>
            <a:endParaRPr lang="en-US" altLang="zh-CN" sz="1500" b="1" dirty="0"/>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smtClean="0"/>
              <a:t>       p</a:t>
            </a:r>
            <a:r>
              <a:rPr lang="en-US" altLang="zh-CN" sz="1500" b="1" dirty="0"/>
              <a:t>=(</a:t>
            </a:r>
            <a:r>
              <a:rPr lang="en-US" altLang="zh-CN" sz="1500" b="1" dirty="0" err="1"/>
              <a:t>LinkedList</a:t>
            </a:r>
            <a:r>
              <a:rPr lang="en-US" altLang="zh-CN" sz="1500" b="1" dirty="0"/>
              <a:t>)</a:t>
            </a:r>
            <a:r>
              <a:rPr lang="en-US" altLang="zh-CN" sz="1500" b="1" dirty="0" err="1"/>
              <a:t>malloc</a:t>
            </a:r>
            <a:r>
              <a:rPr lang="en-US" altLang="zh-CN" sz="1500" b="1" dirty="0"/>
              <a:t>(</a:t>
            </a:r>
            <a:r>
              <a:rPr lang="en-US" altLang="zh-CN" sz="1500" b="1" dirty="0" err="1"/>
              <a:t>sizeof</a:t>
            </a:r>
            <a:r>
              <a:rPr lang="en-US" altLang="zh-CN" sz="1500" b="1" dirty="0"/>
              <a:t>(node));</a:t>
            </a:r>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smtClean="0"/>
              <a:t>        p-</a:t>
            </a:r>
            <a:r>
              <a:rPr lang="en-US" altLang="zh-CN" sz="1500" b="1" dirty="0"/>
              <a:t>&gt;data=x;</a:t>
            </a:r>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smtClean="0"/>
              <a:t>        p-</a:t>
            </a:r>
            <a:r>
              <a:rPr lang="en-US" altLang="zh-CN" sz="1500" b="1" dirty="0"/>
              <a:t>&gt;next=head-&gt;next;/* </a:t>
            </a:r>
            <a:r>
              <a:rPr lang="zh-CN" altLang="en-US" sz="1500" b="1" dirty="0"/>
              <a:t>将新结点链入链表*</a:t>
            </a:r>
            <a:r>
              <a:rPr lang="en-US" altLang="zh-CN" sz="1500" b="1" dirty="0"/>
              <a:t>/</a:t>
            </a:r>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smtClean="0"/>
              <a:t>        head-</a:t>
            </a:r>
            <a:r>
              <a:rPr lang="en-US" altLang="zh-CN" sz="1500" b="1" dirty="0"/>
              <a:t>&gt;next=p;</a:t>
            </a:r>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smtClean="0"/>
              <a:t>        </a:t>
            </a:r>
            <a:r>
              <a:rPr lang="en-US" altLang="zh-CN" sz="1500" b="1" dirty="0" err="1" smtClean="0"/>
              <a:t>scanf</a:t>
            </a:r>
            <a:r>
              <a:rPr lang="en-US" altLang="zh-CN" sz="1500" b="1" dirty="0"/>
              <a:t>("%</a:t>
            </a:r>
            <a:r>
              <a:rPr lang="en-US" altLang="zh-CN" sz="1500" b="1" dirty="0" err="1"/>
              <a:t>d",&amp;x</a:t>
            </a:r>
            <a:r>
              <a:rPr lang="en-US" altLang="zh-CN" sz="1500" b="1" dirty="0"/>
              <a:t>);</a:t>
            </a:r>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smtClean="0"/>
              <a:t>  }</a:t>
            </a:r>
            <a:endParaRPr lang="en-US" altLang="zh-CN" sz="1500" b="1" dirty="0"/>
          </a:p>
          <a:p>
            <a:pPr eaLnBrk="1" fontAlgn="auto" hangingPunct="1">
              <a:lnSpc>
                <a:spcPct val="80000"/>
              </a:lnSpc>
              <a:spcAft>
                <a:spcPts val="0"/>
              </a:spcAft>
              <a:buFont typeface="Wingdings" panose="05000000000000000000" pitchFamily="2" charset="2"/>
              <a:buNone/>
              <a:defRPr/>
            </a:pPr>
            <a:r>
              <a:rPr lang="en-US" altLang="zh-CN" sz="1500" b="1" dirty="0"/>
              <a:t>  </a:t>
            </a:r>
            <a:r>
              <a:rPr lang="en-US" altLang="zh-CN" sz="1500" b="1" dirty="0" smtClean="0"/>
              <a:t>    </a:t>
            </a:r>
            <a:r>
              <a:rPr lang="en-US" altLang="zh-CN" sz="1500" b="1" dirty="0"/>
              <a:t>return(head);</a:t>
            </a:r>
          </a:p>
          <a:p>
            <a:pPr eaLnBrk="1" fontAlgn="auto" hangingPunct="1">
              <a:lnSpc>
                <a:spcPct val="80000"/>
              </a:lnSpc>
              <a:spcAft>
                <a:spcPts val="0"/>
              </a:spcAft>
              <a:buFont typeface="Wingdings" panose="05000000000000000000" pitchFamily="2" charset="2"/>
              <a:buNone/>
              <a:defRPr/>
            </a:pPr>
            <a:r>
              <a:rPr lang="en-US" altLang="zh-CN" sz="1500" b="1" dirty="0"/>
              <a:t>}//</a:t>
            </a:r>
            <a:r>
              <a:rPr lang="zh-CN" altLang="en-US" sz="1500" b="1" dirty="0"/>
              <a:t>结束</a:t>
            </a:r>
            <a:r>
              <a:rPr lang="en-US" altLang="zh-CN" sz="1500" b="1" dirty="0" err="1"/>
              <a:t>creat</a:t>
            </a:r>
            <a:r>
              <a:rPr lang="zh-CN" altLang="en-US" sz="1500" b="1" dirty="0"/>
              <a:t>函数。</a:t>
            </a:r>
            <a:endParaRPr lang="zh-CN" altLang="en-US" sz="15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23555" name="Rectangle 3"/>
          <p:cNvSpPr>
            <a:spLocks noGrp="1" noChangeArrowheads="1"/>
          </p:cNvSpPr>
          <p:nvPr>
            <p:ph idx="1"/>
          </p:nvPr>
        </p:nvSpPr>
        <p:spPr>
          <a:xfrm>
            <a:off x="527050" y="1484313"/>
            <a:ext cx="10321925" cy="4351337"/>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r>
              <a:rPr lang="en-US" altLang="zh-CN" sz="1500" dirty="0" err="1"/>
              <a:t>LinkedList</a:t>
            </a:r>
            <a:r>
              <a:rPr lang="en-US" altLang="zh-CN" sz="1500" dirty="0"/>
              <a:t> invert1(</a:t>
            </a:r>
            <a:r>
              <a:rPr lang="en-US" altLang="zh-CN" sz="1500" dirty="0" err="1"/>
              <a:t>LinkedList</a:t>
            </a:r>
            <a:r>
              <a:rPr lang="en-US" altLang="zh-CN" sz="1500" dirty="0"/>
              <a:t> head)</a:t>
            </a:r>
          </a:p>
          <a:p>
            <a:pPr eaLnBrk="1" fontAlgn="auto" hangingPunct="1">
              <a:lnSpc>
                <a:spcPct val="80000"/>
              </a:lnSpc>
              <a:spcAft>
                <a:spcPts val="0"/>
              </a:spcAft>
              <a:buFont typeface="Wingdings" panose="05000000000000000000" pitchFamily="2" charset="2"/>
              <a:buNone/>
              <a:defRPr/>
            </a:pPr>
            <a:r>
              <a:rPr lang="en-US" altLang="zh-CN" sz="1500" dirty="0"/>
              <a:t> /*</a:t>
            </a:r>
            <a:r>
              <a:rPr lang="zh-CN" altLang="en-US" sz="1500" dirty="0"/>
              <a:t>逆置单链表*</a:t>
            </a:r>
            <a:r>
              <a:rPr lang="en-US" altLang="zh-CN" sz="1500" dirty="0"/>
              <a:t>/</a:t>
            </a:r>
          </a:p>
          <a:p>
            <a:pPr eaLnBrk="1" fontAlgn="auto" hangingPunct="1">
              <a:lnSpc>
                <a:spcPct val="80000"/>
              </a:lnSpc>
              <a:spcAft>
                <a:spcPts val="0"/>
              </a:spcAft>
              <a:buFont typeface="Wingdings" panose="05000000000000000000" pitchFamily="2" charset="2"/>
              <a:buNone/>
              <a:defRPr/>
            </a:pPr>
            <a:r>
              <a:rPr lang="en-US" altLang="zh-CN" sz="1500" dirty="0"/>
              <a:t>{</a:t>
            </a:r>
          </a:p>
          <a:p>
            <a:pPr eaLnBrk="1" fontAlgn="auto" hangingPunct="1">
              <a:lnSpc>
                <a:spcPct val="80000"/>
              </a:lnSpc>
              <a:spcAft>
                <a:spcPts val="0"/>
              </a:spcAft>
              <a:buFont typeface="Wingdings" panose="05000000000000000000" pitchFamily="2" charset="2"/>
              <a:buNone/>
              <a:defRPr/>
            </a:pPr>
            <a:r>
              <a:rPr lang="en-US" altLang="zh-CN" sz="1500" dirty="0"/>
              <a:t>	</a:t>
            </a:r>
            <a:r>
              <a:rPr lang="en-US" altLang="zh-CN" sz="1500" dirty="0" smtClean="0"/>
              <a:t>    </a:t>
            </a:r>
            <a:r>
              <a:rPr lang="en-US" altLang="zh-CN" sz="1500" dirty="0" err="1" smtClean="0"/>
              <a:t>LinkedList</a:t>
            </a:r>
            <a:r>
              <a:rPr lang="en-US" altLang="zh-CN" sz="1500" dirty="0" smtClean="0"/>
              <a:t> </a:t>
            </a:r>
            <a:r>
              <a:rPr lang="en-US" altLang="zh-CN" sz="1500" dirty="0"/>
              <a:t>p=head-&gt;next; /*p</a:t>
            </a:r>
            <a:r>
              <a:rPr lang="zh-CN" altLang="en-US" sz="1500" dirty="0"/>
              <a:t>为工作指针*</a:t>
            </a:r>
            <a:r>
              <a:rPr lang="en-US" altLang="zh-CN" sz="1500" dirty="0"/>
              <a:t>/</a:t>
            </a:r>
          </a:p>
          <a:p>
            <a:pPr eaLnBrk="1" fontAlgn="auto" hangingPunct="1">
              <a:lnSpc>
                <a:spcPct val="80000"/>
              </a:lnSpc>
              <a:spcAft>
                <a:spcPts val="0"/>
              </a:spcAft>
              <a:buFont typeface="Wingdings" panose="05000000000000000000" pitchFamily="2" charset="2"/>
              <a:buNone/>
              <a:defRPr/>
            </a:pPr>
            <a:r>
              <a:rPr lang="en-US" altLang="zh-CN" sz="1500" dirty="0"/>
              <a:t>	</a:t>
            </a:r>
            <a:r>
              <a:rPr lang="en-US" altLang="zh-CN" sz="1500" dirty="0" smtClean="0"/>
              <a:t>    </a:t>
            </a:r>
            <a:r>
              <a:rPr lang="en-US" altLang="zh-CN" sz="1500" dirty="0" err="1" smtClean="0"/>
              <a:t>LinkedList</a:t>
            </a:r>
            <a:r>
              <a:rPr lang="en-US" altLang="zh-CN" sz="1500" dirty="0" smtClean="0"/>
              <a:t> </a:t>
            </a:r>
            <a:r>
              <a:rPr lang="en-US" altLang="zh-CN" sz="1500" dirty="0"/>
              <a:t>r;</a:t>
            </a:r>
          </a:p>
          <a:p>
            <a:pPr eaLnBrk="1" fontAlgn="auto" hangingPunct="1">
              <a:lnSpc>
                <a:spcPct val="80000"/>
              </a:lnSpc>
              <a:spcAft>
                <a:spcPts val="0"/>
              </a:spcAft>
              <a:buFont typeface="Wingdings" panose="05000000000000000000" pitchFamily="2" charset="2"/>
              <a:buNone/>
              <a:defRPr/>
            </a:pPr>
            <a:r>
              <a:rPr lang="en-US" altLang="zh-CN" sz="1500" dirty="0"/>
              <a:t>	</a:t>
            </a:r>
            <a:r>
              <a:rPr lang="en-US" altLang="zh-CN" sz="1500" dirty="0" smtClean="0"/>
              <a:t>    head-</a:t>
            </a:r>
            <a:r>
              <a:rPr lang="en-US" altLang="zh-CN" sz="1500" dirty="0"/>
              <a:t>&gt;next=NULL;</a:t>
            </a:r>
          </a:p>
          <a:p>
            <a:pPr eaLnBrk="1" fontAlgn="auto" hangingPunct="1">
              <a:lnSpc>
                <a:spcPct val="80000"/>
              </a:lnSpc>
              <a:spcAft>
                <a:spcPts val="0"/>
              </a:spcAft>
              <a:buFont typeface="Wingdings" panose="05000000000000000000" pitchFamily="2" charset="2"/>
              <a:buNone/>
              <a:defRPr/>
            </a:pPr>
            <a:r>
              <a:rPr lang="en-US" altLang="zh-CN" sz="1500" dirty="0"/>
              <a:t>	</a:t>
            </a:r>
            <a:r>
              <a:rPr lang="en-US" altLang="zh-CN" sz="1500" dirty="0" smtClean="0"/>
              <a:t>    while(p</a:t>
            </a:r>
            <a:r>
              <a:rPr lang="en-US" altLang="zh-CN" sz="1500" dirty="0"/>
              <a:t>!=NULL)</a:t>
            </a:r>
          </a:p>
          <a:p>
            <a:pPr eaLnBrk="1" fontAlgn="auto" hangingPunct="1">
              <a:lnSpc>
                <a:spcPct val="80000"/>
              </a:lnSpc>
              <a:spcAft>
                <a:spcPts val="0"/>
              </a:spcAft>
              <a:buFont typeface="Wingdings" panose="05000000000000000000" pitchFamily="2" charset="2"/>
              <a:buNone/>
              <a:defRPr/>
            </a:pPr>
            <a:r>
              <a:rPr lang="en-US" altLang="zh-CN" sz="1500" dirty="0"/>
              <a:t>    </a:t>
            </a:r>
            <a:r>
              <a:rPr lang="en-US" altLang="zh-CN" sz="1500" dirty="0" smtClean="0"/>
              <a:t>    {</a:t>
            </a:r>
            <a:endParaRPr lang="en-US" altLang="zh-CN" sz="1500" dirty="0"/>
          </a:p>
          <a:p>
            <a:pPr eaLnBrk="1" fontAlgn="auto" hangingPunct="1">
              <a:lnSpc>
                <a:spcPct val="80000"/>
              </a:lnSpc>
              <a:spcAft>
                <a:spcPts val="0"/>
              </a:spcAft>
              <a:buFont typeface="Wingdings" panose="05000000000000000000" pitchFamily="2" charset="2"/>
              <a:buNone/>
              <a:defRPr/>
            </a:pPr>
            <a:r>
              <a:rPr lang="en-US" altLang="zh-CN" sz="1500" dirty="0"/>
              <a:t>	</a:t>
            </a:r>
            <a:r>
              <a:rPr lang="en-US" altLang="zh-CN" sz="1500" dirty="0" smtClean="0"/>
              <a:t>	r=p-</a:t>
            </a:r>
            <a:r>
              <a:rPr lang="en-US" altLang="zh-CN" sz="1500" dirty="0"/>
              <a:t>&gt;next;         /*</a:t>
            </a:r>
            <a:r>
              <a:rPr lang="zh-CN" altLang="en-US" sz="1500" dirty="0"/>
              <a:t>暂存</a:t>
            </a:r>
            <a:r>
              <a:rPr lang="en-US" altLang="zh-CN" sz="1500" dirty="0"/>
              <a:t>p</a:t>
            </a:r>
            <a:r>
              <a:rPr lang="zh-CN" altLang="en-US" sz="1500" dirty="0"/>
              <a:t>的后继*</a:t>
            </a:r>
            <a:r>
              <a:rPr lang="en-US" altLang="zh-CN" sz="1500" dirty="0"/>
              <a:t>/</a:t>
            </a:r>
          </a:p>
          <a:p>
            <a:pPr eaLnBrk="1" fontAlgn="auto" hangingPunct="1">
              <a:lnSpc>
                <a:spcPct val="80000"/>
              </a:lnSpc>
              <a:spcAft>
                <a:spcPts val="0"/>
              </a:spcAft>
              <a:buFont typeface="Wingdings" panose="05000000000000000000" pitchFamily="2" charset="2"/>
              <a:buNone/>
              <a:defRPr/>
            </a:pPr>
            <a:r>
              <a:rPr lang="en-US" altLang="zh-CN" sz="1500" dirty="0"/>
              <a:t>		p-&gt;next=head-&gt;next;</a:t>
            </a:r>
          </a:p>
          <a:p>
            <a:pPr eaLnBrk="1" fontAlgn="auto" hangingPunct="1">
              <a:lnSpc>
                <a:spcPct val="80000"/>
              </a:lnSpc>
              <a:spcAft>
                <a:spcPts val="0"/>
              </a:spcAft>
              <a:buFont typeface="Wingdings" panose="05000000000000000000" pitchFamily="2" charset="2"/>
              <a:buNone/>
              <a:defRPr/>
            </a:pPr>
            <a:r>
              <a:rPr lang="en-US" altLang="zh-CN" sz="1500" dirty="0"/>
              <a:t>		head-&gt;next=p;</a:t>
            </a:r>
          </a:p>
          <a:p>
            <a:pPr eaLnBrk="1" fontAlgn="auto" hangingPunct="1">
              <a:lnSpc>
                <a:spcPct val="80000"/>
              </a:lnSpc>
              <a:spcAft>
                <a:spcPts val="0"/>
              </a:spcAft>
              <a:buFont typeface="Wingdings" panose="05000000000000000000" pitchFamily="2" charset="2"/>
              <a:buNone/>
              <a:defRPr/>
            </a:pPr>
            <a:r>
              <a:rPr lang="en-US" altLang="zh-CN" sz="1500" dirty="0"/>
              <a:t>		p=r;</a:t>
            </a:r>
          </a:p>
          <a:p>
            <a:pPr eaLnBrk="1" fontAlgn="auto" hangingPunct="1">
              <a:lnSpc>
                <a:spcPct val="80000"/>
              </a:lnSpc>
              <a:spcAft>
                <a:spcPts val="0"/>
              </a:spcAft>
              <a:buFont typeface="Wingdings" panose="05000000000000000000" pitchFamily="2" charset="2"/>
              <a:buNone/>
              <a:defRPr/>
            </a:pPr>
            <a:r>
              <a:rPr lang="en-US" altLang="zh-CN" sz="1500" dirty="0"/>
              <a:t>    </a:t>
            </a:r>
            <a:r>
              <a:rPr lang="en-US" altLang="zh-CN" sz="1500" dirty="0" smtClean="0"/>
              <a:t>    }</a:t>
            </a:r>
            <a:endParaRPr lang="en-US" altLang="zh-CN" sz="1500" dirty="0"/>
          </a:p>
          <a:p>
            <a:pPr eaLnBrk="1" fontAlgn="auto" hangingPunct="1">
              <a:lnSpc>
                <a:spcPct val="80000"/>
              </a:lnSpc>
              <a:spcAft>
                <a:spcPts val="0"/>
              </a:spcAft>
              <a:buFont typeface="Wingdings" panose="05000000000000000000" pitchFamily="2" charset="2"/>
              <a:buNone/>
              <a:defRPr/>
            </a:pPr>
            <a:r>
              <a:rPr lang="en-US" altLang="zh-CN" sz="1500" dirty="0"/>
              <a:t>   </a:t>
            </a:r>
            <a:r>
              <a:rPr lang="en-US" altLang="zh-CN" sz="1500" dirty="0" smtClean="0"/>
              <a:t>     return </a:t>
            </a:r>
            <a:r>
              <a:rPr lang="en-US" altLang="zh-CN" sz="1500" dirty="0"/>
              <a:t>head;</a:t>
            </a:r>
          </a:p>
          <a:p>
            <a:pPr eaLnBrk="1" fontAlgn="auto" hangingPunct="1">
              <a:lnSpc>
                <a:spcPct val="80000"/>
              </a:lnSpc>
              <a:spcAft>
                <a:spcPts val="0"/>
              </a:spcAft>
              <a:buFont typeface="Wingdings" panose="05000000000000000000" pitchFamily="2" charset="2"/>
              <a:buNone/>
              <a:defRPr/>
            </a:pPr>
            <a:r>
              <a:rPr lang="en-US" altLang="zh-CN" sz="1500" dirty="0"/>
              <a:t>}/*</a:t>
            </a:r>
            <a:r>
              <a:rPr lang="zh-CN" altLang="en-US" sz="1500" dirty="0"/>
              <a:t>结束</a:t>
            </a:r>
            <a:r>
              <a:rPr lang="en-US" altLang="zh-CN" sz="1500" dirty="0"/>
              <a:t>invert1</a:t>
            </a:r>
            <a:r>
              <a:rPr lang="zh-CN" altLang="en-US" sz="1500" dirty="0"/>
              <a:t>函数*</a:t>
            </a:r>
            <a:r>
              <a:rPr lang="en-US" altLang="zh-CN" sz="1500" dirty="0"/>
              <a:t>/</a:t>
            </a:r>
          </a:p>
          <a:p>
            <a:pPr eaLnBrk="1" fontAlgn="auto" hangingPunct="1">
              <a:lnSpc>
                <a:spcPct val="80000"/>
              </a:lnSpc>
              <a:spcAft>
                <a:spcPts val="0"/>
              </a:spcAft>
              <a:buFont typeface="Wingdings" panose="05000000000000000000" pitchFamily="2" charset="2"/>
              <a:buNone/>
              <a:defRPr/>
            </a:pPr>
            <a:endParaRPr lang="en-US" altLang="zh-CN" sz="15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24579" name="内容占位符 2"/>
          <p:cNvSpPr>
            <a:spLocks noGrp="1"/>
          </p:cNvSpPr>
          <p:nvPr>
            <p:ph idx="1"/>
          </p:nvPr>
        </p:nvSpPr>
        <p:spPr>
          <a:xfrm>
            <a:off x="506413" y="1484313"/>
            <a:ext cx="10321925" cy="4351337"/>
          </a:xfrm>
        </p:spPr>
        <p:txBody>
          <a:bodyPr rtlCol="0">
            <a:normAutofit fontScale="92500" lnSpcReduction="20000"/>
          </a:bodyPr>
          <a:lstStyle/>
          <a:p>
            <a:pPr eaLnBrk="1" fontAlgn="auto" hangingPunct="1">
              <a:lnSpc>
                <a:spcPct val="80000"/>
              </a:lnSpc>
              <a:spcAft>
                <a:spcPts val="0"/>
              </a:spcAft>
              <a:buFont typeface="Wingdings" panose="05000000000000000000" pitchFamily="2" charset="2"/>
              <a:buNone/>
              <a:defRPr/>
            </a:pPr>
            <a:r>
              <a:rPr lang="en-US" altLang="zh-CN" sz="2400" dirty="0" err="1"/>
              <a:t>int</a:t>
            </a:r>
            <a:r>
              <a:rPr lang="en-US" altLang="zh-CN" sz="2400" dirty="0"/>
              <a:t> main(</a:t>
            </a:r>
            <a:r>
              <a:rPr lang="en-US" altLang="zh-CN" sz="2400" dirty="0" err="1"/>
              <a:t>int</a:t>
            </a:r>
            <a:r>
              <a:rPr lang="en-US" altLang="zh-CN" sz="2400" dirty="0"/>
              <a:t> </a:t>
            </a:r>
            <a:r>
              <a:rPr lang="en-US" altLang="zh-CN" sz="2400" dirty="0" err="1"/>
              <a:t>argc</a:t>
            </a:r>
            <a:r>
              <a:rPr lang="en-US" altLang="zh-CN" sz="2400" dirty="0"/>
              <a:t>, char* </a:t>
            </a:r>
            <a:r>
              <a:rPr lang="en-US" altLang="zh-CN" sz="2400" dirty="0" err="1"/>
              <a:t>argv</a:t>
            </a:r>
            <a:r>
              <a:rPr lang="en-US" altLang="zh-CN" sz="2400" dirty="0"/>
              <a:t>[])</a:t>
            </a:r>
          </a:p>
          <a:p>
            <a:pPr eaLnBrk="1" fontAlgn="auto" hangingPunct="1">
              <a:lnSpc>
                <a:spcPct val="80000"/>
              </a:lnSpc>
              <a:spcAft>
                <a:spcPts val="0"/>
              </a:spcAft>
              <a:buFont typeface="Wingdings" panose="05000000000000000000" pitchFamily="2" charset="2"/>
              <a:buNone/>
              <a:defRPr/>
            </a:pPr>
            <a:r>
              <a:rPr lang="en-US" altLang="zh-CN" sz="2400" dirty="0"/>
              <a:t>{</a:t>
            </a:r>
          </a:p>
          <a:p>
            <a:pPr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smtClean="0"/>
              <a:t>   </a:t>
            </a:r>
            <a:r>
              <a:rPr lang="en-US" altLang="zh-CN" sz="2400" dirty="0" err="1" smtClean="0"/>
              <a:t>LinkedList</a:t>
            </a:r>
            <a:r>
              <a:rPr lang="en-US" altLang="zh-CN" sz="2400" dirty="0" smtClean="0"/>
              <a:t> </a:t>
            </a:r>
            <a:r>
              <a:rPr lang="en-US" altLang="zh-CN" sz="2400" dirty="0" err="1"/>
              <a:t>la,p</a:t>
            </a:r>
            <a:r>
              <a:rPr lang="en-US" altLang="zh-CN" sz="2400" dirty="0"/>
              <a:t>;</a:t>
            </a:r>
          </a:p>
          <a:p>
            <a:pPr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smtClean="0"/>
              <a:t>   la=</a:t>
            </a:r>
            <a:r>
              <a:rPr lang="en-US" altLang="zh-CN" sz="2400" dirty="0" err="1" smtClean="0"/>
              <a:t>creat</a:t>
            </a:r>
            <a:r>
              <a:rPr lang="en-US" altLang="zh-CN" sz="2400" dirty="0"/>
              <a:t>( );/*</a:t>
            </a:r>
            <a:r>
              <a:rPr lang="zh-CN" altLang="en-US" sz="2400" dirty="0"/>
              <a:t>生成单链表*</a:t>
            </a:r>
            <a:r>
              <a:rPr lang="en-US" altLang="zh-CN" sz="2400" dirty="0"/>
              <a:t>/</a:t>
            </a:r>
          </a:p>
          <a:p>
            <a:pPr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smtClean="0"/>
              <a:t>   //</a:t>
            </a:r>
            <a:r>
              <a:rPr lang="en-US" altLang="zh-CN" sz="2400" dirty="0"/>
              <a:t>la=invert1(la);/*</a:t>
            </a:r>
            <a:r>
              <a:rPr lang="zh-CN" altLang="en-US" sz="2400" dirty="0"/>
              <a:t>逆置单链表*</a:t>
            </a:r>
            <a:r>
              <a:rPr lang="en-US" altLang="zh-CN" sz="2400" dirty="0"/>
              <a:t>/</a:t>
            </a:r>
          </a:p>
          <a:p>
            <a:pPr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smtClean="0"/>
              <a:t>   p=la-</a:t>
            </a:r>
            <a:r>
              <a:rPr lang="en-US" altLang="zh-CN" sz="2400" dirty="0"/>
              <a:t>&gt;next;</a:t>
            </a:r>
          </a:p>
          <a:p>
            <a:pPr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smtClean="0"/>
              <a:t>   while(p</a:t>
            </a:r>
            <a:r>
              <a:rPr lang="en-US" altLang="zh-CN" sz="2400" dirty="0"/>
              <a:t>)</a:t>
            </a:r>
          </a:p>
          <a:p>
            <a:pPr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smtClean="0"/>
              <a:t>   {</a:t>
            </a:r>
            <a:endParaRPr lang="en-US" altLang="zh-CN" sz="2400" dirty="0"/>
          </a:p>
          <a:p>
            <a:pPr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err="1"/>
              <a:t>printf</a:t>
            </a:r>
            <a:r>
              <a:rPr lang="en-US" altLang="zh-CN" sz="2400" dirty="0"/>
              <a:t>("%d\</a:t>
            </a:r>
            <a:r>
              <a:rPr lang="en-US" altLang="zh-CN" sz="2400" dirty="0" err="1"/>
              <a:t>n",p</a:t>
            </a:r>
            <a:r>
              <a:rPr lang="en-US" altLang="zh-CN" sz="2400" dirty="0"/>
              <a:t>-&gt;data);</a:t>
            </a:r>
          </a:p>
          <a:p>
            <a:pPr eaLnBrk="1" fontAlgn="auto" hangingPunct="1">
              <a:lnSpc>
                <a:spcPct val="80000"/>
              </a:lnSpc>
              <a:spcAft>
                <a:spcPts val="0"/>
              </a:spcAft>
              <a:buFont typeface="Wingdings" panose="05000000000000000000" pitchFamily="2" charset="2"/>
              <a:buNone/>
              <a:defRPr/>
            </a:pPr>
            <a:r>
              <a:rPr lang="en-US" altLang="zh-CN" sz="2400" dirty="0"/>
              <a:t>		p=p-&gt;next;</a:t>
            </a:r>
          </a:p>
          <a:p>
            <a:pPr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smtClean="0"/>
              <a:t>   }</a:t>
            </a:r>
            <a:endParaRPr lang="en-US" altLang="zh-CN" sz="2400" dirty="0"/>
          </a:p>
          <a:p>
            <a:pPr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smtClean="0"/>
              <a:t>   return </a:t>
            </a:r>
            <a:r>
              <a:rPr lang="en-US" altLang="zh-CN" sz="2400" dirty="0"/>
              <a:t>0;</a:t>
            </a:r>
          </a:p>
          <a:p>
            <a:pPr eaLnBrk="1" fontAlgn="auto" hangingPunct="1">
              <a:lnSpc>
                <a:spcPct val="80000"/>
              </a:lnSpc>
              <a:spcAft>
                <a:spcPts val="0"/>
              </a:spcAft>
              <a:buFont typeface="Wingdings" panose="05000000000000000000" pitchFamily="2" charset="2"/>
              <a:buNone/>
              <a:defRPr/>
            </a:pPr>
            <a:r>
              <a:rPr lang="en-US" altLang="zh-CN" sz="2400" dirty="0"/>
              <a:t>}</a:t>
            </a:r>
          </a:p>
          <a:p>
            <a:pPr eaLnBrk="1" fontAlgn="auto" hangingPunct="1">
              <a:lnSpc>
                <a:spcPct val="80000"/>
              </a:lnSpc>
              <a:spcAft>
                <a:spcPts val="0"/>
              </a:spcAft>
              <a:buFont typeface="Wingdings" panose="05000000000000000000" pitchFamily="2" charset="2"/>
              <a:buNone/>
              <a:defRPr/>
            </a:pPr>
            <a:endParaRPr lang="en-US" altLang="zh-CN" sz="3200" dirty="0"/>
          </a:p>
          <a:p>
            <a:pPr eaLnBrk="1" fontAlgn="auto" hangingPunct="1">
              <a:lnSpc>
                <a:spcPct val="80000"/>
              </a:lnSpc>
              <a:spcAft>
                <a:spcPts val="0"/>
              </a:spcAft>
              <a:buFont typeface="Wingdings" panose="05000000000000000000" pitchFamily="2" charset="2"/>
              <a:buNone/>
              <a:defRPr/>
            </a:pPr>
            <a:endParaRPr lang="en-US" altLang="zh-CN" sz="3200" dirty="0"/>
          </a:p>
          <a:p>
            <a:pPr eaLnBrk="1" fontAlgn="auto" hangingPunct="1">
              <a:spcAft>
                <a:spcPts val="0"/>
              </a:spcAft>
              <a:buFont typeface="Wingdings" panose="05000000000000000000" pitchFamily="2" charset="2"/>
              <a:buNone/>
              <a:defRPr/>
            </a:pPr>
            <a:endParaRPr lang="zh-CN" alt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21507" name="内容占位符 2"/>
          <p:cNvSpPr>
            <a:spLocks noGrp="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mtClean="0"/>
              <a:t>#include&lt;stdlib.h&gt;</a:t>
            </a:r>
          </a:p>
          <a:p>
            <a:pPr eaLnBrk="1" hangingPunct="1">
              <a:buFont typeface="Wingdings" panose="05000000000000000000" pitchFamily="2" charset="2"/>
              <a:buNone/>
            </a:pPr>
            <a:r>
              <a:rPr lang="en-US" altLang="zh-CN" smtClean="0"/>
              <a:t>#include&lt;stdio.h&gt;</a:t>
            </a:r>
            <a:endParaRPr lang="zh-CN" altLang="en-US"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527050" y="333375"/>
            <a:ext cx="10321925" cy="863600"/>
          </a:xfrm>
        </p:spPr>
        <p:txBody>
          <a:bodyPr/>
          <a:lstStyle/>
          <a:p>
            <a:pPr eaLnBrk="1" hangingPunct="1"/>
            <a:r>
              <a:rPr lang="zh-CN" altLang="en-US" smtClean="0"/>
              <a:t>例题</a:t>
            </a:r>
          </a:p>
        </p:txBody>
      </p:sp>
      <p:sp>
        <p:nvSpPr>
          <p:cNvPr id="26627" name="Rectangle 3"/>
          <p:cNvSpPr>
            <a:spLocks noGrp="1" noChangeArrowheads="1"/>
          </p:cNvSpPr>
          <p:nvPr>
            <p:ph idx="1"/>
          </p:nvPr>
        </p:nvSpPr>
        <p:spPr>
          <a:xfrm>
            <a:off x="527050" y="1773238"/>
            <a:ext cx="10321925" cy="4351337"/>
          </a:xfrm>
        </p:spPr>
        <p:txBody>
          <a:bodyPr rtlCol="0">
            <a:normAutofit/>
          </a:bodyPr>
          <a:lstStyle/>
          <a:p>
            <a:pPr eaLnBrk="1" fontAlgn="auto" hangingPunct="1">
              <a:spcAft>
                <a:spcPts val="0"/>
              </a:spcAft>
              <a:defRPr/>
            </a:pPr>
            <a:r>
              <a:rPr lang="zh-CN" altLang="en-US" sz="2600" dirty="0"/>
              <a:t>设带头结点的链表，每个节点含有三个域：</a:t>
            </a:r>
            <a:r>
              <a:rPr lang="en-US" altLang="zh-CN" sz="2600" dirty="0"/>
              <a:t>data</a:t>
            </a:r>
            <a:r>
              <a:rPr lang="zh-CN" altLang="en-US" sz="2600" dirty="0"/>
              <a:t>，</a:t>
            </a:r>
            <a:r>
              <a:rPr lang="en-US" altLang="zh-CN" sz="2600" dirty="0"/>
              <a:t>next</a:t>
            </a:r>
            <a:r>
              <a:rPr lang="zh-CN" altLang="en-US" sz="2600" dirty="0"/>
              <a:t>和</a:t>
            </a:r>
            <a:r>
              <a:rPr lang="en-US" altLang="zh-CN" sz="2600" dirty="0"/>
              <a:t>sort</a:t>
            </a:r>
            <a:r>
              <a:rPr lang="zh-CN" altLang="en-US" sz="2600" dirty="0"/>
              <a:t>，其中</a:t>
            </a:r>
            <a:r>
              <a:rPr lang="en-US" altLang="zh-CN" sz="2600" dirty="0"/>
              <a:t>data</a:t>
            </a:r>
            <a:r>
              <a:rPr lang="zh-CN" altLang="en-US" sz="2600" dirty="0"/>
              <a:t>为整数值域，</a:t>
            </a:r>
            <a:r>
              <a:rPr lang="en-US" altLang="zh-CN" sz="2600" dirty="0"/>
              <a:t>next</a:t>
            </a:r>
            <a:r>
              <a:rPr lang="zh-CN" altLang="en-US" sz="2600" dirty="0"/>
              <a:t>和</a:t>
            </a:r>
            <a:r>
              <a:rPr lang="en-US" altLang="zh-CN" sz="2600" dirty="0"/>
              <a:t>sort</a:t>
            </a:r>
            <a:r>
              <a:rPr lang="zh-CN" altLang="en-US" sz="2600" dirty="0"/>
              <a:t>均为指针域，现所有节点已经由</a:t>
            </a:r>
            <a:r>
              <a:rPr lang="en-US" altLang="zh-CN" sz="2600" dirty="0"/>
              <a:t>next</a:t>
            </a:r>
            <a:r>
              <a:rPr lang="zh-CN" altLang="en-US" sz="2600" dirty="0"/>
              <a:t>域链接起来，构成单链表，试编写利用</a:t>
            </a:r>
            <a:r>
              <a:rPr lang="en-US" altLang="zh-CN" sz="2600" dirty="0"/>
              <a:t>sort</a:t>
            </a:r>
            <a:r>
              <a:rPr lang="zh-CN" altLang="en-US" sz="2600" dirty="0"/>
              <a:t>域把所有节点按照值的从小到大的顺序链接起来的算法。</a:t>
            </a:r>
          </a:p>
          <a:p>
            <a:pPr marL="0" indent="0" eaLnBrk="1" fontAlgn="auto" hangingPunct="1">
              <a:spcAft>
                <a:spcPts val="0"/>
              </a:spcAft>
              <a:buFont typeface="Wingdings" panose="05000000000000000000" pitchFamily="2" charset="2"/>
              <a:buNone/>
              <a:defRPr/>
            </a:pPr>
            <a:r>
              <a:rPr lang="zh-CN" altLang="en-US" sz="2600" dirty="0">
                <a:solidFill>
                  <a:schemeClr val="accent2"/>
                </a:solidFill>
              </a:rPr>
              <a:t>本题实质上是一个排序问题，要求</a:t>
            </a:r>
            <a:r>
              <a:rPr lang="zh-CN" altLang="en-US" sz="2600" dirty="0">
                <a:solidFill>
                  <a:schemeClr val="accent2"/>
                </a:solidFill>
                <a:latin typeface="Arial" panose="020B0604020202020204" pitchFamily="34" charset="0"/>
              </a:rPr>
              <a:t>“</a:t>
            </a:r>
            <a:r>
              <a:rPr lang="zh-CN" altLang="en-US" sz="2600" dirty="0">
                <a:solidFill>
                  <a:schemeClr val="accent2"/>
                </a:solidFill>
              </a:rPr>
              <a:t>不得使用除该链表结点以外的任何链结点空间</a:t>
            </a:r>
            <a:r>
              <a:rPr lang="zh-CN" altLang="en-US" sz="2600" dirty="0">
                <a:solidFill>
                  <a:schemeClr val="accent2"/>
                </a:solidFill>
                <a:latin typeface="Arial" panose="020B0604020202020204" pitchFamily="34" charset="0"/>
              </a:rPr>
              <a:t>”</a:t>
            </a:r>
            <a:r>
              <a:rPr lang="zh-CN" altLang="en-US" sz="2600" dirty="0">
                <a:solidFill>
                  <a:schemeClr val="accent2"/>
                </a:solidFill>
              </a:rPr>
              <a:t>。链表上的排序采用直接插入排序比较方便，即首先假定第一个结点有序，然后，从第二个结点开始，依次插入到前面有序链表中，最终达到整个链表有序。</a:t>
            </a:r>
            <a:r>
              <a:rPr lang="zh-CN" altLang="en-US" sz="2600" dirty="0"/>
              <a:t>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527050" y="333375"/>
            <a:ext cx="10321925" cy="863600"/>
          </a:xfrm>
        </p:spPr>
        <p:txBody>
          <a:bodyPr/>
          <a:lstStyle/>
          <a:p>
            <a:pPr eaLnBrk="1" hangingPunct="1"/>
            <a:r>
              <a:rPr lang="zh-CN" altLang="en-US" smtClean="0"/>
              <a:t>排序</a:t>
            </a:r>
          </a:p>
        </p:txBody>
      </p:sp>
      <p:sp>
        <p:nvSpPr>
          <p:cNvPr id="27651" name="Rectangle 3"/>
          <p:cNvSpPr>
            <a:spLocks noGrp="1" noChangeArrowheads="1"/>
          </p:cNvSpPr>
          <p:nvPr>
            <p:ph idx="1"/>
          </p:nvPr>
        </p:nvSpPr>
        <p:spPr>
          <a:xfrm>
            <a:off x="527050" y="1484313"/>
            <a:ext cx="10321925" cy="4752975"/>
          </a:xfrm>
        </p:spPr>
        <p:txBody>
          <a:bodyPr rtlCol="0">
            <a:normAutofit fontScale="85000" lnSpcReduction="20000"/>
          </a:bodyPr>
          <a:lstStyle/>
          <a:p>
            <a:pPr eaLnBrk="1" fontAlgn="auto" hangingPunct="1">
              <a:lnSpc>
                <a:spcPct val="80000"/>
              </a:lnSpc>
              <a:spcAft>
                <a:spcPts val="0"/>
              </a:spcAft>
              <a:buFont typeface="Wingdings" panose="05000000000000000000" pitchFamily="2" charset="2"/>
              <a:buNone/>
              <a:defRPr/>
            </a:pPr>
            <a:r>
              <a:rPr lang="en-US" altLang="zh-CN" sz="1700" dirty="0"/>
              <a:t> </a:t>
            </a:r>
            <a:r>
              <a:rPr lang="en-US" altLang="zh-CN" sz="1700" dirty="0" err="1"/>
              <a:t>LinkedList</a:t>
            </a:r>
            <a:r>
              <a:rPr lang="en-US" altLang="zh-CN" sz="1700" dirty="0"/>
              <a:t> </a:t>
            </a:r>
            <a:r>
              <a:rPr lang="en-US" altLang="zh-CN" sz="1700" dirty="0" err="1"/>
              <a:t>LinkListSort</a:t>
            </a:r>
            <a:r>
              <a:rPr lang="en-US" altLang="zh-CN" sz="1700" dirty="0"/>
              <a:t>(</a:t>
            </a:r>
            <a:r>
              <a:rPr lang="en-US" altLang="zh-CN" sz="1700" dirty="0" err="1"/>
              <a:t>LinkedList</a:t>
            </a:r>
            <a:r>
              <a:rPr lang="en-US" altLang="zh-CN" sz="1700" dirty="0"/>
              <a:t> list)</a:t>
            </a:r>
          </a:p>
          <a:p>
            <a:pPr eaLnBrk="1" fontAlgn="auto" hangingPunct="1">
              <a:lnSpc>
                <a:spcPct val="80000"/>
              </a:lnSpc>
              <a:spcAft>
                <a:spcPts val="0"/>
              </a:spcAft>
              <a:buFont typeface="Wingdings" panose="05000000000000000000" pitchFamily="2" charset="2"/>
              <a:buNone/>
              <a:defRPr/>
            </a:pPr>
            <a:r>
              <a:rPr lang="en-US" altLang="zh-CN" sz="1700" dirty="0"/>
              <a:t> {</a:t>
            </a:r>
          </a:p>
          <a:p>
            <a:pPr eaLnBrk="1" fontAlgn="auto" hangingPunct="1">
              <a:lnSpc>
                <a:spcPct val="80000"/>
              </a:lnSpc>
              <a:spcAft>
                <a:spcPts val="0"/>
              </a:spcAft>
              <a:buFont typeface="Wingdings" panose="05000000000000000000" pitchFamily="2" charset="2"/>
              <a:buNone/>
              <a:defRPr/>
            </a:pPr>
            <a:r>
              <a:rPr lang="en-US" altLang="zh-CN" sz="1700" dirty="0"/>
              <a:t>	</a:t>
            </a:r>
            <a:r>
              <a:rPr lang="en-US" altLang="zh-CN" sz="1700" dirty="0" smtClean="0"/>
              <a:t>  p=list-</a:t>
            </a:r>
            <a:r>
              <a:rPr lang="en-US" altLang="zh-CN" sz="1700" dirty="0"/>
              <a:t>&gt;next-&gt;next;   ∥p</a:t>
            </a:r>
            <a:r>
              <a:rPr lang="zh-CN" altLang="en-US" sz="1700" dirty="0"/>
              <a:t>是工作指针，指向待排序的当前元素。</a:t>
            </a:r>
          </a:p>
          <a:p>
            <a:pPr eaLnBrk="1" fontAlgn="auto" hangingPunct="1">
              <a:lnSpc>
                <a:spcPct val="80000"/>
              </a:lnSpc>
              <a:spcAft>
                <a:spcPts val="0"/>
              </a:spcAft>
              <a:buFont typeface="Wingdings" panose="05000000000000000000" pitchFamily="2" charset="2"/>
              <a:buNone/>
              <a:defRPr/>
            </a:pPr>
            <a:r>
              <a:rPr lang="zh-CN" altLang="en-US" sz="1700" dirty="0"/>
              <a:t>       </a:t>
            </a:r>
            <a:r>
              <a:rPr lang="en-US" altLang="zh-CN" sz="1700" dirty="0"/>
              <a:t>list-&gt;sort=list-&gt;next;∥</a:t>
            </a:r>
            <a:r>
              <a:rPr lang="zh-CN" altLang="en-US" sz="1700" dirty="0"/>
              <a:t>假定第一个元素有序，即链表中现只有一个结点。</a:t>
            </a:r>
          </a:p>
          <a:p>
            <a:pPr eaLnBrk="1" fontAlgn="auto" hangingPunct="1">
              <a:lnSpc>
                <a:spcPct val="80000"/>
              </a:lnSpc>
              <a:spcAft>
                <a:spcPts val="0"/>
              </a:spcAft>
              <a:buFont typeface="Wingdings" panose="05000000000000000000" pitchFamily="2" charset="2"/>
              <a:buNone/>
              <a:defRPr/>
            </a:pPr>
            <a:r>
              <a:rPr lang="zh-CN" altLang="en-US" sz="1700" dirty="0"/>
              <a:t>       </a:t>
            </a:r>
            <a:r>
              <a:rPr lang="en-US" altLang="zh-CN" sz="1700" b="1" dirty="0"/>
              <a:t>while</a:t>
            </a:r>
            <a:r>
              <a:rPr lang="en-US" altLang="zh-CN" sz="1700" dirty="0"/>
              <a:t>(p!=null)</a:t>
            </a:r>
          </a:p>
          <a:p>
            <a:pPr eaLnBrk="1" fontAlgn="auto" hangingPunct="1">
              <a:lnSpc>
                <a:spcPct val="80000"/>
              </a:lnSpc>
              <a:spcAft>
                <a:spcPts val="0"/>
              </a:spcAft>
              <a:buFont typeface="Wingdings" panose="05000000000000000000" pitchFamily="2" charset="2"/>
              <a:buNone/>
              <a:defRPr/>
            </a:pPr>
            <a:r>
              <a:rPr lang="en-US" altLang="zh-CN" sz="1700" dirty="0"/>
              <a:t>       {</a:t>
            </a:r>
          </a:p>
          <a:p>
            <a:pPr eaLnBrk="1" fontAlgn="auto" hangingPunct="1">
              <a:lnSpc>
                <a:spcPct val="80000"/>
              </a:lnSpc>
              <a:spcAft>
                <a:spcPts val="0"/>
              </a:spcAft>
              <a:buFont typeface="Wingdings" panose="05000000000000000000" pitchFamily="2" charset="2"/>
              <a:buNone/>
              <a:defRPr/>
            </a:pPr>
            <a:r>
              <a:rPr lang="en-US" altLang="zh-CN" sz="1700" dirty="0"/>
              <a:t>	</a:t>
            </a:r>
            <a:r>
              <a:rPr lang="en-US" altLang="zh-CN" sz="1700" dirty="0" smtClean="0"/>
              <a:t>       r=p-</a:t>
            </a:r>
            <a:r>
              <a:rPr lang="en-US" altLang="zh-CN" sz="1700" dirty="0"/>
              <a:t>&gt;next;    ∥r</a:t>
            </a:r>
            <a:r>
              <a:rPr lang="zh-CN" altLang="en-US" sz="1700" dirty="0"/>
              <a:t>是</a:t>
            </a:r>
            <a:r>
              <a:rPr lang="en-US" altLang="zh-CN" sz="1700" dirty="0"/>
              <a:t>p</a:t>
            </a:r>
            <a:r>
              <a:rPr lang="zh-CN" altLang="en-US" sz="1700" dirty="0"/>
              <a:t>的后继。</a:t>
            </a:r>
          </a:p>
          <a:p>
            <a:pPr eaLnBrk="1" fontAlgn="auto" hangingPunct="1">
              <a:lnSpc>
                <a:spcPct val="80000"/>
              </a:lnSpc>
              <a:spcAft>
                <a:spcPts val="0"/>
              </a:spcAft>
              <a:buFont typeface="Wingdings" panose="05000000000000000000" pitchFamily="2" charset="2"/>
              <a:buNone/>
              <a:defRPr/>
            </a:pPr>
            <a:r>
              <a:rPr lang="zh-CN" altLang="en-US" sz="1700" dirty="0"/>
              <a:t>            </a:t>
            </a:r>
            <a:r>
              <a:rPr lang="en-US" altLang="zh-CN" sz="1700" dirty="0"/>
              <a:t>q=list;</a:t>
            </a:r>
          </a:p>
          <a:p>
            <a:pPr eaLnBrk="1" fontAlgn="auto" hangingPunct="1">
              <a:lnSpc>
                <a:spcPct val="80000"/>
              </a:lnSpc>
              <a:spcAft>
                <a:spcPts val="0"/>
              </a:spcAft>
              <a:buFont typeface="Wingdings" panose="05000000000000000000" pitchFamily="2" charset="2"/>
              <a:buNone/>
              <a:defRPr/>
            </a:pPr>
            <a:r>
              <a:rPr lang="en-US" altLang="zh-CN" sz="1700" dirty="0"/>
              <a:t>           ∥</a:t>
            </a:r>
            <a:r>
              <a:rPr lang="zh-CN" altLang="en-US" sz="1700" dirty="0"/>
              <a:t>查找元素值大于待排序元素的最小的结点。</a:t>
            </a:r>
          </a:p>
          <a:p>
            <a:pPr eaLnBrk="1" fontAlgn="auto" hangingPunct="1">
              <a:lnSpc>
                <a:spcPct val="80000"/>
              </a:lnSpc>
              <a:spcAft>
                <a:spcPts val="0"/>
              </a:spcAft>
              <a:buFont typeface="Wingdings" panose="05000000000000000000" pitchFamily="2" charset="2"/>
              <a:buNone/>
              <a:defRPr/>
            </a:pPr>
            <a:r>
              <a:rPr lang="zh-CN" altLang="en-US" sz="1700" b="1" dirty="0"/>
              <a:t>	      </a:t>
            </a:r>
            <a:r>
              <a:rPr lang="en-US" altLang="zh-CN" sz="1700" b="1" dirty="0"/>
              <a:t>while</a:t>
            </a:r>
            <a:r>
              <a:rPr lang="en-US" altLang="zh-CN" sz="1700" dirty="0"/>
              <a:t>(q-&gt;sort!=null &amp;&amp; q-&gt;sort-&gt;data&lt;p-&gt;data)</a:t>
            </a:r>
          </a:p>
          <a:p>
            <a:pPr eaLnBrk="1" fontAlgn="auto" hangingPunct="1">
              <a:lnSpc>
                <a:spcPct val="80000"/>
              </a:lnSpc>
              <a:spcAft>
                <a:spcPts val="0"/>
              </a:spcAft>
              <a:buFont typeface="Wingdings" panose="05000000000000000000" pitchFamily="2" charset="2"/>
              <a:buNone/>
              <a:defRPr/>
            </a:pPr>
            <a:r>
              <a:rPr lang="en-US" altLang="zh-CN" sz="1700" dirty="0"/>
              <a:t>           {</a:t>
            </a:r>
          </a:p>
          <a:p>
            <a:pPr eaLnBrk="1" fontAlgn="auto" hangingPunct="1">
              <a:lnSpc>
                <a:spcPct val="80000"/>
              </a:lnSpc>
              <a:spcAft>
                <a:spcPts val="0"/>
              </a:spcAft>
              <a:buFont typeface="Wingdings" panose="05000000000000000000" pitchFamily="2" charset="2"/>
              <a:buNone/>
              <a:defRPr/>
            </a:pPr>
            <a:r>
              <a:rPr lang="en-US" altLang="zh-CN" sz="1700" dirty="0"/>
              <a:t>	</a:t>
            </a:r>
            <a:r>
              <a:rPr lang="en-US" altLang="zh-CN" sz="1700" dirty="0" smtClean="0"/>
              <a:t>            q=q-</a:t>
            </a:r>
            <a:r>
              <a:rPr lang="en-US" altLang="zh-CN" sz="1700" dirty="0"/>
              <a:t>&gt;sort;</a:t>
            </a:r>
          </a:p>
          <a:p>
            <a:pPr eaLnBrk="1" fontAlgn="auto" hangingPunct="1">
              <a:lnSpc>
                <a:spcPct val="80000"/>
              </a:lnSpc>
              <a:spcAft>
                <a:spcPts val="0"/>
              </a:spcAft>
              <a:buFont typeface="Wingdings" panose="05000000000000000000" pitchFamily="2" charset="2"/>
              <a:buNone/>
              <a:defRPr/>
            </a:pPr>
            <a:r>
              <a:rPr lang="en-US" altLang="zh-CN" sz="1700" dirty="0"/>
              <a:t>	     </a:t>
            </a:r>
            <a:r>
              <a:rPr lang="en-US" altLang="zh-CN" sz="1700" dirty="0" smtClean="0"/>
              <a:t> }</a:t>
            </a:r>
            <a:endParaRPr lang="en-US" altLang="zh-CN" sz="1700" dirty="0"/>
          </a:p>
          <a:p>
            <a:pPr eaLnBrk="1" fontAlgn="auto" hangingPunct="1">
              <a:lnSpc>
                <a:spcPct val="80000"/>
              </a:lnSpc>
              <a:spcAft>
                <a:spcPts val="0"/>
              </a:spcAft>
              <a:buFont typeface="Wingdings" panose="05000000000000000000" pitchFamily="2" charset="2"/>
              <a:buNone/>
              <a:defRPr/>
            </a:pPr>
            <a:r>
              <a:rPr lang="en-US" altLang="zh-CN" sz="1700" dirty="0"/>
              <a:t>           p-&gt;sort=q-&gt;sort;∥</a:t>
            </a:r>
            <a:r>
              <a:rPr lang="zh-CN" altLang="en-US" sz="1700" dirty="0"/>
              <a:t>将当前排序结点链入有序链表中。</a:t>
            </a:r>
          </a:p>
          <a:p>
            <a:pPr eaLnBrk="1" fontAlgn="auto" hangingPunct="1">
              <a:lnSpc>
                <a:spcPct val="80000"/>
              </a:lnSpc>
              <a:spcAft>
                <a:spcPts val="0"/>
              </a:spcAft>
              <a:buFont typeface="Wingdings" panose="05000000000000000000" pitchFamily="2" charset="2"/>
              <a:buNone/>
              <a:defRPr/>
            </a:pPr>
            <a:r>
              <a:rPr lang="zh-CN" altLang="en-US" sz="1700" dirty="0"/>
              <a:t>           </a:t>
            </a:r>
            <a:r>
              <a:rPr lang="en-US" altLang="zh-CN" sz="1700" dirty="0"/>
              <a:t>q-&gt;sort=p;   </a:t>
            </a:r>
          </a:p>
          <a:p>
            <a:pPr eaLnBrk="1" fontAlgn="auto" hangingPunct="1">
              <a:lnSpc>
                <a:spcPct val="80000"/>
              </a:lnSpc>
              <a:spcAft>
                <a:spcPts val="0"/>
              </a:spcAft>
              <a:buFont typeface="Wingdings" panose="05000000000000000000" pitchFamily="2" charset="2"/>
              <a:buNone/>
              <a:defRPr/>
            </a:pPr>
            <a:r>
              <a:rPr lang="en-US" altLang="zh-CN" sz="1700" dirty="0"/>
              <a:t>	     </a:t>
            </a:r>
            <a:r>
              <a:rPr lang="en-US" altLang="zh-CN" sz="1700" dirty="0" smtClean="0"/>
              <a:t> p=r</a:t>
            </a:r>
            <a:r>
              <a:rPr lang="en-US" altLang="zh-CN" sz="1700" dirty="0"/>
              <a:t>;∥p</a:t>
            </a:r>
            <a:r>
              <a:rPr lang="zh-CN" altLang="en-US" sz="1700" dirty="0"/>
              <a:t>指向下个待排序结点。</a:t>
            </a:r>
          </a:p>
          <a:p>
            <a:pPr eaLnBrk="1" fontAlgn="auto" hangingPunct="1">
              <a:lnSpc>
                <a:spcPct val="80000"/>
              </a:lnSpc>
              <a:spcAft>
                <a:spcPts val="0"/>
              </a:spcAft>
              <a:buFont typeface="Wingdings" panose="05000000000000000000" pitchFamily="2" charset="2"/>
              <a:buNone/>
              <a:defRPr/>
            </a:pPr>
            <a:r>
              <a:rPr lang="zh-CN" altLang="en-US" sz="1700" dirty="0"/>
              <a:t>       </a:t>
            </a:r>
            <a:r>
              <a:rPr lang="en-US" altLang="zh-CN" sz="1700" dirty="0"/>
              <a:t>}</a:t>
            </a:r>
          </a:p>
          <a:p>
            <a:pPr eaLnBrk="1" fontAlgn="auto" hangingPunct="1">
              <a:lnSpc>
                <a:spcPct val="80000"/>
              </a:lnSpc>
              <a:spcAft>
                <a:spcPts val="0"/>
              </a:spcAft>
              <a:buFont typeface="Wingdings" panose="05000000000000000000" pitchFamily="2" charset="2"/>
              <a:buNone/>
              <a:defRPr/>
            </a:pPr>
            <a:r>
              <a:rPr lang="en-US" altLang="zh-CN" sz="1700" dirty="0"/>
              <a:t>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24579" name="Rectangle 4"/>
          <p:cNvSpPr>
            <a:spLocks noChangeArrowheads="1"/>
          </p:cNvSpPr>
          <p:nvPr/>
        </p:nvSpPr>
        <p:spPr bwMode="auto">
          <a:xfrm>
            <a:off x="3721100" y="1801813"/>
            <a:ext cx="793750"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24580" name="Text Box 5"/>
          <p:cNvSpPr txBox="1">
            <a:spLocks noChangeArrowheads="1"/>
          </p:cNvSpPr>
          <p:nvPr/>
        </p:nvSpPr>
        <p:spPr bwMode="auto">
          <a:xfrm>
            <a:off x="4008438" y="1874838"/>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p:txBody>
      </p:sp>
      <p:sp>
        <p:nvSpPr>
          <p:cNvPr id="24581" name="Line 6"/>
          <p:cNvSpPr>
            <a:spLocks noChangeShapeType="1"/>
          </p:cNvSpPr>
          <p:nvPr/>
        </p:nvSpPr>
        <p:spPr bwMode="auto">
          <a:xfrm>
            <a:off x="4295775" y="180181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82" name="Line 7"/>
          <p:cNvSpPr>
            <a:spLocks noChangeShapeType="1"/>
          </p:cNvSpPr>
          <p:nvPr/>
        </p:nvSpPr>
        <p:spPr bwMode="auto">
          <a:xfrm>
            <a:off x="4295775" y="1946275"/>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83" name="Text Box 8"/>
          <p:cNvSpPr txBox="1">
            <a:spLocks noChangeArrowheads="1"/>
          </p:cNvSpPr>
          <p:nvPr/>
        </p:nvSpPr>
        <p:spPr bwMode="auto">
          <a:xfrm>
            <a:off x="1774825" y="1773238"/>
            <a:ext cx="10144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list</a:t>
            </a:r>
            <a:endParaRPr kumimoji="1" lang="en-US" altLang="zh-CN" sz="1000">
              <a:latin typeface="Times New Roman" panose="02020603050405020304" pitchFamily="18" charset="0"/>
              <a:ea typeface="宋体" panose="02010600030101010101" pitchFamily="2" charset="-122"/>
            </a:endParaRPr>
          </a:p>
        </p:txBody>
      </p:sp>
      <p:sp>
        <p:nvSpPr>
          <p:cNvPr id="24584" name="Line 9"/>
          <p:cNvSpPr>
            <a:spLocks noChangeShapeType="1"/>
          </p:cNvSpPr>
          <p:nvPr/>
        </p:nvSpPr>
        <p:spPr bwMode="auto">
          <a:xfrm flipV="1">
            <a:off x="2279650" y="2017713"/>
            <a:ext cx="431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85" name="Rectangle 10"/>
          <p:cNvSpPr>
            <a:spLocks noChangeArrowheads="1"/>
          </p:cNvSpPr>
          <p:nvPr/>
        </p:nvSpPr>
        <p:spPr bwMode="auto">
          <a:xfrm>
            <a:off x="2654300" y="1787525"/>
            <a:ext cx="792163"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24586" name="Line 11"/>
          <p:cNvSpPr>
            <a:spLocks noChangeShapeType="1"/>
          </p:cNvSpPr>
          <p:nvPr/>
        </p:nvSpPr>
        <p:spPr bwMode="auto">
          <a:xfrm>
            <a:off x="3216275" y="180181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87" name="Line 12"/>
          <p:cNvSpPr>
            <a:spLocks noChangeShapeType="1"/>
          </p:cNvSpPr>
          <p:nvPr/>
        </p:nvSpPr>
        <p:spPr bwMode="auto">
          <a:xfrm>
            <a:off x="3287713" y="1946275"/>
            <a:ext cx="4191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88" name="Line 13"/>
          <p:cNvSpPr>
            <a:spLocks noChangeShapeType="1"/>
          </p:cNvSpPr>
          <p:nvPr/>
        </p:nvSpPr>
        <p:spPr bwMode="auto">
          <a:xfrm>
            <a:off x="7680325" y="1939925"/>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89" name="Line 15"/>
          <p:cNvSpPr>
            <a:spLocks noChangeShapeType="1"/>
          </p:cNvSpPr>
          <p:nvPr/>
        </p:nvSpPr>
        <p:spPr bwMode="auto">
          <a:xfrm>
            <a:off x="6745288" y="1939925"/>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0" name="Text Box 16"/>
          <p:cNvSpPr txBox="1">
            <a:spLocks noChangeArrowheads="1"/>
          </p:cNvSpPr>
          <p:nvPr/>
        </p:nvSpPr>
        <p:spPr bwMode="auto">
          <a:xfrm>
            <a:off x="7319963" y="1766888"/>
            <a:ext cx="419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a:t>
            </a:r>
            <a:endParaRPr kumimoji="1" lang="en-US" altLang="zh-CN" sz="1000">
              <a:latin typeface="Times New Roman" panose="02020603050405020304" pitchFamily="18" charset="0"/>
              <a:ea typeface="宋体" panose="02010600030101010101" pitchFamily="2" charset="-122"/>
            </a:endParaRPr>
          </a:p>
        </p:txBody>
      </p:sp>
      <p:sp>
        <p:nvSpPr>
          <p:cNvPr id="24591" name="Line 19"/>
          <p:cNvSpPr>
            <a:spLocks noChangeShapeType="1"/>
          </p:cNvSpPr>
          <p:nvPr/>
        </p:nvSpPr>
        <p:spPr bwMode="auto">
          <a:xfrm>
            <a:off x="5592763" y="1939925"/>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2" name="Line 20"/>
          <p:cNvSpPr>
            <a:spLocks noChangeShapeType="1"/>
          </p:cNvSpPr>
          <p:nvPr/>
        </p:nvSpPr>
        <p:spPr bwMode="auto">
          <a:xfrm>
            <a:off x="2855913" y="180181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3" name="Line 21"/>
          <p:cNvSpPr>
            <a:spLocks noChangeShapeType="1"/>
          </p:cNvSpPr>
          <p:nvPr/>
        </p:nvSpPr>
        <p:spPr bwMode="auto">
          <a:xfrm>
            <a:off x="3935413" y="180181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4" name="Rectangle 22"/>
          <p:cNvSpPr>
            <a:spLocks noChangeArrowheads="1"/>
          </p:cNvSpPr>
          <p:nvPr/>
        </p:nvSpPr>
        <p:spPr bwMode="auto">
          <a:xfrm>
            <a:off x="4800600" y="1795463"/>
            <a:ext cx="793750"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24595" name="Text Box 23"/>
          <p:cNvSpPr txBox="1">
            <a:spLocks noChangeArrowheads="1"/>
          </p:cNvSpPr>
          <p:nvPr/>
        </p:nvSpPr>
        <p:spPr bwMode="auto">
          <a:xfrm>
            <a:off x="5016500" y="1868488"/>
            <a:ext cx="431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p:txBody>
      </p:sp>
      <p:sp>
        <p:nvSpPr>
          <p:cNvPr id="24596" name="Line 24"/>
          <p:cNvSpPr>
            <a:spLocks noChangeShapeType="1"/>
          </p:cNvSpPr>
          <p:nvPr/>
        </p:nvSpPr>
        <p:spPr bwMode="auto">
          <a:xfrm>
            <a:off x="5375275" y="17954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7" name="Line 25"/>
          <p:cNvSpPr>
            <a:spLocks noChangeShapeType="1"/>
          </p:cNvSpPr>
          <p:nvPr/>
        </p:nvSpPr>
        <p:spPr bwMode="auto">
          <a:xfrm>
            <a:off x="5014913" y="17954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8" name="Rectangle 26"/>
          <p:cNvSpPr>
            <a:spLocks noChangeArrowheads="1"/>
          </p:cNvSpPr>
          <p:nvPr/>
        </p:nvSpPr>
        <p:spPr bwMode="auto">
          <a:xfrm>
            <a:off x="6097588" y="1795463"/>
            <a:ext cx="793750"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24599" name="Text Box 27"/>
          <p:cNvSpPr txBox="1">
            <a:spLocks noChangeArrowheads="1"/>
          </p:cNvSpPr>
          <p:nvPr/>
        </p:nvSpPr>
        <p:spPr bwMode="auto">
          <a:xfrm>
            <a:off x="6384925" y="1868488"/>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3</a:t>
            </a:r>
          </a:p>
        </p:txBody>
      </p:sp>
      <p:sp>
        <p:nvSpPr>
          <p:cNvPr id="24600" name="Line 28"/>
          <p:cNvSpPr>
            <a:spLocks noChangeShapeType="1"/>
          </p:cNvSpPr>
          <p:nvPr/>
        </p:nvSpPr>
        <p:spPr bwMode="auto">
          <a:xfrm>
            <a:off x="6672263" y="17954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601" name="Line 29"/>
          <p:cNvSpPr>
            <a:spLocks noChangeShapeType="1"/>
          </p:cNvSpPr>
          <p:nvPr/>
        </p:nvSpPr>
        <p:spPr bwMode="auto">
          <a:xfrm>
            <a:off x="6311900" y="17954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602" name="Rectangle 30"/>
          <p:cNvSpPr>
            <a:spLocks noChangeArrowheads="1"/>
          </p:cNvSpPr>
          <p:nvPr/>
        </p:nvSpPr>
        <p:spPr bwMode="auto">
          <a:xfrm>
            <a:off x="8185150" y="1795463"/>
            <a:ext cx="793750"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24603" name="Text Box 31"/>
          <p:cNvSpPr txBox="1">
            <a:spLocks noChangeArrowheads="1"/>
          </p:cNvSpPr>
          <p:nvPr/>
        </p:nvSpPr>
        <p:spPr bwMode="auto">
          <a:xfrm>
            <a:off x="8472488" y="1868488"/>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p>
        </p:txBody>
      </p:sp>
      <p:sp>
        <p:nvSpPr>
          <p:cNvPr id="24604" name="Line 32"/>
          <p:cNvSpPr>
            <a:spLocks noChangeShapeType="1"/>
          </p:cNvSpPr>
          <p:nvPr/>
        </p:nvSpPr>
        <p:spPr bwMode="auto">
          <a:xfrm>
            <a:off x="8759825" y="17954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605" name="Line 33"/>
          <p:cNvSpPr>
            <a:spLocks noChangeShapeType="1"/>
          </p:cNvSpPr>
          <p:nvPr/>
        </p:nvSpPr>
        <p:spPr bwMode="auto">
          <a:xfrm>
            <a:off x="8399463" y="17954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606" name="Text Box 34"/>
          <p:cNvSpPr txBox="1">
            <a:spLocks noChangeArrowheads="1"/>
          </p:cNvSpPr>
          <p:nvPr/>
        </p:nvSpPr>
        <p:spPr bwMode="auto">
          <a:xfrm>
            <a:off x="8761413" y="1868488"/>
            <a:ext cx="3048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1800">
                <a:latin typeface="Verdana" panose="020B0604030504040204" pitchFamily="34" charset="0"/>
                <a:ea typeface="宋体" panose="02010600030101010101" pitchFamily="2" charset="-122"/>
              </a:rPr>
              <a:t>∧</a:t>
            </a:r>
          </a:p>
        </p:txBody>
      </p:sp>
      <p:sp>
        <p:nvSpPr>
          <p:cNvPr id="195625" name="Line 41"/>
          <p:cNvSpPr>
            <a:spLocks noChangeShapeType="1"/>
          </p:cNvSpPr>
          <p:nvPr/>
        </p:nvSpPr>
        <p:spPr bwMode="auto">
          <a:xfrm flipV="1">
            <a:off x="4694238" y="2276475"/>
            <a:ext cx="322262" cy="195263"/>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26" name="Text Box 42"/>
          <p:cNvSpPr txBox="1">
            <a:spLocks noChangeArrowheads="1"/>
          </p:cNvSpPr>
          <p:nvPr/>
        </p:nvSpPr>
        <p:spPr bwMode="auto">
          <a:xfrm>
            <a:off x="4440238" y="2205038"/>
            <a:ext cx="3683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95627" name="Rectangle 43"/>
          <p:cNvSpPr>
            <a:spLocks noChangeArrowheads="1"/>
          </p:cNvSpPr>
          <p:nvPr/>
        </p:nvSpPr>
        <p:spPr bwMode="auto">
          <a:xfrm>
            <a:off x="3703638" y="2660650"/>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28" name="Text Box 44"/>
          <p:cNvSpPr txBox="1">
            <a:spLocks noChangeArrowheads="1"/>
          </p:cNvSpPr>
          <p:nvPr/>
        </p:nvSpPr>
        <p:spPr bwMode="auto">
          <a:xfrm>
            <a:off x="3990975" y="2733675"/>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p:txBody>
      </p:sp>
      <p:sp>
        <p:nvSpPr>
          <p:cNvPr id="195629" name="Line 45"/>
          <p:cNvSpPr>
            <a:spLocks noChangeShapeType="1"/>
          </p:cNvSpPr>
          <p:nvPr/>
        </p:nvSpPr>
        <p:spPr bwMode="auto">
          <a:xfrm>
            <a:off x="4278313" y="266065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30" name="Line 46"/>
          <p:cNvSpPr>
            <a:spLocks noChangeShapeType="1"/>
          </p:cNvSpPr>
          <p:nvPr/>
        </p:nvSpPr>
        <p:spPr bwMode="auto">
          <a:xfrm>
            <a:off x="4278313" y="2805113"/>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31" name="Text Box 47"/>
          <p:cNvSpPr txBox="1">
            <a:spLocks noChangeArrowheads="1"/>
          </p:cNvSpPr>
          <p:nvPr/>
        </p:nvSpPr>
        <p:spPr bwMode="auto">
          <a:xfrm>
            <a:off x="1757363" y="2632075"/>
            <a:ext cx="10144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list</a:t>
            </a:r>
            <a:endParaRPr kumimoji="1" lang="en-US" altLang="zh-CN" sz="1000">
              <a:latin typeface="Times New Roman" panose="02020603050405020304" pitchFamily="18" charset="0"/>
              <a:ea typeface="宋体" panose="02010600030101010101" pitchFamily="2" charset="-122"/>
            </a:endParaRPr>
          </a:p>
        </p:txBody>
      </p:sp>
      <p:sp>
        <p:nvSpPr>
          <p:cNvPr id="195632" name="Line 48"/>
          <p:cNvSpPr>
            <a:spLocks noChangeShapeType="1"/>
          </p:cNvSpPr>
          <p:nvPr/>
        </p:nvSpPr>
        <p:spPr bwMode="auto">
          <a:xfrm flipV="1">
            <a:off x="2262188" y="2876550"/>
            <a:ext cx="431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33" name="Rectangle 49"/>
          <p:cNvSpPr>
            <a:spLocks noChangeArrowheads="1"/>
          </p:cNvSpPr>
          <p:nvPr/>
        </p:nvSpPr>
        <p:spPr bwMode="auto">
          <a:xfrm>
            <a:off x="2636838" y="2646363"/>
            <a:ext cx="792162"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34" name="Line 50"/>
          <p:cNvSpPr>
            <a:spLocks noChangeShapeType="1"/>
          </p:cNvSpPr>
          <p:nvPr/>
        </p:nvSpPr>
        <p:spPr bwMode="auto">
          <a:xfrm>
            <a:off x="3198813" y="266065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35" name="Line 51"/>
          <p:cNvSpPr>
            <a:spLocks noChangeShapeType="1"/>
          </p:cNvSpPr>
          <p:nvPr/>
        </p:nvSpPr>
        <p:spPr bwMode="auto">
          <a:xfrm>
            <a:off x="3270250" y="2805113"/>
            <a:ext cx="4191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36" name="Line 52"/>
          <p:cNvSpPr>
            <a:spLocks noChangeShapeType="1"/>
          </p:cNvSpPr>
          <p:nvPr/>
        </p:nvSpPr>
        <p:spPr bwMode="auto">
          <a:xfrm>
            <a:off x="7662863" y="2798763"/>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37" name="Line 53"/>
          <p:cNvSpPr>
            <a:spLocks noChangeShapeType="1"/>
          </p:cNvSpPr>
          <p:nvPr/>
        </p:nvSpPr>
        <p:spPr bwMode="auto">
          <a:xfrm>
            <a:off x="6727825" y="2798763"/>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38" name="Text Box 54"/>
          <p:cNvSpPr txBox="1">
            <a:spLocks noChangeArrowheads="1"/>
          </p:cNvSpPr>
          <p:nvPr/>
        </p:nvSpPr>
        <p:spPr bwMode="auto">
          <a:xfrm>
            <a:off x="7302500" y="2625725"/>
            <a:ext cx="419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a:t>
            </a:r>
            <a:endParaRPr kumimoji="1" lang="en-US" altLang="zh-CN" sz="1000">
              <a:latin typeface="Times New Roman" panose="02020603050405020304" pitchFamily="18" charset="0"/>
              <a:ea typeface="宋体" panose="02010600030101010101" pitchFamily="2" charset="-122"/>
            </a:endParaRPr>
          </a:p>
        </p:txBody>
      </p:sp>
      <p:sp>
        <p:nvSpPr>
          <p:cNvPr id="195639" name="Line 55"/>
          <p:cNvSpPr>
            <a:spLocks noChangeShapeType="1"/>
          </p:cNvSpPr>
          <p:nvPr/>
        </p:nvSpPr>
        <p:spPr bwMode="auto">
          <a:xfrm>
            <a:off x="5575300" y="2798763"/>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40" name="Line 56"/>
          <p:cNvSpPr>
            <a:spLocks noChangeShapeType="1"/>
          </p:cNvSpPr>
          <p:nvPr/>
        </p:nvSpPr>
        <p:spPr bwMode="auto">
          <a:xfrm>
            <a:off x="2838450" y="266065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41" name="Line 57"/>
          <p:cNvSpPr>
            <a:spLocks noChangeShapeType="1"/>
          </p:cNvSpPr>
          <p:nvPr/>
        </p:nvSpPr>
        <p:spPr bwMode="auto">
          <a:xfrm>
            <a:off x="3917950" y="266065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42" name="Rectangle 58"/>
          <p:cNvSpPr>
            <a:spLocks noChangeArrowheads="1"/>
          </p:cNvSpPr>
          <p:nvPr/>
        </p:nvSpPr>
        <p:spPr bwMode="auto">
          <a:xfrm>
            <a:off x="4783138" y="2654300"/>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43" name="Text Box 59"/>
          <p:cNvSpPr txBox="1">
            <a:spLocks noChangeArrowheads="1"/>
          </p:cNvSpPr>
          <p:nvPr/>
        </p:nvSpPr>
        <p:spPr bwMode="auto">
          <a:xfrm>
            <a:off x="4999038" y="2727325"/>
            <a:ext cx="431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p:txBody>
      </p:sp>
      <p:sp>
        <p:nvSpPr>
          <p:cNvPr id="195644" name="Line 60"/>
          <p:cNvSpPr>
            <a:spLocks noChangeShapeType="1"/>
          </p:cNvSpPr>
          <p:nvPr/>
        </p:nvSpPr>
        <p:spPr bwMode="auto">
          <a:xfrm>
            <a:off x="5357813" y="265430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45" name="Line 61"/>
          <p:cNvSpPr>
            <a:spLocks noChangeShapeType="1"/>
          </p:cNvSpPr>
          <p:nvPr/>
        </p:nvSpPr>
        <p:spPr bwMode="auto">
          <a:xfrm>
            <a:off x="4997450" y="265430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46" name="Rectangle 62"/>
          <p:cNvSpPr>
            <a:spLocks noChangeArrowheads="1"/>
          </p:cNvSpPr>
          <p:nvPr/>
        </p:nvSpPr>
        <p:spPr bwMode="auto">
          <a:xfrm>
            <a:off x="6080125" y="2654300"/>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47" name="Text Box 63"/>
          <p:cNvSpPr txBox="1">
            <a:spLocks noChangeArrowheads="1"/>
          </p:cNvSpPr>
          <p:nvPr/>
        </p:nvSpPr>
        <p:spPr bwMode="auto">
          <a:xfrm>
            <a:off x="6367463" y="2727325"/>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3</a:t>
            </a:r>
          </a:p>
        </p:txBody>
      </p:sp>
      <p:sp>
        <p:nvSpPr>
          <p:cNvPr id="195648" name="Line 64"/>
          <p:cNvSpPr>
            <a:spLocks noChangeShapeType="1"/>
          </p:cNvSpPr>
          <p:nvPr/>
        </p:nvSpPr>
        <p:spPr bwMode="auto">
          <a:xfrm>
            <a:off x="6654800" y="265430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49" name="Line 65"/>
          <p:cNvSpPr>
            <a:spLocks noChangeShapeType="1"/>
          </p:cNvSpPr>
          <p:nvPr/>
        </p:nvSpPr>
        <p:spPr bwMode="auto">
          <a:xfrm>
            <a:off x="6294438" y="265430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50" name="Rectangle 66"/>
          <p:cNvSpPr>
            <a:spLocks noChangeArrowheads="1"/>
          </p:cNvSpPr>
          <p:nvPr/>
        </p:nvSpPr>
        <p:spPr bwMode="auto">
          <a:xfrm>
            <a:off x="8167688" y="2654300"/>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51" name="Text Box 67"/>
          <p:cNvSpPr txBox="1">
            <a:spLocks noChangeArrowheads="1"/>
          </p:cNvSpPr>
          <p:nvPr/>
        </p:nvSpPr>
        <p:spPr bwMode="auto">
          <a:xfrm>
            <a:off x="8455025" y="2727325"/>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p>
        </p:txBody>
      </p:sp>
      <p:sp>
        <p:nvSpPr>
          <p:cNvPr id="195652" name="Line 68"/>
          <p:cNvSpPr>
            <a:spLocks noChangeShapeType="1"/>
          </p:cNvSpPr>
          <p:nvPr/>
        </p:nvSpPr>
        <p:spPr bwMode="auto">
          <a:xfrm>
            <a:off x="8742363" y="265430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53" name="Line 69"/>
          <p:cNvSpPr>
            <a:spLocks noChangeShapeType="1"/>
          </p:cNvSpPr>
          <p:nvPr/>
        </p:nvSpPr>
        <p:spPr bwMode="auto">
          <a:xfrm>
            <a:off x="8382000" y="265430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54" name="Text Box 70"/>
          <p:cNvSpPr txBox="1">
            <a:spLocks noChangeArrowheads="1"/>
          </p:cNvSpPr>
          <p:nvPr/>
        </p:nvSpPr>
        <p:spPr bwMode="auto">
          <a:xfrm>
            <a:off x="8743950" y="2727325"/>
            <a:ext cx="3048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1800">
                <a:latin typeface="Verdana" panose="020B0604030504040204" pitchFamily="34" charset="0"/>
                <a:ea typeface="宋体" panose="02010600030101010101" pitchFamily="2" charset="-122"/>
              </a:rPr>
              <a:t>∧</a:t>
            </a:r>
          </a:p>
        </p:txBody>
      </p:sp>
      <p:sp>
        <p:nvSpPr>
          <p:cNvPr id="195655" name="Line 71"/>
          <p:cNvSpPr>
            <a:spLocks noChangeShapeType="1"/>
          </p:cNvSpPr>
          <p:nvPr/>
        </p:nvSpPr>
        <p:spPr bwMode="auto">
          <a:xfrm>
            <a:off x="2711450" y="2997200"/>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656" name="Line 72"/>
          <p:cNvSpPr>
            <a:spLocks noChangeShapeType="1"/>
          </p:cNvSpPr>
          <p:nvPr/>
        </p:nvSpPr>
        <p:spPr bwMode="auto">
          <a:xfrm>
            <a:off x="2711450" y="3357563"/>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657" name="Line 73"/>
          <p:cNvSpPr>
            <a:spLocks noChangeShapeType="1"/>
          </p:cNvSpPr>
          <p:nvPr/>
        </p:nvSpPr>
        <p:spPr bwMode="auto">
          <a:xfrm flipV="1">
            <a:off x="4079875" y="3141663"/>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658" name="Line 74"/>
          <p:cNvSpPr>
            <a:spLocks noChangeShapeType="1"/>
          </p:cNvSpPr>
          <p:nvPr/>
        </p:nvSpPr>
        <p:spPr bwMode="auto">
          <a:xfrm flipV="1">
            <a:off x="4621213" y="3140075"/>
            <a:ext cx="322262" cy="195263"/>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59" name="Text Box 75"/>
          <p:cNvSpPr txBox="1">
            <a:spLocks noChangeArrowheads="1"/>
          </p:cNvSpPr>
          <p:nvPr/>
        </p:nvSpPr>
        <p:spPr bwMode="auto">
          <a:xfrm>
            <a:off x="4367213" y="3068638"/>
            <a:ext cx="3683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95662" name="Text Box 78"/>
          <p:cNvSpPr txBox="1">
            <a:spLocks noChangeArrowheads="1"/>
          </p:cNvSpPr>
          <p:nvPr/>
        </p:nvSpPr>
        <p:spPr bwMode="auto">
          <a:xfrm>
            <a:off x="5087938" y="3284538"/>
            <a:ext cx="13858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rPr>
              <a:t>如果 </a:t>
            </a:r>
            <a:r>
              <a:rPr lang="en-US" altLang="zh-CN" sz="1800">
                <a:latin typeface="Verdana" panose="020B0604030504040204" pitchFamily="34"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r>
              <a:rPr lang="en-US" altLang="zh-CN" sz="1800">
                <a:latin typeface="Verdana" panose="020B0604030504040204" pitchFamily="34" charset="0"/>
                <a:ea typeface="宋体" panose="02010600030101010101" pitchFamily="2" charset="-122"/>
              </a:rPr>
              <a:t>&gt;a</a:t>
            </a:r>
            <a:r>
              <a:rPr kumimoji="1" lang="en-US" altLang="zh-CN" sz="2400" baseline="-25000">
                <a:latin typeface="Times New Roman" panose="02020603050405020304" pitchFamily="18" charset="0"/>
                <a:ea typeface="宋体" panose="02010600030101010101" pitchFamily="2" charset="-122"/>
              </a:rPr>
              <a:t>2</a:t>
            </a:r>
          </a:p>
        </p:txBody>
      </p:sp>
      <p:sp>
        <p:nvSpPr>
          <p:cNvPr id="195663" name="AutoShape 79"/>
          <p:cNvSpPr>
            <a:spLocks noChangeArrowheads="1"/>
          </p:cNvSpPr>
          <p:nvPr/>
        </p:nvSpPr>
        <p:spPr bwMode="auto">
          <a:xfrm rot="5400000">
            <a:off x="4038600" y="2460625"/>
            <a:ext cx="360363" cy="1719263"/>
          </a:xfrm>
          <a:prstGeom prst="curvedLeftArrow">
            <a:avLst>
              <a:gd name="adj1" fmla="val 42541"/>
              <a:gd name="adj2" fmla="val 130979"/>
              <a:gd name="adj3" fmla="val 33333"/>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64" name="Rectangle 80"/>
          <p:cNvSpPr>
            <a:spLocks noChangeArrowheads="1"/>
          </p:cNvSpPr>
          <p:nvPr/>
        </p:nvSpPr>
        <p:spPr bwMode="auto">
          <a:xfrm>
            <a:off x="3721100" y="3895725"/>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65" name="Text Box 81"/>
          <p:cNvSpPr txBox="1">
            <a:spLocks noChangeArrowheads="1"/>
          </p:cNvSpPr>
          <p:nvPr/>
        </p:nvSpPr>
        <p:spPr bwMode="auto">
          <a:xfrm>
            <a:off x="4008438" y="3968750"/>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p:txBody>
      </p:sp>
      <p:sp>
        <p:nvSpPr>
          <p:cNvPr id="195666" name="Line 82"/>
          <p:cNvSpPr>
            <a:spLocks noChangeShapeType="1"/>
          </p:cNvSpPr>
          <p:nvPr/>
        </p:nvSpPr>
        <p:spPr bwMode="auto">
          <a:xfrm>
            <a:off x="4295775" y="3895725"/>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67" name="Line 83"/>
          <p:cNvSpPr>
            <a:spLocks noChangeShapeType="1"/>
          </p:cNvSpPr>
          <p:nvPr/>
        </p:nvSpPr>
        <p:spPr bwMode="auto">
          <a:xfrm>
            <a:off x="4295775" y="4040188"/>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68" name="Text Box 84"/>
          <p:cNvSpPr txBox="1">
            <a:spLocks noChangeArrowheads="1"/>
          </p:cNvSpPr>
          <p:nvPr/>
        </p:nvSpPr>
        <p:spPr bwMode="auto">
          <a:xfrm>
            <a:off x="1774825" y="3867150"/>
            <a:ext cx="10144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list</a:t>
            </a:r>
            <a:endParaRPr kumimoji="1" lang="en-US" altLang="zh-CN" sz="1000">
              <a:latin typeface="Times New Roman" panose="02020603050405020304" pitchFamily="18" charset="0"/>
              <a:ea typeface="宋体" panose="02010600030101010101" pitchFamily="2" charset="-122"/>
            </a:endParaRPr>
          </a:p>
        </p:txBody>
      </p:sp>
      <p:sp>
        <p:nvSpPr>
          <p:cNvPr id="195669" name="Line 85"/>
          <p:cNvSpPr>
            <a:spLocks noChangeShapeType="1"/>
          </p:cNvSpPr>
          <p:nvPr/>
        </p:nvSpPr>
        <p:spPr bwMode="auto">
          <a:xfrm flipV="1">
            <a:off x="2279650" y="4111625"/>
            <a:ext cx="431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70" name="Rectangle 86"/>
          <p:cNvSpPr>
            <a:spLocks noChangeArrowheads="1"/>
          </p:cNvSpPr>
          <p:nvPr/>
        </p:nvSpPr>
        <p:spPr bwMode="auto">
          <a:xfrm>
            <a:off x="2654300" y="3881438"/>
            <a:ext cx="792163"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71" name="Line 87"/>
          <p:cNvSpPr>
            <a:spLocks noChangeShapeType="1"/>
          </p:cNvSpPr>
          <p:nvPr/>
        </p:nvSpPr>
        <p:spPr bwMode="auto">
          <a:xfrm>
            <a:off x="3216275" y="3895725"/>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72" name="Line 88"/>
          <p:cNvSpPr>
            <a:spLocks noChangeShapeType="1"/>
          </p:cNvSpPr>
          <p:nvPr/>
        </p:nvSpPr>
        <p:spPr bwMode="auto">
          <a:xfrm>
            <a:off x="3287713" y="4040188"/>
            <a:ext cx="4191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73" name="Line 89"/>
          <p:cNvSpPr>
            <a:spLocks noChangeShapeType="1"/>
          </p:cNvSpPr>
          <p:nvPr/>
        </p:nvSpPr>
        <p:spPr bwMode="auto">
          <a:xfrm>
            <a:off x="7680325" y="4033838"/>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74" name="Line 90"/>
          <p:cNvSpPr>
            <a:spLocks noChangeShapeType="1"/>
          </p:cNvSpPr>
          <p:nvPr/>
        </p:nvSpPr>
        <p:spPr bwMode="auto">
          <a:xfrm>
            <a:off x="6745288" y="4033838"/>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75" name="Text Box 91"/>
          <p:cNvSpPr txBox="1">
            <a:spLocks noChangeArrowheads="1"/>
          </p:cNvSpPr>
          <p:nvPr/>
        </p:nvSpPr>
        <p:spPr bwMode="auto">
          <a:xfrm>
            <a:off x="7319963" y="3860800"/>
            <a:ext cx="419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a:t>
            </a:r>
            <a:endParaRPr kumimoji="1" lang="en-US" altLang="zh-CN" sz="1000">
              <a:latin typeface="Times New Roman" panose="02020603050405020304" pitchFamily="18" charset="0"/>
              <a:ea typeface="宋体" panose="02010600030101010101" pitchFamily="2" charset="-122"/>
            </a:endParaRPr>
          </a:p>
        </p:txBody>
      </p:sp>
      <p:sp>
        <p:nvSpPr>
          <p:cNvPr id="195676" name="Line 92"/>
          <p:cNvSpPr>
            <a:spLocks noChangeShapeType="1"/>
          </p:cNvSpPr>
          <p:nvPr/>
        </p:nvSpPr>
        <p:spPr bwMode="auto">
          <a:xfrm>
            <a:off x="5592763" y="4033838"/>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77" name="Line 93"/>
          <p:cNvSpPr>
            <a:spLocks noChangeShapeType="1"/>
          </p:cNvSpPr>
          <p:nvPr/>
        </p:nvSpPr>
        <p:spPr bwMode="auto">
          <a:xfrm>
            <a:off x="2855913" y="3895725"/>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78" name="Line 94"/>
          <p:cNvSpPr>
            <a:spLocks noChangeShapeType="1"/>
          </p:cNvSpPr>
          <p:nvPr/>
        </p:nvSpPr>
        <p:spPr bwMode="auto">
          <a:xfrm>
            <a:off x="3935413" y="3895725"/>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79" name="Rectangle 95"/>
          <p:cNvSpPr>
            <a:spLocks noChangeArrowheads="1"/>
          </p:cNvSpPr>
          <p:nvPr/>
        </p:nvSpPr>
        <p:spPr bwMode="auto">
          <a:xfrm>
            <a:off x="4800600" y="3889375"/>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80" name="Text Box 96"/>
          <p:cNvSpPr txBox="1">
            <a:spLocks noChangeArrowheads="1"/>
          </p:cNvSpPr>
          <p:nvPr/>
        </p:nvSpPr>
        <p:spPr bwMode="auto">
          <a:xfrm>
            <a:off x="5016500" y="3962400"/>
            <a:ext cx="431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p:txBody>
      </p:sp>
      <p:sp>
        <p:nvSpPr>
          <p:cNvPr id="195681" name="Line 97"/>
          <p:cNvSpPr>
            <a:spLocks noChangeShapeType="1"/>
          </p:cNvSpPr>
          <p:nvPr/>
        </p:nvSpPr>
        <p:spPr bwMode="auto">
          <a:xfrm>
            <a:off x="5375275" y="3889375"/>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82" name="Line 98"/>
          <p:cNvSpPr>
            <a:spLocks noChangeShapeType="1"/>
          </p:cNvSpPr>
          <p:nvPr/>
        </p:nvSpPr>
        <p:spPr bwMode="auto">
          <a:xfrm>
            <a:off x="5014913" y="3889375"/>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83" name="Rectangle 99"/>
          <p:cNvSpPr>
            <a:spLocks noChangeArrowheads="1"/>
          </p:cNvSpPr>
          <p:nvPr/>
        </p:nvSpPr>
        <p:spPr bwMode="auto">
          <a:xfrm>
            <a:off x="6097588" y="3889375"/>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84" name="Text Box 100"/>
          <p:cNvSpPr txBox="1">
            <a:spLocks noChangeArrowheads="1"/>
          </p:cNvSpPr>
          <p:nvPr/>
        </p:nvSpPr>
        <p:spPr bwMode="auto">
          <a:xfrm>
            <a:off x="6384925" y="3962400"/>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3</a:t>
            </a:r>
          </a:p>
        </p:txBody>
      </p:sp>
      <p:sp>
        <p:nvSpPr>
          <p:cNvPr id="195685" name="Line 101"/>
          <p:cNvSpPr>
            <a:spLocks noChangeShapeType="1"/>
          </p:cNvSpPr>
          <p:nvPr/>
        </p:nvSpPr>
        <p:spPr bwMode="auto">
          <a:xfrm>
            <a:off x="6672263" y="3889375"/>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86" name="Line 102"/>
          <p:cNvSpPr>
            <a:spLocks noChangeShapeType="1"/>
          </p:cNvSpPr>
          <p:nvPr/>
        </p:nvSpPr>
        <p:spPr bwMode="auto">
          <a:xfrm>
            <a:off x="6311900" y="3889375"/>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87" name="Rectangle 103"/>
          <p:cNvSpPr>
            <a:spLocks noChangeArrowheads="1"/>
          </p:cNvSpPr>
          <p:nvPr/>
        </p:nvSpPr>
        <p:spPr bwMode="auto">
          <a:xfrm>
            <a:off x="8185150" y="3889375"/>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688" name="Text Box 104"/>
          <p:cNvSpPr txBox="1">
            <a:spLocks noChangeArrowheads="1"/>
          </p:cNvSpPr>
          <p:nvPr/>
        </p:nvSpPr>
        <p:spPr bwMode="auto">
          <a:xfrm>
            <a:off x="8472488" y="3962400"/>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p>
        </p:txBody>
      </p:sp>
      <p:sp>
        <p:nvSpPr>
          <p:cNvPr id="195689" name="Line 105"/>
          <p:cNvSpPr>
            <a:spLocks noChangeShapeType="1"/>
          </p:cNvSpPr>
          <p:nvPr/>
        </p:nvSpPr>
        <p:spPr bwMode="auto">
          <a:xfrm>
            <a:off x="8759825" y="3889375"/>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90" name="Line 106"/>
          <p:cNvSpPr>
            <a:spLocks noChangeShapeType="1"/>
          </p:cNvSpPr>
          <p:nvPr/>
        </p:nvSpPr>
        <p:spPr bwMode="auto">
          <a:xfrm>
            <a:off x="8399463" y="3889375"/>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91" name="Text Box 107"/>
          <p:cNvSpPr txBox="1">
            <a:spLocks noChangeArrowheads="1"/>
          </p:cNvSpPr>
          <p:nvPr/>
        </p:nvSpPr>
        <p:spPr bwMode="auto">
          <a:xfrm>
            <a:off x="8761413" y="3962400"/>
            <a:ext cx="3048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1800">
                <a:latin typeface="Verdana" panose="020B0604030504040204" pitchFamily="34" charset="0"/>
                <a:ea typeface="宋体" panose="02010600030101010101" pitchFamily="2" charset="-122"/>
              </a:rPr>
              <a:t>∧</a:t>
            </a:r>
          </a:p>
        </p:txBody>
      </p:sp>
      <p:sp>
        <p:nvSpPr>
          <p:cNvPr id="195692" name="Line 108"/>
          <p:cNvSpPr>
            <a:spLocks noChangeShapeType="1"/>
          </p:cNvSpPr>
          <p:nvPr/>
        </p:nvSpPr>
        <p:spPr bwMode="auto">
          <a:xfrm flipV="1">
            <a:off x="4727575" y="4370388"/>
            <a:ext cx="288925" cy="28257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693" name="Text Box 109"/>
          <p:cNvSpPr txBox="1">
            <a:spLocks noChangeArrowheads="1"/>
          </p:cNvSpPr>
          <p:nvPr/>
        </p:nvSpPr>
        <p:spPr bwMode="auto">
          <a:xfrm>
            <a:off x="4583113" y="4508500"/>
            <a:ext cx="3683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95694" name="Line 110"/>
          <p:cNvSpPr>
            <a:spLocks noChangeShapeType="1"/>
          </p:cNvSpPr>
          <p:nvPr/>
        </p:nvSpPr>
        <p:spPr bwMode="auto">
          <a:xfrm>
            <a:off x="2711450" y="4221163"/>
            <a:ext cx="0" cy="36036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695" name="Line 111"/>
          <p:cNvSpPr>
            <a:spLocks noChangeShapeType="1"/>
          </p:cNvSpPr>
          <p:nvPr/>
        </p:nvSpPr>
        <p:spPr bwMode="auto">
          <a:xfrm>
            <a:off x="2711450" y="4581525"/>
            <a:ext cx="2447925"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696" name="Line 112"/>
          <p:cNvSpPr>
            <a:spLocks noChangeShapeType="1"/>
          </p:cNvSpPr>
          <p:nvPr/>
        </p:nvSpPr>
        <p:spPr bwMode="auto">
          <a:xfrm flipV="1">
            <a:off x="5159375" y="4365625"/>
            <a:ext cx="0" cy="2159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698" name="Line 114"/>
          <p:cNvSpPr>
            <a:spLocks noChangeShapeType="1"/>
          </p:cNvSpPr>
          <p:nvPr/>
        </p:nvSpPr>
        <p:spPr bwMode="auto">
          <a:xfrm flipH="1">
            <a:off x="4511675" y="4221163"/>
            <a:ext cx="360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699" name="Text Box 115"/>
          <p:cNvSpPr txBox="1">
            <a:spLocks noChangeArrowheads="1"/>
          </p:cNvSpPr>
          <p:nvPr/>
        </p:nvSpPr>
        <p:spPr bwMode="auto">
          <a:xfrm>
            <a:off x="5159375" y="4797425"/>
            <a:ext cx="1385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rPr>
              <a:t>如果 </a:t>
            </a:r>
            <a:r>
              <a:rPr lang="en-US" altLang="zh-CN" sz="1800">
                <a:latin typeface="Verdana" panose="020B0604030504040204" pitchFamily="34"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r>
              <a:rPr lang="en-US" altLang="zh-CN" sz="1800">
                <a:latin typeface="Verdana" panose="020B0604030504040204" pitchFamily="34" charset="0"/>
                <a:ea typeface="宋体" panose="02010600030101010101" pitchFamily="2" charset="-122"/>
              </a:rPr>
              <a:t>&gt;a</a:t>
            </a:r>
            <a:r>
              <a:rPr kumimoji="1" lang="en-US" altLang="zh-CN" sz="2400" baseline="-25000">
                <a:latin typeface="Times New Roman" panose="02020603050405020304" pitchFamily="18" charset="0"/>
                <a:ea typeface="宋体" panose="02010600030101010101" pitchFamily="2" charset="-122"/>
              </a:rPr>
              <a:t>1</a:t>
            </a:r>
          </a:p>
        </p:txBody>
      </p:sp>
      <p:sp>
        <p:nvSpPr>
          <p:cNvPr id="195700" name="Rectangle 116"/>
          <p:cNvSpPr>
            <a:spLocks noChangeArrowheads="1"/>
          </p:cNvSpPr>
          <p:nvPr/>
        </p:nvSpPr>
        <p:spPr bwMode="auto">
          <a:xfrm>
            <a:off x="3719513" y="5307013"/>
            <a:ext cx="793750"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701" name="Text Box 117"/>
          <p:cNvSpPr txBox="1">
            <a:spLocks noChangeArrowheads="1"/>
          </p:cNvSpPr>
          <p:nvPr/>
        </p:nvSpPr>
        <p:spPr bwMode="auto">
          <a:xfrm>
            <a:off x="4006850" y="5380038"/>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p:txBody>
      </p:sp>
      <p:sp>
        <p:nvSpPr>
          <p:cNvPr id="195702" name="Line 118"/>
          <p:cNvSpPr>
            <a:spLocks noChangeShapeType="1"/>
          </p:cNvSpPr>
          <p:nvPr/>
        </p:nvSpPr>
        <p:spPr bwMode="auto">
          <a:xfrm>
            <a:off x="4294188" y="530701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03" name="Line 119"/>
          <p:cNvSpPr>
            <a:spLocks noChangeShapeType="1"/>
          </p:cNvSpPr>
          <p:nvPr/>
        </p:nvSpPr>
        <p:spPr bwMode="auto">
          <a:xfrm>
            <a:off x="4294188" y="5451475"/>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04" name="Text Box 120"/>
          <p:cNvSpPr txBox="1">
            <a:spLocks noChangeArrowheads="1"/>
          </p:cNvSpPr>
          <p:nvPr/>
        </p:nvSpPr>
        <p:spPr bwMode="auto">
          <a:xfrm>
            <a:off x="1773238" y="5278438"/>
            <a:ext cx="10144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list</a:t>
            </a:r>
            <a:endParaRPr kumimoji="1" lang="en-US" altLang="zh-CN" sz="1000">
              <a:latin typeface="Times New Roman" panose="02020603050405020304" pitchFamily="18" charset="0"/>
              <a:ea typeface="宋体" panose="02010600030101010101" pitchFamily="2" charset="-122"/>
            </a:endParaRPr>
          </a:p>
        </p:txBody>
      </p:sp>
      <p:sp>
        <p:nvSpPr>
          <p:cNvPr id="195705" name="Line 121"/>
          <p:cNvSpPr>
            <a:spLocks noChangeShapeType="1"/>
          </p:cNvSpPr>
          <p:nvPr/>
        </p:nvSpPr>
        <p:spPr bwMode="auto">
          <a:xfrm flipV="1">
            <a:off x="2278063" y="5522913"/>
            <a:ext cx="431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06" name="Rectangle 122"/>
          <p:cNvSpPr>
            <a:spLocks noChangeArrowheads="1"/>
          </p:cNvSpPr>
          <p:nvPr/>
        </p:nvSpPr>
        <p:spPr bwMode="auto">
          <a:xfrm>
            <a:off x="2652713" y="5292725"/>
            <a:ext cx="792162"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707" name="Line 123"/>
          <p:cNvSpPr>
            <a:spLocks noChangeShapeType="1"/>
          </p:cNvSpPr>
          <p:nvPr/>
        </p:nvSpPr>
        <p:spPr bwMode="auto">
          <a:xfrm>
            <a:off x="3214688" y="530701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08" name="Line 124"/>
          <p:cNvSpPr>
            <a:spLocks noChangeShapeType="1"/>
          </p:cNvSpPr>
          <p:nvPr/>
        </p:nvSpPr>
        <p:spPr bwMode="auto">
          <a:xfrm>
            <a:off x="3286125" y="5451475"/>
            <a:ext cx="4191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09" name="Line 125"/>
          <p:cNvSpPr>
            <a:spLocks noChangeShapeType="1"/>
          </p:cNvSpPr>
          <p:nvPr/>
        </p:nvSpPr>
        <p:spPr bwMode="auto">
          <a:xfrm>
            <a:off x="7678738" y="5445125"/>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10" name="Line 126"/>
          <p:cNvSpPr>
            <a:spLocks noChangeShapeType="1"/>
          </p:cNvSpPr>
          <p:nvPr/>
        </p:nvSpPr>
        <p:spPr bwMode="auto">
          <a:xfrm>
            <a:off x="6743700" y="5445125"/>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11" name="Text Box 127"/>
          <p:cNvSpPr txBox="1">
            <a:spLocks noChangeArrowheads="1"/>
          </p:cNvSpPr>
          <p:nvPr/>
        </p:nvSpPr>
        <p:spPr bwMode="auto">
          <a:xfrm>
            <a:off x="7318375" y="5272088"/>
            <a:ext cx="419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a:t>
            </a:r>
            <a:endParaRPr kumimoji="1" lang="en-US" altLang="zh-CN" sz="1000">
              <a:latin typeface="Times New Roman" panose="02020603050405020304" pitchFamily="18" charset="0"/>
              <a:ea typeface="宋体" panose="02010600030101010101" pitchFamily="2" charset="-122"/>
            </a:endParaRPr>
          </a:p>
        </p:txBody>
      </p:sp>
      <p:sp>
        <p:nvSpPr>
          <p:cNvPr id="195712" name="Line 128"/>
          <p:cNvSpPr>
            <a:spLocks noChangeShapeType="1"/>
          </p:cNvSpPr>
          <p:nvPr/>
        </p:nvSpPr>
        <p:spPr bwMode="auto">
          <a:xfrm>
            <a:off x="5591175" y="5445125"/>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13" name="Line 129"/>
          <p:cNvSpPr>
            <a:spLocks noChangeShapeType="1"/>
          </p:cNvSpPr>
          <p:nvPr/>
        </p:nvSpPr>
        <p:spPr bwMode="auto">
          <a:xfrm>
            <a:off x="2854325" y="530701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14" name="Line 130"/>
          <p:cNvSpPr>
            <a:spLocks noChangeShapeType="1"/>
          </p:cNvSpPr>
          <p:nvPr/>
        </p:nvSpPr>
        <p:spPr bwMode="auto">
          <a:xfrm>
            <a:off x="3933825" y="530701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15" name="Rectangle 131"/>
          <p:cNvSpPr>
            <a:spLocks noChangeArrowheads="1"/>
          </p:cNvSpPr>
          <p:nvPr/>
        </p:nvSpPr>
        <p:spPr bwMode="auto">
          <a:xfrm>
            <a:off x="4799013" y="5300663"/>
            <a:ext cx="793750"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716" name="Text Box 132"/>
          <p:cNvSpPr txBox="1">
            <a:spLocks noChangeArrowheads="1"/>
          </p:cNvSpPr>
          <p:nvPr/>
        </p:nvSpPr>
        <p:spPr bwMode="auto">
          <a:xfrm>
            <a:off x="5014913" y="5373688"/>
            <a:ext cx="431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p:txBody>
      </p:sp>
      <p:sp>
        <p:nvSpPr>
          <p:cNvPr id="195717" name="Line 133"/>
          <p:cNvSpPr>
            <a:spLocks noChangeShapeType="1"/>
          </p:cNvSpPr>
          <p:nvPr/>
        </p:nvSpPr>
        <p:spPr bwMode="auto">
          <a:xfrm>
            <a:off x="5373688" y="53006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18" name="Line 134"/>
          <p:cNvSpPr>
            <a:spLocks noChangeShapeType="1"/>
          </p:cNvSpPr>
          <p:nvPr/>
        </p:nvSpPr>
        <p:spPr bwMode="auto">
          <a:xfrm>
            <a:off x="5013325" y="53006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19" name="Rectangle 135"/>
          <p:cNvSpPr>
            <a:spLocks noChangeArrowheads="1"/>
          </p:cNvSpPr>
          <p:nvPr/>
        </p:nvSpPr>
        <p:spPr bwMode="auto">
          <a:xfrm>
            <a:off x="6096000" y="5300663"/>
            <a:ext cx="793750"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720" name="Text Box 136"/>
          <p:cNvSpPr txBox="1">
            <a:spLocks noChangeArrowheads="1"/>
          </p:cNvSpPr>
          <p:nvPr/>
        </p:nvSpPr>
        <p:spPr bwMode="auto">
          <a:xfrm>
            <a:off x="6383338" y="5373688"/>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3</a:t>
            </a:r>
          </a:p>
        </p:txBody>
      </p:sp>
      <p:sp>
        <p:nvSpPr>
          <p:cNvPr id="195721" name="Line 137"/>
          <p:cNvSpPr>
            <a:spLocks noChangeShapeType="1"/>
          </p:cNvSpPr>
          <p:nvPr/>
        </p:nvSpPr>
        <p:spPr bwMode="auto">
          <a:xfrm>
            <a:off x="6670675" y="53006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22" name="Line 138"/>
          <p:cNvSpPr>
            <a:spLocks noChangeShapeType="1"/>
          </p:cNvSpPr>
          <p:nvPr/>
        </p:nvSpPr>
        <p:spPr bwMode="auto">
          <a:xfrm>
            <a:off x="6310313" y="53006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23" name="Rectangle 139"/>
          <p:cNvSpPr>
            <a:spLocks noChangeArrowheads="1"/>
          </p:cNvSpPr>
          <p:nvPr/>
        </p:nvSpPr>
        <p:spPr bwMode="auto">
          <a:xfrm>
            <a:off x="8183563" y="5300663"/>
            <a:ext cx="793750"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95724" name="Text Box 140"/>
          <p:cNvSpPr txBox="1">
            <a:spLocks noChangeArrowheads="1"/>
          </p:cNvSpPr>
          <p:nvPr/>
        </p:nvSpPr>
        <p:spPr bwMode="auto">
          <a:xfrm>
            <a:off x="8470900" y="5373688"/>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p>
        </p:txBody>
      </p:sp>
      <p:sp>
        <p:nvSpPr>
          <p:cNvPr id="195725" name="Line 141"/>
          <p:cNvSpPr>
            <a:spLocks noChangeShapeType="1"/>
          </p:cNvSpPr>
          <p:nvPr/>
        </p:nvSpPr>
        <p:spPr bwMode="auto">
          <a:xfrm>
            <a:off x="8758238" y="53006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26" name="Line 142"/>
          <p:cNvSpPr>
            <a:spLocks noChangeShapeType="1"/>
          </p:cNvSpPr>
          <p:nvPr/>
        </p:nvSpPr>
        <p:spPr bwMode="auto">
          <a:xfrm>
            <a:off x="8397875" y="5300663"/>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27" name="Text Box 143"/>
          <p:cNvSpPr txBox="1">
            <a:spLocks noChangeArrowheads="1"/>
          </p:cNvSpPr>
          <p:nvPr/>
        </p:nvSpPr>
        <p:spPr bwMode="auto">
          <a:xfrm>
            <a:off x="8759825" y="5373688"/>
            <a:ext cx="3048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1800">
                <a:latin typeface="Verdana" panose="020B0604030504040204" pitchFamily="34" charset="0"/>
                <a:ea typeface="宋体" panose="02010600030101010101" pitchFamily="2" charset="-122"/>
              </a:rPr>
              <a:t>∧</a:t>
            </a:r>
          </a:p>
        </p:txBody>
      </p:sp>
      <p:sp>
        <p:nvSpPr>
          <p:cNvPr id="195728" name="Line 144"/>
          <p:cNvSpPr>
            <a:spLocks noChangeShapeType="1"/>
          </p:cNvSpPr>
          <p:nvPr/>
        </p:nvSpPr>
        <p:spPr bwMode="auto">
          <a:xfrm flipV="1">
            <a:off x="4725988" y="5781675"/>
            <a:ext cx="288925" cy="28257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5729" name="Text Box 145"/>
          <p:cNvSpPr txBox="1">
            <a:spLocks noChangeArrowheads="1"/>
          </p:cNvSpPr>
          <p:nvPr/>
        </p:nvSpPr>
        <p:spPr bwMode="auto">
          <a:xfrm>
            <a:off x="4581525" y="5919788"/>
            <a:ext cx="3683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95730" name="Line 146"/>
          <p:cNvSpPr>
            <a:spLocks noChangeShapeType="1"/>
          </p:cNvSpPr>
          <p:nvPr/>
        </p:nvSpPr>
        <p:spPr bwMode="auto">
          <a:xfrm>
            <a:off x="2709863" y="5632450"/>
            <a:ext cx="0" cy="360363"/>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731" name="Line 147"/>
          <p:cNvSpPr>
            <a:spLocks noChangeShapeType="1"/>
          </p:cNvSpPr>
          <p:nvPr/>
        </p:nvSpPr>
        <p:spPr bwMode="auto">
          <a:xfrm>
            <a:off x="2709863" y="5992813"/>
            <a:ext cx="1370012"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732" name="Line 148"/>
          <p:cNvSpPr>
            <a:spLocks noChangeShapeType="1"/>
          </p:cNvSpPr>
          <p:nvPr/>
        </p:nvSpPr>
        <p:spPr bwMode="auto">
          <a:xfrm flipV="1">
            <a:off x="4079875" y="5805488"/>
            <a:ext cx="0" cy="2159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734" name="Line 150"/>
          <p:cNvSpPr>
            <a:spLocks noChangeShapeType="1"/>
          </p:cNvSpPr>
          <p:nvPr/>
        </p:nvSpPr>
        <p:spPr bwMode="auto">
          <a:xfrm>
            <a:off x="3792538" y="5661025"/>
            <a:ext cx="0" cy="504825"/>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736" name="Line 152"/>
          <p:cNvSpPr>
            <a:spLocks noChangeShapeType="1"/>
          </p:cNvSpPr>
          <p:nvPr/>
        </p:nvSpPr>
        <p:spPr bwMode="auto">
          <a:xfrm>
            <a:off x="3792538" y="6165850"/>
            <a:ext cx="1366837"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737" name="Line 153"/>
          <p:cNvSpPr>
            <a:spLocks noChangeShapeType="1"/>
          </p:cNvSpPr>
          <p:nvPr/>
        </p:nvSpPr>
        <p:spPr bwMode="auto">
          <a:xfrm flipV="1">
            <a:off x="5159375" y="5805488"/>
            <a:ext cx="0" cy="360362"/>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56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562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56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6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56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56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56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56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56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56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56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563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56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563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563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564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56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564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564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56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56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9564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564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564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564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565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565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9565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9565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9565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9565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9565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9565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9565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95659"/>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95662"/>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95663"/>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9566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9566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95666"/>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9566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9566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9566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9567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9567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9567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95673"/>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9567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95675"/>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9567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9567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9567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9567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95680"/>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95681"/>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9568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95683"/>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95684"/>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95685"/>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95686"/>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9568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95688"/>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95689"/>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19569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95691"/>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9569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95693"/>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195694"/>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95695"/>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95696"/>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195698"/>
                                        </p:tgtEl>
                                        <p:attrNameLst>
                                          <p:attrName>style.visibility</p:attrName>
                                        </p:attrNameLst>
                                      </p:cBhvr>
                                      <p:to>
                                        <p:strVal val="visible"/>
                                      </p:to>
                                    </p:se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95699"/>
                                        </p:tgtEl>
                                        <p:attrNameLst>
                                          <p:attrName>style.visibility</p:attrName>
                                        </p:attrNameLst>
                                      </p:cBhvr>
                                      <p:to>
                                        <p:strVal val="visible"/>
                                      </p:to>
                                    </p:se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195700"/>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95701"/>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195702"/>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195703"/>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95704"/>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95705"/>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95706"/>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195707"/>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95708"/>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95709"/>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195710"/>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95711"/>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95712"/>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195713"/>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195714"/>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95715"/>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95716"/>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195717"/>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195718"/>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95719"/>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95720"/>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195721"/>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195722"/>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95723"/>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195724"/>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195725"/>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195726"/>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195727"/>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195728"/>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195729"/>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195730"/>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95731"/>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95732"/>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195734"/>
                                        </p:tgtEl>
                                        <p:attrNameLst>
                                          <p:attrName>style.visibility</p:attrName>
                                        </p:attrNameLst>
                                      </p:cBhvr>
                                      <p:to>
                                        <p:strVal val="visible"/>
                                      </p:to>
                                    </p:set>
                                  </p:childTnLst>
                                </p:cTn>
                              </p:par>
                              <p:par>
                                <p:cTn id="229" presetID="1" presetClass="entr" presetSubtype="0" fill="hold" nodeType="withEffect">
                                  <p:stCondLst>
                                    <p:cond delay="0"/>
                                  </p:stCondLst>
                                  <p:childTnLst>
                                    <p:set>
                                      <p:cBhvr>
                                        <p:cTn id="230" dur="1" fill="hold">
                                          <p:stCondLst>
                                            <p:cond delay="0"/>
                                          </p:stCondLst>
                                        </p:cTn>
                                        <p:tgtEl>
                                          <p:spTgt spid="195736"/>
                                        </p:tgtEl>
                                        <p:attrNameLst>
                                          <p:attrName>style.visibility</p:attrName>
                                        </p:attrNameLst>
                                      </p:cBhvr>
                                      <p:to>
                                        <p:strVal val="visible"/>
                                      </p:to>
                                    </p:set>
                                  </p:childTnLst>
                                </p:cTn>
                              </p:par>
                              <p:par>
                                <p:cTn id="231" presetID="1" presetClass="entr" presetSubtype="0" fill="hold" nodeType="withEffect">
                                  <p:stCondLst>
                                    <p:cond delay="0"/>
                                  </p:stCondLst>
                                  <p:childTnLst>
                                    <p:set>
                                      <p:cBhvr>
                                        <p:cTn id="232" dur="1" fill="hold">
                                          <p:stCondLst>
                                            <p:cond delay="0"/>
                                          </p:stCondLst>
                                        </p:cTn>
                                        <p:tgtEl>
                                          <p:spTgt spid="1957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26" grpId="0"/>
      <p:bldP spid="195627" grpId="0" animBg="1"/>
      <p:bldP spid="195628" grpId="0"/>
      <p:bldP spid="195631" grpId="0"/>
      <p:bldP spid="195633" grpId="0" animBg="1"/>
      <p:bldP spid="195638" grpId="0"/>
      <p:bldP spid="195642" grpId="0" animBg="1"/>
      <p:bldP spid="195643" grpId="0"/>
      <p:bldP spid="195646" grpId="0" animBg="1"/>
      <p:bldP spid="195647" grpId="0"/>
      <p:bldP spid="195650" grpId="0" animBg="1"/>
      <p:bldP spid="195651" grpId="0"/>
      <p:bldP spid="195654" grpId="0"/>
      <p:bldP spid="195659" grpId="0"/>
      <p:bldP spid="195662" grpId="0"/>
      <p:bldP spid="195663" grpId="0" animBg="1"/>
      <p:bldP spid="195664" grpId="0" animBg="1"/>
      <p:bldP spid="195665" grpId="0"/>
      <p:bldP spid="195668" grpId="0"/>
      <p:bldP spid="195670" grpId="0" animBg="1"/>
      <p:bldP spid="195675" grpId="0"/>
      <p:bldP spid="195679" grpId="0" animBg="1"/>
      <p:bldP spid="195680" grpId="0"/>
      <p:bldP spid="195683" grpId="0" animBg="1"/>
      <p:bldP spid="195684" grpId="0"/>
      <p:bldP spid="195687" grpId="0" animBg="1"/>
      <p:bldP spid="195688" grpId="0"/>
      <p:bldP spid="195691" grpId="0"/>
      <p:bldP spid="195693" grpId="0"/>
      <p:bldP spid="195699" grpId="0"/>
      <p:bldP spid="195700" grpId="0" animBg="1"/>
      <p:bldP spid="195701" grpId="0"/>
      <p:bldP spid="195704" grpId="0"/>
      <p:bldP spid="195706" grpId="0" animBg="1"/>
      <p:bldP spid="195711" grpId="0"/>
      <p:bldP spid="195715" grpId="0" animBg="1"/>
      <p:bldP spid="195716" grpId="0"/>
      <p:bldP spid="195719" grpId="0" animBg="1"/>
      <p:bldP spid="195720" grpId="0"/>
      <p:bldP spid="195723" grpId="0" animBg="1"/>
      <p:bldP spid="195724" grpId="0"/>
      <p:bldP spid="195727" grpId="0"/>
      <p:bldP spid="1957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31850" y="1709738"/>
            <a:ext cx="10515600" cy="1214437"/>
          </a:xfrm>
        </p:spPr>
        <p:txBody>
          <a:bodyPr/>
          <a:lstStyle/>
          <a:p>
            <a:pPr algn="ctr" eaLnBrk="1" hangingPunct="1"/>
            <a:r>
              <a:rPr lang="zh-CN" altLang="en-US" sz="3600" b="1" smtClean="0">
                <a:latin typeface="隶书" panose="02010509060101010101" pitchFamily="49" charset="-122"/>
                <a:ea typeface="隶书" panose="02010509060101010101" pitchFamily="49" charset="-122"/>
              </a:rPr>
              <a:t>第三章 栈和队列</a:t>
            </a:r>
          </a:p>
        </p:txBody>
      </p:sp>
      <p:sp>
        <p:nvSpPr>
          <p:cNvPr id="25603" name="Rectangle 3"/>
          <p:cNvSpPr>
            <a:spLocks noGrp="1" noChangeArrowheads="1"/>
          </p:cNvSpPr>
          <p:nvPr>
            <p:ph type="body" idx="1"/>
          </p:nvPr>
        </p:nvSpPr>
        <p:spPr>
          <a:xfrm>
            <a:off x="3863975" y="4005263"/>
            <a:ext cx="4752975" cy="1500187"/>
          </a:xfrm>
        </p:spPr>
        <p:txBody>
          <a:bodyPr/>
          <a:lstStyle/>
          <a:p>
            <a:pPr eaLnBrk="1" hangingPunct="1"/>
            <a:r>
              <a:rPr lang="en-US" altLang="zh-CN" smtClean="0">
                <a:solidFill>
                  <a:schemeClr val="accent1"/>
                </a:solidFill>
              </a:rPr>
              <a:t>3.1 </a:t>
            </a:r>
            <a:r>
              <a:rPr lang="zh-CN" altLang="en-US" smtClean="0">
                <a:solidFill>
                  <a:schemeClr val="accent1"/>
                </a:solidFill>
              </a:rPr>
              <a:t>栈</a:t>
            </a:r>
          </a:p>
          <a:p>
            <a:pPr eaLnBrk="1" hangingPunct="1"/>
            <a:r>
              <a:rPr lang="en-US" altLang="zh-CN" smtClean="0">
                <a:solidFill>
                  <a:schemeClr val="accent1"/>
                </a:solidFill>
              </a:rPr>
              <a:t>3.2 </a:t>
            </a:r>
            <a:r>
              <a:rPr lang="zh-CN" altLang="en-US" smtClean="0">
                <a:solidFill>
                  <a:schemeClr val="accent1"/>
                </a:solidFill>
              </a:rPr>
              <a:t>队列</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527050" y="333375"/>
            <a:ext cx="10321925" cy="863600"/>
          </a:xfrm>
        </p:spPr>
        <p:txBody>
          <a:bodyPr/>
          <a:lstStyle/>
          <a:p>
            <a:pPr eaLnBrk="1" hangingPunct="1"/>
            <a:r>
              <a:rPr lang="zh-CN" altLang="en-US" smtClean="0"/>
              <a:t>线性表、栈、队列的比较</a:t>
            </a:r>
          </a:p>
        </p:txBody>
      </p:sp>
      <p:sp>
        <p:nvSpPr>
          <p:cNvPr id="26627" name="Rectangle 3"/>
          <p:cNvSpPr>
            <a:spLocks noGrp="1" noChangeArrowheads="1"/>
          </p:cNvSpPr>
          <p:nvPr>
            <p:ph idx="1"/>
          </p:nvPr>
        </p:nvSpPr>
        <p:spPr>
          <a:xfrm>
            <a:off x="527050" y="1773238"/>
            <a:ext cx="10321925" cy="4351337"/>
          </a:xfrm>
        </p:spPr>
        <p:txBody>
          <a:bodyPr/>
          <a:lstStyle/>
          <a:p>
            <a:pPr eaLnBrk="1" hangingPunct="1">
              <a:lnSpc>
                <a:spcPct val="80000"/>
              </a:lnSpc>
              <a:defRPr/>
            </a:pPr>
            <a:r>
              <a:rPr lang="zh-CN" altLang="en-US" sz="1900" dirty="0" smtClean="0"/>
              <a:t>栈和队列是在程序设计中被广泛使用的两种线性数据结构，它们的特点在于基本操作的特殊性，栈必须按</a:t>
            </a:r>
            <a:r>
              <a:rPr lang="zh-CN" altLang="en-US" sz="1900" dirty="0" smtClean="0">
                <a:latin typeface="Arial" panose="020B0604020202020204" pitchFamily="34" charset="0"/>
              </a:rPr>
              <a:t>“</a:t>
            </a:r>
            <a:r>
              <a:rPr lang="zh-CN" altLang="en-US" sz="1900" dirty="0" smtClean="0"/>
              <a:t>后进先出</a:t>
            </a:r>
            <a:r>
              <a:rPr lang="zh-CN" altLang="en-US" sz="1900" dirty="0" smtClean="0">
                <a:latin typeface="Arial" panose="020B0604020202020204" pitchFamily="34" charset="0"/>
              </a:rPr>
              <a:t>”</a:t>
            </a:r>
            <a:r>
              <a:rPr lang="zh-CN" altLang="en-US" sz="1900" dirty="0" smtClean="0"/>
              <a:t>的规则进行操作，而队列必须按</a:t>
            </a:r>
            <a:r>
              <a:rPr lang="zh-CN" altLang="en-US" sz="1900" dirty="0" smtClean="0">
                <a:latin typeface="Arial" panose="020B0604020202020204" pitchFamily="34" charset="0"/>
              </a:rPr>
              <a:t>“</a:t>
            </a:r>
            <a:r>
              <a:rPr lang="zh-CN" altLang="en-US" sz="1900" dirty="0" smtClean="0"/>
              <a:t>先进先出</a:t>
            </a:r>
            <a:r>
              <a:rPr lang="zh-CN" altLang="en-US" sz="1900" dirty="0" smtClean="0">
                <a:latin typeface="Arial" panose="020B0604020202020204" pitchFamily="34" charset="0"/>
              </a:rPr>
              <a:t>”</a:t>
            </a:r>
            <a:r>
              <a:rPr lang="zh-CN" altLang="en-US" sz="1900" dirty="0" smtClean="0"/>
              <a:t>的规则进行操作。和线性表相比，它们的插入和删除操作受更多的约束和限定，故又称为限定性的线性表结构。可将线性表和栈及队列的插入和删除操作对比如下：</a:t>
            </a:r>
          </a:p>
          <a:p>
            <a:pPr eaLnBrk="1" hangingPunct="1">
              <a:lnSpc>
                <a:spcPct val="80000"/>
              </a:lnSpc>
              <a:buFont typeface="Wingdings" panose="05000000000000000000" pitchFamily="2" charset="2"/>
              <a:buNone/>
              <a:defRPr/>
            </a:pPr>
            <a:r>
              <a:rPr lang="zh-CN" altLang="en-US" sz="1900" dirty="0" smtClean="0"/>
              <a:t> </a:t>
            </a:r>
          </a:p>
          <a:p>
            <a:pPr marL="0" indent="0" eaLnBrk="1" hangingPunct="1">
              <a:lnSpc>
                <a:spcPct val="80000"/>
              </a:lnSpc>
              <a:buFont typeface="Wingdings" panose="05000000000000000000" pitchFamily="2" charset="2"/>
              <a:buNone/>
              <a:defRPr/>
            </a:pPr>
            <a:r>
              <a:rPr lang="zh-CN" altLang="en-US" sz="1900" dirty="0" smtClean="0"/>
              <a:t>                          插 入 　　　　　删 除</a:t>
            </a:r>
            <a:br>
              <a:rPr lang="zh-CN" altLang="en-US" sz="1900" dirty="0" smtClean="0"/>
            </a:br>
            <a:r>
              <a:rPr lang="zh-CN" altLang="en-US" sz="1900" dirty="0" smtClean="0"/>
              <a:t>　　线性表： </a:t>
            </a:r>
            <a:r>
              <a:rPr lang="en-US" altLang="zh-CN" sz="1900" dirty="0" smtClean="0"/>
              <a:t>Insert(</a:t>
            </a:r>
            <a:r>
              <a:rPr lang="en-US" altLang="zh-CN" sz="1900" dirty="0" err="1" smtClean="0"/>
              <a:t>L,i,x</a:t>
            </a:r>
            <a:r>
              <a:rPr lang="en-US" altLang="zh-CN" sz="1900" dirty="0" smtClean="0"/>
              <a:t>)</a:t>
            </a:r>
            <a:r>
              <a:rPr lang="zh-CN" altLang="en-US" sz="1900" dirty="0" smtClean="0"/>
              <a:t>　　</a:t>
            </a:r>
            <a:r>
              <a:rPr lang="en-US" altLang="zh-CN" sz="1900" dirty="0" smtClean="0"/>
              <a:t>Delete(</a:t>
            </a:r>
            <a:r>
              <a:rPr lang="en-US" altLang="zh-CN" sz="1900" dirty="0" err="1" smtClean="0"/>
              <a:t>L,i</a:t>
            </a:r>
            <a:r>
              <a:rPr lang="en-US" altLang="zh-CN" sz="1900" dirty="0" smtClean="0"/>
              <a:t>)</a:t>
            </a:r>
            <a:br>
              <a:rPr lang="en-US" altLang="zh-CN" sz="1900" dirty="0" smtClean="0"/>
            </a:br>
            <a:r>
              <a:rPr lang="zh-CN" altLang="en-US" sz="1900" dirty="0" smtClean="0"/>
              <a:t>　　　　　 　 </a:t>
            </a:r>
            <a:r>
              <a:rPr lang="en-US" altLang="zh-CN" sz="1900" dirty="0" smtClean="0"/>
              <a:t>(1≤i≤n+1)</a:t>
            </a:r>
            <a:r>
              <a:rPr lang="zh-CN" altLang="en-US" sz="1900" dirty="0" smtClean="0"/>
              <a:t>　 　</a:t>
            </a:r>
            <a:r>
              <a:rPr lang="en-US" altLang="zh-CN" sz="1900" dirty="0" smtClean="0"/>
              <a:t>(1≤i≤n)</a:t>
            </a:r>
            <a:br>
              <a:rPr lang="en-US" altLang="zh-CN" sz="1900" dirty="0" smtClean="0"/>
            </a:br>
            <a:r>
              <a:rPr lang="en-US" altLang="zh-CN" sz="1900" dirty="0" smtClean="0"/>
              <a:t/>
            </a:r>
            <a:br>
              <a:rPr lang="en-US" altLang="zh-CN" sz="1900" dirty="0" smtClean="0"/>
            </a:br>
            <a:r>
              <a:rPr lang="zh-CN" altLang="en-US" sz="1900" dirty="0" smtClean="0"/>
              <a:t>　　栈：　　</a:t>
            </a:r>
            <a:r>
              <a:rPr lang="en-US" altLang="zh-CN" sz="1900" dirty="0" smtClean="0"/>
              <a:t>Insert(L,n+1,x) </a:t>
            </a:r>
            <a:r>
              <a:rPr lang="zh-CN" altLang="en-US" sz="1900" dirty="0" smtClean="0"/>
              <a:t>　</a:t>
            </a:r>
            <a:r>
              <a:rPr lang="en-US" altLang="zh-CN" sz="1900" dirty="0" smtClean="0"/>
              <a:t>Delete(</a:t>
            </a:r>
            <a:r>
              <a:rPr lang="en-US" altLang="zh-CN" sz="1900" dirty="0" err="1" smtClean="0"/>
              <a:t>L,n</a:t>
            </a:r>
            <a:r>
              <a:rPr lang="en-US" altLang="zh-CN" sz="1900" dirty="0" smtClean="0"/>
              <a:t>)</a:t>
            </a:r>
            <a:br>
              <a:rPr lang="en-US" altLang="zh-CN" sz="1900" dirty="0" smtClean="0"/>
            </a:br>
            <a:r>
              <a:rPr lang="zh-CN" altLang="en-US" sz="1900" dirty="0" smtClean="0"/>
              <a:t>　</a:t>
            </a:r>
            <a:br>
              <a:rPr lang="zh-CN" altLang="en-US" sz="1900" dirty="0" smtClean="0"/>
            </a:br>
            <a:r>
              <a:rPr lang="zh-CN" altLang="en-US" sz="1900" dirty="0" smtClean="0"/>
              <a:t>　　队列：　</a:t>
            </a:r>
            <a:r>
              <a:rPr lang="en-US" altLang="zh-CN" sz="1900" dirty="0" smtClean="0"/>
              <a:t>Insert(L,n+1,x)</a:t>
            </a:r>
            <a:r>
              <a:rPr lang="zh-CN" altLang="en-US" sz="1900" dirty="0" smtClean="0"/>
              <a:t>　 </a:t>
            </a:r>
            <a:r>
              <a:rPr lang="en-US" altLang="zh-CN" sz="1900" dirty="0" smtClean="0"/>
              <a:t>Delete(L,1) </a:t>
            </a:r>
          </a:p>
        </p:txBody>
      </p:sp>
      <p:sp>
        <p:nvSpPr>
          <p:cNvPr id="148484" name="AutoShape 4"/>
          <p:cNvSpPr>
            <a:spLocks noChangeArrowheads="1"/>
          </p:cNvSpPr>
          <p:nvPr/>
        </p:nvSpPr>
        <p:spPr bwMode="auto">
          <a:xfrm>
            <a:off x="7535863" y="1341438"/>
            <a:ext cx="3132137" cy="4103687"/>
          </a:xfrm>
          <a:prstGeom prst="wedgeRectCallout">
            <a:avLst>
              <a:gd name="adj1" fmla="val -86269"/>
              <a:gd name="adj2" fmla="val -23917"/>
            </a:avLst>
          </a:prstGeom>
          <a:solidFill>
            <a:schemeClr val="accent1"/>
          </a:solidFill>
          <a:ln w="9525">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400">
                <a:latin typeface="华文楷体" panose="02010600040101010101" pitchFamily="2" charset="-122"/>
                <a:ea typeface="华文楷体" panose="02010600040101010101" pitchFamily="2" charset="-122"/>
              </a:rPr>
              <a:t>和线性表相比，从</a:t>
            </a:r>
            <a:r>
              <a:rPr lang="en-US" altLang="zh-CN" sz="2400">
                <a:latin typeface="华文楷体" panose="02010600040101010101" pitchFamily="2" charset="-122"/>
                <a:ea typeface="华文楷体" panose="02010600040101010101" pitchFamily="2" charset="-122"/>
              </a:rPr>
              <a:t>"</a:t>
            </a:r>
            <a:r>
              <a:rPr lang="zh-CN" altLang="en-US" sz="2400">
                <a:latin typeface="华文楷体" panose="02010600040101010101" pitchFamily="2" charset="-122"/>
                <a:ea typeface="华文楷体" panose="02010600040101010101" pitchFamily="2" charset="-122"/>
              </a:rPr>
              <a:t>数据结构</a:t>
            </a:r>
            <a:r>
              <a:rPr lang="en-US" altLang="zh-CN" sz="2400">
                <a:latin typeface="华文楷体" panose="02010600040101010101" pitchFamily="2" charset="-122"/>
                <a:ea typeface="华文楷体" panose="02010600040101010101" pitchFamily="2" charset="-122"/>
              </a:rPr>
              <a:t>"</a:t>
            </a:r>
            <a:r>
              <a:rPr lang="zh-CN" altLang="en-US" sz="2400">
                <a:latin typeface="华文楷体" panose="02010600040101010101" pitchFamily="2" charset="-122"/>
                <a:ea typeface="华文楷体" panose="02010600040101010101" pitchFamily="2" charset="-122"/>
              </a:rPr>
              <a:t>的角度看，它们都是线性结构，即数据元素之间的关系相同。但它们是完全不同的数据类型。除了它们各自的基本操作集不同外，主要区别是对插入和删除操作的</a:t>
            </a:r>
            <a:r>
              <a:rPr lang="en-US" altLang="zh-CN" sz="2400">
                <a:latin typeface="华文楷体" panose="02010600040101010101" pitchFamily="2" charset="-122"/>
                <a:ea typeface="华文楷体" panose="02010600040101010101" pitchFamily="2" charset="-122"/>
              </a:rPr>
              <a:t>"</a:t>
            </a:r>
            <a:r>
              <a:rPr lang="zh-CN" altLang="en-US" sz="2400">
                <a:latin typeface="华文楷体" panose="02010600040101010101" pitchFamily="2" charset="-122"/>
                <a:ea typeface="华文楷体" panose="02010600040101010101" pitchFamily="2" charset="-122"/>
              </a:rPr>
              <a:t>限定</a:t>
            </a:r>
            <a:r>
              <a:rPr lang="en-US" altLang="zh-CN" sz="2400">
                <a:latin typeface="华文楷体" panose="02010600040101010101" pitchFamily="2" charset="-122"/>
                <a:ea typeface="华文楷体" panose="02010600040101010101" pitchFamily="2" charset="-122"/>
              </a:rPr>
              <a:t>"</a:t>
            </a:r>
            <a:r>
              <a:rPr lang="zh-CN" altLang="en-US" sz="2400">
                <a:latin typeface="华文楷体" panose="02010600040101010101" pitchFamily="2" charset="-122"/>
                <a:ea typeface="华文楷体" panose="02010600040101010101" pitchFamily="2" charset="-122"/>
              </a:rPr>
              <a:t>。 </a:t>
            </a:r>
          </a:p>
        </p:txBody>
      </p:sp>
      <p:sp>
        <p:nvSpPr>
          <p:cNvPr id="148485" name="AutoShape 5"/>
          <p:cNvSpPr>
            <a:spLocks noChangeArrowheads="1"/>
          </p:cNvSpPr>
          <p:nvPr/>
        </p:nvSpPr>
        <p:spPr bwMode="auto">
          <a:xfrm>
            <a:off x="1847850" y="1052513"/>
            <a:ext cx="3240088" cy="2089150"/>
          </a:xfrm>
          <a:prstGeom prst="wedgeRoundRectCallout">
            <a:avLst>
              <a:gd name="adj1" fmla="val -16731"/>
              <a:gd name="adj2" fmla="val 72569"/>
              <a:gd name="adj3" fmla="val 16667"/>
            </a:avLst>
          </a:prstGeom>
          <a:solidFill>
            <a:schemeClr val="accent1"/>
          </a:solidFill>
          <a:ln w="9525">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400">
                <a:latin typeface="Arial" panose="020B0604020202020204" pitchFamily="34" charset="0"/>
                <a:ea typeface="宋体" panose="02010600030101010101" pitchFamily="2" charset="-122"/>
              </a:rPr>
              <a:t>线性表允许在表内任一位置进行插入和删除； </a:t>
            </a:r>
          </a:p>
        </p:txBody>
      </p:sp>
      <p:sp>
        <p:nvSpPr>
          <p:cNvPr id="148486" name="AutoShape 6"/>
          <p:cNvSpPr>
            <a:spLocks noChangeArrowheads="1"/>
          </p:cNvSpPr>
          <p:nvPr/>
        </p:nvSpPr>
        <p:spPr bwMode="auto">
          <a:xfrm>
            <a:off x="1524000" y="1557338"/>
            <a:ext cx="3313113" cy="1728787"/>
          </a:xfrm>
          <a:prstGeom prst="wedgeRoundRectCallout">
            <a:avLst>
              <a:gd name="adj1" fmla="val -54625"/>
              <a:gd name="adj2" fmla="val 98958"/>
              <a:gd name="adj3" fmla="val 16667"/>
            </a:avLst>
          </a:prstGeom>
          <a:solidFill>
            <a:schemeClr val="accent1"/>
          </a:solidFill>
          <a:ln w="9525">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400">
                <a:latin typeface="华文楷体" panose="02010600040101010101" pitchFamily="2" charset="-122"/>
                <a:ea typeface="华文楷体" panose="02010600040101010101" pitchFamily="2" charset="-122"/>
              </a:rPr>
              <a:t>栈只允许在表尾一端进行插入和删除； </a:t>
            </a:r>
          </a:p>
        </p:txBody>
      </p:sp>
      <p:sp>
        <p:nvSpPr>
          <p:cNvPr id="148487" name="AutoShape 7"/>
          <p:cNvSpPr>
            <a:spLocks noChangeArrowheads="1"/>
          </p:cNvSpPr>
          <p:nvPr/>
        </p:nvSpPr>
        <p:spPr bwMode="auto">
          <a:xfrm>
            <a:off x="1774825" y="908050"/>
            <a:ext cx="3313113" cy="2089150"/>
          </a:xfrm>
          <a:prstGeom prst="wedgeRoundRectCallout">
            <a:avLst>
              <a:gd name="adj1" fmla="val -59560"/>
              <a:gd name="adj2" fmla="val 131167"/>
              <a:gd name="adj3" fmla="val 16667"/>
            </a:avLst>
          </a:prstGeom>
          <a:solidFill>
            <a:schemeClr val="accent1"/>
          </a:solidFill>
          <a:ln w="9525">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400">
                <a:latin typeface="华文楷体" panose="02010600040101010101" pitchFamily="2" charset="-122"/>
                <a:ea typeface="华文楷体" panose="02010600040101010101" pitchFamily="2" charset="-122"/>
              </a:rPr>
              <a:t>队列只允许在表尾一端进行插入，在表头一端进行删除。</a:t>
            </a:r>
            <a:r>
              <a:rPr lang="zh-CN" altLang="en-US" sz="1800">
                <a:latin typeface="华文楷体" panose="02010600040101010101" pitchFamily="2" charset="-122"/>
                <a:ea typeface="华文楷体" panose="0201060004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8484"/>
                                        </p:tgtEl>
                                        <p:attrNameLst>
                                          <p:attrName>style.visibility</p:attrName>
                                        </p:attrNameLst>
                                      </p:cBhvr>
                                      <p:to>
                                        <p:strVal val="visible"/>
                                      </p:to>
                                    </p:set>
                                    <p:animEffect transition="in" filter="blinds(horizontal)">
                                      <p:cBhvr>
                                        <p:cTn id="7" dur="500"/>
                                        <p:tgtEl>
                                          <p:spTgt spid="1484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xit" presetSubtype="4" fill="hold" grpId="1" nodeType="clickEffect">
                                  <p:stCondLst>
                                    <p:cond delay="0"/>
                                  </p:stCondLst>
                                  <p:childTnLst>
                                    <p:anim calcmode="lin" valueType="num">
                                      <p:cBhvr additive="base">
                                        <p:cTn id="11" dur="500"/>
                                        <p:tgtEl>
                                          <p:spTgt spid="148484"/>
                                        </p:tgtEl>
                                        <p:attrNameLst>
                                          <p:attrName>ppt_x</p:attrName>
                                        </p:attrNameLst>
                                      </p:cBhvr>
                                      <p:tavLst>
                                        <p:tav tm="0">
                                          <p:val>
                                            <p:strVal val="ppt_x"/>
                                          </p:val>
                                        </p:tav>
                                        <p:tav tm="100000">
                                          <p:val>
                                            <p:strVal val="ppt_x"/>
                                          </p:val>
                                        </p:tav>
                                      </p:tavLst>
                                    </p:anim>
                                    <p:anim calcmode="lin" valueType="num">
                                      <p:cBhvr additive="base">
                                        <p:cTn id="12" dur="500"/>
                                        <p:tgtEl>
                                          <p:spTgt spid="148484"/>
                                        </p:tgtEl>
                                        <p:attrNameLst>
                                          <p:attrName>ppt_y</p:attrName>
                                        </p:attrNameLst>
                                      </p:cBhvr>
                                      <p:tavLst>
                                        <p:tav tm="0">
                                          <p:val>
                                            <p:strVal val="ppt_y"/>
                                          </p:val>
                                        </p:tav>
                                        <p:tav tm="100000">
                                          <p:val>
                                            <p:strVal val="1+ppt_h/2"/>
                                          </p:val>
                                        </p:tav>
                                      </p:tavLst>
                                    </p:anim>
                                    <p:set>
                                      <p:cBhvr>
                                        <p:cTn id="13" dur="1" fill="hold">
                                          <p:stCondLst>
                                            <p:cond delay="499"/>
                                          </p:stCondLst>
                                        </p:cTn>
                                        <p:tgtEl>
                                          <p:spTgt spid="148484"/>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8485"/>
                                        </p:tgtEl>
                                        <p:attrNameLst>
                                          <p:attrName>style.visibility</p:attrName>
                                        </p:attrNameLst>
                                      </p:cBhvr>
                                      <p:to>
                                        <p:strVal val="visible"/>
                                      </p:to>
                                    </p:set>
                                    <p:anim calcmode="lin" valueType="num">
                                      <p:cBhvr additive="base">
                                        <p:cTn id="18" dur="500" fill="hold"/>
                                        <p:tgtEl>
                                          <p:spTgt spid="148485"/>
                                        </p:tgtEl>
                                        <p:attrNameLst>
                                          <p:attrName>ppt_x</p:attrName>
                                        </p:attrNameLst>
                                      </p:cBhvr>
                                      <p:tavLst>
                                        <p:tav tm="0">
                                          <p:val>
                                            <p:strVal val="#ppt_x"/>
                                          </p:val>
                                        </p:tav>
                                        <p:tav tm="100000">
                                          <p:val>
                                            <p:strVal val="#ppt_x"/>
                                          </p:val>
                                        </p:tav>
                                      </p:tavLst>
                                    </p:anim>
                                    <p:anim calcmode="lin" valueType="num">
                                      <p:cBhvr additive="base">
                                        <p:cTn id="19" dur="500" fill="hold"/>
                                        <p:tgtEl>
                                          <p:spTgt spid="148485"/>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xit" presetSubtype="12" fill="hold" grpId="1" nodeType="clickEffect">
                                  <p:stCondLst>
                                    <p:cond delay="0"/>
                                  </p:stCondLst>
                                  <p:childTnLst>
                                    <p:animEffect transition="out" filter="strips(downLeft)">
                                      <p:cBhvr>
                                        <p:cTn id="23" dur="500"/>
                                        <p:tgtEl>
                                          <p:spTgt spid="148485"/>
                                        </p:tgtEl>
                                      </p:cBhvr>
                                    </p:animEffect>
                                    <p:set>
                                      <p:cBhvr>
                                        <p:cTn id="24" dur="1" fill="hold">
                                          <p:stCondLst>
                                            <p:cond delay="499"/>
                                          </p:stCondLst>
                                        </p:cTn>
                                        <p:tgtEl>
                                          <p:spTgt spid="148485"/>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8" presetClass="entr" presetSubtype="16" fill="hold" grpId="0" nodeType="clickEffect">
                                  <p:stCondLst>
                                    <p:cond delay="0"/>
                                  </p:stCondLst>
                                  <p:childTnLst>
                                    <p:set>
                                      <p:cBhvr>
                                        <p:cTn id="28" dur="1" fill="hold">
                                          <p:stCondLst>
                                            <p:cond delay="0"/>
                                          </p:stCondLst>
                                        </p:cTn>
                                        <p:tgtEl>
                                          <p:spTgt spid="148486"/>
                                        </p:tgtEl>
                                        <p:attrNameLst>
                                          <p:attrName>style.visibility</p:attrName>
                                        </p:attrNameLst>
                                      </p:cBhvr>
                                      <p:to>
                                        <p:strVal val="visible"/>
                                      </p:to>
                                    </p:set>
                                    <p:animEffect transition="in" filter="diamond(in)">
                                      <p:cBhvr>
                                        <p:cTn id="29" dur="2000"/>
                                        <p:tgtEl>
                                          <p:spTgt spid="14848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xit" presetSubtype="4" fill="hold" grpId="1" nodeType="clickEffect">
                                  <p:stCondLst>
                                    <p:cond delay="0"/>
                                  </p:stCondLst>
                                  <p:childTnLst>
                                    <p:animEffect transition="out" filter="wipe(down)">
                                      <p:cBhvr>
                                        <p:cTn id="33" dur="500"/>
                                        <p:tgtEl>
                                          <p:spTgt spid="148486"/>
                                        </p:tgtEl>
                                      </p:cBhvr>
                                    </p:animEffect>
                                    <p:set>
                                      <p:cBhvr>
                                        <p:cTn id="34" dur="1" fill="hold">
                                          <p:stCondLst>
                                            <p:cond delay="499"/>
                                          </p:stCondLst>
                                        </p:cTn>
                                        <p:tgtEl>
                                          <p:spTgt spid="148486"/>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48487"/>
                                        </p:tgtEl>
                                        <p:attrNameLst>
                                          <p:attrName>style.visibility</p:attrName>
                                        </p:attrNameLst>
                                      </p:cBhvr>
                                      <p:to>
                                        <p:strVal val="visible"/>
                                      </p:to>
                                    </p:set>
                                    <p:animEffect transition="in" filter="box(in)">
                                      <p:cBhvr>
                                        <p:cTn id="39" dur="500"/>
                                        <p:tgtEl>
                                          <p:spTgt spid="14848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xit" presetSubtype="10" fill="hold" grpId="1" nodeType="clickEffect">
                                  <p:stCondLst>
                                    <p:cond delay="0"/>
                                  </p:stCondLst>
                                  <p:childTnLst>
                                    <p:animEffect transition="out" filter="blinds(horizontal)">
                                      <p:cBhvr>
                                        <p:cTn id="43" dur="500"/>
                                        <p:tgtEl>
                                          <p:spTgt spid="148487"/>
                                        </p:tgtEl>
                                      </p:cBhvr>
                                    </p:animEffect>
                                    <p:set>
                                      <p:cBhvr>
                                        <p:cTn id="44" dur="1" fill="hold">
                                          <p:stCondLst>
                                            <p:cond delay="499"/>
                                          </p:stCondLst>
                                        </p:cTn>
                                        <p:tgtEl>
                                          <p:spTgt spid="1484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4" grpId="0" animBg="1"/>
      <p:bldP spid="148484" grpId="1" animBg="1"/>
      <p:bldP spid="148485" grpId="0" animBg="1"/>
      <p:bldP spid="148485" grpId="1" animBg="1"/>
      <p:bldP spid="148486" grpId="0" animBg="1"/>
      <p:bldP spid="148486" grpId="1" animBg="1"/>
      <p:bldP spid="148487" grpId="0" animBg="1"/>
      <p:bldP spid="148487"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2209800" y="609600"/>
            <a:ext cx="7772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zh-CN" altLang="en-US" sz="3000">
                <a:latin typeface="Verdana" panose="020B0604030504040204" pitchFamily="34" charset="0"/>
                <a:ea typeface="宋体" panose="02010600030101010101" pitchFamily="2" charset="-122"/>
              </a:rPr>
              <a:t>                </a:t>
            </a:r>
          </a:p>
        </p:txBody>
      </p:sp>
      <p:grpSp>
        <p:nvGrpSpPr>
          <p:cNvPr id="27651" name="Group 3"/>
          <p:cNvGrpSpPr>
            <a:grpSpLocks/>
          </p:cNvGrpSpPr>
          <p:nvPr/>
        </p:nvGrpSpPr>
        <p:grpSpPr bwMode="auto">
          <a:xfrm>
            <a:off x="4948238" y="2743200"/>
            <a:ext cx="2362200" cy="3403600"/>
            <a:chOff x="1968" y="1968"/>
            <a:chExt cx="1968" cy="2144"/>
          </a:xfrm>
        </p:grpSpPr>
        <p:sp>
          <p:nvSpPr>
            <p:cNvPr id="27666" name="Rectangle 4"/>
            <p:cNvSpPr>
              <a:spLocks noChangeArrowheads="1"/>
            </p:cNvSpPr>
            <p:nvPr/>
          </p:nvSpPr>
          <p:spPr bwMode="auto">
            <a:xfrm>
              <a:off x="1968" y="3751"/>
              <a:ext cx="196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a</a:t>
              </a:r>
              <a:r>
                <a:rPr lang="en-US" altLang="zh-CN" sz="2600" baseline="-18000">
                  <a:latin typeface="Verdana" panose="020B0604030504040204" pitchFamily="34" charset="0"/>
                  <a:ea typeface="宋体" panose="02010600030101010101" pitchFamily="2" charset="-122"/>
                </a:rPr>
                <a:t>1</a:t>
              </a:r>
            </a:p>
          </p:txBody>
        </p:sp>
        <p:sp>
          <p:nvSpPr>
            <p:cNvPr id="27667" name="Rectangle 5"/>
            <p:cNvSpPr>
              <a:spLocks noChangeArrowheads="1"/>
            </p:cNvSpPr>
            <p:nvPr/>
          </p:nvSpPr>
          <p:spPr bwMode="auto">
            <a:xfrm>
              <a:off x="1968" y="3314"/>
              <a:ext cx="1968"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a</a:t>
              </a:r>
              <a:r>
                <a:rPr lang="en-US" altLang="zh-CN" sz="2600" baseline="-18000">
                  <a:latin typeface="Verdana" panose="020B0604030504040204" pitchFamily="34" charset="0"/>
                  <a:ea typeface="宋体" panose="02010600030101010101" pitchFamily="2" charset="-122"/>
                </a:rPr>
                <a:t>2</a:t>
              </a:r>
            </a:p>
          </p:txBody>
        </p:sp>
        <p:sp>
          <p:nvSpPr>
            <p:cNvPr id="27668" name="Rectangle 6"/>
            <p:cNvSpPr>
              <a:spLocks noChangeArrowheads="1"/>
            </p:cNvSpPr>
            <p:nvPr/>
          </p:nvSpPr>
          <p:spPr bwMode="auto">
            <a:xfrm>
              <a:off x="1968" y="2679"/>
              <a:ext cx="1968" cy="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27669" name="Rectangle 7"/>
            <p:cNvSpPr>
              <a:spLocks noChangeArrowheads="1"/>
            </p:cNvSpPr>
            <p:nvPr/>
          </p:nvSpPr>
          <p:spPr bwMode="auto">
            <a:xfrm>
              <a:off x="1968" y="2352"/>
              <a:ext cx="19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a </a:t>
              </a:r>
              <a:r>
                <a:rPr lang="en-US" altLang="zh-CN" sz="2600" baseline="-25000">
                  <a:latin typeface="Verdana" panose="020B0604030504040204" pitchFamily="34" charset="0"/>
                  <a:ea typeface="宋体" panose="02010600030101010101" pitchFamily="2" charset="-122"/>
                </a:rPr>
                <a:t>n-1</a:t>
              </a:r>
            </a:p>
          </p:txBody>
        </p:sp>
        <p:sp>
          <p:nvSpPr>
            <p:cNvPr id="27670" name="Rectangle 8"/>
            <p:cNvSpPr>
              <a:spLocks noChangeArrowheads="1"/>
            </p:cNvSpPr>
            <p:nvPr/>
          </p:nvSpPr>
          <p:spPr bwMode="auto">
            <a:xfrm>
              <a:off x="1968" y="1968"/>
              <a:ext cx="19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a </a:t>
              </a:r>
              <a:r>
                <a:rPr lang="en-US" altLang="zh-CN" sz="2600" baseline="-25000">
                  <a:latin typeface="Verdana" panose="020B0604030504040204" pitchFamily="34" charset="0"/>
                  <a:ea typeface="宋体" panose="02010600030101010101" pitchFamily="2" charset="-122"/>
                </a:rPr>
                <a:t>n</a:t>
              </a:r>
            </a:p>
          </p:txBody>
        </p:sp>
        <p:sp>
          <p:nvSpPr>
            <p:cNvPr id="27671" name="Line 9"/>
            <p:cNvSpPr>
              <a:spLocks noChangeShapeType="1"/>
            </p:cNvSpPr>
            <p:nvPr/>
          </p:nvSpPr>
          <p:spPr bwMode="auto">
            <a:xfrm>
              <a:off x="1968" y="1968"/>
              <a:ext cx="1968"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72" name="Line 10"/>
            <p:cNvSpPr>
              <a:spLocks noChangeShapeType="1"/>
            </p:cNvSpPr>
            <p:nvPr/>
          </p:nvSpPr>
          <p:spPr bwMode="auto">
            <a:xfrm>
              <a:off x="1968" y="2352"/>
              <a:ext cx="1968"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73" name="Line 11"/>
            <p:cNvSpPr>
              <a:spLocks noChangeShapeType="1"/>
            </p:cNvSpPr>
            <p:nvPr/>
          </p:nvSpPr>
          <p:spPr bwMode="auto">
            <a:xfrm>
              <a:off x="1968" y="2679"/>
              <a:ext cx="1968"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74" name="Line 12"/>
            <p:cNvSpPr>
              <a:spLocks noChangeShapeType="1"/>
            </p:cNvSpPr>
            <p:nvPr/>
          </p:nvSpPr>
          <p:spPr bwMode="auto">
            <a:xfrm>
              <a:off x="1968" y="3314"/>
              <a:ext cx="1968"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75" name="Line 13"/>
            <p:cNvSpPr>
              <a:spLocks noChangeShapeType="1"/>
            </p:cNvSpPr>
            <p:nvPr/>
          </p:nvSpPr>
          <p:spPr bwMode="auto">
            <a:xfrm>
              <a:off x="1968" y="3751"/>
              <a:ext cx="1968"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76" name="Line 14"/>
            <p:cNvSpPr>
              <a:spLocks noChangeShapeType="1"/>
            </p:cNvSpPr>
            <p:nvPr/>
          </p:nvSpPr>
          <p:spPr bwMode="auto">
            <a:xfrm>
              <a:off x="1968" y="4112"/>
              <a:ext cx="1968"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77" name="Line 15"/>
            <p:cNvSpPr>
              <a:spLocks noChangeShapeType="1"/>
            </p:cNvSpPr>
            <p:nvPr/>
          </p:nvSpPr>
          <p:spPr bwMode="auto">
            <a:xfrm>
              <a:off x="1968" y="1968"/>
              <a:ext cx="0" cy="2144"/>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78" name="Line 16"/>
            <p:cNvSpPr>
              <a:spLocks noChangeShapeType="1"/>
            </p:cNvSpPr>
            <p:nvPr/>
          </p:nvSpPr>
          <p:spPr bwMode="auto">
            <a:xfrm>
              <a:off x="3936" y="1968"/>
              <a:ext cx="0" cy="2144"/>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27652" name="Text Box 17"/>
          <p:cNvSpPr txBox="1">
            <a:spLocks noChangeArrowheads="1"/>
          </p:cNvSpPr>
          <p:nvPr/>
        </p:nvSpPr>
        <p:spPr bwMode="auto">
          <a:xfrm>
            <a:off x="5808663" y="4267200"/>
            <a:ext cx="1044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3200">
                <a:latin typeface="Times New Roman" panose="02020603050405020304" pitchFamily="18" charset="0"/>
                <a:ea typeface="楷体_GB2312" panose="02010609030101010101" pitchFamily="49" charset="-122"/>
              </a:rPr>
              <a:t>……</a:t>
            </a:r>
          </a:p>
        </p:txBody>
      </p:sp>
      <p:sp>
        <p:nvSpPr>
          <p:cNvPr id="27653" name="Line 18"/>
          <p:cNvSpPr>
            <a:spLocks noChangeShapeType="1"/>
          </p:cNvSpPr>
          <p:nvPr/>
        </p:nvSpPr>
        <p:spPr bwMode="auto">
          <a:xfrm>
            <a:off x="4948238" y="22098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54" name="Line 19"/>
          <p:cNvSpPr>
            <a:spLocks noChangeShapeType="1"/>
          </p:cNvSpPr>
          <p:nvPr/>
        </p:nvSpPr>
        <p:spPr bwMode="auto">
          <a:xfrm>
            <a:off x="4948238" y="22860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55" name="Line 20"/>
          <p:cNvSpPr>
            <a:spLocks noChangeShapeType="1"/>
          </p:cNvSpPr>
          <p:nvPr/>
        </p:nvSpPr>
        <p:spPr bwMode="auto">
          <a:xfrm>
            <a:off x="7310438" y="22860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56" name="Arc 21"/>
          <p:cNvSpPr>
            <a:spLocks/>
          </p:cNvSpPr>
          <p:nvPr/>
        </p:nvSpPr>
        <p:spPr bwMode="auto">
          <a:xfrm>
            <a:off x="4805363" y="1679575"/>
            <a:ext cx="676275" cy="762000"/>
          </a:xfrm>
          <a:custGeom>
            <a:avLst/>
            <a:gdLst>
              <a:gd name="T0" fmla="*/ 0 w 23977"/>
              <a:gd name="T1" fmla="*/ 2147483646 h 21600"/>
              <a:gd name="T2" fmla="*/ 2147483646 w 23977"/>
              <a:gd name="T3" fmla="*/ 2147483646 h 21600"/>
              <a:gd name="T4" fmla="*/ 2147483646 w 23977"/>
              <a:gd name="T5" fmla="*/ 2147483646 h 21600"/>
              <a:gd name="T6" fmla="*/ 0 60000 65536"/>
              <a:gd name="T7" fmla="*/ 0 60000 65536"/>
              <a:gd name="T8" fmla="*/ 0 60000 65536"/>
              <a:gd name="T9" fmla="*/ 0 w 23977"/>
              <a:gd name="T10" fmla="*/ 0 h 21600"/>
              <a:gd name="T11" fmla="*/ 23977 w 23977"/>
              <a:gd name="T12" fmla="*/ 21600 h 21600"/>
            </a:gdLst>
            <a:ahLst/>
            <a:cxnLst>
              <a:cxn ang="T6">
                <a:pos x="T0" y="T1"/>
              </a:cxn>
              <a:cxn ang="T7">
                <a:pos x="T2" y="T3"/>
              </a:cxn>
              <a:cxn ang="T8">
                <a:pos x="T4" y="T5"/>
              </a:cxn>
            </a:cxnLst>
            <a:rect l="T9" t="T10" r="T11" b="T12"/>
            <a:pathLst>
              <a:path w="23977" h="21600" fill="none" extrusionOk="0">
                <a:moveTo>
                  <a:pt x="0" y="131"/>
                </a:moveTo>
                <a:cubicBezTo>
                  <a:pt x="789" y="43"/>
                  <a:pt x="1582" y="-1"/>
                  <a:pt x="2377" y="0"/>
                </a:cubicBezTo>
                <a:cubicBezTo>
                  <a:pt x="14306" y="0"/>
                  <a:pt x="23977" y="9670"/>
                  <a:pt x="23977" y="21600"/>
                </a:cubicBezTo>
              </a:path>
              <a:path w="23977" h="21600" stroke="0" extrusionOk="0">
                <a:moveTo>
                  <a:pt x="0" y="131"/>
                </a:moveTo>
                <a:cubicBezTo>
                  <a:pt x="789" y="43"/>
                  <a:pt x="1582" y="-1"/>
                  <a:pt x="2377" y="0"/>
                </a:cubicBezTo>
                <a:cubicBezTo>
                  <a:pt x="14306" y="0"/>
                  <a:pt x="23977" y="9670"/>
                  <a:pt x="23977" y="21600"/>
                </a:cubicBezTo>
                <a:lnTo>
                  <a:pt x="2377" y="21600"/>
                </a:lnTo>
                <a:lnTo>
                  <a:pt x="0" y="131"/>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657" name="Arc 22"/>
          <p:cNvSpPr>
            <a:spLocks/>
          </p:cNvSpPr>
          <p:nvPr/>
        </p:nvSpPr>
        <p:spPr bwMode="auto">
          <a:xfrm flipH="1">
            <a:off x="6702425" y="1752600"/>
            <a:ext cx="688975" cy="717550"/>
          </a:xfrm>
          <a:custGeom>
            <a:avLst/>
            <a:gdLst>
              <a:gd name="T0" fmla="*/ 0 w 24430"/>
              <a:gd name="T1" fmla="*/ 2147483646 h 26262"/>
              <a:gd name="T2" fmla="*/ 2147483646 w 24430"/>
              <a:gd name="T3" fmla="*/ 2147483646 h 26262"/>
              <a:gd name="T4" fmla="*/ 2147483646 w 24430"/>
              <a:gd name="T5" fmla="*/ 2147483646 h 26262"/>
              <a:gd name="T6" fmla="*/ 0 60000 65536"/>
              <a:gd name="T7" fmla="*/ 0 60000 65536"/>
              <a:gd name="T8" fmla="*/ 0 60000 65536"/>
              <a:gd name="T9" fmla="*/ 0 w 24430"/>
              <a:gd name="T10" fmla="*/ 0 h 26262"/>
              <a:gd name="T11" fmla="*/ 24430 w 24430"/>
              <a:gd name="T12" fmla="*/ 26262 h 26262"/>
            </a:gdLst>
            <a:ahLst/>
            <a:cxnLst>
              <a:cxn ang="T6">
                <a:pos x="T0" y="T1"/>
              </a:cxn>
              <a:cxn ang="T7">
                <a:pos x="T2" y="T3"/>
              </a:cxn>
              <a:cxn ang="T8">
                <a:pos x="T4" y="T5"/>
              </a:cxn>
            </a:cxnLst>
            <a:rect l="T9" t="T10" r="T11" b="T12"/>
            <a:pathLst>
              <a:path w="24430" h="26262" fill="none" extrusionOk="0">
                <a:moveTo>
                  <a:pt x="0" y="186"/>
                </a:moveTo>
                <a:cubicBezTo>
                  <a:pt x="938" y="62"/>
                  <a:pt x="1883" y="-1"/>
                  <a:pt x="2830" y="0"/>
                </a:cubicBezTo>
                <a:cubicBezTo>
                  <a:pt x="14759" y="0"/>
                  <a:pt x="24430" y="9670"/>
                  <a:pt x="24430" y="21600"/>
                </a:cubicBezTo>
                <a:cubicBezTo>
                  <a:pt x="24430" y="23167"/>
                  <a:pt x="24259" y="24731"/>
                  <a:pt x="23920" y="26261"/>
                </a:cubicBezTo>
              </a:path>
              <a:path w="24430" h="26262" stroke="0" extrusionOk="0">
                <a:moveTo>
                  <a:pt x="0" y="186"/>
                </a:moveTo>
                <a:cubicBezTo>
                  <a:pt x="938" y="62"/>
                  <a:pt x="1883" y="-1"/>
                  <a:pt x="2830" y="0"/>
                </a:cubicBezTo>
                <a:cubicBezTo>
                  <a:pt x="14759" y="0"/>
                  <a:pt x="24430" y="9670"/>
                  <a:pt x="24430" y="21600"/>
                </a:cubicBezTo>
                <a:cubicBezTo>
                  <a:pt x="24430" y="23167"/>
                  <a:pt x="24259" y="24731"/>
                  <a:pt x="23920" y="26261"/>
                </a:cubicBezTo>
                <a:lnTo>
                  <a:pt x="2830" y="21600"/>
                </a:lnTo>
                <a:lnTo>
                  <a:pt x="0" y="186"/>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658" name="Line 23"/>
          <p:cNvSpPr>
            <a:spLocks noChangeShapeType="1"/>
          </p:cNvSpPr>
          <p:nvPr/>
        </p:nvSpPr>
        <p:spPr bwMode="auto">
          <a:xfrm flipH="1">
            <a:off x="4567238" y="1676400"/>
            <a:ext cx="304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659" name="Line 24"/>
          <p:cNvSpPr>
            <a:spLocks noChangeShapeType="1"/>
          </p:cNvSpPr>
          <p:nvPr/>
        </p:nvSpPr>
        <p:spPr bwMode="auto">
          <a:xfrm>
            <a:off x="6700838" y="2286000"/>
            <a:ext cx="0" cy="152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660" name="Line 25"/>
          <p:cNvSpPr>
            <a:spLocks noChangeShapeType="1"/>
          </p:cNvSpPr>
          <p:nvPr/>
        </p:nvSpPr>
        <p:spPr bwMode="auto">
          <a:xfrm>
            <a:off x="4033838" y="59436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661" name="Line 26"/>
          <p:cNvSpPr>
            <a:spLocks noChangeShapeType="1"/>
          </p:cNvSpPr>
          <p:nvPr/>
        </p:nvSpPr>
        <p:spPr bwMode="auto">
          <a:xfrm>
            <a:off x="4033838" y="30480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662" name="Text Box 27"/>
          <p:cNvSpPr txBox="1">
            <a:spLocks noChangeArrowheads="1"/>
          </p:cNvSpPr>
          <p:nvPr/>
        </p:nvSpPr>
        <p:spPr bwMode="auto">
          <a:xfrm>
            <a:off x="2890838" y="2757488"/>
            <a:ext cx="1022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3200">
                <a:latin typeface="Times New Roman" panose="02020603050405020304" pitchFamily="18" charset="0"/>
                <a:ea typeface="楷体_GB2312" panose="02010609030101010101" pitchFamily="49" charset="-122"/>
              </a:rPr>
              <a:t>栈顶</a:t>
            </a:r>
          </a:p>
        </p:txBody>
      </p:sp>
      <p:sp>
        <p:nvSpPr>
          <p:cNvPr id="27663" name="Text Box 28"/>
          <p:cNvSpPr txBox="1">
            <a:spLocks noChangeArrowheads="1"/>
          </p:cNvSpPr>
          <p:nvPr/>
        </p:nvSpPr>
        <p:spPr bwMode="auto">
          <a:xfrm>
            <a:off x="2738438" y="555466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FontTx/>
              <a:buNone/>
            </a:pPr>
            <a:r>
              <a:rPr kumimoji="1" lang="en-US" altLang="zh-CN" sz="3200">
                <a:latin typeface="Times New Roman" panose="02020603050405020304" pitchFamily="18" charset="0"/>
                <a:ea typeface="楷体_GB2312" panose="02010609030101010101" pitchFamily="49" charset="-122"/>
              </a:rPr>
              <a:t> </a:t>
            </a:r>
            <a:r>
              <a:rPr kumimoji="1" lang="zh-CN" altLang="en-US" sz="3200">
                <a:latin typeface="Times New Roman" panose="02020603050405020304" pitchFamily="18" charset="0"/>
                <a:ea typeface="楷体_GB2312" panose="02010609030101010101" pitchFamily="49" charset="-122"/>
              </a:rPr>
              <a:t>栈底</a:t>
            </a:r>
          </a:p>
        </p:txBody>
      </p:sp>
      <p:sp>
        <p:nvSpPr>
          <p:cNvPr id="27664" name="Text Box 29"/>
          <p:cNvSpPr txBox="1">
            <a:spLocks noChangeArrowheads="1"/>
          </p:cNvSpPr>
          <p:nvPr/>
        </p:nvSpPr>
        <p:spPr bwMode="auto">
          <a:xfrm>
            <a:off x="8350250" y="2819400"/>
            <a:ext cx="23383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取出和放入</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一件物品都只能</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在顶端进行。</a:t>
            </a:r>
          </a:p>
        </p:txBody>
      </p:sp>
      <p:sp>
        <p:nvSpPr>
          <p:cNvPr id="27665" name="标题 1"/>
          <p:cNvSpPr>
            <a:spLocks noGrp="1"/>
          </p:cNvSpPr>
          <p:nvPr>
            <p:ph type="title"/>
          </p:nvPr>
        </p:nvSpPr>
        <p:spPr>
          <a:xfrm>
            <a:off x="527050" y="333375"/>
            <a:ext cx="10321925" cy="863600"/>
          </a:xfrm>
        </p:spPr>
        <p:txBody>
          <a:bodyPr/>
          <a:lstStyle/>
          <a:p>
            <a:pPr eaLnBrk="1" hangingPunct="1"/>
            <a:r>
              <a:rPr lang="zh-CN" altLang="en-US" smtClean="0"/>
              <a:t>例、一叠书或一叠盘子</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5029200" y="3868738"/>
            <a:ext cx="23622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28675" name="Line 3"/>
          <p:cNvSpPr>
            <a:spLocks noChangeShapeType="1"/>
          </p:cNvSpPr>
          <p:nvPr/>
        </p:nvSpPr>
        <p:spPr bwMode="auto">
          <a:xfrm>
            <a:off x="5029200" y="31242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76" name="Line 4"/>
          <p:cNvSpPr>
            <a:spLocks noChangeShapeType="1"/>
          </p:cNvSpPr>
          <p:nvPr/>
        </p:nvSpPr>
        <p:spPr bwMode="auto">
          <a:xfrm>
            <a:off x="5029200" y="3733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77" name="Line 5"/>
          <p:cNvSpPr>
            <a:spLocks noChangeShapeType="1"/>
          </p:cNvSpPr>
          <p:nvPr/>
        </p:nvSpPr>
        <p:spPr bwMode="auto">
          <a:xfrm>
            <a:off x="5029200" y="43291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78" name="Line 6"/>
          <p:cNvSpPr>
            <a:spLocks noChangeShapeType="1"/>
          </p:cNvSpPr>
          <p:nvPr/>
        </p:nvSpPr>
        <p:spPr bwMode="auto">
          <a:xfrm>
            <a:off x="5029200" y="4876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79" name="Line 7"/>
          <p:cNvSpPr>
            <a:spLocks noChangeShapeType="1"/>
          </p:cNvSpPr>
          <p:nvPr/>
        </p:nvSpPr>
        <p:spPr bwMode="auto">
          <a:xfrm>
            <a:off x="5029200" y="54213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0" name="Line 8"/>
          <p:cNvSpPr>
            <a:spLocks noChangeShapeType="1"/>
          </p:cNvSpPr>
          <p:nvPr/>
        </p:nvSpPr>
        <p:spPr bwMode="auto">
          <a:xfrm>
            <a:off x="5029200" y="59944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1" name="Line 9"/>
          <p:cNvSpPr>
            <a:spLocks noChangeShapeType="1"/>
          </p:cNvSpPr>
          <p:nvPr/>
        </p:nvSpPr>
        <p:spPr bwMode="auto">
          <a:xfrm>
            <a:off x="50292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2" name="Line 10"/>
          <p:cNvSpPr>
            <a:spLocks noChangeShapeType="1"/>
          </p:cNvSpPr>
          <p:nvPr/>
        </p:nvSpPr>
        <p:spPr bwMode="auto">
          <a:xfrm>
            <a:off x="73914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3" name="Line 11"/>
          <p:cNvSpPr>
            <a:spLocks noChangeShapeType="1"/>
          </p:cNvSpPr>
          <p:nvPr/>
        </p:nvSpPr>
        <p:spPr bwMode="auto">
          <a:xfrm>
            <a:off x="5029200" y="2057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4" name="Line 12"/>
          <p:cNvSpPr>
            <a:spLocks noChangeShapeType="1"/>
          </p:cNvSpPr>
          <p:nvPr/>
        </p:nvSpPr>
        <p:spPr bwMode="auto">
          <a:xfrm>
            <a:off x="5029200" y="21336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5" name="Line 13"/>
          <p:cNvSpPr>
            <a:spLocks noChangeShapeType="1"/>
          </p:cNvSpPr>
          <p:nvPr/>
        </p:nvSpPr>
        <p:spPr bwMode="auto">
          <a:xfrm>
            <a:off x="7391400" y="21336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6" name="Text Box 14"/>
          <p:cNvSpPr txBox="1">
            <a:spLocks noChangeArrowheads="1"/>
          </p:cNvSpPr>
          <p:nvPr/>
        </p:nvSpPr>
        <p:spPr bwMode="auto">
          <a:xfrm>
            <a:off x="2819400" y="540226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FontTx/>
              <a:buNone/>
            </a:pPr>
            <a:r>
              <a:rPr kumimoji="1" lang="en-US" altLang="zh-CN" sz="3200">
                <a:latin typeface="Times New Roman" panose="02020603050405020304" pitchFamily="18" charset="0"/>
                <a:ea typeface="楷体_GB2312" panose="02010609030101010101" pitchFamily="49" charset="-122"/>
              </a:rPr>
              <a:t> </a:t>
            </a:r>
            <a:r>
              <a:rPr kumimoji="1" lang="zh-CN" altLang="en-US" sz="3200">
                <a:latin typeface="Times New Roman" panose="02020603050405020304" pitchFamily="18" charset="0"/>
                <a:ea typeface="楷体_GB2312" panose="02010609030101010101" pitchFamily="49" charset="-122"/>
              </a:rPr>
              <a:t>空栈</a:t>
            </a:r>
          </a:p>
        </p:txBody>
      </p:sp>
      <p:sp>
        <p:nvSpPr>
          <p:cNvPr id="28687" name="Line 16"/>
          <p:cNvSpPr>
            <a:spLocks noChangeShapeType="1"/>
          </p:cNvSpPr>
          <p:nvPr/>
        </p:nvSpPr>
        <p:spPr bwMode="auto">
          <a:xfrm>
            <a:off x="5029200" y="25146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8" name="标题 1"/>
          <p:cNvSpPr>
            <a:spLocks noGrp="1"/>
          </p:cNvSpPr>
          <p:nvPr>
            <p:ph type="title"/>
          </p:nvPr>
        </p:nvSpPr>
        <p:spPr>
          <a:xfrm>
            <a:off x="527050" y="333375"/>
            <a:ext cx="10321925" cy="863600"/>
          </a:xfrm>
        </p:spPr>
        <p:txBody>
          <a:bodyPr/>
          <a:lstStyle/>
          <a:p>
            <a:pPr eaLnBrk="1" hangingPunct="1"/>
            <a:r>
              <a:rPr lang="zh-CN" altLang="en-US" smtClean="0"/>
              <a:t>进栈和出栈</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5029200" y="5421313"/>
            <a:ext cx="23622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67</a:t>
            </a:r>
            <a:endParaRPr lang="en-US" altLang="zh-CN" sz="2600" baseline="-18000">
              <a:latin typeface="Verdana" panose="020B0604030504040204" pitchFamily="34" charset="0"/>
              <a:ea typeface="宋体" panose="02010600030101010101" pitchFamily="2" charset="-122"/>
            </a:endParaRPr>
          </a:p>
        </p:txBody>
      </p:sp>
      <p:sp>
        <p:nvSpPr>
          <p:cNvPr id="29699" name="Rectangle 3"/>
          <p:cNvSpPr>
            <a:spLocks noChangeArrowheads="1"/>
          </p:cNvSpPr>
          <p:nvPr/>
        </p:nvSpPr>
        <p:spPr bwMode="auto">
          <a:xfrm>
            <a:off x="5029200" y="3868738"/>
            <a:ext cx="23622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29700" name="Line 4"/>
          <p:cNvSpPr>
            <a:spLocks noChangeShapeType="1"/>
          </p:cNvSpPr>
          <p:nvPr/>
        </p:nvSpPr>
        <p:spPr bwMode="auto">
          <a:xfrm>
            <a:off x="5029200" y="31242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01" name="Line 5"/>
          <p:cNvSpPr>
            <a:spLocks noChangeShapeType="1"/>
          </p:cNvSpPr>
          <p:nvPr/>
        </p:nvSpPr>
        <p:spPr bwMode="auto">
          <a:xfrm>
            <a:off x="5029200" y="3733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02" name="Line 6"/>
          <p:cNvSpPr>
            <a:spLocks noChangeShapeType="1"/>
          </p:cNvSpPr>
          <p:nvPr/>
        </p:nvSpPr>
        <p:spPr bwMode="auto">
          <a:xfrm>
            <a:off x="5029200" y="43291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03" name="Line 7"/>
          <p:cNvSpPr>
            <a:spLocks noChangeShapeType="1"/>
          </p:cNvSpPr>
          <p:nvPr/>
        </p:nvSpPr>
        <p:spPr bwMode="auto">
          <a:xfrm>
            <a:off x="5029200" y="4876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04" name="Line 8"/>
          <p:cNvSpPr>
            <a:spLocks noChangeShapeType="1"/>
          </p:cNvSpPr>
          <p:nvPr/>
        </p:nvSpPr>
        <p:spPr bwMode="auto">
          <a:xfrm>
            <a:off x="5029200" y="54213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05" name="Line 9"/>
          <p:cNvSpPr>
            <a:spLocks noChangeShapeType="1"/>
          </p:cNvSpPr>
          <p:nvPr/>
        </p:nvSpPr>
        <p:spPr bwMode="auto">
          <a:xfrm>
            <a:off x="5029200" y="59944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06" name="Line 10"/>
          <p:cNvSpPr>
            <a:spLocks noChangeShapeType="1"/>
          </p:cNvSpPr>
          <p:nvPr/>
        </p:nvSpPr>
        <p:spPr bwMode="auto">
          <a:xfrm>
            <a:off x="50292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07" name="Line 11"/>
          <p:cNvSpPr>
            <a:spLocks noChangeShapeType="1"/>
          </p:cNvSpPr>
          <p:nvPr/>
        </p:nvSpPr>
        <p:spPr bwMode="auto">
          <a:xfrm>
            <a:off x="73914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08" name="Line 12"/>
          <p:cNvSpPr>
            <a:spLocks noChangeShapeType="1"/>
          </p:cNvSpPr>
          <p:nvPr/>
        </p:nvSpPr>
        <p:spPr bwMode="auto">
          <a:xfrm>
            <a:off x="5029200" y="2057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09" name="Line 13"/>
          <p:cNvSpPr>
            <a:spLocks noChangeShapeType="1"/>
          </p:cNvSpPr>
          <p:nvPr/>
        </p:nvSpPr>
        <p:spPr bwMode="auto">
          <a:xfrm>
            <a:off x="5029200" y="21336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10" name="Line 14"/>
          <p:cNvSpPr>
            <a:spLocks noChangeShapeType="1"/>
          </p:cNvSpPr>
          <p:nvPr/>
        </p:nvSpPr>
        <p:spPr bwMode="auto">
          <a:xfrm>
            <a:off x="7391400" y="21336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11" name="Line 15"/>
          <p:cNvSpPr>
            <a:spLocks noChangeShapeType="1"/>
          </p:cNvSpPr>
          <p:nvPr/>
        </p:nvSpPr>
        <p:spPr bwMode="auto">
          <a:xfrm>
            <a:off x="4114800" y="57912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712" name="Text Box 16"/>
          <p:cNvSpPr txBox="1">
            <a:spLocks noChangeArrowheads="1"/>
          </p:cNvSpPr>
          <p:nvPr/>
        </p:nvSpPr>
        <p:spPr bwMode="auto">
          <a:xfrm>
            <a:off x="2971800" y="5440363"/>
            <a:ext cx="1022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3200">
                <a:latin typeface="Times New Roman" panose="02020603050405020304" pitchFamily="18" charset="0"/>
                <a:ea typeface="楷体_GB2312" panose="02010609030101010101" pitchFamily="49" charset="-122"/>
              </a:rPr>
              <a:t>栈顶</a:t>
            </a:r>
          </a:p>
        </p:txBody>
      </p:sp>
      <p:sp>
        <p:nvSpPr>
          <p:cNvPr id="29713" name="Line 18"/>
          <p:cNvSpPr>
            <a:spLocks noChangeShapeType="1"/>
          </p:cNvSpPr>
          <p:nvPr/>
        </p:nvSpPr>
        <p:spPr bwMode="auto">
          <a:xfrm>
            <a:off x="5029200" y="25146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714" name="标题 1"/>
          <p:cNvSpPr>
            <a:spLocks noGrp="1"/>
          </p:cNvSpPr>
          <p:nvPr>
            <p:ph type="title"/>
          </p:nvPr>
        </p:nvSpPr>
        <p:spPr>
          <a:xfrm>
            <a:off x="527050" y="333375"/>
            <a:ext cx="10321925" cy="863600"/>
          </a:xfrm>
        </p:spPr>
        <p:txBody>
          <a:bodyPr/>
          <a:lstStyle/>
          <a:p>
            <a:pPr eaLnBrk="1" hangingPunct="1"/>
            <a:r>
              <a:rPr lang="zh-CN" altLang="en-US" smtClean="0"/>
              <a:t>进栈和出栈</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5029200" y="5421313"/>
            <a:ext cx="23622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67</a:t>
            </a:r>
            <a:endParaRPr lang="en-US" altLang="zh-CN" sz="2600" baseline="-18000">
              <a:latin typeface="Verdana" panose="020B0604030504040204" pitchFamily="34" charset="0"/>
              <a:ea typeface="宋体" panose="02010600030101010101" pitchFamily="2" charset="-122"/>
            </a:endParaRPr>
          </a:p>
        </p:txBody>
      </p:sp>
      <p:sp>
        <p:nvSpPr>
          <p:cNvPr id="30723" name="Rectangle 3"/>
          <p:cNvSpPr>
            <a:spLocks noChangeArrowheads="1"/>
          </p:cNvSpPr>
          <p:nvPr/>
        </p:nvSpPr>
        <p:spPr bwMode="auto">
          <a:xfrm>
            <a:off x="5029200" y="4868863"/>
            <a:ext cx="23622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43</a:t>
            </a:r>
            <a:endParaRPr lang="en-US" altLang="zh-CN" sz="2600" baseline="-18000">
              <a:latin typeface="Verdana" panose="020B0604030504040204" pitchFamily="34" charset="0"/>
              <a:ea typeface="宋体" panose="02010600030101010101" pitchFamily="2" charset="-122"/>
            </a:endParaRPr>
          </a:p>
        </p:txBody>
      </p:sp>
      <p:sp>
        <p:nvSpPr>
          <p:cNvPr id="30724" name="Rectangle 4"/>
          <p:cNvSpPr>
            <a:spLocks noChangeArrowheads="1"/>
          </p:cNvSpPr>
          <p:nvPr/>
        </p:nvSpPr>
        <p:spPr bwMode="auto">
          <a:xfrm>
            <a:off x="5029200" y="3868738"/>
            <a:ext cx="23622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30725" name="Line 5"/>
          <p:cNvSpPr>
            <a:spLocks noChangeShapeType="1"/>
          </p:cNvSpPr>
          <p:nvPr/>
        </p:nvSpPr>
        <p:spPr bwMode="auto">
          <a:xfrm>
            <a:off x="5029200" y="31242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26" name="Line 6"/>
          <p:cNvSpPr>
            <a:spLocks noChangeShapeType="1"/>
          </p:cNvSpPr>
          <p:nvPr/>
        </p:nvSpPr>
        <p:spPr bwMode="auto">
          <a:xfrm>
            <a:off x="5029200" y="3733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27" name="Line 7"/>
          <p:cNvSpPr>
            <a:spLocks noChangeShapeType="1"/>
          </p:cNvSpPr>
          <p:nvPr/>
        </p:nvSpPr>
        <p:spPr bwMode="auto">
          <a:xfrm>
            <a:off x="5029200" y="43291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28" name="Line 8"/>
          <p:cNvSpPr>
            <a:spLocks noChangeShapeType="1"/>
          </p:cNvSpPr>
          <p:nvPr/>
        </p:nvSpPr>
        <p:spPr bwMode="auto">
          <a:xfrm>
            <a:off x="5029200" y="4876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29" name="Line 9"/>
          <p:cNvSpPr>
            <a:spLocks noChangeShapeType="1"/>
          </p:cNvSpPr>
          <p:nvPr/>
        </p:nvSpPr>
        <p:spPr bwMode="auto">
          <a:xfrm>
            <a:off x="5029200" y="54213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30" name="Line 10"/>
          <p:cNvSpPr>
            <a:spLocks noChangeShapeType="1"/>
          </p:cNvSpPr>
          <p:nvPr/>
        </p:nvSpPr>
        <p:spPr bwMode="auto">
          <a:xfrm>
            <a:off x="5029200" y="59944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31" name="Line 11"/>
          <p:cNvSpPr>
            <a:spLocks noChangeShapeType="1"/>
          </p:cNvSpPr>
          <p:nvPr/>
        </p:nvSpPr>
        <p:spPr bwMode="auto">
          <a:xfrm>
            <a:off x="50292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32" name="Line 12"/>
          <p:cNvSpPr>
            <a:spLocks noChangeShapeType="1"/>
          </p:cNvSpPr>
          <p:nvPr/>
        </p:nvSpPr>
        <p:spPr bwMode="auto">
          <a:xfrm>
            <a:off x="73914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33" name="Line 13"/>
          <p:cNvSpPr>
            <a:spLocks noChangeShapeType="1"/>
          </p:cNvSpPr>
          <p:nvPr/>
        </p:nvSpPr>
        <p:spPr bwMode="auto">
          <a:xfrm>
            <a:off x="5029200" y="2057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34" name="Line 14"/>
          <p:cNvSpPr>
            <a:spLocks noChangeShapeType="1"/>
          </p:cNvSpPr>
          <p:nvPr/>
        </p:nvSpPr>
        <p:spPr bwMode="auto">
          <a:xfrm>
            <a:off x="5029200" y="21336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35" name="Line 15"/>
          <p:cNvSpPr>
            <a:spLocks noChangeShapeType="1"/>
          </p:cNvSpPr>
          <p:nvPr/>
        </p:nvSpPr>
        <p:spPr bwMode="auto">
          <a:xfrm>
            <a:off x="7391400" y="21336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36" name="Line 16"/>
          <p:cNvSpPr>
            <a:spLocks noChangeShapeType="1"/>
          </p:cNvSpPr>
          <p:nvPr/>
        </p:nvSpPr>
        <p:spPr bwMode="auto">
          <a:xfrm>
            <a:off x="4114800" y="57912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0737" name="Line 17"/>
          <p:cNvSpPr>
            <a:spLocks noChangeShapeType="1"/>
          </p:cNvSpPr>
          <p:nvPr/>
        </p:nvSpPr>
        <p:spPr bwMode="auto">
          <a:xfrm>
            <a:off x="4114800" y="5121275"/>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0738" name="Text Box 18"/>
          <p:cNvSpPr txBox="1">
            <a:spLocks noChangeArrowheads="1"/>
          </p:cNvSpPr>
          <p:nvPr/>
        </p:nvSpPr>
        <p:spPr bwMode="auto">
          <a:xfrm>
            <a:off x="2971800" y="4830763"/>
            <a:ext cx="1022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3200">
                <a:latin typeface="Times New Roman" panose="02020603050405020304" pitchFamily="18" charset="0"/>
                <a:ea typeface="楷体_GB2312" panose="02010609030101010101" pitchFamily="49" charset="-122"/>
              </a:rPr>
              <a:t>栈顶</a:t>
            </a:r>
          </a:p>
        </p:txBody>
      </p:sp>
      <p:sp>
        <p:nvSpPr>
          <p:cNvPr id="30739" name="Text Box 19"/>
          <p:cNvSpPr txBox="1">
            <a:spLocks noChangeArrowheads="1"/>
          </p:cNvSpPr>
          <p:nvPr/>
        </p:nvSpPr>
        <p:spPr bwMode="auto">
          <a:xfrm>
            <a:off x="2819400" y="540226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FontTx/>
              <a:buNone/>
            </a:pPr>
            <a:r>
              <a:rPr kumimoji="1" lang="en-US" altLang="zh-CN" sz="3200">
                <a:latin typeface="Times New Roman" panose="02020603050405020304" pitchFamily="18" charset="0"/>
                <a:ea typeface="楷体_GB2312" panose="02010609030101010101" pitchFamily="49" charset="-122"/>
              </a:rPr>
              <a:t> </a:t>
            </a:r>
            <a:r>
              <a:rPr kumimoji="1" lang="zh-CN" altLang="en-US" sz="3200">
                <a:latin typeface="Times New Roman" panose="02020603050405020304" pitchFamily="18" charset="0"/>
                <a:ea typeface="楷体_GB2312" panose="02010609030101010101" pitchFamily="49" charset="-122"/>
              </a:rPr>
              <a:t>栈底</a:t>
            </a:r>
          </a:p>
        </p:txBody>
      </p:sp>
      <p:sp>
        <p:nvSpPr>
          <p:cNvPr id="30740" name="Line 21"/>
          <p:cNvSpPr>
            <a:spLocks noChangeShapeType="1"/>
          </p:cNvSpPr>
          <p:nvPr/>
        </p:nvSpPr>
        <p:spPr bwMode="auto">
          <a:xfrm>
            <a:off x="5029200" y="25146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741" name="标题 1"/>
          <p:cNvSpPr>
            <a:spLocks noGrp="1"/>
          </p:cNvSpPr>
          <p:nvPr>
            <p:ph type="title"/>
          </p:nvPr>
        </p:nvSpPr>
        <p:spPr>
          <a:xfrm>
            <a:off x="527050" y="333375"/>
            <a:ext cx="10321925" cy="863600"/>
          </a:xfrm>
        </p:spPr>
        <p:txBody>
          <a:bodyPr/>
          <a:lstStyle/>
          <a:p>
            <a:pPr eaLnBrk="1" hangingPunct="1"/>
            <a:r>
              <a:rPr lang="zh-CN" altLang="en-US" smtClean="0"/>
              <a:t>进栈和出栈</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5029200" y="5421313"/>
            <a:ext cx="23622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67</a:t>
            </a:r>
            <a:endParaRPr lang="en-US" altLang="zh-CN" sz="2600" baseline="-18000">
              <a:latin typeface="Verdana" panose="020B0604030504040204" pitchFamily="34" charset="0"/>
              <a:ea typeface="宋体" panose="02010600030101010101" pitchFamily="2" charset="-122"/>
            </a:endParaRPr>
          </a:p>
        </p:txBody>
      </p:sp>
      <p:sp>
        <p:nvSpPr>
          <p:cNvPr id="31747" name="Rectangle 3"/>
          <p:cNvSpPr>
            <a:spLocks noChangeArrowheads="1"/>
          </p:cNvSpPr>
          <p:nvPr/>
        </p:nvSpPr>
        <p:spPr bwMode="auto">
          <a:xfrm>
            <a:off x="5029200" y="4868863"/>
            <a:ext cx="23622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43</a:t>
            </a:r>
            <a:endParaRPr lang="en-US" altLang="zh-CN" sz="2600" baseline="-18000">
              <a:latin typeface="Verdana" panose="020B0604030504040204" pitchFamily="34" charset="0"/>
              <a:ea typeface="宋体" panose="02010600030101010101" pitchFamily="2" charset="-122"/>
            </a:endParaRPr>
          </a:p>
        </p:txBody>
      </p:sp>
      <p:sp>
        <p:nvSpPr>
          <p:cNvPr id="31748" name="Rectangle 4"/>
          <p:cNvSpPr>
            <a:spLocks noChangeArrowheads="1"/>
          </p:cNvSpPr>
          <p:nvPr/>
        </p:nvSpPr>
        <p:spPr bwMode="auto">
          <a:xfrm>
            <a:off x="5029200" y="3868738"/>
            <a:ext cx="23622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31749" name="Line 5"/>
          <p:cNvSpPr>
            <a:spLocks noChangeShapeType="1"/>
          </p:cNvSpPr>
          <p:nvPr/>
        </p:nvSpPr>
        <p:spPr bwMode="auto">
          <a:xfrm>
            <a:off x="5029200" y="31242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50" name="Line 6"/>
          <p:cNvSpPr>
            <a:spLocks noChangeShapeType="1"/>
          </p:cNvSpPr>
          <p:nvPr/>
        </p:nvSpPr>
        <p:spPr bwMode="auto">
          <a:xfrm>
            <a:off x="5029200" y="3733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51" name="Line 7"/>
          <p:cNvSpPr>
            <a:spLocks noChangeShapeType="1"/>
          </p:cNvSpPr>
          <p:nvPr/>
        </p:nvSpPr>
        <p:spPr bwMode="auto">
          <a:xfrm>
            <a:off x="5029200" y="43291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52" name="Line 8"/>
          <p:cNvSpPr>
            <a:spLocks noChangeShapeType="1"/>
          </p:cNvSpPr>
          <p:nvPr/>
        </p:nvSpPr>
        <p:spPr bwMode="auto">
          <a:xfrm>
            <a:off x="5029200" y="4876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53" name="Line 9"/>
          <p:cNvSpPr>
            <a:spLocks noChangeShapeType="1"/>
          </p:cNvSpPr>
          <p:nvPr/>
        </p:nvSpPr>
        <p:spPr bwMode="auto">
          <a:xfrm>
            <a:off x="5029200" y="54213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54" name="Line 10"/>
          <p:cNvSpPr>
            <a:spLocks noChangeShapeType="1"/>
          </p:cNvSpPr>
          <p:nvPr/>
        </p:nvSpPr>
        <p:spPr bwMode="auto">
          <a:xfrm>
            <a:off x="5029200" y="59944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55" name="Line 11"/>
          <p:cNvSpPr>
            <a:spLocks noChangeShapeType="1"/>
          </p:cNvSpPr>
          <p:nvPr/>
        </p:nvSpPr>
        <p:spPr bwMode="auto">
          <a:xfrm>
            <a:off x="50292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56" name="Line 12"/>
          <p:cNvSpPr>
            <a:spLocks noChangeShapeType="1"/>
          </p:cNvSpPr>
          <p:nvPr/>
        </p:nvSpPr>
        <p:spPr bwMode="auto">
          <a:xfrm>
            <a:off x="73914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57" name="Line 13"/>
          <p:cNvSpPr>
            <a:spLocks noChangeShapeType="1"/>
          </p:cNvSpPr>
          <p:nvPr/>
        </p:nvSpPr>
        <p:spPr bwMode="auto">
          <a:xfrm>
            <a:off x="5029200" y="2057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58" name="Line 14"/>
          <p:cNvSpPr>
            <a:spLocks noChangeShapeType="1"/>
          </p:cNvSpPr>
          <p:nvPr/>
        </p:nvSpPr>
        <p:spPr bwMode="auto">
          <a:xfrm>
            <a:off x="5029200" y="21336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59" name="Line 15"/>
          <p:cNvSpPr>
            <a:spLocks noChangeShapeType="1"/>
          </p:cNvSpPr>
          <p:nvPr/>
        </p:nvSpPr>
        <p:spPr bwMode="auto">
          <a:xfrm>
            <a:off x="7391400" y="21336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60" name="Line 16"/>
          <p:cNvSpPr>
            <a:spLocks noChangeShapeType="1"/>
          </p:cNvSpPr>
          <p:nvPr/>
        </p:nvSpPr>
        <p:spPr bwMode="auto">
          <a:xfrm>
            <a:off x="4114800" y="57912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61" name="Line 17"/>
          <p:cNvSpPr>
            <a:spLocks noChangeShapeType="1"/>
          </p:cNvSpPr>
          <p:nvPr/>
        </p:nvSpPr>
        <p:spPr bwMode="auto">
          <a:xfrm>
            <a:off x="4114800" y="4587875"/>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62" name="Text Box 18"/>
          <p:cNvSpPr txBox="1">
            <a:spLocks noChangeArrowheads="1"/>
          </p:cNvSpPr>
          <p:nvPr/>
        </p:nvSpPr>
        <p:spPr bwMode="auto">
          <a:xfrm>
            <a:off x="2971800" y="4297363"/>
            <a:ext cx="1022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3200">
                <a:latin typeface="Times New Roman" panose="02020603050405020304" pitchFamily="18" charset="0"/>
                <a:ea typeface="楷体_GB2312" panose="02010609030101010101" pitchFamily="49" charset="-122"/>
              </a:rPr>
              <a:t>栈顶</a:t>
            </a:r>
          </a:p>
        </p:txBody>
      </p:sp>
      <p:sp>
        <p:nvSpPr>
          <p:cNvPr id="31763" name="Text Box 19"/>
          <p:cNvSpPr txBox="1">
            <a:spLocks noChangeArrowheads="1"/>
          </p:cNvSpPr>
          <p:nvPr/>
        </p:nvSpPr>
        <p:spPr bwMode="auto">
          <a:xfrm>
            <a:off x="2819400" y="540226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FontTx/>
              <a:buNone/>
            </a:pPr>
            <a:r>
              <a:rPr kumimoji="1" lang="en-US" altLang="zh-CN" sz="3200">
                <a:latin typeface="Times New Roman" panose="02020603050405020304" pitchFamily="18" charset="0"/>
                <a:ea typeface="楷体_GB2312" panose="02010609030101010101" pitchFamily="49" charset="-122"/>
              </a:rPr>
              <a:t> </a:t>
            </a:r>
            <a:r>
              <a:rPr kumimoji="1" lang="zh-CN" altLang="en-US" sz="3200">
                <a:latin typeface="Times New Roman" panose="02020603050405020304" pitchFamily="18" charset="0"/>
                <a:ea typeface="楷体_GB2312" panose="02010609030101010101" pitchFamily="49" charset="-122"/>
              </a:rPr>
              <a:t>栈底</a:t>
            </a:r>
          </a:p>
        </p:txBody>
      </p:sp>
      <p:sp>
        <p:nvSpPr>
          <p:cNvPr id="31764" name="Rectangle 20"/>
          <p:cNvSpPr>
            <a:spLocks noChangeArrowheads="1"/>
          </p:cNvSpPr>
          <p:nvPr/>
        </p:nvSpPr>
        <p:spPr bwMode="auto">
          <a:xfrm>
            <a:off x="5029200" y="42672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15</a:t>
            </a:r>
            <a:endParaRPr lang="en-US" altLang="zh-CN" sz="2600" baseline="-25000">
              <a:latin typeface="Verdana" panose="020B0604030504040204" pitchFamily="34" charset="0"/>
              <a:ea typeface="宋体" panose="02010600030101010101" pitchFamily="2" charset="-122"/>
            </a:endParaRPr>
          </a:p>
        </p:txBody>
      </p:sp>
      <p:sp>
        <p:nvSpPr>
          <p:cNvPr id="31765" name="Line 22"/>
          <p:cNvSpPr>
            <a:spLocks noChangeShapeType="1"/>
          </p:cNvSpPr>
          <p:nvPr/>
        </p:nvSpPr>
        <p:spPr bwMode="auto">
          <a:xfrm>
            <a:off x="5029200" y="25146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66" name="标题 1"/>
          <p:cNvSpPr>
            <a:spLocks noGrp="1"/>
          </p:cNvSpPr>
          <p:nvPr>
            <p:ph type="title"/>
          </p:nvPr>
        </p:nvSpPr>
        <p:spPr>
          <a:xfrm>
            <a:off x="527050" y="333375"/>
            <a:ext cx="10321925" cy="863600"/>
          </a:xfrm>
        </p:spPr>
        <p:txBody>
          <a:bodyPr/>
          <a:lstStyle/>
          <a:p>
            <a:pPr eaLnBrk="1" hangingPunct="1"/>
            <a:r>
              <a:rPr lang="zh-CN" altLang="en-US" smtClean="0"/>
              <a:t>进栈和出栈</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5029200" y="5421313"/>
            <a:ext cx="23622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67</a:t>
            </a:r>
            <a:endParaRPr lang="en-US" altLang="zh-CN" sz="2600" baseline="-18000">
              <a:latin typeface="Verdana" panose="020B0604030504040204" pitchFamily="34" charset="0"/>
              <a:ea typeface="宋体" panose="02010600030101010101" pitchFamily="2" charset="-122"/>
            </a:endParaRPr>
          </a:p>
        </p:txBody>
      </p:sp>
      <p:sp>
        <p:nvSpPr>
          <p:cNvPr id="32771" name="Rectangle 3"/>
          <p:cNvSpPr>
            <a:spLocks noChangeArrowheads="1"/>
          </p:cNvSpPr>
          <p:nvPr/>
        </p:nvSpPr>
        <p:spPr bwMode="auto">
          <a:xfrm>
            <a:off x="5029200" y="4868863"/>
            <a:ext cx="23622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43</a:t>
            </a:r>
            <a:endParaRPr lang="en-US" altLang="zh-CN" sz="2600" baseline="-18000">
              <a:latin typeface="Verdana" panose="020B0604030504040204" pitchFamily="34" charset="0"/>
              <a:ea typeface="宋体" panose="02010600030101010101" pitchFamily="2" charset="-122"/>
            </a:endParaRPr>
          </a:p>
        </p:txBody>
      </p:sp>
      <p:sp>
        <p:nvSpPr>
          <p:cNvPr id="32772" name="Rectangle 4"/>
          <p:cNvSpPr>
            <a:spLocks noChangeArrowheads="1"/>
          </p:cNvSpPr>
          <p:nvPr/>
        </p:nvSpPr>
        <p:spPr bwMode="auto">
          <a:xfrm>
            <a:off x="5029200" y="3868738"/>
            <a:ext cx="23622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32773" name="Rectangle 5"/>
          <p:cNvSpPr>
            <a:spLocks noChangeArrowheads="1"/>
          </p:cNvSpPr>
          <p:nvPr/>
        </p:nvSpPr>
        <p:spPr bwMode="auto">
          <a:xfrm>
            <a:off x="5029200" y="3748088"/>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39</a:t>
            </a:r>
            <a:endParaRPr lang="en-US" altLang="zh-CN" sz="2600" baseline="-25000">
              <a:latin typeface="Verdana" panose="020B0604030504040204" pitchFamily="34" charset="0"/>
              <a:ea typeface="宋体" panose="02010600030101010101" pitchFamily="2" charset="-122"/>
            </a:endParaRPr>
          </a:p>
        </p:txBody>
      </p:sp>
      <p:sp>
        <p:nvSpPr>
          <p:cNvPr id="32774" name="Line 6"/>
          <p:cNvSpPr>
            <a:spLocks noChangeShapeType="1"/>
          </p:cNvSpPr>
          <p:nvPr/>
        </p:nvSpPr>
        <p:spPr bwMode="auto">
          <a:xfrm>
            <a:off x="5029200" y="31242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75" name="Line 7"/>
          <p:cNvSpPr>
            <a:spLocks noChangeShapeType="1"/>
          </p:cNvSpPr>
          <p:nvPr/>
        </p:nvSpPr>
        <p:spPr bwMode="auto">
          <a:xfrm>
            <a:off x="5029200" y="3733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76" name="Line 8"/>
          <p:cNvSpPr>
            <a:spLocks noChangeShapeType="1"/>
          </p:cNvSpPr>
          <p:nvPr/>
        </p:nvSpPr>
        <p:spPr bwMode="auto">
          <a:xfrm>
            <a:off x="5029200" y="43291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77" name="Line 9"/>
          <p:cNvSpPr>
            <a:spLocks noChangeShapeType="1"/>
          </p:cNvSpPr>
          <p:nvPr/>
        </p:nvSpPr>
        <p:spPr bwMode="auto">
          <a:xfrm>
            <a:off x="5029200" y="4876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78" name="Line 10"/>
          <p:cNvSpPr>
            <a:spLocks noChangeShapeType="1"/>
          </p:cNvSpPr>
          <p:nvPr/>
        </p:nvSpPr>
        <p:spPr bwMode="auto">
          <a:xfrm>
            <a:off x="5029200" y="54213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79" name="Line 11"/>
          <p:cNvSpPr>
            <a:spLocks noChangeShapeType="1"/>
          </p:cNvSpPr>
          <p:nvPr/>
        </p:nvSpPr>
        <p:spPr bwMode="auto">
          <a:xfrm>
            <a:off x="5029200" y="59944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80" name="Line 12"/>
          <p:cNvSpPr>
            <a:spLocks noChangeShapeType="1"/>
          </p:cNvSpPr>
          <p:nvPr/>
        </p:nvSpPr>
        <p:spPr bwMode="auto">
          <a:xfrm>
            <a:off x="50292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81" name="Line 13"/>
          <p:cNvSpPr>
            <a:spLocks noChangeShapeType="1"/>
          </p:cNvSpPr>
          <p:nvPr/>
        </p:nvSpPr>
        <p:spPr bwMode="auto">
          <a:xfrm>
            <a:off x="73914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82" name="Line 14"/>
          <p:cNvSpPr>
            <a:spLocks noChangeShapeType="1"/>
          </p:cNvSpPr>
          <p:nvPr/>
        </p:nvSpPr>
        <p:spPr bwMode="auto">
          <a:xfrm>
            <a:off x="5029200" y="2057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83" name="Line 15"/>
          <p:cNvSpPr>
            <a:spLocks noChangeShapeType="1"/>
          </p:cNvSpPr>
          <p:nvPr/>
        </p:nvSpPr>
        <p:spPr bwMode="auto">
          <a:xfrm>
            <a:off x="5029200" y="21336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84" name="Line 16"/>
          <p:cNvSpPr>
            <a:spLocks noChangeShapeType="1"/>
          </p:cNvSpPr>
          <p:nvPr/>
        </p:nvSpPr>
        <p:spPr bwMode="auto">
          <a:xfrm>
            <a:off x="7391400" y="21336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85" name="Line 17"/>
          <p:cNvSpPr>
            <a:spLocks noChangeShapeType="1"/>
          </p:cNvSpPr>
          <p:nvPr/>
        </p:nvSpPr>
        <p:spPr bwMode="auto">
          <a:xfrm>
            <a:off x="4114800" y="57912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86" name="Line 18"/>
          <p:cNvSpPr>
            <a:spLocks noChangeShapeType="1"/>
          </p:cNvSpPr>
          <p:nvPr/>
        </p:nvSpPr>
        <p:spPr bwMode="auto">
          <a:xfrm>
            <a:off x="4114800" y="3978275"/>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87" name="Text Box 19"/>
          <p:cNvSpPr txBox="1">
            <a:spLocks noChangeArrowheads="1"/>
          </p:cNvSpPr>
          <p:nvPr/>
        </p:nvSpPr>
        <p:spPr bwMode="auto">
          <a:xfrm>
            <a:off x="2971800" y="3687763"/>
            <a:ext cx="1022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3200">
                <a:latin typeface="Times New Roman" panose="02020603050405020304" pitchFamily="18" charset="0"/>
                <a:ea typeface="楷体_GB2312" panose="02010609030101010101" pitchFamily="49" charset="-122"/>
              </a:rPr>
              <a:t>栈顶</a:t>
            </a:r>
          </a:p>
        </p:txBody>
      </p:sp>
      <p:sp>
        <p:nvSpPr>
          <p:cNvPr id="32788" name="Text Box 20"/>
          <p:cNvSpPr txBox="1">
            <a:spLocks noChangeArrowheads="1"/>
          </p:cNvSpPr>
          <p:nvPr/>
        </p:nvSpPr>
        <p:spPr bwMode="auto">
          <a:xfrm>
            <a:off x="2819400" y="540226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FontTx/>
              <a:buNone/>
            </a:pPr>
            <a:r>
              <a:rPr kumimoji="1" lang="en-US" altLang="zh-CN" sz="3200">
                <a:latin typeface="Times New Roman" panose="02020603050405020304" pitchFamily="18" charset="0"/>
                <a:ea typeface="楷体_GB2312" panose="02010609030101010101" pitchFamily="49" charset="-122"/>
              </a:rPr>
              <a:t> </a:t>
            </a:r>
            <a:r>
              <a:rPr kumimoji="1" lang="zh-CN" altLang="en-US" sz="3200">
                <a:latin typeface="Times New Roman" panose="02020603050405020304" pitchFamily="18" charset="0"/>
                <a:ea typeface="楷体_GB2312" panose="02010609030101010101" pitchFamily="49" charset="-122"/>
              </a:rPr>
              <a:t>栈底</a:t>
            </a:r>
          </a:p>
        </p:txBody>
      </p:sp>
      <p:sp>
        <p:nvSpPr>
          <p:cNvPr id="32789" name="Rectangle 21"/>
          <p:cNvSpPr>
            <a:spLocks noChangeArrowheads="1"/>
          </p:cNvSpPr>
          <p:nvPr/>
        </p:nvSpPr>
        <p:spPr bwMode="auto">
          <a:xfrm>
            <a:off x="5029200" y="42672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15</a:t>
            </a:r>
            <a:endParaRPr lang="en-US" altLang="zh-CN" sz="2600" baseline="-25000">
              <a:latin typeface="Verdana" panose="020B0604030504040204" pitchFamily="34" charset="0"/>
              <a:ea typeface="宋体" panose="02010600030101010101" pitchFamily="2" charset="-122"/>
            </a:endParaRPr>
          </a:p>
        </p:txBody>
      </p:sp>
      <p:sp>
        <p:nvSpPr>
          <p:cNvPr id="32790" name="Line 23"/>
          <p:cNvSpPr>
            <a:spLocks noChangeShapeType="1"/>
          </p:cNvSpPr>
          <p:nvPr/>
        </p:nvSpPr>
        <p:spPr bwMode="auto">
          <a:xfrm>
            <a:off x="5029200" y="25146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791" name="标题 1"/>
          <p:cNvSpPr>
            <a:spLocks noGrp="1"/>
          </p:cNvSpPr>
          <p:nvPr>
            <p:ph type="title"/>
          </p:nvPr>
        </p:nvSpPr>
        <p:spPr>
          <a:xfrm>
            <a:off x="527050" y="333375"/>
            <a:ext cx="10321925" cy="863600"/>
          </a:xfrm>
        </p:spPr>
        <p:txBody>
          <a:bodyPr/>
          <a:lstStyle/>
          <a:p>
            <a:pPr eaLnBrk="1" hangingPunct="1"/>
            <a:r>
              <a:rPr lang="zh-CN" altLang="en-US" smtClean="0"/>
              <a:t>进栈和出栈</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5029200" y="5421313"/>
            <a:ext cx="23622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67</a:t>
            </a:r>
            <a:endParaRPr lang="en-US" altLang="zh-CN" sz="2600" baseline="-18000">
              <a:latin typeface="Verdana" panose="020B0604030504040204" pitchFamily="34" charset="0"/>
              <a:ea typeface="宋体" panose="02010600030101010101" pitchFamily="2" charset="-122"/>
            </a:endParaRPr>
          </a:p>
        </p:txBody>
      </p:sp>
      <p:sp>
        <p:nvSpPr>
          <p:cNvPr id="33795" name="Rectangle 3"/>
          <p:cNvSpPr>
            <a:spLocks noChangeArrowheads="1"/>
          </p:cNvSpPr>
          <p:nvPr/>
        </p:nvSpPr>
        <p:spPr bwMode="auto">
          <a:xfrm>
            <a:off x="5029200" y="4868863"/>
            <a:ext cx="23622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43</a:t>
            </a:r>
            <a:endParaRPr lang="en-US" altLang="zh-CN" sz="2600" baseline="-18000">
              <a:latin typeface="Verdana" panose="020B0604030504040204" pitchFamily="34" charset="0"/>
              <a:ea typeface="宋体" panose="02010600030101010101" pitchFamily="2" charset="-122"/>
            </a:endParaRPr>
          </a:p>
        </p:txBody>
      </p:sp>
      <p:sp>
        <p:nvSpPr>
          <p:cNvPr id="33796" name="Rectangle 4"/>
          <p:cNvSpPr>
            <a:spLocks noChangeArrowheads="1"/>
          </p:cNvSpPr>
          <p:nvPr/>
        </p:nvSpPr>
        <p:spPr bwMode="auto">
          <a:xfrm>
            <a:off x="5029200" y="3868738"/>
            <a:ext cx="23622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33797" name="Rectangle 5"/>
          <p:cNvSpPr>
            <a:spLocks noChangeArrowheads="1"/>
          </p:cNvSpPr>
          <p:nvPr/>
        </p:nvSpPr>
        <p:spPr bwMode="auto">
          <a:xfrm>
            <a:off x="5029200" y="3748088"/>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39</a:t>
            </a:r>
            <a:endParaRPr lang="en-US" altLang="zh-CN" sz="2600" baseline="-25000">
              <a:latin typeface="Verdana" panose="020B0604030504040204" pitchFamily="34" charset="0"/>
              <a:ea typeface="宋体" panose="02010600030101010101" pitchFamily="2" charset="-122"/>
            </a:endParaRPr>
          </a:p>
        </p:txBody>
      </p:sp>
      <p:sp>
        <p:nvSpPr>
          <p:cNvPr id="33798" name="Rectangle 6"/>
          <p:cNvSpPr>
            <a:spLocks noChangeArrowheads="1"/>
          </p:cNvSpPr>
          <p:nvPr/>
        </p:nvSpPr>
        <p:spPr bwMode="auto">
          <a:xfrm>
            <a:off x="5029200" y="3124200"/>
            <a:ext cx="2362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26</a:t>
            </a:r>
            <a:endParaRPr lang="en-US" altLang="zh-CN" sz="2600" baseline="-25000">
              <a:latin typeface="Verdana" panose="020B0604030504040204" pitchFamily="34" charset="0"/>
              <a:ea typeface="宋体" panose="02010600030101010101" pitchFamily="2" charset="-122"/>
            </a:endParaRPr>
          </a:p>
        </p:txBody>
      </p:sp>
      <p:sp>
        <p:nvSpPr>
          <p:cNvPr id="33799" name="Line 7"/>
          <p:cNvSpPr>
            <a:spLocks noChangeShapeType="1"/>
          </p:cNvSpPr>
          <p:nvPr/>
        </p:nvSpPr>
        <p:spPr bwMode="auto">
          <a:xfrm>
            <a:off x="5029200" y="31242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0" name="Line 8"/>
          <p:cNvSpPr>
            <a:spLocks noChangeShapeType="1"/>
          </p:cNvSpPr>
          <p:nvPr/>
        </p:nvSpPr>
        <p:spPr bwMode="auto">
          <a:xfrm>
            <a:off x="5029200" y="3733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1" name="Line 9"/>
          <p:cNvSpPr>
            <a:spLocks noChangeShapeType="1"/>
          </p:cNvSpPr>
          <p:nvPr/>
        </p:nvSpPr>
        <p:spPr bwMode="auto">
          <a:xfrm>
            <a:off x="5029200" y="43291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2" name="Line 10"/>
          <p:cNvSpPr>
            <a:spLocks noChangeShapeType="1"/>
          </p:cNvSpPr>
          <p:nvPr/>
        </p:nvSpPr>
        <p:spPr bwMode="auto">
          <a:xfrm>
            <a:off x="5029200" y="4876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3" name="Line 11"/>
          <p:cNvSpPr>
            <a:spLocks noChangeShapeType="1"/>
          </p:cNvSpPr>
          <p:nvPr/>
        </p:nvSpPr>
        <p:spPr bwMode="auto">
          <a:xfrm>
            <a:off x="5029200" y="54213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4" name="Line 12"/>
          <p:cNvSpPr>
            <a:spLocks noChangeShapeType="1"/>
          </p:cNvSpPr>
          <p:nvPr/>
        </p:nvSpPr>
        <p:spPr bwMode="auto">
          <a:xfrm>
            <a:off x="5029200" y="59944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5" name="Line 13"/>
          <p:cNvSpPr>
            <a:spLocks noChangeShapeType="1"/>
          </p:cNvSpPr>
          <p:nvPr/>
        </p:nvSpPr>
        <p:spPr bwMode="auto">
          <a:xfrm>
            <a:off x="50292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6" name="Line 14"/>
          <p:cNvSpPr>
            <a:spLocks noChangeShapeType="1"/>
          </p:cNvSpPr>
          <p:nvPr/>
        </p:nvSpPr>
        <p:spPr bwMode="auto">
          <a:xfrm>
            <a:off x="73914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7" name="Line 15"/>
          <p:cNvSpPr>
            <a:spLocks noChangeShapeType="1"/>
          </p:cNvSpPr>
          <p:nvPr/>
        </p:nvSpPr>
        <p:spPr bwMode="auto">
          <a:xfrm>
            <a:off x="5029200" y="2057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8" name="Line 16"/>
          <p:cNvSpPr>
            <a:spLocks noChangeShapeType="1"/>
          </p:cNvSpPr>
          <p:nvPr/>
        </p:nvSpPr>
        <p:spPr bwMode="auto">
          <a:xfrm>
            <a:off x="5029200" y="21336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9" name="Line 17"/>
          <p:cNvSpPr>
            <a:spLocks noChangeShapeType="1"/>
          </p:cNvSpPr>
          <p:nvPr/>
        </p:nvSpPr>
        <p:spPr bwMode="auto">
          <a:xfrm>
            <a:off x="7391400" y="21336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10" name="Line 18"/>
          <p:cNvSpPr>
            <a:spLocks noChangeShapeType="1"/>
          </p:cNvSpPr>
          <p:nvPr/>
        </p:nvSpPr>
        <p:spPr bwMode="auto">
          <a:xfrm>
            <a:off x="4114800" y="57912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3811" name="Line 19"/>
          <p:cNvSpPr>
            <a:spLocks noChangeShapeType="1"/>
          </p:cNvSpPr>
          <p:nvPr/>
        </p:nvSpPr>
        <p:spPr bwMode="auto">
          <a:xfrm>
            <a:off x="4114800" y="3414713"/>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3812" name="Text Box 20"/>
          <p:cNvSpPr txBox="1">
            <a:spLocks noChangeArrowheads="1"/>
          </p:cNvSpPr>
          <p:nvPr/>
        </p:nvSpPr>
        <p:spPr bwMode="auto">
          <a:xfrm>
            <a:off x="2971800" y="3124200"/>
            <a:ext cx="1022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3200">
                <a:latin typeface="Times New Roman" panose="02020603050405020304" pitchFamily="18" charset="0"/>
                <a:ea typeface="楷体_GB2312" panose="02010609030101010101" pitchFamily="49" charset="-122"/>
              </a:rPr>
              <a:t>栈顶</a:t>
            </a:r>
          </a:p>
        </p:txBody>
      </p:sp>
      <p:sp>
        <p:nvSpPr>
          <p:cNvPr id="33813" name="Text Box 21"/>
          <p:cNvSpPr txBox="1">
            <a:spLocks noChangeArrowheads="1"/>
          </p:cNvSpPr>
          <p:nvPr/>
        </p:nvSpPr>
        <p:spPr bwMode="auto">
          <a:xfrm>
            <a:off x="2819400" y="540226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FontTx/>
              <a:buNone/>
            </a:pPr>
            <a:r>
              <a:rPr kumimoji="1" lang="en-US" altLang="zh-CN" sz="3200">
                <a:latin typeface="Times New Roman" panose="02020603050405020304" pitchFamily="18" charset="0"/>
                <a:ea typeface="楷体_GB2312" panose="02010609030101010101" pitchFamily="49" charset="-122"/>
              </a:rPr>
              <a:t> </a:t>
            </a:r>
            <a:r>
              <a:rPr kumimoji="1" lang="zh-CN" altLang="en-US" sz="3200">
                <a:latin typeface="Times New Roman" panose="02020603050405020304" pitchFamily="18" charset="0"/>
                <a:ea typeface="楷体_GB2312" panose="02010609030101010101" pitchFamily="49" charset="-122"/>
              </a:rPr>
              <a:t>栈底</a:t>
            </a:r>
          </a:p>
        </p:txBody>
      </p:sp>
      <p:sp>
        <p:nvSpPr>
          <p:cNvPr id="33814" name="Rectangle 22"/>
          <p:cNvSpPr>
            <a:spLocks noChangeArrowheads="1"/>
          </p:cNvSpPr>
          <p:nvPr/>
        </p:nvSpPr>
        <p:spPr bwMode="auto">
          <a:xfrm>
            <a:off x="5029200" y="42672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15</a:t>
            </a:r>
            <a:endParaRPr lang="en-US" altLang="zh-CN" sz="2600" baseline="-25000">
              <a:latin typeface="Verdana" panose="020B0604030504040204" pitchFamily="34" charset="0"/>
              <a:ea typeface="宋体" panose="02010600030101010101" pitchFamily="2" charset="-122"/>
            </a:endParaRPr>
          </a:p>
        </p:txBody>
      </p:sp>
      <p:sp>
        <p:nvSpPr>
          <p:cNvPr id="33815" name="Line 24"/>
          <p:cNvSpPr>
            <a:spLocks noChangeShapeType="1"/>
          </p:cNvSpPr>
          <p:nvPr/>
        </p:nvSpPr>
        <p:spPr bwMode="auto">
          <a:xfrm>
            <a:off x="5029200" y="25146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16" name="标题 1"/>
          <p:cNvSpPr>
            <a:spLocks noGrp="1"/>
          </p:cNvSpPr>
          <p:nvPr>
            <p:ph type="title"/>
          </p:nvPr>
        </p:nvSpPr>
        <p:spPr>
          <a:xfrm>
            <a:off x="527050" y="333375"/>
            <a:ext cx="10321925" cy="863600"/>
          </a:xfrm>
        </p:spPr>
        <p:txBody>
          <a:bodyPr/>
          <a:lstStyle/>
          <a:p>
            <a:pPr eaLnBrk="1" hangingPunct="1"/>
            <a:r>
              <a:rPr lang="zh-CN" altLang="en-US" smtClean="0"/>
              <a:t>进栈和出栈</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5029200" y="5421313"/>
            <a:ext cx="23622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67</a:t>
            </a:r>
            <a:endParaRPr lang="en-US" altLang="zh-CN" sz="2600" baseline="-18000">
              <a:latin typeface="Verdana" panose="020B0604030504040204" pitchFamily="34" charset="0"/>
              <a:ea typeface="宋体" panose="02010600030101010101" pitchFamily="2" charset="-122"/>
            </a:endParaRPr>
          </a:p>
        </p:txBody>
      </p:sp>
      <p:sp>
        <p:nvSpPr>
          <p:cNvPr id="34819" name="Rectangle 3"/>
          <p:cNvSpPr>
            <a:spLocks noChangeArrowheads="1"/>
          </p:cNvSpPr>
          <p:nvPr/>
        </p:nvSpPr>
        <p:spPr bwMode="auto">
          <a:xfrm>
            <a:off x="5029200" y="4868863"/>
            <a:ext cx="23622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43</a:t>
            </a:r>
            <a:endParaRPr lang="en-US" altLang="zh-CN" sz="2600" baseline="-18000">
              <a:latin typeface="Verdana" panose="020B0604030504040204" pitchFamily="34" charset="0"/>
              <a:ea typeface="宋体" panose="02010600030101010101" pitchFamily="2" charset="-122"/>
            </a:endParaRPr>
          </a:p>
        </p:txBody>
      </p:sp>
      <p:sp>
        <p:nvSpPr>
          <p:cNvPr id="34820" name="Rectangle 4"/>
          <p:cNvSpPr>
            <a:spLocks noChangeArrowheads="1"/>
          </p:cNvSpPr>
          <p:nvPr/>
        </p:nvSpPr>
        <p:spPr bwMode="auto">
          <a:xfrm>
            <a:off x="5029200" y="3868738"/>
            <a:ext cx="23622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34821" name="Rectangle 5"/>
          <p:cNvSpPr>
            <a:spLocks noChangeArrowheads="1"/>
          </p:cNvSpPr>
          <p:nvPr/>
        </p:nvSpPr>
        <p:spPr bwMode="auto">
          <a:xfrm>
            <a:off x="5029200" y="3748088"/>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39</a:t>
            </a:r>
            <a:endParaRPr lang="en-US" altLang="zh-CN" sz="2600" baseline="-25000">
              <a:latin typeface="Verdana" panose="020B0604030504040204" pitchFamily="34" charset="0"/>
              <a:ea typeface="宋体" panose="02010600030101010101" pitchFamily="2" charset="-122"/>
            </a:endParaRPr>
          </a:p>
        </p:txBody>
      </p:sp>
      <p:sp>
        <p:nvSpPr>
          <p:cNvPr id="34822" name="Line 6"/>
          <p:cNvSpPr>
            <a:spLocks noChangeShapeType="1"/>
          </p:cNvSpPr>
          <p:nvPr/>
        </p:nvSpPr>
        <p:spPr bwMode="auto">
          <a:xfrm>
            <a:off x="5029200" y="31242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23" name="Line 7"/>
          <p:cNvSpPr>
            <a:spLocks noChangeShapeType="1"/>
          </p:cNvSpPr>
          <p:nvPr/>
        </p:nvSpPr>
        <p:spPr bwMode="auto">
          <a:xfrm>
            <a:off x="5029200" y="3733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24" name="Line 8"/>
          <p:cNvSpPr>
            <a:spLocks noChangeShapeType="1"/>
          </p:cNvSpPr>
          <p:nvPr/>
        </p:nvSpPr>
        <p:spPr bwMode="auto">
          <a:xfrm>
            <a:off x="5029200" y="43291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25" name="Line 9"/>
          <p:cNvSpPr>
            <a:spLocks noChangeShapeType="1"/>
          </p:cNvSpPr>
          <p:nvPr/>
        </p:nvSpPr>
        <p:spPr bwMode="auto">
          <a:xfrm>
            <a:off x="5029200" y="4876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26" name="Line 10"/>
          <p:cNvSpPr>
            <a:spLocks noChangeShapeType="1"/>
          </p:cNvSpPr>
          <p:nvPr/>
        </p:nvSpPr>
        <p:spPr bwMode="auto">
          <a:xfrm>
            <a:off x="5029200" y="54213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27" name="Line 11"/>
          <p:cNvSpPr>
            <a:spLocks noChangeShapeType="1"/>
          </p:cNvSpPr>
          <p:nvPr/>
        </p:nvSpPr>
        <p:spPr bwMode="auto">
          <a:xfrm>
            <a:off x="5029200" y="59944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28" name="Line 12"/>
          <p:cNvSpPr>
            <a:spLocks noChangeShapeType="1"/>
          </p:cNvSpPr>
          <p:nvPr/>
        </p:nvSpPr>
        <p:spPr bwMode="auto">
          <a:xfrm>
            <a:off x="50292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29" name="Line 13"/>
          <p:cNvSpPr>
            <a:spLocks noChangeShapeType="1"/>
          </p:cNvSpPr>
          <p:nvPr/>
        </p:nvSpPr>
        <p:spPr bwMode="auto">
          <a:xfrm>
            <a:off x="73914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0" name="Line 14"/>
          <p:cNvSpPr>
            <a:spLocks noChangeShapeType="1"/>
          </p:cNvSpPr>
          <p:nvPr/>
        </p:nvSpPr>
        <p:spPr bwMode="auto">
          <a:xfrm>
            <a:off x="5029200" y="2057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1" name="Line 15"/>
          <p:cNvSpPr>
            <a:spLocks noChangeShapeType="1"/>
          </p:cNvSpPr>
          <p:nvPr/>
        </p:nvSpPr>
        <p:spPr bwMode="auto">
          <a:xfrm>
            <a:off x="5029200" y="21336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2" name="Line 16"/>
          <p:cNvSpPr>
            <a:spLocks noChangeShapeType="1"/>
          </p:cNvSpPr>
          <p:nvPr/>
        </p:nvSpPr>
        <p:spPr bwMode="auto">
          <a:xfrm>
            <a:off x="7391400" y="21336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3" name="Line 17"/>
          <p:cNvSpPr>
            <a:spLocks noChangeShapeType="1"/>
          </p:cNvSpPr>
          <p:nvPr/>
        </p:nvSpPr>
        <p:spPr bwMode="auto">
          <a:xfrm>
            <a:off x="4114800" y="57912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834" name="Line 18"/>
          <p:cNvSpPr>
            <a:spLocks noChangeShapeType="1"/>
          </p:cNvSpPr>
          <p:nvPr/>
        </p:nvSpPr>
        <p:spPr bwMode="auto">
          <a:xfrm>
            <a:off x="4114800" y="3978275"/>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835" name="Text Box 19"/>
          <p:cNvSpPr txBox="1">
            <a:spLocks noChangeArrowheads="1"/>
          </p:cNvSpPr>
          <p:nvPr/>
        </p:nvSpPr>
        <p:spPr bwMode="auto">
          <a:xfrm>
            <a:off x="2971800" y="3687763"/>
            <a:ext cx="1022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3200">
                <a:latin typeface="Times New Roman" panose="02020603050405020304" pitchFamily="18" charset="0"/>
                <a:ea typeface="楷体_GB2312" panose="02010609030101010101" pitchFamily="49" charset="-122"/>
              </a:rPr>
              <a:t>栈顶</a:t>
            </a:r>
          </a:p>
        </p:txBody>
      </p:sp>
      <p:sp>
        <p:nvSpPr>
          <p:cNvPr id="34836" name="Text Box 20"/>
          <p:cNvSpPr txBox="1">
            <a:spLocks noChangeArrowheads="1"/>
          </p:cNvSpPr>
          <p:nvPr/>
        </p:nvSpPr>
        <p:spPr bwMode="auto">
          <a:xfrm>
            <a:off x="2819400" y="540226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FontTx/>
              <a:buNone/>
            </a:pPr>
            <a:r>
              <a:rPr kumimoji="1" lang="en-US" altLang="zh-CN" sz="3200">
                <a:latin typeface="Times New Roman" panose="02020603050405020304" pitchFamily="18" charset="0"/>
                <a:ea typeface="楷体_GB2312" panose="02010609030101010101" pitchFamily="49" charset="-122"/>
              </a:rPr>
              <a:t> </a:t>
            </a:r>
            <a:r>
              <a:rPr kumimoji="1" lang="zh-CN" altLang="en-US" sz="3200">
                <a:latin typeface="Times New Roman" panose="02020603050405020304" pitchFamily="18" charset="0"/>
                <a:ea typeface="楷体_GB2312" panose="02010609030101010101" pitchFamily="49" charset="-122"/>
              </a:rPr>
              <a:t>栈底</a:t>
            </a:r>
          </a:p>
        </p:txBody>
      </p:sp>
      <p:sp>
        <p:nvSpPr>
          <p:cNvPr id="34837" name="Rectangle 21"/>
          <p:cNvSpPr>
            <a:spLocks noChangeArrowheads="1"/>
          </p:cNvSpPr>
          <p:nvPr/>
        </p:nvSpPr>
        <p:spPr bwMode="auto">
          <a:xfrm>
            <a:off x="5029200" y="42672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15</a:t>
            </a:r>
            <a:endParaRPr lang="en-US" altLang="zh-CN" sz="2600" baseline="-25000">
              <a:latin typeface="Verdana" panose="020B0604030504040204" pitchFamily="34" charset="0"/>
              <a:ea typeface="宋体" panose="02010600030101010101" pitchFamily="2" charset="-122"/>
            </a:endParaRPr>
          </a:p>
        </p:txBody>
      </p:sp>
      <p:sp>
        <p:nvSpPr>
          <p:cNvPr id="34838" name="Line 23"/>
          <p:cNvSpPr>
            <a:spLocks noChangeShapeType="1"/>
          </p:cNvSpPr>
          <p:nvPr/>
        </p:nvSpPr>
        <p:spPr bwMode="auto">
          <a:xfrm>
            <a:off x="5029200" y="25146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9" name="标题 1"/>
          <p:cNvSpPr>
            <a:spLocks noGrp="1"/>
          </p:cNvSpPr>
          <p:nvPr>
            <p:ph type="title"/>
          </p:nvPr>
        </p:nvSpPr>
        <p:spPr>
          <a:xfrm>
            <a:off x="527050" y="333375"/>
            <a:ext cx="10321925" cy="863600"/>
          </a:xfrm>
        </p:spPr>
        <p:txBody>
          <a:bodyPr/>
          <a:lstStyle/>
          <a:p>
            <a:pPr eaLnBrk="1" hangingPunct="1"/>
            <a:r>
              <a:rPr lang="zh-CN" altLang="en-US" smtClean="0"/>
              <a:t>进栈和出栈</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5029200" y="5421313"/>
            <a:ext cx="23622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67</a:t>
            </a:r>
            <a:endParaRPr lang="en-US" altLang="zh-CN" sz="2600" baseline="-18000">
              <a:latin typeface="Verdana" panose="020B0604030504040204" pitchFamily="34" charset="0"/>
              <a:ea typeface="宋体" panose="02010600030101010101" pitchFamily="2" charset="-122"/>
            </a:endParaRPr>
          </a:p>
        </p:txBody>
      </p:sp>
      <p:sp>
        <p:nvSpPr>
          <p:cNvPr id="35843" name="Rectangle 3"/>
          <p:cNvSpPr>
            <a:spLocks noChangeArrowheads="1"/>
          </p:cNvSpPr>
          <p:nvPr/>
        </p:nvSpPr>
        <p:spPr bwMode="auto">
          <a:xfrm>
            <a:off x="5029200" y="4868863"/>
            <a:ext cx="23622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43</a:t>
            </a:r>
            <a:endParaRPr lang="en-US" altLang="zh-CN" sz="2600" baseline="-18000">
              <a:latin typeface="Verdana" panose="020B0604030504040204" pitchFamily="34" charset="0"/>
              <a:ea typeface="宋体" panose="02010600030101010101" pitchFamily="2" charset="-122"/>
            </a:endParaRPr>
          </a:p>
        </p:txBody>
      </p:sp>
      <p:sp>
        <p:nvSpPr>
          <p:cNvPr id="35844" name="Rectangle 4"/>
          <p:cNvSpPr>
            <a:spLocks noChangeArrowheads="1"/>
          </p:cNvSpPr>
          <p:nvPr/>
        </p:nvSpPr>
        <p:spPr bwMode="auto">
          <a:xfrm>
            <a:off x="5029200" y="3868738"/>
            <a:ext cx="23622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35845" name="Line 5"/>
          <p:cNvSpPr>
            <a:spLocks noChangeShapeType="1"/>
          </p:cNvSpPr>
          <p:nvPr/>
        </p:nvSpPr>
        <p:spPr bwMode="auto">
          <a:xfrm>
            <a:off x="5029200" y="31242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46" name="Line 6"/>
          <p:cNvSpPr>
            <a:spLocks noChangeShapeType="1"/>
          </p:cNvSpPr>
          <p:nvPr/>
        </p:nvSpPr>
        <p:spPr bwMode="auto">
          <a:xfrm>
            <a:off x="5029200" y="3733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47" name="Line 7"/>
          <p:cNvSpPr>
            <a:spLocks noChangeShapeType="1"/>
          </p:cNvSpPr>
          <p:nvPr/>
        </p:nvSpPr>
        <p:spPr bwMode="auto">
          <a:xfrm>
            <a:off x="5029200" y="43291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48" name="Line 8"/>
          <p:cNvSpPr>
            <a:spLocks noChangeShapeType="1"/>
          </p:cNvSpPr>
          <p:nvPr/>
        </p:nvSpPr>
        <p:spPr bwMode="auto">
          <a:xfrm>
            <a:off x="5029200" y="4876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49" name="Line 9"/>
          <p:cNvSpPr>
            <a:spLocks noChangeShapeType="1"/>
          </p:cNvSpPr>
          <p:nvPr/>
        </p:nvSpPr>
        <p:spPr bwMode="auto">
          <a:xfrm>
            <a:off x="5029200" y="54213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50" name="Line 10"/>
          <p:cNvSpPr>
            <a:spLocks noChangeShapeType="1"/>
          </p:cNvSpPr>
          <p:nvPr/>
        </p:nvSpPr>
        <p:spPr bwMode="auto">
          <a:xfrm>
            <a:off x="5029200" y="59944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51" name="Line 11"/>
          <p:cNvSpPr>
            <a:spLocks noChangeShapeType="1"/>
          </p:cNvSpPr>
          <p:nvPr/>
        </p:nvSpPr>
        <p:spPr bwMode="auto">
          <a:xfrm>
            <a:off x="50292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52" name="Line 12"/>
          <p:cNvSpPr>
            <a:spLocks noChangeShapeType="1"/>
          </p:cNvSpPr>
          <p:nvPr/>
        </p:nvSpPr>
        <p:spPr bwMode="auto">
          <a:xfrm>
            <a:off x="73914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53" name="Line 13"/>
          <p:cNvSpPr>
            <a:spLocks noChangeShapeType="1"/>
          </p:cNvSpPr>
          <p:nvPr/>
        </p:nvSpPr>
        <p:spPr bwMode="auto">
          <a:xfrm>
            <a:off x="5029200" y="2057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54" name="Line 14"/>
          <p:cNvSpPr>
            <a:spLocks noChangeShapeType="1"/>
          </p:cNvSpPr>
          <p:nvPr/>
        </p:nvSpPr>
        <p:spPr bwMode="auto">
          <a:xfrm>
            <a:off x="5029200" y="21336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55" name="Line 15"/>
          <p:cNvSpPr>
            <a:spLocks noChangeShapeType="1"/>
          </p:cNvSpPr>
          <p:nvPr/>
        </p:nvSpPr>
        <p:spPr bwMode="auto">
          <a:xfrm>
            <a:off x="7391400" y="21336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56" name="Line 16"/>
          <p:cNvSpPr>
            <a:spLocks noChangeShapeType="1"/>
          </p:cNvSpPr>
          <p:nvPr/>
        </p:nvSpPr>
        <p:spPr bwMode="auto">
          <a:xfrm>
            <a:off x="4114800" y="57912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57" name="Line 17"/>
          <p:cNvSpPr>
            <a:spLocks noChangeShapeType="1"/>
          </p:cNvSpPr>
          <p:nvPr/>
        </p:nvSpPr>
        <p:spPr bwMode="auto">
          <a:xfrm>
            <a:off x="4114800" y="4587875"/>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58" name="Text Box 18"/>
          <p:cNvSpPr txBox="1">
            <a:spLocks noChangeArrowheads="1"/>
          </p:cNvSpPr>
          <p:nvPr/>
        </p:nvSpPr>
        <p:spPr bwMode="auto">
          <a:xfrm>
            <a:off x="2971800" y="4297363"/>
            <a:ext cx="1022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3200">
                <a:latin typeface="Times New Roman" panose="02020603050405020304" pitchFamily="18" charset="0"/>
                <a:ea typeface="楷体_GB2312" panose="02010609030101010101" pitchFamily="49" charset="-122"/>
              </a:rPr>
              <a:t>栈顶</a:t>
            </a:r>
          </a:p>
        </p:txBody>
      </p:sp>
      <p:sp>
        <p:nvSpPr>
          <p:cNvPr id="35859" name="Text Box 19"/>
          <p:cNvSpPr txBox="1">
            <a:spLocks noChangeArrowheads="1"/>
          </p:cNvSpPr>
          <p:nvPr/>
        </p:nvSpPr>
        <p:spPr bwMode="auto">
          <a:xfrm>
            <a:off x="2819400" y="540226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FontTx/>
              <a:buNone/>
            </a:pPr>
            <a:r>
              <a:rPr kumimoji="1" lang="en-US" altLang="zh-CN" sz="3200">
                <a:latin typeface="Times New Roman" panose="02020603050405020304" pitchFamily="18" charset="0"/>
                <a:ea typeface="楷体_GB2312" panose="02010609030101010101" pitchFamily="49" charset="-122"/>
              </a:rPr>
              <a:t> </a:t>
            </a:r>
            <a:r>
              <a:rPr kumimoji="1" lang="zh-CN" altLang="en-US" sz="3200">
                <a:latin typeface="Times New Roman" panose="02020603050405020304" pitchFamily="18" charset="0"/>
                <a:ea typeface="楷体_GB2312" panose="02010609030101010101" pitchFamily="49" charset="-122"/>
              </a:rPr>
              <a:t>栈底</a:t>
            </a:r>
          </a:p>
        </p:txBody>
      </p:sp>
      <p:sp>
        <p:nvSpPr>
          <p:cNvPr id="35860" name="Rectangle 20"/>
          <p:cNvSpPr>
            <a:spLocks noChangeArrowheads="1"/>
          </p:cNvSpPr>
          <p:nvPr/>
        </p:nvSpPr>
        <p:spPr bwMode="auto">
          <a:xfrm>
            <a:off x="5029200" y="42672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15</a:t>
            </a:r>
            <a:endParaRPr lang="en-US" altLang="zh-CN" sz="2600" baseline="-25000">
              <a:latin typeface="Verdana" panose="020B0604030504040204" pitchFamily="34" charset="0"/>
              <a:ea typeface="宋体" panose="02010600030101010101" pitchFamily="2" charset="-122"/>
            </a:endParaRPr>
          </a:p>
        </p:txBody>
      </p:sp>
      <p:sp>
        <p:nvSpPr>
          <p:cNvPr id="35861" name="Line 22"/>
          <p:cNvSpPr>
            <a:spLocks noChangeShapeType="1"/>
          </p:cNvSpPr>
          <p:nvPr/>
        </p:nvSpPr>
        <p:spPr bwMode="auto">
          <a:xfrm>
            <a:off x="5029200" y="25146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862" name="标题 1"/>
          <p:cNvSpPr>
            <a:spLocks noGrp="1"/>
          </p:cNvSpPr>
          <p:nvPr>
            <p:ph type="title"/>
          </p:nvPr>
        </p:nvSpPr>
        <p:spPr>
          <a:xfrm>
            <a:off x="527050" y="333375"/>
            <a:ext cx="10321925" cy="863600"/>
          </a:xfrm>
        </p:spPr>
        <p:txBody>
          <a:bodyPr/>
          <a:lstStyle/>
          <a:p>
            <a:pPr eaLnBrk="1" hangingPunct="1"/>
            <a:r>
              <a:rPr lang="zh-CN" altLang="en-US" smtClean="0"/>
              <a:t>进栈和出栈</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5029200" y="5421313"/>
            <a:ext cx="23622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67</a:t>
            </a:r>
            <a:endParaRPr lang="en-US" altLang="zh-CN" sz="2600" baseline="-18000">
              <a:latin typeface="Verdana" panose="020B0604030504040204" pitchFamily="34" charset="0"/>
              <a:ea typeface="宋体" panose="02010600030101010101" pitchFamily="2" charset="-122"/>
            </a:endParaRPr>
          </a:p>
        </p:txBody>
      </p:sp>
      <p:sp>
        <p:nvSpPr>
          <p:cNvPr id="36867" name="Rectangle 3"/>
          <p:cNvSpPr>
            <a:spLocks noChangeArrowheads="1"/>
          </p:cNvSpPr>
          <p:nvPr/>
        </p:nvSpPr>
        <p:spPr bwMode="auto">
          <a:xfrm>
            <a:off x="5029200" y="4868863"/>
            <a:ext cx="23622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43</a:t>
            </a:r>
            <a:endParaRPr lang="en-US" altLang="zh-CN" sz="2600" baseline="-18000">
              <a:latin typeface="Verdana" panose="020B0604030504040204" pitchFamily="34" charset="0"/>
              <a:ea typeface="宋体" panose="02010600030101010101" pitchFamily="2" charset="-122"/>
            </a:endParaRPr>
          </a:p>
        </p:txBody>
      </p:sp>
      <p:sp>
        <p:nvSpPr>
          <p:cNvPr id="36868" name="Rectangle 4"/>
          <p:cNvSpPr>
            <a:spLocks noChangeArrowheads="1"/>
          </p:cNvSpPr>
          <p:nvPr/>
        </p:nvSpPr>
        <p:spPr bwMode="auto">
          <a:xfrm>
            <a:off x="5029200" y="3868738"/>
            <a:ext cx="23622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36869" name="Rectangle 5"/>
          <p:cNvSpPr>
            <a:spLocks noChangeArrowheads="1"/>
          </p:cNvSpPr>
          <p:nvPr/>
        </p:nvSpPr>
        <p:spPr bwMode="auto">
          <a:xfrm>
            <a:off x="5029200" y="3748088"/>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80</a:t>
            </a:r>
            <a:endParaRPr lang="en-US" altLang="zh-CN" sz="2600" baseline="-25000">
              <a:latin typeface="Verdana" panose="020B0604030504040204" pitchFamily="34" charset="0"/>
              <a:ea typeface="宋体" panose="02010600030101010101" pitchFamily="2" charset="-122"/>
            </a:endParaRPr>
          </a:p>
        </p:txBody>
      </p:sp>
      <p:sp>
        <p:nvSpPr>
          <p:cNvPr id="36870" name="Line 6"/>
          <p:cNvSpPr>
            <a:spLocks noChangeShapeType="1"/>
          </p:cNvSpPr>
          <p:nvPr/>
        </p:nvSpPr>
        <p:spPr bwMode="auto">
          <a:xfrm>
            <a:off x="5029200" y="31242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71" name="Line 7"/>
          <p:cNvSpPr>
            <a:spLocks noChangeShapeType="1"/>
          </p:cNvSpPr>
          <p:nvPr/>
        </p:nvSpPr>
        <p:spPr bwMode="auto">
          <a:xfrm>
            <a:off x="5029200" y="3733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72" name="Line 8"/>
          <p:cNvSpPr>
            <a:spLocks noChangeShapeType="1"/>
          </p:cNvSpPr>
          <p:nvPr/>
        </p:nvSpPr>
        <p:spPr bwMode="auto">
          <a:xfrm>
            <a:off x="5029200" y="43291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73" name="Line 9"/>
          <p:cNvSpPr>
            <a:spLocks noChangeShapeType="1"/>
          </p:cNvSpPr>
          <p:nvPr/>
        </p:nvSpPr>
        <p:spPr bwMode="auto">
          <a:xfrm>
            <a:off x="5029200" y="4876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74" name="Line 10"/>
          <p:cNvSpPr>
            <a:spLocks noChangeShapeType="1"/>
          </p:cNvSpPr>
          <p:nvPr/>
        </p:nvSpPr>
        <p:spPr bwMode="auto">
          <a:xfrm>
            <a:off x="5029200" y="54213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75" name="Line 11"/>
          <p:cNvSpPr>
            <a:spLocks noChangeShapeType="1"/>
          </p:cNvSpPr>
          <p:nvPr/>
        </p:nvSpPr>
        <p:spPr bwMode="auto">
          <a:xfrm>
            <a:off x="5029200" y="59944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76" name="Line 12"/>
          <p:cNvSpPr>
            <a:spLocks noChangeShapeType="1"/>
          </p:cNvSpPr>
          <p:nvPr/>
        </p:nvSpPr>
        <p:spPr bwMode="auto">
          <a:xfrm>
            <a:off x="50292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77" name="Line 13"/>
          <p:cNvSpPr>
            <a:spLocks noChangeShapeType="1"/>
          </p:cNvSpPr>
          <p:nvPr/>
        </p:nvSpPr>
        <p:spPr bwMode="auto">
          <a:xfrm>
            <a:off x="73914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78" name="Line 14"/>
          <p:cNvSpPr>
            <a:spLocks noChangeShapeType="1"/>
          </p:cNvSpPr>
          <p:nvPr/>
        </p:nvSpPr>
        <p:spPr bwMode="auto">
          <a:xfrm>
            <a:off x="5029200" y="2057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79" name="Line 15"/>
          <p:cNvSpPr>
            <a:spLocks noChangeShapeType="1"/>
          </p:cNvSpPr>
          <p:nvPr/>
        </p:nvSpPr>
        <p:spPr bwMode="auto">
          <a:xfrm>
            <a:off x="5029200" y="21336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80" name="Line 16"/>
          <p:cNvSpPr>
            <a:spLocks noChangeShapeType="1"/>
          </p:cNvSpPr>
          <p:nvPr/>
        </p:nvSpPr>
        <p:spPr bwMode="auto">
          <a:xfrm>
            <a:off x="7391400" y="21336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81" name="Line 17"/>
          <p:cNvSpPr>
            <a:spLocks noChangeShapeType="1"/>
          </p:cNvSpPr>
          <p:nvPr/>
        </p:nvSpPr>
        <p:spPr bwMode="auto">
          <a:xfrm>
            <a:off x="4114800" y="57912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882" name="Line 18"/>
          <p:cNvSpPr>
            <a:spLocks noChangeShapeType="1"/>
          </p:cNvSpPr>
          <p:nvPr/>
        </p:nvSpPr>
        <p:spPr bwMode="auto">
          <a:xfrm>
            <a:off x="4114800" y="3978275"/>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883" name="Text Box 19"/>
          <p:cNvSpPr txBox="1">
            <a:spLocks noChangeArrowheads="1"/>
          </p:cNvSpPr>
          <p:nvPr/>
        </p:nvSpPr>
        <p:spPr bwMode="auto">
          <a:xfrm>
            <a:off x="2971800" y="3687763"/>
            <a:ext cx="1022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3200">
                <a:latin typeface="Times New Roman" panose="02020603050405020304" pitchFamily="18" charset="0"/>
                <a:ea typeface="楷体_GB2312" panose="02010609030101010101" pitchFamily="49" charset="-122"/>
              </a:rPr>
              <a:t>栈顶</a:t>
            </a:r>
          </a:p>
        </p:txBody>
      </p:sp>
      <p:sp>
        <p:nvSpPr>
          <p:cNvPr id="36884" name="Text Box 20"/>
          <p:cNvSpPr txBox="1">
            <a:spLocks noChangeArrowheads="1"/>
          </p:cNvSpPr>
          <p:nvPr/>
        </p:nvSpPr>
        <p:spPr bwMode="auto">
          <a:xfrm>
            <a:off x="2819400" y="540226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FontTx/>
              <a:buNone/>
            </a:pPr>
            <a:r>
              <a:rPr kumimoji="1" lang="en-US" altLang="zh-CN" sz="3200">
                <a:latin typeface="Times New Roman" panose="02020603050405020304" pitchFamily="18" charset="0"/>
                <a:ea typeface="楷体_GB2312" panose="02010609030101010101" pitchFamily="49" charset="-122"/>
              </a:rPr>
              <a:t> </a:t>
            </a:r>
            <a:r>
              <a:rPr kumimoji="1" lang="zh-CN" altLang="en-US" sz="3200">
                <a:latin typeface="Times New Roman" panose="02020603050405020304" pitchFamily="18" charset="0"/>
                <a:ea typeface="楷体_GB2312" panose="02010609030101010101" pitchFamily="49" charset="-122"/>
              </a:rPr>
              <a:t>栈底</a:t>
            </a:r>
          </a:p>
        </p:txBody>
      </p:sp>
      <p:sp>
        <p:nvSpPr>
          <p:cNvPr id="36885" name="Rectangle 21"/>
          <p:cNvSpPr>
            <a:spLocks noChangeArrowheads="1"/>
          </p:cNvSpPr>
          <p:nvPr/>
        </p:nvSpPr>
        <p:spPr bwMode="auto">
          <a:xfrm>
            <a:off x="5029200" y="42672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15</a:t>
            </a:r>
            <a:endParaRPr lang="en-US" altLang="zh-CN" sz="2600" baseline="-25000">
              <a:latin typeface="Verdana" panose="020B0604030504040204" pitchFamily="34" charset="0"/>
              <a:ea typeface="宋体" panose="02010600030101010101" pitchFamily="2" charset="-122"/>
            </a:endParaRPr>
          </a:p>
        </p:txBody>
      </p:sp>
      <p:sp>
        <p:nvSpPr>
          <p:cNvPr id="36886" name="Line 23"/>
          <p:cNvSpPr>
            <a:spLocks noChangeShapeType="1"/>
          </p:cNvSpPr>
          <p:nvPr/>
        </p:nvSpPr>
        <p:spPr bwMode="auto">
          <a:xfrm>
            <a:off x="5029200" y="25146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887" name="标题 1"/>
          <p:cNvSpPr>
            <a:spLocks noGrp="1"/>
          </p:cNvSpPr>
          <p:nvPr>
            <p:ph type="title"/>
          </p:nvPr>
        </p:nvSpPr>
        <p:spPr>
          <a:xfrm>
            <a:off x="527050" y="333375"/>
            <a:ext cx="10321925" cy="863600"/>
          </a:xfrm>
        </p:spPr>
        <p:txBody>
          <a:bodyPr/>
          <a:lstStyle/>
          <a:p>
            <a:pPr eaLnBrk="1" hangingPunct="1"/>
            <a:r>
              <a:rPr lang="zh-CN" altLang="en-US" smtClean="0"/>
              <a:t>进栈和出栈</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5029200" y="5421313"/>
            <a:ext cx="23622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67</a:t>
            </a:r>
            <a:endParaRPr lang="en-US" altLang="zh-CN" sz="2600" baseline="-18000">
              <a:latin typeface="Verdana" panose="020B0604030504040204" pitchFamily="34" charset="0"/>
              <a:ea typeface="宋体" panose="02010600030101010101" pitchFamily="2" charset="-122"/>
            </a:endParaRPr>
          </a:p>
        </p:txBody>
      </p:sp>
      <p:sp>
        <p:nvSpPr>
          <p:cNvPr id="37891" name="Rectangle 3"/>
          <p:cNvSpPr>
            <a:spLocks noChangeArrowheads="1"/>
          </p:cNvSpPr>
          <p:nvPr/>
        </p:nvSpPr>
        <p:spPr bwMode="auto">
          <a:xfrm>
            <a:off x="5029200" y="4868863"/>
            <a:ext cx="23622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43</a:t>
            </a:r>
            <a:endParaRPr lang="en-US" altLang="zh-CN" sz="2600" baseline="-18000">
              <a:latin typeface="Verdana" panose="020B0604030504040204" pitchFamily="34" charset="0"/>
              <a:ea typeface="宋体" panose="02010600030101010101" pitchFamily="2" charset="-122"/>
            </a:endParaRPr>
          </a:p>
        </p:txBody>
      </p:sp>
      <p:sp>
        <p:nvSpPr>
          <p:cNvPr id="37892" name="Rectangle 4"/>
          <p:cNvSpPr>
            <a:spLocks noChangeArrowheads="1"/>
          </p:cNvSpPr>
          <p:nvPr/>
        </p:nvSpPr>
        <p:spPr bwMode="auto">
          <a:xfrm>
            <a:off x="5029200" y="3868738"/>
            <a:ext cx="23622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endParaRPr lang="zh-CN" altLang="zh-CN" sz="2600">
              <a:latin typeface="Verdana" panose="020B0604030504040204" pitchFamily="34" charset="0"/>
              <a:ea typeface="宋体" panose="02010600030101010101" pitchFamily="2" charset="-122"/>
            </a:endParaRPr>
          </a:p>
        </p:txBody>
      </p:sp>
      <p:sp>
        <p:nvSpPr>
          <p:cNvPr id="37893" name="Rectangle 5"/>
          <p:cNvSpPr>
            <a:spLocks noChangeArrowheads="1"/>
          </p:cNvSpPr>
          <p:nvPr/>
        </p:nvSpPr>
        <p:spPr bwMode="auto">
          <a:xfrm>
            <a:off x="5029200" y="3748088"/>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80</a:t>
            </a:r>
            <a:endParaRPr lang="en-US" altLang="zh-CN" sz="2600" baseline="-25000">
              <a:latin typeface="Verdana" panose="020B0604030504040204" pitchFamily="34" charset="0"/>
              <a:ea typeface="宋体" panose="02010600030101010101" pitchFamily="2" charset="-122"/>
            </a:endParaRPr>
          </a:p>
        </p:txBody>
      </p:sp>
      <p:sp>
        <p:nvSpPr>
          <p:cNvPr id="37894" name="Rectangle 6"/>
          <p:cNvSpPr>
            <a:spLocks noChangeArrowheads="1"/>
          </p:cNvSpPr>
          <p:nvPr/>
        </p:nvSpPr>
        <p:spPr bwMode="auto">
          <a:xfrm>
            <a:off x="5029200" y="3124200"/>
            <a:ext cx="2362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12</a:t>
            </a:r>
            <a:endParaRPr lang="en-US" altLang="zh-CN" sz="2600" baseline="-25000">
              <a:latin typeface="Verdana" panose="020B0604030504040204" pitchFamily="34" charset="0"/>
              <a:ea typeface="宋体" panose="02010600030101010101" pitchFamily="2" charset="-122"/>
            </a:endParaRPr>
          </a:p>
        </p:txBody>
      </p:sp>
      <p:sp>
        <p:nvSpPr>
          <p:cNvPr id="37895" name="Line 7"/>
          <p:cNvSpPr>
            <a:spLocks noChangeShapeType="1"/>
          </p:cNvSpPr>
          <p:nvPr/>
        </p:nvSpPr>
        <p:spPr bwMode="auto">
          <a:xfrm>
            <a:off x="5029200" y="31242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896" name="Line 8"/>
          <p:cNvSpPr>
            <a:spLocks noChangeShapeType="1"/>
          </p:cNvSpPr>
          <p:nvPr/>
        </p:nvSpPr>
        <p:spPr bwMode="auto">
          <a:xfrm>
            <a:off x="5029200" y="3733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897" name="Line 9"/>
          <p:cNvSpPr>
            <a:spLocks noChangeShapeType="1"/>
          </p:cNvSpPr>
          <p:nvPr/>
        </p:nvSpPr>
        <p:spPr bwMode="auto">
          <a:xfrm>
            <a:off x="5029200" y="43291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898" name="Line 10"/>
          <p:cNvSpPr>
            <a:spLocks noChangeShapeType="1"/>
          </p:cNvSpPr>
          <p:nvPr/>
        </p:nvSpPr>
        <p:spPr bwMode="auto">
          <a:xfrm>
            <a:off x="5029200" y="4876800"/>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899" name="Line 11"/>
          <p:cNvSpPr>
            <a:spLocks noChangeShapeType="1"/>
          </p:cNvSpPr>
          <p:nvPr/>
        </p:nvSpPr>
        <p:spPr bwMode="auto">
          <a:xfrm>
            <a:off x="5029200" y="5421313"/>
            <a:ext cx="23622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0" name="Line 12"/>
          <p:cNvSpPr>
            <a:spLocks noChangeShapeType="1"/>
          </p:cNvSpPr>
          <p:nvPr/>
        </p:nvSpPr>
        <p:spPr bwMode="auto">
          <a:xfrm>
            <a:off x="5029200" y="59944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1" name="Line 13"/>
          <p:cNvSpPr>
            <a:spLocks noChangeShapeType="1"/>
          </p:cNvSpPr>
          <p:nvPr/>
        </p:nvSpPr>
        <p:spPr bwMode="auto">
          <a:xfrm>
            <a:off x="50292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2" name="Line 14"/>
          <p:cNvSpPr>
            <a:spLocks noChangeShapeType="1"/>
          </p:cNvSpPr>
          <p:nvPr/>
        </p:nvSpPr>
        <p:spPr bwMode="auto">
          <a:xfrm>
            <a:off x="7391400" y="2590800"/>
            <a:ext cx="0" cy="34036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3" name="Line 15"/>
          <p:cNvSpPr>
            <a:spLocks noChangeShapeType="1"/>
          </p:cNvSpPr>
          <p:nvPr/>
        </p:nvSpPr>
        <p:spPr bwMode="auto">
          <a:xfrm>
            <a:off x="5029200" y="2057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4" name="Line 16"/>
          <p:cNvSpPr>
            <a:spLocks noChangeShapeType="1"/>
          </p:cNvSpPr>
          <p:nvPr/>
        </p:nvSpPr>
        <p:spPr bwMode="auto">
          <a:xfrm>
            <a:off x="5029200" y="21336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5" name="Line 17"/>
          <p:cNvSpPr>
            <a:spLocks noChangeShapeType="1"/>
          </p:cNvSpPr>
          <p:nvPr/>
        </p:nvSpPr>
        <p:spPr bwMode="auto">
          <a:xfrm>
            <a:off x="7391400" y="2133600"/>
            <a:ext cx="0" cy="76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6" name="Line 18"/>
          <p:cNvSpPr>
            <a:spLocks noChangeShapeType="1"/>
          </p:cNvSpPr>
          <p:nvPr/>
        </p:nvSpPr>
        <p:spPr bwMode="auto">
          <a:xfrm>
            <a:off x="4114800" y="57912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07" name="Line 19"/>
          <p:cNvSpPr>
            <a:spLocks noChangeShapeType="1"/>
          </p:cNvSpPr>
          <p:nvPr/>
        </p:nvSpPr>
        <p:spPr bwMode="auto">
          <a:xfrm>
            <a:off x="4114800" y="3414713"/>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908" name="Text Box 20"/>
          <p:cNvSpPr txBox="1">
            <a:spLocks noChangeArrowheads="1"/>
          </p:cNvSpPr>
          <p:nvPr/>
        </p:nvSpPr>
        <p:spPr bwMode="auto">
          <a:xfrm>
            <a:off x="2971800" y="3124200"/>
            <a:ext cx="1022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3200">
                <a:latin typeface="Times New Roman" panose="02020603050405020304" pitchFamily="18" charset="0"/>
                <a:ea typeface="楷体_GB2312" panose="02010609030101010101" pitchFamily="49" charset="-122"/>
              </a:rPr>
              <a:t>栈顶</a:t>
            </a:r>
          </a:p>
        </p:txBody>
      </p:sp>
      <p:sp>
        <p:nvSpPr>
          <p:cNvPr id="37909" name="Text Box 21"/>
          <p:cNvSpPr txBox="1">
            <a:spLocks noChangeArrowheads="1"/>
          </p:cNvSpPr>
          <p:nvPr/>
        </p:nvSpPr>
        <p:spPr bwMode="auto">
          <a:xfrm>
            <a:off x="2819400" y="540226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FontTx/>
              <a:buNone/>
            </a:pPr>
            <a:r>
              <a:rPr kumimoji="1" lang="en-US" altLang="zh-CN" sz="3200">
                <a:latin typeface="Times New Roman" panose="02020603050405020304" pitchFamily="18" charset="0"/>
                <a:ea typeface="楷体_GB2312" panose="02010609030101010101" pitchFamily="49" charset="-122"/>
              </a:rPr>
              <a:t> </a:t>
            </a:r>
            <a:r>
              <a:rPr kumimoji="1" lang="zh-CN" altLang="en-US" sz="3200">
                <a:latin typeface="Times New Roman" panose="02020603050405020304" pitchFamily="18" charset="0"/>
                <a:ea typeface="楷体_GB2312" panose="02010609030101010101" pitchFamily="49" charset="-122"/>
              </a:rPr>
              <a:t>栈底</a:t>
            </a:r>
          </a:p>
        </p:txBody>
      </p:sp>
      <p:sp>
        <p:nvSpPr>
          <p:cNvPr id="37910" name="Rectangle 22"/>
          <p:cNvSpPr>
            <a:spLocks noChangeArrowheads="1"/>
          </p:cNvSpPr>
          <p:nvPr/>
        </p:nvSpPr>
        <p:spPr bwMode="auto">
          <a:xfrm>
            <a:off x="5029200" y="42672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20000"/>
              </a:spcBef>
              <a:buClr>
                <a:schemeClr val="accent2"/>
              </a:buClr>
              <a:buFont typeface="Wingdings" panose="05000000000000000000" pitchFamily="2" charset="2"/>
              <a:buNone/>
            </a:pPr>
            <a:r>
              <a:rPr lang="en-US" altLang="zh-CN" sz="2600">
                <a:latin typeface="Verdana" panose="020B0604030504040204" pitchFamily="34" charset="0"/>
                <a:ea typeface="宋体" panose="02010600030101010101" pitchFamily="2" charset="-122"/>
              </a:rPr>
              <a:t>          15</a:t>
            </a:r>
            <a:endParaRPr lang="en-US" altLang="zh-CN" sz="2600" baseline="-25000">
              <a:latin typeface="Verdana" panose="020B0604030504040204" pitchFamily="34" charset="0"/>
              <a:ea typeface="宋体" panose="02010600030101010101" pitchFamily="2" charset="-122"/>
            </a:endParaRPr>
          </a:p>
        </p:txBody>
      </p:sp>
      <p:sp>
        <p:nvSpPr>
          <p:cNvPr id="37911" name="Line 24"/>
          <p:cNvSpPr>
            <a:spLocks noChangeShapeType="1"/>
          </p:cNvSpPr>
          <p:nvPr/>
        </p:nvSpPr>
        <p:spPr bwMode="auto">
          <a:xfrm>
            <a:off x="5029200" y="2514600"/>
            <a:ext cx="236220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12" name="标题 1"/>
          <p:cNvSpPr>
            <a:spLocks noGrp="1"/>
          </p:cNvSpPr>
          <p:nvPr>
            <p:ph type="title"/>
          </p:nvPr>
        </p:nvSpPr>
        <p:spPr>
          <a:xfrm>
            <a:off x="527050" y="333375"/>
            <a:ext cx="10321925" cy="863600"/>
          </a:xfrm>
        </p:spPr>
        <p:txBody>
          <a:bodyPr/>
          <a:lstStyle/>
          <a:p>
            <a:pPr eaLnBrk="1" hangingPunct="1"/>
            <a:r>
              <a:rPr lang="zh-CN" altLang="en-US" smtClean="0"/>
              <a:t>进栈和出栈</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527050" y="333375"/>
            <a:ext cx="10321925" cy="863600"/>
          </a:xfrm>
        </p:spPr>
        <p:txBody>
          <a:bodyPr/>
          <a:lstStyle/>
          <a:p>
            <a:pPr eaLnBrk="1" hangingPunct="1"/>
            <a:r>
              <a:rPr lang="en-US" altLang="zh-CN" sz="2100" b="1" smtClean="0"/>
              <a:t>3.1 </a:t>
            </a:r>
            <a:r>
              <a:rPr lang="zh-CN" altLang="en-US" sz="2100" b="1" smtClean="0"/>
              <a:t>栈</a:t>
            </a:r>
            <a:endParaRPr lang="zh-CN" altLang="en-US" smtClean="0"/>
          </a:p>
        </p:txBody>
      </p:sp>
      <p:sp>
        <p:nvSpPr>
          <p:cNvPr id="38915"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z="2100" b="1" smtClean="0">
                <a:sym typeface="Symbol" panose="05050102010706020507" pitchFamily="18" charset="2"/>
              </a:rPr>
              <a:t>3.1.1   </a:t>
            </a:r>
            <a:r>
              <a:rPr lang="zh-CN" altLang="en-US" sz="2100" b="1" smtClean="0">
                <a:sym typeface="Symbol" panose="05050102010706020507" pitchFamily="18" charset="2"/>
              </a:rPr>
              <a:t>栈的定义</a:t>
            </a:r>
          </a:p>
          <a:p>
            <a:pPr eaLnBrk="1" hangingPunct="1">
              <a:buFont typeface="Wingdings" panose="05000000000000000000" pitchFamily="2" charset="2"/>
              <a:buNone/>
            </a:pPr>
            <a:r>
              <a:rPr lang="zh-CN" altLang="en-US" sz="2600" smtClean="0">
                <a:sym typeface="Symbol" panose="05050102010706020507" pitchFamily="18" charset="2"/>
              </a:rPr>
              <a:t>    </a:t>
            </a:r>
            <a:r>
              <a:rPr lang="zh-CN" altLang="en-US" sz="2100" b="1" smtClean="0">
                <a:solidFill>
                  <a:srgbClr val="FF3300"/>
                </a:solidFill>
                <a:ea typeface="楷体_GB2312" panose="02010609030101010101" pitchFamily="49" charset="-122"/>
                <a:sym typeface="Symbol" panose="05050102010706020507" pitchFamily="18" charset="2"/>
              </a:rPr>
              <a:t>栈</a:t>
            </a:r>
            <a:r>
              <a:rPr lang="zh-CN" altLang="en-US" sz="2100" smtClean="0">
                <a:sym typeface="Symbol" panose="05050102010706020507" pitchFamily="18" charset="2"/>
              </a:rPr>
              <a:t> 是一种特殊的线性表，限定插入和删除操作只能在</a:t>
            </a:r>
            <a:r>
              <a:rPr lang="zh-CN" altLang="en-US" sz="2100" smtClean="0">
                <a:solidFill>
                  <a:schemeClr val="accent2"/>
                </a:solidFill>
                <a:sym typeface="Symbol" panose="05050102010706020507" pitchFamily="18" charset="2"/>
              </a:rPr>
              <a:t>表尾</a:t>
            </a:r>
            <a:r>
              <a:rPr lang="zh-CN" altLang="en-US" sz="2100" smtClean="0">
                <a:sym typeface="Symbol" panose="05050102010706020507" pitchFamily="18" charset="2"/>
              </a:rPr>
              <a:t>进行。具有</a:t>
            </a:r>
            <a:r>
              <a:rPr lang="zh-CN" altLang="en-US" sz="2100" b="1" smtClean="0">
                <a:solidFill>
                  <a:schemeClr val="accent2"/>
                </a:solidFill>
                <a:sym typeface="Symbol" panose="05050102010706020507" pitchFamily="18" charset="2"/>
              </a:rPr>
              <a:t>后进先出</a:t>
            </a:r>
            <a:r>
              <a:rPr lang="en-US" altLang="zh-CN" sz="2100" smtClean="0">
                <a:sym typeface="Symbol" panose="05050102010706020507" pitchFamily="18" charset="2"/>
              </a:rPr>
              <a:t>(LIFO</a:t>
            </a:r>
            <a:r>
              <a:rPr lang="en-US" altLang="zh-CN" sz="2100" smtClean="0">
                <a:latin typeface="Arial" panose="020B0604020202020204" pitchFamily="34" charset="0"/>
                <a:sym typeface="Symbol" panose="05050102010706020507" pitchFamily="18" charset="2"/>
              </a:rPr>
              <a:t>—</a:t>
            </a:r>
            <a:r>
              <a:rPr lang="en-US" altLang="zh-CN" sz="2100" smtClean="0"/>
              <a:t>Last In First Out</a:t>
            </a:r>
            <a:r>
              <a:rPr lang="en-US" altLang="zh-CN" sz="2100" smtClean="0">
                <a:solidFill>
                  <a:srgbClr val="3333FF"/>
                </a:solidFill>
              </a:rPr>
              <a:t> </a:t>
            </a:r>
            <a:r>
              <a:rPr lang="en-US" altLang="zh-CN" sz="2100" smtClean="0">
                <a:sym typeface="Symbol" panose="05050102010706020507" pitchFamily="18" charset="2"/>
              </a:rPr>
              <a:t>)</a:t>
            </a:r>
            <a:r>
              <a:rPr lang="zh-CN" altLang="zh-CN" sz="2100" smtClean="0">
                <a:sym typeface="Symbol" panose="05050102010706020507" pitchFamily="18" charset="2"/>
              </a:rPr>
              <a:t>的特点。</a:t>
            </a:r>
            <a:endParaRPr lang="zh-CN" altLang="zh-CN" sz="2600" smtClean="0">
              <a:sym typeface="Symbol" panose="05050102010706020507" pitchFamily="18" charset="2"/>
            </a:endParaRPr>
          </a:p>
          <a:p>
            <a:pPr eaLnBrk="1" hangingPunct="1">
              <a:buFont typeface="Wingdings" panose="05000000000000000000" pitchFamily="2" charset="2"/>
              <a:buNone/>
            </a:pPr>
            <a:endParaRPr lang="en-US" altLang="zh-CN" sz="2600" b="1" smtClean="0">
              <a:sym typeface="Symbol" panose="05050102010706020507" pitchFamily="18" charset="2"/>
            </a:endParaRPr>
          </a:p>
        </p:txBody>
      </p:sp>
      <p:sp>
        <p:nvSpPr>
          <p:cNvPr id="38916" name="Line 4"/>
          <p:cNvSpPr>
            <a:spLocks noChangeShapeType="1"/>
          </p:cNvSpPr>
          <p:nvPr/>
        </p:nvSpPr>
        <p:spPr bwMode="auto">
          <a:xfrm>
            <a:off x="4876800" y="3657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17" name="Line 5"/>
          <p:cNvSpPr>
            <a:spLocks noChangeShapeType="1"/>
          </p:cNvSpPr>
          <p:nvPr/>
        </p:nvSpPr>
        <p:spPr bwMode="auto">
          <a:xfrm>
            <a:off x="4876800" y="59436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18" name="Line 6"/>
          <p:cNvSpPr>
            <a:spLocks noChangeShapeType="1"/>
          </p:cNvSpPr>
          <p:nvPr/>
        </p:nvSpPr>
        <p:spPr bwMode="auto">
          <a:xfrm flipV="1">
            <a:off x="6172200" y="3581400"/>
            <a:ext cx="0" cy="2362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19" name="Line 7"/>
          <p:cNvSpPr>
            <a:spLocks noChangeShapeType="1"/>
          </p:cNvSpPr>
          <p:nvPr/>
        </p:nvSpPr>
        <p:spPr bwMode="auto">
          <a:xfrm>
            <a:off x="4876800" y="55626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0" name="Line 8"/>
          <p:cNvSpPr>
            <a:spLocks noChangeShapeType="1"/>
          </p:cNvSpPr>
          <p:nvPr/>
        </p:nvSpPr>
        <p:spPr bwMode="auto">
          <a:xfrm>
            <a:off x="4876800" y="51054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1" name="Line 9"/>
          <p:cNvSpPr>
            <a:spLocks noChangeShapeType="1"/>
          </p:cNvSpPr>
          <p:nvPr/>
        </p:nvSpPr>
        <p:spPr bwMode="auto">
          <a:xfrm flipV="1">
            <a:off x="4876800" y="43434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2" name="Line 10"/>
          <p:cNvSpPr>
            <a:spLocks noChangeShapeType="1"/>
          </p:cNvSpPr>
          <p:nvPr/>
        </p:nvSpPr>
        <p:spPr bwMode="auto">
          <a:xfrm>
            <a:off x="4876800" y="38862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3" name="Text Box 11"/>
          <p:cNvSpPr txBox="1">
            <a:spLocks noChangeArrowheads="1"/>
          </p:cNvSpPr>
          <p:nvPr/>
        </p:nvSpPr>
        <p:spPr bwMode="auto">
          <a:xfrm>
            <a:off x="5334000" y="54864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38924" name="Text Box 12"/>
          <p:cNvSpPr txBox="1">
            <a:spLocks noChangeArrowheads="1"/>
          </p:cNvSpPr>
          <p:nvPr/>
        </p:nvSpPr>
        <p:spPr bwMode="auto">
          <a:xfrm>
            <a:off x="5334000" y="50292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38925" name="Text Box 13"/>
          <p:cNvSpPr txBox="1">
            <a:spLocks noChangeArrowheads="1"/>
          </p:cNvSpPr>
          <p:nvPr/>
        </p:nvSpPr>
        <p:spPr bwMode="auto">
          <a:xfrm>
            <a:off x="5334000" y="38862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sp>
        <p:nvSpPr>
          <p:cNvPr id="38926" name="Text Box 14"/>
          <p:cNvSpPr txBox="1">
            <a:spLocks noChangeArrowheads="1"/>
          </p:cNvSpPr>
          <p:nvPr/>
        </p:nvSpPr>
        <p:spPr bwMode="auto">
          <a:xfrm>
            <a:off x="6172200" y="38862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400">
                <a:solidFill>
                  <a:srgbClr val="FF3300"/>
                </a:solidFill>
                <a:latin typeface="Times New Roman" panose="02020603050405020304" pitchFamily="18" charset="0"/>
                <a:ea typeface="宋体" panose="02010600030101010101" pitchFamily="2" charset="-122"/>
              </a:rPr>
              <a:t>栈顶</a:t>
            </a:r>
            <a:r>
              <a:rPr kumimoji="1" lang="zh-CN" altLang="en-US" sz="2400">
                <a:latin typeface="Times New Roman" panose="02020603050405020304" pitchFamily="18" charset="0"/>
                <a:ea typeface="宋体" panose="02010600030101010101" pitchFamily="2" charset="-122"/>
              </a:rPr>
              <a:t>（表尾）</a:t>
            </a:r>
          </a:p>
        </p:txBody>
      </p:sp>
      <p:sp>
        <p:nvSpPr>
          <p:cNvPr id="38927" name="Text Box 15"/>
          <p:cNvSpPr txBox="1">
            <a:spLocks noChangeArrowheads="1"/>
          </p:cNvSpPr>
          <p:nvPr/>
        </p:nvSpPr>
        <p:spPr bwMode="auto">
          <a:xfrm>
            <a:off x="6172200" y="55626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400">
                <a:solidFill>
                  <a:srgbClr val="FF3300"/>
                </a:solidFill>
                <a:latin typeface="Times New Roman" panose="02020603050405020304" pitchFamily="18" charset="0"/>
                <a:ea typeface="宋体" panose="02010600030101010101" pitchFamily="2" charset="-122"/>
              </a:rPr>
              <a:t>栈底</a:t>
            </a:r>
            <a:endParaRPr kumimoji="1" lang="zh-CN" altLang="en-US" sz="2400">
              <a:latin typeface="Times New Roman" panose="02020603050405020304" pitchFamily="18" charset="0"/>
              <a:ea typeface="宋体" panose="02010600030101010101" pitchFamily="2" charset="-122"/>
            </a:endParaRPr>
          </a:p>
        </p:txBody>
      </p:sp>
      <p:sp>
        <p:nvSpPr>
          <p:cNvPr id="38928" name="Text Box 16"/>
          <p:cNvSpPr txBox="1">
            <a:spLocks noChangeArrowheads="1"/>
          </p:cNvSpPr>
          <p:nvPr/>
        </p:nvSpPr>
        <p:spPr bwMode="auto">
          <a:xfrm>
            <a:off x="3429000" y="55626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bottom</a:t>
            </a:r>
          </a:p>
        </p:txBody>
      </p:sp>
      <p:sp>
        <p:nvSpPr>
          <p:cNvPr id="38929" name="Text Box 17"/>
          <p:cNvSpPr txBox="1">
            <a:spLocks noChangeArrowheads="1"/>
          </p:cNvSpPr>
          <p:nvPr/>
        </p:nvSpPr>
        <p:spPr bwMode="auto">
          <a:xfrm>
            <a:off x="3886200" y="388620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top</a:t>
            </a:r>
          </a:p>
        </p:txBody>
      </p:sp>
      <p:sp>
        <p:nvSpPr>
          <p:cNvPr id="38930" name="Line 18"/>
          <p:cNvSpPr>
            <a:spLocks noChangeShapeType="1"/>
          </p:cNvSpPr>
          <p:nvPr/>
        </p:nvSpPr>
        <p:spPr bwMode="auto">
          <a:xfrm>
            <a:off x="4419600" y="41148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1" name="Line 19"/>
          <p:cNvSpPr>
            <a:spLocks noChangeShapeType="1"/>
          </p:cNvSpPr>
          <p:nvPr/>
        </p:nvSpPr>
        <p:spPr bwMode="auto">
          <a:xfrm>
            <a:off x="4419600" y="57912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2" name="Text Box 26"/>
          <p:cNvSpPr txBox="1">
            <a:spLocks noChangeArrowheads="1"/>
          </p:cNvSpPr>
          <p:nvPr/>
        </p:nvSpPr>
        <p:spPr bwMode="auto">
          <a:xfrm>
            <a:off x="4343400" y="2895600"/>
            <a:ext cx="762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000" b="1">
                <a:solidFill>
                  <a:srgbClr val="FF3300"/>
                </a:solidFill>
                <a:latin typeface="楷体_GB2312" panose="02010609030101010101" pitchFamily="49" charset="-122"/>
                <a:ea typeface="楷体_GB2312" panose="02010609030101010101" pitchFamily="49" charset="-122"/>
              </a:rPr>
              <a:t>入栈</a:t>
            </a:r>
            <a:r>
              <a:rPr kumimoji="1" lang="en-US" altLang="zh-CN" sz="2000">
                <a:latin typeface="楷体_GB2312" panose="02010609030101010101" pitchFamily="49" charset="-122"/>
                <a:ea typeface="楷体_GB2312" panose="02010609030101010101" pitchFamily="49" charset="-122"/>
              </a:rPr>
              <a:t>push</a:t>
            </a:r>
          </a:p>
        </p:txBody>
      </p:sp>
      <p:sp>
        <p:nvSpPr>
          <p:cNvPr id="38933" name="AutoShape 27"/>
          <p:cNvSpPr>
            <a:spLocks noChangeArrowheads="1"/>
          </p:cNvSpPr>
          <p:nvPr/>
        </p:nvSpPr>
        <p:spPr bwMode="auto">
          <a:xfrm rot="5400000">
            <a:off x="4991100" y="3314700"/>
            <a:ext cx="609600" cy="5334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38934" name="AutoShape 29"/>
          <p:cNvSpPr>
            <a:spLocks noChangeArrowheads="1"/>
          </p:cNvSpPr>
          <p:nvPr/>
        </p:nvSpPr>
        <p:spPr bwMode="auto">
          <a:xfrm>
            <a:off x="5715000" y="3200400"/>
            <a:ext cx="457200" cy="6096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38935" name="Text Box 30"/>
          <p:cNvSpPr txBox="1">
            <a:spLocks noChangeArrowheads="1"/>
          </p:cNvSpPr>
          <p:nvPr/>
        </p:nvSpPr>
        <p:spPr bwMode="auto">
          <a:xfrm>
            <a:off x="6248400" y="2895600"/>
            <a:ext cx="762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000" b="1">
                <a:solidFill>
                  <a:srgbClr val="FF3300"/>
                </a:solidFill>
                <a:latin typeface="Times New Roman" panose="02020603050405020304" pitchFamily="18" charset="0"/>
                <a:ea typeface="楷体_GB2312" panose="02010609030101010101" pitchFamily="49" charset="-122"/>
              </a:rPr>
              <a:t>出栈</a:t>
            </a:r>
            <a:r>
              <a:rPr kumimoji="1" lang="en-US" altLang="zh-CN" sz="2000">
                <a:latin typeface="Times New Roman" panose="02020603050405020304" pitchFamily="18" charset="0"/>
                <a:ea typeface="楷体_GB2312" panose="02010609030101010101" pitchFamily="49" charset="-122"/>
              </a:rPr>
              <a:t>pop</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527050" y="333375"/>
            <a:ext cx="10321925" cy="863600"/>
          </a:xfrm>
        </p:spPr>
        <p:txBody>
          <a:bodyPr/>
          <a:lstStyle/>
          <a:p>
            <a:pPr eaLnBrk="1" hangingPunct="1"/>
            <a:r>
              <a:rPr lang="zh-CN" altLang="en-US" smtClean="0"/>
              <a:t>栈的类型定义</a:t>
            </a:r>
          </a:p>
        </p:txBody>
      </p:sp>
      <p:sp>
        <p:nvSpPr>
          <p:cNvPr id="39939" name="Rectangle 3"/>
          <p:cNvSpPr>
            <a:spLocks noGrp="1" noChangeArrowheads="1"/>
          </p:cNvSpPr>
          <p:nvPr>
            <p:ph idx="1"/>
          </p:nvPr>
        </p:nvSpPr>
        <p:spPr>
          <a:xfrm>
            <a:off x="527050" y="1773238"/>
            <a:ext cx="10321925" cy="4351337"/>
          </a:xfrm>
        </p:spPr>
        <p:txBody>
          <a:bodyPr/>
          <a:lstStyle/>
          <a:p>
            <a:pPr eaLnBrk="1" hangingPunct="1"/>
            <a:r>
              <a:rPr lang="zh-CN" altLang="en-US" smtClean="0"/>
              <a:t>其类型定义如下：</a:t>
            </a:r>
            <a:br>
              <a:rPr lang="zh-CN" altLang="en-US" smtClean="0"/>
            </a:br>
            <a:r>
              <a:rPr lang="zh-CN" altLang="en-US" b="1" smtClean="0"/>
              <a:t/>
            </a:r>
            <a:br>
              <a:rPr lang="zh-CN" altLang="en-US" b="1" smtClean="0"/>
            </a:br>
            <a:r>
              <a:rPr lang="en-US" altLang="zh-CN" sz="2400" b="1" smtClean="0"/>
              <a:t>ADT Stack {</a:t>
            </a:r>
            <a:r>
              <a:rPr lang="en-US" altLang="zh-CN" sz="2400" smtClean="0"/>
              <a:t/>
            </a:r>
            <a:br>
              <a:rPr lang="en-US" altLang="zh-CN" sz="2400" smtClean="0"/>
            </a:br>
            <a:r>
              <a:rPr lang="zh-CN" altLang="en-US" sz="2400" smtClean="0"/>
              <a:t>　</a:t>
            </a:r>
            <a:r>
              <a:rPr lang="zh-CN" altLang="en-US" sz="2400" b="1" smtClean="0"/>
              <a:t>数据对象：</a:t>
            </a:r>
            <a:r>
              <a:rPr lang="en-US" altLang="zh-CN" sz="2400" smtClean="0"/>
              <a:t>D</a:t>
            </a:r>
            <a:r>
              <a:rPr lang="zh-CN" altLang="en-US" sz="2400" smtClean="0"/>
              <a:t>＝</a:t>
            </a:r>
            <a:r>
              <a:rPr lang="en-US" altLang="zh-CN" sz="2400" smtClean="0"/>
              <a:t>{ a</a:t>
            </a:r>
            <a:r>
              <a:rPr lang="en-US" altLang="zh-CN" sz="2400" baseline="-25000" smtClean="0"/>
              <a:t>i</a:t>
            </a:r>
            <a:r>
              <a:rPr lang="en-US" altLang="zh-CN" sz="2400" smtClean="0"/>
              <a:t>| a</a:t>
            </a:r>
            <a:r>
              <a:rPr lang="en-US" altLang="zh-CN" sz="2400" baseline="-25000" smtClean="0"/>
              <a:t>i</a:t>
            </a:r>
            <a:r>
              <a:rPr lang="en-US" altLang="zh-CN" sz="2400" smtClean="0"/>
              <a:t>∈ElemSet, i=1,2,...,n, n≥0 }</a:t>
            </a:r>
            <a:br>
              <a:rPr lang="en-US" altLang="zh-CN" sz="2400" smtClean="0"/>
            </a:br>
            <a:r>
              <a:rPr lang="zh-CN" altLang="en-US" sz="2400" smtClean="0"/>
              <a:t>　</a:t>
            </a:r>
            <a:r>
              <a:rPr lang="zh-CN" altLang="en-US" sz="2400" b="1" smtClean="0"/>
              <a:t>数据关系：</a:t>
            </a:r>
            <a:r>
              <a:rPr lang="en-US" altLang="zh-CN" sz="2400" smtClean="0"/>
              <a:t>R1</a:t>
            </a:r>
            <a:r>
              <a:rPr lang="zh-CN" altLang="en-US" sz="2400" smtClean="0"/>
              <a:t>＝</a:t>
            </a:r>
            <a:r>
              <a:rPr lang="en-US" altLang="zh-CN" sz="2400" smtClean="0"/>
              <a:t>{ &lt; a</a:t>
            </a:r>
            <a:r>
              <a:rPr lang="en-US" altLang="zh-CN" sz="2400" baseline="-25000" smtClean="0"/>
              <a:t>i-1</a:t>
            </a:r>
            <a:r>
              <a:rPr lang="en-US" altLang="zh-CN" sz="2400" smtClean="0"/>
              <a:t> , a</a:t>
            </a:r>
            <a:r>
              <a:rPr lang="en-US" altLang="zh-CN" sz="2400" baseline="-25000" smtClean="0"/>
              <a:t>i</a:t>
            </a:r>
            <a:r>
              <a:rPr lang="en-US" altLang="zh-CN" sz="2400" smtClean="0"/>
              <a:t> &gt;| a</a:t>
            </a:r>
            <a:r>
              <a:rPr lang="en-US" altLang="zh-CN" sz="2400" baseline="-25000" smtClean="0"/>
              <a:t>i</a:t>
            </a:r>
            <a:r>
              <a:rPr lang="en-US" altLang="zh-CN" sz="2400" smtClean="0"/>
              <a:t>, a</a:t>
            </a:r>
            <a:r>
              <a:rPr lang="en-US" altLang="zh-CN" sz="2400" baseline="-25000" smtClean="0"/>
              <a:t>i-1</a:t>
            </a:r>
            <a:r>
              <a:rPr lang="en-US" altLang="zh-CN" sz="2400" smtClean="0"/>
              <a:t>∈D, i=2,...,n }  </a:t>
            </a:r>
            <a:r>
              <a:rPr lang="zh-CN" altLang="en-US" sz="2400" smtClean="0"/>
              <a:t>约定</a:t>
            </a:r>
            <a:r>
              <a:rPr lang="en-US" altLang="zh-CN" sz="2400" smtClean="0"/>
              <a:t>a</a:t>
            </a:r>
            <a:r>
              <a:rPr lang="en-US" altLang="zh-CN" sz="2400" baseline="-25000" smtClean="0"/>
              <a:t>n</a:t>
            </a:r>
            <a:r>
              <a:rPr lang="zh-CN" altLang="en-US" sz="2400" smtClean="0"/>
              <a:t>端为栈顶</a:t>
            </a:r>
            <a:r>
              <a:rPr lang="en-US" altLang="zh-CN" sz="2400" smtClean="0"/>
              <a:t>, a</a:t>
            </a:r>
            <a:r>
              <a:rPr lang="en-US" altLang="zh-CN" sz="2400" baseline="-25000" smtClean="0"/>
              <a:t>1</a:t>
            </a:r>
            <a:r>
              <a:rPr lang="zh-CN" altLang="en-US" sz="2400" smtClean="0"/>
              <a:t>端为栈底。 </a:t>
            </a:r>
            <a:endParaRPr lang="zh-CN" altLang="en-US"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27050" y="333375"/>
            <a:ext cx="10321925" cy="863600"/>
          </a:xfrm>
        </p:spPr>
        <p:txBody>
          <a:bodyPr/>
          <a:lstStyle/>
          <a:p>
            <a:pPr eaLnBrk="1" hangingPunct="1"/>
            <a:r>
              <a:rPr lang="zh-CN" altLang="en-US" b="1" smtClean="0"/>
              <a:t>定义在栈结构上的基本运算</a:t>
            </a:r>
            <a:endParaRPr lang="zh-CN" altLang="en-US" smtClean="0"/>
          </a:p>
        </p:txBody>
      </p:sp>
      <p:sp>
        <p:nvSpPr>
          <p:cNvPr id="40963"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z="2600" smtClean="0"/>
              <a:t>      </a:t>
            </a:r>
            <a:r>
              <a:rPr lang="en-US" altLang="zh-CN" sz="2100" smtClean="0"/>
              <a:t>(1)  </a:t>
            </a:r>
            <a:r>
              <a:rPr lang="zh-CN" altLang="en-US" sz="2100" smtClean="0"/>
              <a:t>生成空栈操作                 </a:t>
            </a:r>
            <a:r>
              <a:rPr lang="en-US" altLang="zh-CN" sz="2100" smtClean="0">
                <a:solidFill>
                  <a:schemeClr val="accent2"/>
                </a:solidFill>
              </a:rPr>
              <a:t>init_stack</a:t>
            </a:r>
            <a:r>
              <a:rPr lang="en-US" altLang="zh-CN" sz="2100" smtClean="0"/>
              <a:t>(s)</a:t>
            </a:r>
          </a:p>
          <a:p>
            <a:pPr eaLnBrk="1" hangingPunct="1">
              <a:buFont typeface="Wingdings" panose="05000000000000000000" pitchFamily="2" charset="2"/>
              <a:buNone/>
            </a:pPr>
            <a:r>
              <a:rPr lang="en-US" altLang="zh-CN" sz="2100" smtClean="0"/>
              <a:t>       (2)  </a:t>
            </a:r>
            <a:r>
              <a:rPr lang="zh-CN" altLang="en-US" sz="2100" smtClean="0"/>
              <a:t>判栈空函数                     </a:t>
            </a:r>
            <a:r>
              <a:rPr lang="en-US" altLang="zh-CN" sz="2100" smtClean="0">
                <a:solidFill>
                  <a:schemeClr val="accent2"/>
                </a:solidFill>
              </a:rPr>
              <a:t>empty_stack</a:t>
            </a:r>
            <a:r>
              <a:rPr lang="en-US" altLang="zh-CN" sz="2100" smtClean="0"/>
              <a:t>(s)</a:t>
            </a:r>
          </a:p>
          <a:p>
            <a:pPr eaLnBrk="1" hangingPunct="1">
              <a:buFont typeface="Wingdings" panose="05000000000000000000" pitchFamily="2" charset="2"/>
              <a:buNone/>
            </a:pPr>
            <a:r>
              <a:rPr lang="en-US" altLang="zh-CN" sz="2100" smtClean="0"/>
              <a:t>       (3)  </a:t>
            </a:r>
            <a:r>
              <a:rPr lang="zh-CN" altLang="en-US" sz="2100" smtClean="0"/>
              <a:t>数据元素入栈操作         </a:t>
            </a:r>
            <a:r>
              <a:rPr lang="en-US" altLang="zh-CN" sz="2100" smtClean="0">
                <a:solidFill>
                  <a:schemeClr val="accent2"/>
                </a:solidFill>
              </a:rPr>
              <a:t>push_stack</a:t>
            </a:r>
            <a:r>
              <a:rPr lang="en-US" altLang="zh-CN" sz="2100" smtClean="0"/>
              <a:t>(s,x)</a:t>
            </a:r>
          </a:p>
          <a:p>
            <a:pPr eaLnBrk="1" hangingPunct="1">
              <a:buFont typeface="Wingdings" panose="05000000000000000000" pitchFamily="2" charset="2"/>
              <a:buNone/>
            </a:pPr>
            <a:r>
              <a:rPr lang="en-US" altLang="zh-CN" sz="2100" smtClean="0"/>
              <a:t>       (4)  </a:t>
            </a:r>
            <a:r>
              <a:rPr lang="zh-CN" altLang="en-US" sz="2100" smtClean="0"/>
              <a:t>数据元素出栈函数         </a:t>
            </a:r>
            <a:r>
              <a:rPr lang="en-US" altLang="zh-CN" sz="2100" smtClean="0">
                <a:solidFill>
                  <a:schemeClr val="accent2"/>
                </a:solidFill>
              </a:rPr>
              <a:t>pop_stack</a:t>
            </a:r>
            <a:r>
              <a:rPr lang="en-US" altLang="zh-CN" sz="2100" smtClean="0"/>
              <a:t>(s)</a:t>
            </a:r>
          </a:p>
          <a:p>
            <a:pPr eaLnBrk="1" hangingPunct="1">
              <a:buFont typeface="Wingdings" panose="05000000000000000000" pitchFamily="2" charset="2"/>
              <a:buNone/>
            </a:pPr>
            <a:r>
              <a:rPr lang="en-US" altLang="zh-CN" sz="2100" smtClean="0"/>
              <a:t>       (5)  </a:t>
            </a:r>
            <a:r>
              <a:rPr lang="zh-CN" altLang="en-US" sz="2100" smtClean="0"/>
              <a:t>取栈顶元素函数             </a:t>
            </a:r>
            <a:r>
              <a:rPr lang="en-US" altLang="zh-CN" sz="2100" smtClean="0">
                <a:solidFill>
                  <a:schemeClr val="accent2"/>
                </a:solidFill>
              </a:rPr>
              <a:t>gettop_stack</a:t>
            </a:r>
            <a:r>
              <a:rPr lang="en-US" altLang="zh-CN" sz="2100" smtClean="0"/>
              <a:t>(s)</a:t>
            </a:r>
          </a:p>
          <a:p>
            <a:pPr eaLnBrk="1" hangingPunct="1">
              <a:buFont typeface="Wingdings" panose="05000000000000000000" pitchFamily="2" charset="2"/>
              <a:buNone/>
            </a:pPr>
            <a:r>
              <a:rPr lang="en-US" altLang="zh-CN" sz="2100" smtClean="0"/>
              <a:t>       (6)  </a:t>
            </a:r>
            <a:r>
              <a:rPr lang="zh-CN" altLang="en-US" sz="2100" smtClean="0"/>
              <a:t>置栈空操作                      </a:t>
            </a:r>
            <a:r>
              <a:rPr lang="en-US" altLang="zh-CN" sz="2100" smtClean="0">
                <a:solidFill>
                  <a:schemeClr val="accent2"/>
                </a:solidFill>
              </a:rPr>
              <a:t>clear_stack</a:t>
            </a:r>
            <a:r>
              <a:rPr lang="en-US" altLang="zh-CN" sz="2100" smtClean="0"/>
              <a:t>(s)</a:t>
            </a:r>
          </a:p>
          <a:p>
            <a:pPr eaLnBrk="1" hangingPunct="1">
              <a:buFont typeface="Wingdings" panose="05000000000000000000" pitchFamily="2" charset="2"/>
              <a:buNone/>
            </a:pPr>
            <a:r>
              <a:rPr lang="en-US" altLang="zh-CN" sz="2100" smtClean="0"/>
              <a:t>       (7)  </a:t>
            </a:r>
            <a:r>
              <a:rPr lang="zh-CN" altLang="en-US" sz="2100" smtClean="0"/>
              <a:t>求当前栈元素个数函数  </a:t>
            </a:r>
            <a:r>
              <a:rPr lang="en-US" altLang="zh-CN" sz="2100" smtClean="0">
                <a:solidFill>
                  <a:schemeClr val="accent2"/>
                </a:solidFill>
              </a:rPr>
              <a:t>current_size_stack</a:t>
            </a:r>
            <a:r>
              <a:rPr lang="en-US" altLang="zh-CN" sz="2100" smtClean="0"/>
              <a:t>(s)</a:t>
            </a:r>
            <a:endParaRPr lang="en-US" altLang="zh-CN" sz="260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3"/>
          <p:cNvGrpSpPr>
            <a:grpSpLocks/>
          </p:cNvGrpSpPr>
          <p:nvPr/>
        </p:nvGrpSpPr>
        <p:grpSpPr bwMode="auto">
          <a:xfrm>
            <a:off x="2590800" y="2133600"/>
            <a:ext cx="1066800" cy="2743200"/>
            <a:chOff x="672" y="1344"/>
            <a:chExt cx="672" cy="1728"/>
          </a:xfrm>
        </p:grpSpPr>
        <p:sp>
          <p:nvSpPr>
            <p:cNvPr id="42029" name="Rectangle 4"/>
            <p:cNvSpPr>
              <a:spLocks noChangeArrowheads="1"/>
            </p:cNvSpPr>
            <p:nvPr/>
          </p:nvSpPr>
          <p:spPr bwMode="auto">
            <a:xfrm>
              <a:off x="672" y="1344"/>
              <a:ext cx="672" cy="17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2030" name="Line 5"/>
            <p:cNvSpPr>
              <a:spLocks noChangeShapeType="1"/>
            </p:cNvSpPr>
            <p:nvPr/>
          </p:nvSpPr>
          <p:spPr bwMode="auto">
            <a:xfrm>
              <a:off x="672" y="1632"/>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31" name="Line 6"/>
            <p:cNvSpPr>
              <a:spLocks noChangeShapeType="1"/>
            </p:cNvSpPr>
            <p:nvPr/>
          </p:nvSpPr>
          <p:spPr bwMode="auto">
            <a:xfrm>
              <a:off x="672" y="1920"/>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32" name="Line 7"/>
            <p:cNvSpPr>
              <a:spLocks noChangeShapeType="1"/>
            </p:cNvSpPr>
            <p:nvPr/>
          </p:nvSpPr>
          <p:spPr bwMode="auto">
            <a:xfrm>
              <a:off x="672" y="2208"/>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33" name="Line 8"/>
            <p:cNvSpPr>
              <a:spLocks noChangeShapeType="1"/>
            </p:cNvSpPr>
            <p:nvPr/>
          </p:nvSpPr>
          <p:spPr bwMode="auto">
            <a:xfrm>
              <a:off x="672" y="2496"/>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34" name="Line 9"/>
            <p:cNvSpPr>
              <a:spLocks noChangeShapeType="1"/>
            </p:cNvSpPr>
            <p:nvPr/>
          </p:nvSpPr>
          <p:spPr bwMode="auto">
            <a:xfrm>
              <a:off x="672" y="2784"/>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1987" name="Group 10"/>
          <p:cNvGrpSpPr>
            <a:grpSpLocks/>
          </p:cNvGrpSpPr>
          <p:nvPr/>
        </p:nvGrpSpPr>
        <p:grpSpPr bwMode="auto">
          <a:xfrm>
            <a:off x="4572000" y="2133600"/>
            <a:ext cx="1066800" cy="2743200"/>
            <a:chOff x="672" y="1344"/>
            <a:chExt cx="672" cy="1728"/>
          </a:xfrm>
        </p:grpSpPr>
        <p:sp>
          <p:nvSpPr>
            <p:cNvPr id="42023" name="Rectangle 11"/>
            <p:cNvSpPr>
              <a:spLocks noChangeArrowheads="1"/>
            </p:cNvSpPr>
            <p:nvPr/>
          </p:nvSpPr>
          <p:spPr bwMode="auto">
            <a:xfrm>
              <a:off x="672" y="1344"/>
              <a:ext cx="672" cy="17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2024" name="Line 12"/>
            <p:cNvSpPr>
              <a:spLocks noChangeShapeType="1"/>
            </p:cNvSpPr>
            <p:nvPr/>
          </p:nvSpPr>
          <p:spPr bwMode="auto">
            <a:xfrm>
              <a:off x="672" y="1632"/>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5" name="Line 13"/>
            <p:cNvSpPr>
              <a:spLocks noChangeShapeType="1"/>
            </p:cNvSpPr>
            <p:nvPr/>
          </p:nvSpPr>
          <p:spPr bwMode="auto">
            <a:xfrm>
              <a:off x="672" y="1920"/>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6" name="Line 14"/>
            <p:cNvSpPr>
              <a:spLocks noChangeShapeType="1"/>
            </p:cNvSpPr>
            <p:nvPr/>
          </p:nvSpPr>
          <p:spPr bwMode="auto">
            <a:xfrm>
              <a:off x="672" y="2208"/>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7" name="Line 15"/>
            <p:cNvSpPr>
              <a:spLocks noChangeShapeType="1"/>
            </p:cNvSpPr>
            <p:nvPr/>
          </p:nvSpPr>
          <p:spPr bwMode="auto">
            <a:xfrm>
              <a:off x="672" y="2496"/>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8" name="Line 16"/>
            <p:cNvSpPr>
              <a:spLocks noChangeShapeType="1"/>
            </p:cNvSpPr>
            <p:nvPr/>
          </p:nvSpPr>
          <p:spPr bwMode="auto">
            <a:xfrm>
              <a:off x="672" y="2784"/>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1988" name="Group 17"/>
          <p:cNvGrpSpPr>
            <a:grpSpLocks/>
          </p:cNvGrpSpPr>
          <p:nvPr/>
        </p:nvGrpSpPr>
        <p:grpSpPr bwMode="auto">
          <a:xfrm>
            <a:off x="6553200" y="2133600"/>
            <a:ext cx="1066800" cy="2743200"/>
            <a:chOff x="672" y="1344"/>
            <a:chExt cx="672" cy="1728"/>
          </a:xfrm>
        </p:grpSpPr>
        <p:sp>
          <p:nvSpPr>
            <p:cNvPr id="42017" name="Rectangle 18"/>
            <p:cNvSpPr>
              <a:spLocks noChangeArrowheads="1"/>
            </p:cNvSpPr>
            <p:nvPr/>
          </p:nvSpPr>
          <p:spPr bwMode="auto">
            <a:xfrm>
              <a:off x="672" y="1344"/>
              <a:ext cx="672" cy="17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2018" name="Line 19"/>
            <p:cNvSpPr>
              <a:spLocks noChangeShapeType="1"/>
            </p:cNvSpPr>
            <p:nvPr/>
          </p:nvSpPr>
          <p:spPr bwMode="auto">
            <a:xfrm>
              <a:off x="672" y="1632"/>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9" name="Line 20"/>
            <p:cNvSpPr>
              <a:spLocks noChangeShapeType="1"/>
            </p:cNvSpPr>
            <p:nvPr/>
          </p:nvSpPr>
          <p:spPr bwMode="auto">
            <a:xfrm>
              <a:off x="672" y="1920"/>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0" name="Line 21"/>
            <p:cNvSpPr>
              <a:spLocks noChangeShapeType="1"/>
            </p:cNvSpPr>
            <p:nvPr/>
          </p:nvSpPr>
          <p:spPr bwMode="auto">
            <a:xfrm>
              <a:off x="672" y="2208"/>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1" name="Line 22"/>
            <p:cNvSpPr>
              <a:spLocks noChangeShapeType="1"/>
            </p:cNvSpPr>
            <p:nvPr/>
          </p:nvSpPr>
          <p:spPr bwMode="auto">
            <a:xfrm>
              <a:off x="672" y="2496"/>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2" name="Line 23"/>
            <p:cNvSpPr>
              <a:spLocks noChangeShapeType="1"/>
            </p:cNvSpPr>
            <p:nvPr/>
          </p:nvSpPr>
          <p:spPr bwMode="auto">
            <a:xfrm>
              <a:off x="672" y="2784"/>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1989" name="Group 24"/>
          <p:cNvGrpSpPr>
            <a:grpSpLocks/>
          </p:cNvGrpSpPr>
          <p:nvPr/>
        </p:nvGrpSpPr>
        <p:grpSpPr bwMode="auto">
          <a:xfrm>
            <a:off x="8610600" y="2133600"/>
            <a:ext cx="1066800" cy="2743200"/>
            <a:chOff x="672" y="1344"/>
            <a:chExt cx="672" cy="1728"/>
          </a:xfrm>
        </p:grpSpPr>
        <p:sp>
          <p:nvSpPr>
            <p:cNvPr id="42011" name="Rectangle 25"/>
            <p:cNvSpPr>
              <a:spLocks noChangeArrowheads="1"/>
            </p:cNvSpPr>
            <p:nvPr/>
          </p:nvSpPr>
          <p:spPr bwMode="auto">
            <a:xfrm>
              <a:off x="672" y="1344"/>
              <a:ext cx="672" cy="17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2012" name="Line 26"/>
            <p:cNvSpPr>
              <a:spLocks noChangeShapeType="1"/>
            </p:cNvSpPr>
            <p:nvPr/>
          </p:nvSpPr>
          <p:spPr bwMode="auto">
            <a:xfrm>
              <a:off x="672" y="1632"/>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3" name="Line 27"/>
            <p:cNvSpPr>
              <a:spLocks noChangeShapeType="1"/>
            </p:cNvSpPr>
            <p:nvPr/>
          </p:nvSpPr>
          <p:spPr bwMode="auto">
            <a:xfrm>
              <a:off x="672" y="1920"/>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4" name="Line 28"/>
            <p:cNvSpPr>
              <a:spLocks noChangeShapeType="1"/>
            </p:cNvSpPr>
            <p:nvPr/>
          </p:nvSpPr>
          <p:spPr bwMode="auto">
            <a:xfrm>
              <a:off x="672" y="2208"/>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5" name="Line 29"/>
            <p:cNvSpPr>
              <a:spLocks noChangeShapeType="1"/>
            </p:cNvSpPr>
            <p:nvPr/>
          </p:nvSpPr>
          <p:spPr bwMode="auto">
            <a:xfrm>
              <a:off x="672" y="2496"/>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6" name="Line 30"/>
            <p:cNvSpPr>
              <a:spLocks noChangeShapeType="1"/>
            </p:cNvSpPr>
            <p:nvPr/>
          </p:nvSpPr>
          <p:spPr bwMode="auto">
            <a:xfrm>
              <a:off x="672" y="2784"/>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1990" name="Line 31"/>
          <p:cNvSpPr>
            <a:spLocks noChangeShapeType="1"/>
          </p:cNvSpPr>
          <p:nvPr/>
        </p:nvSpPr>
        <p:spPr bwMode="auto">
          <a:xfrm>
            <a:off x="1752600" y="4800600"/>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1" name="Line 32"/>
          <p:cNvSpPr>
            <a:spLocks noChangeShapeType="1"/>
          </p:cNvSpPr>
          <p:nvPr/>
        </p:nvSpPr>
        <p:spPr bwMode="auto">
          <a:xfrm>
            <a:off x="1752600" y="4572000"/>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2" name="Line 33"/>
          <p:cNvSpPr>
            <a:spLocks noChangeShapeType="1"/>
          </p:cNvSpPr>
          <p:nvPr/>
        </p:nvSpPr>
        <p:spPr bwMode="auto">
          <a:xfrm>
            <a:off x="3962400" y="48006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3" name="Line 34"/>
          <p:cNvSpPr>
            <a:spLocks noChangeShapeType="1"/>
          </p:cNvSpPr>
          <p:nvPr/>
        </p:nvSpPr>
        <p:spPr bwMode="auto">
          <a:xfrm>
            <a:off x="5943600" y="48006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4" name="Line 35"/>
          <p:cNvSpPr>
            <a:spLocks noChangeShapeType="1"/>
          </p:cNvSpPr>
          <p:nvPr/>
        </p:nvSpPr>
        <p:spPr bwMode="auto">
          <a:xfrm>
            <a:off x="8001000" y="48006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5" name="Line 36"/>
          <p:cNvSpPr>
            <a:spLocks noChangeShapeType="1"/>
          </p:cNvSpPr>
          <p:nvPr/>
        </p:nvSpPr>
        <p:spPr bwMode="auto">
          <a:xfrm>
            <a:off x="3962400" y="42672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6" name="Line 37"/>
          <p:cNvSpPr>
            <a:spLocks noChangeShapeType="1"/>
          </p:cNvSpPr>
          <p:nvPr/>
        </p:nvSpPr>
        <p:spPr bwMode="auto">
          <a:xfrm>
            <a:off x="5943600" y="19812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7" name="Line 38"/>
          <p:cNvSpPr>
            <a:spLocks noChangeShapeType="1"/>
          </p:cNvSpPr>
          <p:nvPr/>
        </p:nvSpPr>
        <p:spPr bwMode="auto">
          <a:xfrm>
            <a:off x="8001000" y="37338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8" name="Text Box 39"/>
          <p:cNvSpPr txBox="1">
            <a:spLocks noChangeArrowheads="1"/>
          </p:cNvSpPr>
          <p:nvPr/>
        </p:nvSpPr>
        <p:spPr bwMode="auto">
          <a:xfrm>
            <a:off x="1752600" y="4800600"/>
            <a:ext cx="72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base</a:t>
            </a:r>
          </a:p>
        </p:txBody>
      </p:sp>
      <p:sp>
        <p:nvSpPr>
          <p:cNvPr id="41999" name="Text Box 40"/>
          <p:cNvSpPr txBox="1">
            <a:spLocks noChangeArrowheads="1"/>
          </p:cNvSpPr>
          <p:nvPr/>
        </p:nvSpPr>
        <p:spPr bwMode="auto">
          <a:xfrm>
            <a:off x="1828800" y="4191000"/>
            <a:ext cx="573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top</a:t>
            </a:r>
          </a:p>
        </p:txBody>
      </p:sp>
      <p:sp>
        <p:nvSpPr>
          <p:cNvPr id="42000" name="Text Box 41"/>
          <p:cNvSpPr txBox="1">
            <a:spLocks noChangeArrowheads="1"/>
          </p:cNvSpPr>
          <p:nvPr/>
        </p:nvSpPr>
        <p:spPr bwMode="auto">
          <a:xfrm>
            <a:off x="3886200" y="4800600"/>
            <a:ext cx="72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base</a:t>
            </a:r>
          </a:p>
        </p:txBody>
      </p:sp>
      <p:sp>
        <p:nvSpPr>
          <p:cNvPr id="42001" name="Text Box 42"/>
          <p:cNvSpPr txBox="1">
            <a:spLocks noChangeArrowheads="1"/>
          </p:cNvSpPr>
          <p:nvPr/>
        </p:nvSpPr>
        <p:spPr bwMode="auto">
          <a:xfrm>
            <a:off x="5827713" y="4800600"/>
            <a:ext cx="725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base</a:t>
            </a:r>
          </a:p>
        </p:txBody>
      </p:sp>
      <p:sp>
        <p:nvSpPr>
          <p:cNvPr id="42002" name="Text Box 43"/>
          <p:cNvSpPr txBox="1">
            <a:spLocks noChangeArrowheads="1"/>
          </p:cNvSpPr>
          <p:nvPr/>
        </p:nvSpPr>
        <p:spPr bwMode="auto">
          <a:xfrm>
            <a:off x="7924800" y="4800600"/>
            <a:ext cx="72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base</a:t>
            </a:r>
          </a:p>
        </p:txBody>
      </p:sp>
      <p:sp>
        <p:nvSpPr>
          <p:cNvPr id="42003" name="Text Box 44"/>
          <p:cNvSpPr txBox="1">
            <a:spLocks noChangeArrowheads="1"/>
          </p:cNvSpPr>
          <p:nvPr/>
        </p:nvSpPr>
        <p:spPr bwMode="auto">
          <a:xfrm>
            <a:off x="3922713" y="3810000"/>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top</a:t>
            </a:r>
          </a:p>
        </p:txBody>
      </p:sp>
      <p:sp>
        <p:nvSpPr>
          <p:cNvPr id="42004" name="Text Box 45"/>
          <p:cNvSpPr txBox="1">
            <a:spLocks noChangeArrowheads="1"/>
          </p:cNvSpPr>
          <p:nvPr/>
        </p:nvSpPr>
        <p:spPr bwMode="auto">
          <a:xfrm>
            <a:off x="5903913" y="1524000"/>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top</a:t>
            </a:r>
          </a:p>
        </p:txBody>
      </p:sp>
      <p:sp>
        <p:nvSpPr>
          <p:cNvPr id="42005" name="Text Box 46"/>
          <p:cNvSpPr txBox="1">
            <a:spLocks noChangeArrowheads="1"/>
          </p:cNvSpPr>
          <p:nvPr/>
        </p:nvSpPr>
        <p:spPr bwMode="auto">
          <a:xfrm>
            <a:off x="7961313" y="3200400"/>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top</a:t>
            </a:r>
          </a:p>
        </p:txBody>
      </p:sp>
      <p:sp>
        <p:nvSpPr>
          <p:cNvPr id="42006" name="Text Box 47"/>
          <p:cNvSpPr txBox="1">
            <a:spLocks noChangeArrowheads="1"/>
          </p:cNvSpPr>
          <p:nvPr/>
        </p:nvSpPr>
        <p:spPr bwMode="auto">
          <a:xfrm>
            <a:off x="4876800" y="44196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p>
        </p:txBody>
      </p:sp>
      <p:sp>
        <p:nvSpPr>
          <p:cNvPr id="42007" name="Text Box 48"/>
          <p:cNvSpPr txBox="1">
            <a:spLocks noChangeArrowheads="1"/>
          </p:cNvSpPr>
          <p:nvPr/>
        </p:nvSpPr>
        <p:spPr bwMode="auto">
          <a:xfrm>
            <a:off x="6910388" y="2057400"/>
            <a:ext cx="404812"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F</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E</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D</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C</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B</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p>
        </p:txBody>
      </p:sp>
      <p:sp>
        <p:nvSpPr>
          <p:cNvPr id="42008" name="Text Box 49"/>
          <p:cNvSpPr txBox="1">
            <a:spLocks noChangeArrowheads="1"/>
          </p:cNvSpPr>
          <p:nvPr/>
        </p:nvSpPr>
        <p:spPr bwMode="auto">
          <a:xfrm>
            <a:off x="8915400" y="3886200"/>
            <a:ext cx="40481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B</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p>
        </p:txBody>
      </p:sp>
      <p:sp>
        <p:nvSpPr>
          <p:cNvPr id="42009" name="Text Box 50"/>
          <p:cNvSpPr txBox="1">
            <a:spLocks noChangeArrowheads="1"/>
          </p:cNvSpPr>
          <p:nvPr/>
        </p:nvSpPr>
        <p:spPr bwMode="auto">
          <a:xfrm>
            <a:off x="623888" y="5605463"/>
            <a:ext cx="110172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a:t>
            </a:r>
            <a:r>
              <a:rPr kumimoji="1" lang="zh-CN" altLang="en-US" sz="2000">
                <a:latin typeface="Times New Roman" panose="02020603050405020304" pitchFamily="18" charset="0"/>
                <a:ea typeface="宋体" panose="02010600030101010101" pitchFamily="2" charset="-122"/>
              </a:rPr>
              <a:t>栈中的数据元素是用一组连续的存储空间来存放的。栈底位置可以设置在存储空间的一个端点，而栈顶是随着插入和删除而变化的，用一个</a:t>
            </a:r>
            <a:r>
              <a:rPr kumimoji="1" lang="en-US" altLang="zh-CN" sz="2000">
                <a:latin typeface="Times New Roman" panose="02020603050405020304" pitchFamily="18" charset="0"/>
                <a:ea typeface="宋体" panose="02010600030101010101" pitchFamily="2" charset="-122"/>
              </a:rPr>
              <a:t>top</a:t>
            </a:r>
            <a:r>
              <a:rPr kumimoji="1" lang="zh-CN" altLang="en-US" sz="2000">
                <a:latin typeface="Times New Roman" panose="02020603050405020304" pitchFamily="18" charset="0"/>
                <a:ea typeface="宋体" panose="02010600030101010101" pitchFamily="2" charset="-122"/>
              </a:rPr>
              <a:t>指针来指示当前栈顶位置。</a:t>
            </a:r>
          </a:p>
        </p:txBody>
      </p:sp>
      <p:sp>
        <p:nvSpPr>
          <p:cNvPr id="42010" name="标题 1"/>
          <p:cNvSpPr>
            <a:spLocks noGrp="1"/>
          </p:cNvSpPr>
          <p:nvPr>
            <p:ph type="title"/>
          </p:nvPr>
        </p:nvSpPr>
        <p:spPr>
          <a:xfrm>
            <a:off x="527050" y="333375"/>
            <a:ext cx="10321925" cy="863600"/>
          </a:xfrm>
        </p:spPr>
        <p:txBody>
          <a:bodyPr/>
          <a:lstStyle/>
          <a:p>
            <a:pPr eaLnBrk="1" hangingPunct="1"/>
            <a:r>
              <a:rPr lang="zh-CN" altLang="en-US" smtClean="0"/>
              <a:t>顺序栈</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17"/>
          <p:cNvSpPr txBox="1">
            <a:spLocks noChangeArrowheads="1"/>
          </p:cNvSpPr>
          <p:nvPr/>
        </p:nvSpPr>
        <p:spPr bwMode="auto">
          <a:xfrm>
            <a:off x="928688" y="2935288"/>
            <a:ext cx="5299075" cy="1939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000" b="1">
                <a:latin typeface="Times New Roman" panose="02020603050405020304" pitchFamily="18" charset="0"/>
                <a:ea typeface="宋体" panose="02010600030101010101" pitchFamily="2" charset="-122"/>
                <a:cs typeface="Times New Roman" panose="02020603050405020304" pitchFamily="18" charset="0"/>
              </a:rPr>
              <a:t>CONST   arrmax=</a:t>
            </a:r>
            <a:r>
              <a:rPr kumimoji="1" lang="en-US" altLang="zh-CN" sz="2000">
                <a:latin typeface="Times New Roman" panose="02020603050405020304" pitchFamily="18" charset="0"/>
                <a:ea typeface="宋体" panose="02010600030101010101" pitchFamily="2" charset="-122"/>
                <a:cs typeface="Times New Roman" panose="02020603050405020304" pitchFamily="18" charset="0"/>
              </a:rPr>
              <a:t>100 </a:t>
            </a:r>
            <a:r>
              <a:rPr kumimoji="1" lang="en-US" altLang="zh-CN" sz="2000">
                <a:latin typeface="Times New Roman" panose="02020603050405020304" pitchFamily="18" charset="0"/>
                <a:ea typeface="楷体_GB2312" panose="02010609030101010101" pitchFamily="49" charset="-122"/>
                <a:cs typeface="Times New Roman" panose="02020603050405020304" pitchFamily="18" charset="0"/>
              </a:rPr>
              <a:t>{</a:t>
            </a:r>
            <a:r>
              <a:rPr kumimoji="1" lang="zh-CN" altLang="en-US" sz="2000">
                <a:latin typeface="Times New Roman" panose="02020603050405020304" pitchFamily="18" charset="0"/>
                <a:ea typeface="楷体_GB2312" panose="02010609030101010101" pitchFamily="49" charset="-122"/>
                <a:cs typeface="Times New Roman" panose="02020603050405020304" pitchFamily="18" charset="0"/>
              </a:rPr>
              <a:t>栈的</a:t>
            </a:r>
            <a:r>
              <a:rPr kumimoji="1" lang="zh-CN" altLang="zh-CN" sz="2000">
                <a:latin typeface="Times New Roman" panose="02020603050405020304" pitchFamily="18" charset="0"/>
                <a:ea typeface="楷体_GB2312" panose="02010609030101010101" pitchFamily="49" charset="-122"/>
                <a:cs typeface="Times New Roman" panose="02020603050405020304" pitchFamily="18" charset="0"/>
              </a:rPr>
              <a:t>最大允许容量}；</a:t>
            </a:r>
            <a:endParaRPr kumimoji="1" lang="zh-CN" altLang="zh-CN" sz="2000" b="1">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cs typeface="Times New Roman" panose="02020603050405020304" pitchFamily="18" charset="0"/>
              </a:rPr>
              <a:t>typedef  struct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cs typeface="Times New Roman" panose="02020603050405020304" pitchFamily="18" charset="0"/>
              </a:rPr>
              <a:t>     Elemtype    * top;</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cs typeface="Times New Roman" panose="02020603050405020304" pitchFamily="18" charset="0"/>
              </a:rPr>
              <a:t>     Elemtype    * base;</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cs typeface="Times New Roman" panose="02020603050405020304" pitchFamily="18" charset="0"/>
              </a:rPr>
              <a:t>     int    stacksize;</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cs typeface="Times New Roman" panose="02020603050405020304" pitchFamily="18" charset="0"/>
              </a:rPr>
              <a:t>}  SqStack;</a:t>
            </a:r>
          </a:p>
        </p:txBody>
      </p:sp>
      <p:sp>
        <p:nvSpPr>
          <p:cNvPr id="43011" name="Rectangle 2"/>
          <p:cNvSpPr>
            <a:spLocks noGrp="1" noChangeArrowheads="1"/>
          </p:cNvSpPr>
          <p:nvPr>
            <p:ph type="title"/>
          </p:nvPr>
        </p:nvSpPr>
        <p:spPr>
          <a:xfrm>
            <a:off x="527050" y="333375"/>
            <a:ext cx="10321925" cy="863600"/>
          </a:xfrm>
        </p:spPr>
        <p:txBody>
          <a:bodyPr/>
          <a:lstStyle/>
          <a:p>
            <a:pPr eaLnBrk="1" hangingPunct="1"/>
            <a:r>
              <a:rPr lang="en-US" altLang="zh-CN" sz="2400" b="1" smtClean="0"/>
              <a:t>3.1.2 </a:t>
            </a:r>
            <a:r>
              <a:rPr lang="zh-CN" altLang="zh-CN" sz="2400" b="1" smtClean="0"/>
              <a:t>栈的顺序存储结构以及操作的实现</a:t>
            </a:r>
            <a:endParaRPr lang="zh-CN" altLang="en-US" sz="2400" b="1" smtClean="0"/>
          </a:p>
        </p:txBody>
      </p:sp>
      <p:sp>
        <p:nvSpPr>
          <p:cNvPr id="47108" name="Rectangle 3"/>
          <p:cNvSpPr>
            <a:spLocks noGrp="1" noChangeArrowheads="1"/>
          </p:cNvSpPr>
          <p:nvPr>
            <p:ph idx="1"/>
          </p:nvPr>
        </p:nvSpPr>
        <p:spPr>
          <a:xfrm>
            <a:off x="527050" y="1773238"/>
            <a:ext cx="10321925" cy="4351337"/>
          </a:xfrm>
        </p:spPr>
        <p:txBody>
          <a:bodyPr rtlCol="0">
            <a:normAutofit fontScale="92500" lnSpcReduction="20000"/>
          </a:bodyPr>
          <a:lstStyle/>
          <a:p>
            <a:pPr eaLnBrk="1" fontAlgn="auto" hangingPunct="1">
              <a:spcAft>
                <a:spcPts val="0"/>
              </a:spcAft>
              <a:buFont typeface="Wingdings" panose="05000000000000000000" pitchFamily="2" charset="2"/>
              <a:buNone/>
              <a:defRPr/>
            </a:pPr>
            <a:r>
              <a:rPr lang="zh-CN" altLang="en-US" sz="2100" b="1" dirty="0">
                <a:solidFill>
                  <a:srgbClr val="993300"/>
                </a:solidFill>
              </a:rPr>
              <a:t>一个栈独占一组地址连续的存储单元</a:t>
            </a:r>
          </a:p>
          <a:p>
            <a:pPr eaLnBrk="1" fontAlgn="auto" hangingPunct="1">
              <a:spcAft>
                <a:spcPts val="0"/>
              </a:spcAft>
              <a:buFont typeface="Wingdings" panose="05000000000000000000" pitchFamily="2" charset="2"/>
              <a:buNone/>
              <a:defRPr/>
            </a:pPr>
            <a:endParaRPr lang="zh-CN" altLang="en-US" sz="2100" dirty="0">
              <a:solidFill>
                <a:srgbClr val="FF3300"/>
              </a:solidFill>
            </a:endParaRPr>
          </a:p>
          <a:p>
            <a:pPr eaLnBrk="1" fontAlgn="auto" hangingPunct="1">
              <a:spcAft>
                <a:spcPts val="0"/>
              </a:spcAft>
              <a:buFont typeface="Wingdings" panose="05000000000000000000" pitchFamily="2" charset="2"/>
              <a:buNone/>
              <a:defRPr/>
            </a:pPr>
            <a:r>
              <a:rPr lang="en-US" altLang="zh-CN" sz="2100" b="1" dirty="0">
                <a:solidFill>
                  <a:srgbClr val="FF3300"/>
                </a:solidFill>
              </a:rPr>
              <a:t>[</a:t>
            </a:r>
            <a:r>
              <a:rPr lang="zh-CN" altLang="en-US" sz="2100" b="1" dirty="0">
                <a:solidFill>
                  <a:srgbClr val="FF3300"/>
                </a:solidFill>
              </a:rPr>
              <a:t>类型定义</a:t>
            </a:r>
            <a:r>
              <a:rPr lang="en-US" altLang="zh-CN" sz="2100" b="1" dirty="0">
                <a:solidFill>
                  <a:srgbClr val="FF3300"/>
                </a:solidFill>
              </a:rPr>
              <a:t>]</a:t>
            </a:r>
            <a:r>
              <a:rPr lang="en-US" altLang="zh-CN" sz="2100" dirty="0"/>
              <a:t>      </a:t>
            </a:r>
            <a:r>
              <a:rPr lang="zh-CN" altLang="en-US" sz="2100" dirty="0">
                <a:solidFill>
                  <a:schemeClr val="accent2"/>
                </a:solidFill>
                <a:latin typeface="楷体_GB2312" panose="02010609030101010101" pitchFamily="49" charset="-122"/>
                <a:ea typeface="楷体_GB2312" panose="02010609030101010101" pitchFamily="49" charset="-122"/>
              </a:rPr>
              <a:t>数组</a:t>
            </a:r>
            <a:r>
              <a:rPr lang="en-US" altLang="zh-CN" sz="2100" dirty="0">
                <a:solidFill>
                  <a:schemeClr val="accent2"/>
                </a:solidFill>
                <a:latin typeface="楷体_GB2312" panose="02010609030101010101" pitchFamily="49" charset="-122"/>
                <a:ea typeface="楷体_GB2312" panose="02010609030101010101" pitchFamily="49" charset="-122"/>
              </a:rPr>
              <a:t>(</a:t>
            </a:r>
            <a:r>
              <a:rPr lang="zh-CN" altLang="en-US" sz="2100" dirty="0">
                <a:solidFill>
                  <a:schemeClr val="accent2"/>
                </a:solidFill>
                <a:latin typeface="楷体_GB2312" panose="02010609030101010101" pitchFamily="49" charset="-122"/>
                <a:ea typeface="楷体_GB2312" panose="02010609030101010101" pitchFamily="49" charset="-122"/>
              </a:rPr>
              <a:t>栈空间</a:t>
            </a:r>
            <a:r>
              <a:rPr lang="en-US" altLang="zh-CN" sz="2100" dirty="0">
                <a:solidFill>
                  <a:schemeClr val="accent2"/>
                </a:solidFill>
                <a:latin typeface="楷体_GB2312" panose="02010609030101010101" pitchFamily="49" charset="-122"/>
                <a:ea typeface="楷体_GB2312" panose="02010609030101010101" pitchFamily="49" charset="-122"/>
              </a:rPr>
              <a:t>)+</a:t>
            </a:r>
            <a:r>
              <a:rPr lang="zh-CN" altLang="en-US" sz="2100" dirty="0">
                <a:solidFill>
                  <a:schemeClr val="accent2"/>
                </a:solidFill>
                <a:latin typeface="楷体_GB2312" panose="02010609030101010101" pitchFamily="49" charset="-122"/>
                <a:ea typeface="楷体_GB2312" panose="02010609030101010101" pitchFamily="49" charset="-122"/>
              </a:rPr>
              <a:t>栈顶指示</a:t>
            </a:r>
            <a:endParaRPr lang="zh-CN" altLang="en-US" sz="2100" dirty="0"/>
          </a:p>
          <a:p>
            <a:pPr eaLnBrk="1" fontAlgn="auto" hangingPunct="1">
              <a:spcAft>
                <a:spcPts val="0"/>
              </a:spcAft>
              <a:buFont typeface="Wingdings" panose="05000000000000000000" pitchFamily="2" charset="2"/>
              <a:buNone/>
              <a:defRPr/>
            </a:pPr>
            <a:endParaRPr lang="zh-CN" altLang="en-US" sz="2100" dirty="0"/>
          </a:p>
          <a:p>
            <a:pPr eaLnBrk="1" fontAlgn="auto" hangingPunct="1">
              <a:spcAft>
                <a:spcPts val="0"/>
              </a:spcAft>
              <a:buFont typeface="Wingdings" panose="05000000000000000000" pitchFamily="2" charset="2"/>
              <a:buNone/>
              <a:defRPr/>
            </a:pPr>
            <a:r>
              <a:rPr lang="zh-CN" altLang="en-US" sz="2100" dirty="0"/>
              <a:t>    </a:t>
            </a:r>
          </a:p>
          <a:p>
            <a:pPr eaLnBrk="1" fontAlgn="auto" hangingPunct="1">
              <a:spcAft>
                <a:spcPts val="0"/>
              </a:spcAft>
              <a:buFont typeface="Wingdings" panose="05000000000000000000" pitchFamily="2" charset="2"/>
              <a:buNone/>
              <a:defRPr/>
            </a:pPr>
            <a:endParaRPr lang="zh-CN" altLang="en-US" sz="2100" dirty="0"/>
          </a:p>
          <a:p>
            <a:pPr eaLnBrk="1" fontAlgn="auto" hangingPunct="1">
              <a:spcAft>
                <a:spcPts val="0"/>
              </a:spcAft>
              <a:buFont typeface="Wingdings" panose="05000000000000000000" pitchFamily="2" charset="2"/>
              <a:buNone/>
              <a:defRPr/>
            </a:pPr>
            <a:endParaRPr lang="zh-CN" altLang="en-US" sz="2100" dirty="0"/>
          </a:p>
          <a:p>
            <a:pPr eaLnBrk="1" fontAlgn="auto" hangingPunct="1">
              <a:spcAft>
                <a:spcPts val="0"/>
              </a:spcAft>
              <a:buFont typeface="Wingdings" panose="05000000000000000000" pitchFamily="2" charset="2"/>
              <a:buNone/>
              <a:defRPr/>
            </a:pPr>
            <a:endParaRPr lang="zh-CN" altLang="en-US" sz="2100" dirty="0"/>
          </a:p>
          <a:p>
            <a:pPr eaLnBrk="1" fontAlgn="auto" hangingPunct="1">
              <a:spcAft>
                <a:spcPts val="0"/>
              </a:spcAft>
              <a:buFont typeface="Wingdings" panose="05000000000000000000" pitchFamily="2" charset="2"/>
              <a:buNone/>
              <a:defRPr/>
            </a:pPr>
            <a:r>
              <a:rPr lang="zh-CN" altLang="en-US" sz="2100" dirty="0">
                <a:solidFill>
                  <a:schemeClr val="accent2"/>
                </a:solidFill>
              </a:rPr>
              <a:t>                                                               </a:t>
            </a:r>
            <a:endParaRPr lang="zh-CN" altLang="en-US" sz="2100" dirty="0"/>
          </a:p>
          <a:p>
            <a:pPr eaLnBrk="1" fontAlgn="auto" hangingPunct="1">
              <a:spcAft>
                <a:spcPts val="0"/>
              </a:spcAft>
              <a:buFont typeface="Wingdings" panose="05000000000000000000" pitchFamily="2" charset="2"/>
              <a:buNone/>
              <a:defRPr/>
            </a:pPr>
            <a:r>
              <a:rPr lang="zh-CN" altLang="en-US" sz="2500" dirty="0">
                <a:latin typeface="楷体_GB2312" panose="02010609030101010101" pitchFamily="49" charset="-122"/>
                <a:ea typeface="楷体_GB2312" panose="02010609030101010101" pitchFamily="49" charset="-122"/>
              </a:rPr>
              <a:t>  </a:t>
            </a:r>
          </a:p>
          <a:p>
            <a:pPr eaLnBrk="1" fontAlgn="auto" hangingPunct="1">
              <a:spcAft>
                <a:spcPts val="0"/>
              </a:spcAft>
              <a:buFont typeface="Wingdings" panose="05000000000000000000" pitchFamily="2" charset="2"/>
              <a:buNone/>
              <a:defRPr/>
            </a:pPr>
            <a:r>
              <a:rPr lang="en-US" altLang="zh-CN" sz="2100" b="1" dirty="0" err="1">
                <a:solidFill>
                  <a:schemeClr val="accent2"/>
                </a:solidFill>
                <a:latin typeface="楷体_GB2312" panose="02010609030101010101" pitchFamily="49" charset="-122"/>
                <a:ea typeface="楷体_GB2312" panose="02010609030101010101" pitchFamily="49" charset="-122"/>
              </a:rPr>
              <a:t>SqStack</a:t>
            </a:r>
            <a:r>
              <a:rPr lang="en-US" altLang="zh-CN" sz="2100" b="1" dirty="0">
                <a:solidFill>
                  <a:schemeClr val="accent2"/>
                </a:solidFill>
                <a:latin typeface="楷体_GB2312" panose="02010609030101010101" pitchFamily="49" charset="-122"/>
                <a:ea typeface="楷体_GB2312" panose="02010609030101010101" pitchFamily="49" charset="-122"/>
              </a:rPr>
              <a:t> S</a:t>
            </a:r>
            <a:r>
              <a:rPr lang="zh-CN" altLang="en-US" sz="2100" b="1" dirty="0">
                <a:solidFill>
                  <a:schemeClr val="accent2"/>
                </a:solidFill>
                <a:latin typeface="楷体_GB2312" panose="02010609030101010101" pitchFamily="49" charset="-122"/>
                <a:ea typeface="楷体_GB2312" panose="02010609030101010101" pitchFamily="49" charset="-122"/>
              </a:rPr>
              <a:t>；</a:t>
            </a:r>
          </a:p>
          <a:p>
            <a:pPr eaLnBrk="1" fontAlgn="auto" hangingPunct="1">
              <a:spcAft>
                <a:spcPts val="0"/>
              </a:spcAft>
              <a:buFont typeface="Wingdings" panose="05000000000000000000" pitchFamily="2" charset="2"/>
              <a:buNone/>
              <a:defRPr/>
            </a:pPr>
            <a:r>
              <a:rPr lang="zh-CN" altLang="zh-CN" sz="2100" b="1" dirty="0">
                <a:solidFill>
                  <a:schemeClr val="accent2"/>
                </a:solidFill>
                <a:latin typeface="楷体_GB2312" panose="02010609030101010101" pitchFamily="49" charset="-122"/>
                <a:ea typeface="楷体_GB2312" panose="02010609030101010101" pitchFamily="49" charset="-122"/>
              </a:rPr>
              <a:t>栈空条件</a:t>
            </a:r>
            <a:r>
              <a:rPr lang="zh-CN" altLang="zh-CN" sz="2100" dirty="0"/>
              <a:t>  </a:t>
            </a:r>
            <a:r>
              <a:rPr lang="en-US" altLang="zh-CN" sz="2100" dirty="0" err="1"/>
              <a:t>S.top</a:t>
            </a:r>
            <a:r>
              <a:rPr lang="en-US" altLang="zh-CN" sz="2100" dirty="0"/>
              <a:t>=</a:t>
            </a:r>
            <a:r>
              <a:rPr lang="en-US" altLang="zh-CN" sz="2100" dirty="0" err="1"/>
              <a:t>S.base</a:t>
            </a:r>
            <a:r>
              <a:rPr lang="en-US" altLang="zh-CN" sz="2100" dirty="0"/>
              <a:t>    (</a:t>
            </a:r>
            <a:r>
              <a:rPr lang="zh-CN" altLang="zh-CN" sz="2100" dirty="0"/>
              <a:t>此时退栈则下溢</a:t>
            </a:r>
            <a:r>
              <a:rPr lang="en-US" altLang="zh-CN" sz="2100" dirty="0"/>
              <a:t>)</a:t>
            </a:r>
          </a:p>
          <a:p>
            <a:pPr eaLnBrk="1" fontAlgn="auto" hangingPunct="1">
              <a:spcAft>
                <a:spcPts val="0"/>
              </a:spcAft>
              <a:buFont typeface="Wingdings" panose="05000000000000000000" pitchFamily="2" charset="2"/>
              <a:buNone/>
              <a:defRPr/>
            </a:pPr>
            <a:r>
              <a:rPr lang="zh-CN" altLang="zh-CN" sz="2100" b="1" dirty="0">
                <a:solidFill>
                  <a:schemeClr val="accent2"/>
                </a:solidFill>
                <a:latin typeface="楷体_GB2312" panose="02010609030101010101" pitchFamily="49" charset="-122"/>
                <a:ea typeface="楷体_GB2312" panose="02010609030101010101" pitchFamily="49" charset="-122"/>
              </a:rPr>
              <a:t>栈满条件</a:t>
            </a:r>
            <a:r>
              <a:rPr lang="zh-CN" altLang="zh-CN" sz="2100" dirty="0"/>
              <a:t>  </a:t>
            </a:r>
            <a:r>
              <a:rPr lang="en-US" altLang="zh-CN" sz="2100" dirty="0" err="1"/>
              <a:t>S.top</a:t>
            </a:r>
            <a:r>
              <a:rPr lang="en-US" altLang="zh-CN" sz="2100" dirty="0"/>
              <a:t>=</a:t>
            </a:r>
            <a:r>
              <a:rPr lang="en-US" altLang="zh-CN" sz="2100" dirty="0" err="1"/>
              <a:t>S.base+arrmax</a:t>
            </a:r>
            <a:r>
              <a:rPr lang="en-US" altLang="zh-CN" sz="2100" dirty="0"/>
              <a:t> (</a:t>
            </a:r>
            <a:r>
              <a:rPr lang="zh-CN" altLang="zh-CN" sz="2100" dirty="0"/>
              <a:t>此时进栈则上溢</a:t>
            </a:r>
            <a:r>
              <a:rPr lang="en-US" altLang="zh-CN" sz="2100" dirty="0"/>
              <a:t>)</a:t>
            </a:r>
          </a:p>
        </p:txBody>
      </p:sp>
      <p:sp>
        <p:nvSpPr>
          <p:cNvPr id="43013" name="Rectangle 19"/>
          <p:cNvSpPr>
            <a:spLocks noChangeArrowheads="1"/>
          </p:cNvSpPr>
          <p:nvPr/>
        </p:nvSpPr>
        <p:spPr bwMode="auto">
          <a:xfrm>
            <a:off x="9372600" y="1954213"/>
            <a:ext cx="685800" cy="426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3014" name="Text Box 21"/>
          <p:cNvSpPr txBox="1">
            <a:spLocks noChangeArrowheads="1"/>
          </p:cNvSpPr>
          <p:nvPr/>
        </p:nvSpPr>
        <p:spPr bwMode="auto">
          <a:xfrm>
            <a:off x="9525000" y="149701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b="1">
                <a:solidFill>
                  <a:schemeClr val="accent2"/>
                </a:solidFill>
                <a:latin typeface="Times New Roman" panose="02020603050405020304" pitchFamily="18" charset="0"/>
                <a:ea typeface="宋体" panose="02010600030101010101" pitchFamily="2" charset="-122"/>
              </a:rPr>
              <a:t>S</a:t>
            </a:r>
          </a:p>
        </p:txBody>
      </p:sp>
      <p:sp>
        <p:nvSpPr>
          <p:cNvPr id="43015" name="Text Box 22"/>
          <p:cNvSpPr txBox="1">
            <a:spLocks noChangeArrowheads="1"/>
          </p:cNvSpPr>
          <p:nvPr/>
        </p:nvSpPr>
        <p:spPr bwMode="auto">
          <a:xfrm>
            <a:off x="9067800" y="3706813"/>
            <a:ext cx="868363"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i      ai</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a:t>
            </a:r>
            <a:r>
              <a:rPr kumimoji="1" lang="en-US" altLang="zh-CN" sz="2000" b="1">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r>
              <a:rPr kumimoji="1" lang="en-US" altLang="zh-CN" sz="2000" b="1">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000" b="1">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endParaRPr kumimoji="1" lang="en-US" altLang="zh-CN" sz="2000" b="1">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2     a2</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1     a1</a:t>
            </a:r>
          </a:p>
        </p:txBody>
      </p:sp>
      <p:sp>
        <p:nvSpPr>
          <p:cNvPr id="43016" name="Line 23"/>
          <p:cNvSpPr>
            <a:spLocks noChangeShapeType="1"/>
          </p:cNvSpPr>
          <p:nvPr/>
        </p:nvSpPr>
        <p:spPr bwMode="auto">
          <a:xfrm>
            <a:off x="9372600" y="5916613"/>
            <a:ext cx="685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7" name="Line 27"/>
          <p:cNvSpPr>
            <a:spLocks noChangeShapeType="1"/>
          </p:cNvSpPr>
          <p:nvPr/>
        </p:nvSpPr>
        <p:spPr bwMode="auto">
          <a:xfrm>
            <a:off x="9372600" y="5535613"/>
            <a:ext cx="685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8" name="Line 28"/>
          <p:cNvSpPr>
            <a:spLocks noChangeShapeType="1"/>
          </p:cNvSpPr>
          <p:nvPr/>
        </p:nvSpPr>
        <p:spPr bwMode="auto">
          <a:xfrm>
            <a:off x="9372600" y="4087813"/>
            <a:ext cx="685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9" name="Line 29"/>
          <p:cNvSpPr>
            <a:spLocks noChangeShapeType="1"/>
          </p:cNvSpPr>
          <p:nvPr/>
        </p:nvSpPr>
        <p:spPr bwMode="auto">
          <a:xfrm>
            <a:off x="9372600" y="3783013"/>
            <a:ext cx="685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0" name="Text Box 30"/>
          <p:cNvSpPr txBox="1">
            <a:spLocks noChangeArrowheads="1"/>
          </p:cNvSpPr>
          <p:nvPr/>
        </p:nvSpPr>
        <p:spPr bwMode="auto">
          <a:xfrm>
            <a:off x="8112125" y="1878013"/>
            <a:ext cx="1489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stacksize</a:t>
            </a:r>
          </a:p>
        </p:txBody>
      </p:sp>
      <p:sp>
        <p:nvSpPr>
          <p:cNvPr id="43021" name="Line 31"/>
          <p:cNvSpPr>
            <a:spLocks noChangeShapeType="1"/>
          </p:cNvSpPr>
          <p:nvPr/>
        </p:nvSpPr>
        <p:spPr bwMode="auto">
          <a:xfrm>
            <a:off x="8839200" y="39354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2" name="Text Box 32"/>
          <p:cNvSpPr txBox="1">
            <a:spLocks noChangeArrowheads="1"/>
          </p:cNvSpPr>
          <p:nvPr/>
        </p:nvSpPr>
        <p:spPr bwMode="auto">
          <a:xfrm>
            <a:off x="8382000" y="3706813"/>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b="1">
                <a:solidFill>
                  <a:schemeClr val="accent2"/>
                </a:solidFill>
                <a:latin typeface="Times New Roman" panose="02020603050405020304" pitchFamily="18" charset="0"/>
                <a:ea typeface="宋体" panose="02010600030101010101" pitchFamily="2" charset="-122"/>
              </a:rPr>
              <a:t>top</a:t>
            </a:r>
            <a:endParaRPr kumimoji="1" lang="en-US" altLang="zh-CN" sz="20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3"/>
          <p:cNvSpPr txBox="1">
            <a:spLocks noChangeArrowheads="1"/>
          </p:cNvSpPr>
          <p:nvPr/>
        </p:nvSpPr>
        <p:spPr bwMode="auto">
          <a:xfrm>
            <a:off x="1054100" y="1628775"/>
            <a:ext cx="2332038"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typedef  struct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Elemtype    * top;</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Elemtype    * base;</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int    stacksize;</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  SqStack;</a:t>
            </a:r>
          </a:p>
        </p:txBody>
      </p:sp>
      <p:sp>
        <p:nvSpPr>
          <p:cNvPr id="44035" name="Text Box 4"/>
          <p:cNvSpPr txBox="1">
            <a:spLocks noChangeArrowheads="1"/>
          </p:cNvSpPr>
          <p:nvPr/>
        </p:nvSpPr>
        <p:spPr bwMode="auto">
          <a:xfrm>
            <a:off x="3352800" y="3275013"/>
            <a:ext cx="710247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InitStack( SqStack  &amp;S)  {</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S.base = (Elemtype</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)malloc (100*sizeof( Elemtype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S.stacksize = 100;</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S.top = S.base;</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44036" name="标题 1"/>
          <p:cNvSpPr>
            <a:spLocks noGrp="1"/>
          </p:cNvSpPr>
          <p:nvPr>
            <p:ph type="title"/>
          </p:nvPr>
        </p:nvSpPr>
        <p:spPr>
          <a:xfrm>
            <a:off x="527050" y="333375"/>
            <a:ext cx="10321925" cy="863600"/>
          </a:xfrm>
        </p:spPr>
        <p:txBody>
          <a:bodyPr/>
          <a:lstStyle/>
          <a:p>
            <a:pPr eaLnBrk="1" hangingPunct="1"/>
            <a:r>
              <a:rPr lang="en-US" altLang="zh-CN" smtClean="0"/>
              <a:t>(1)</a:t>
            </a:r>
            <a:r>
              <a:rPr lang="zh-CN" altLang="en-US" smtClean="0"/>
              <a:t>栈初始化：</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ChangeArrowheads="1"/>
          </p:cNvSpPr>
          <p:nvPr/>
        </p:nvSpPr>
        <p:spPr bwMode="auto">
          <a:xfrm>
            <a:off x="4440238" y="1747838"/>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5059" name="Rectangle 5"/>
          <p:cNvSpPr>
            <a:spLocks noChangeArrowheads="1"/>
          </p:cNvSpPr>
          <p:nvPr/>
        </p:nvSpPr>
        <p:spPr bwMode="auto">
          <a:xfrm>
            <a:off x="6167438" y="3309938"/>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5060" name="Line 6"/>
          <p:cNvSpPr>
            <a:spLocks noChangeShapeType="1"/>
          </p:cNvSpPr>
          <p:nvPr/>
        </p:nvSpPr>
        <p:spPr bwMode="auto">
          <a:xfrm flipV="1">
            <a:off x="3906838" y="1928813"/>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1" name="Line 8"/>
          <p:cNvSpPr>
            <a:spLocks noChangeShapeType="1"/>
          </p:cNvSpPr>
          <p:nvPr/>
        </p:nvSpPr>
        <p:spPr bwMode="auto">
          <a:xfrm flipV="1">
            <a:off x="5232400" y="2997200"/>
            <a:ext cx="8921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2" name="Text Box 9"/>
          <p:cNvSpPr txBox="1">
            <a:spLocks noChangeArrowheads="1"/>
          </p:cNvSpPr>
          <p:nvPr/>
        </p:nvSpPr>
        <p:spPr bwMode="auto">
          <a:xfrm>
            <a:off x="2166938" y="1643063"/>
            <a:ext cx="1890712"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kumimoji="1" lang="zh-CN" altLang="en-US" sz="2400">
                <a:latin typeface="Times New Roman" panose="02020603050405020304" pitchFamily="18" charset="0"/>
                <a:ea typeface="宋体" panose="02010600030101010101" pitchFamily="2" charset="-122"/>
              </a:rPr>
              <a:t>结构体指针</a:t>
            </a:r>
          </a:p>
        </p:txBody>
      </p:sp>
      <p:sp>
        <p:nvSpPr>
          <p:cNvPr id="45063" name="Rectangle 10"/>
          <p:cNvSpPr>
            <a:spLocks noChangeArrowheads="1"/>
          </p:cNvSpPr>
          <p:nvPr/>
        </p:nvSpPr>
        <p:spPr bwMode="auto">
          <a:xfrm>
            <a:off x="6167438" y="2852738"/>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5064" name="Rectangle 11"/>
          <p:cNvSpPr>
            <a:spLocks noChangeArrowheads="1"/>
          </p:cNvSpPr>
          <p:nvPr/>
        </p:nvSpPr>
        <p:spPr bwMode="auto">
          <a:xfrm>
            <a:off x="6167438" y="3763963"/>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5065" name="Rectangle 12"/>
          <p:cNvSpPr>
            <a:spLocks noChangeArrowheads="1"/>
          </p:cNvSpPr>
          <p:nvPr/>
        </p:nvSpPr>
        <p:spPr bwMode="auto">
          <a:xfrm>
            <a:off x="6167438" y="4221163"/>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5066" name="Text Box 13"/>
          <p:cNvSpPr txBox="1">
            <a:spLocks noChangeArrowheads="1"/>
          </p:cNvSpPr>
          <p:nvPr/>
        </p:nvSpPr>
        <p:spPr bwMode="auto">
          <a:xfrm>
            <a:off x="5951538" y="1773238"/>
            <a:ext cx="16319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kumimoji="1" lang="en-US" altLang="zh-CN" sz="2400">
                <a:latin typeface="Times New Roman" panose="02020603050405020304" pitchFamily="18" charset="0"/>
                <a:ea typeface="宋体" panose="02010600030101010101" pitchFamily="2" charset="-122"/>
              </a:rPr>
              <a:t>32</a:t>
            </a:r>
            <a:r>
              <a:rPr kumimoji="1" lang="zh-CN" altLang="en-US" sz="2400">
                <a:latin typeface="Times New Roman" panose="02020603050405020304" pitchFamily="18" charset="0"/>
                <a:ea typeface="宋体" panose="02010600030101010101" pitchFamily="2" charset="-122"/>
              </a:rPr>
              <a:t>位地址</a:t>
            </a:r>
          </a:p>
        </p:txBody>
      </p:sp>
      <p:sp>
        <p:nvSpPr>
          <p:cNvPr id="45067" name="Line 14"/>
          <p:cNvSpPr>
            <a:spLocks noChangeShapeType="1"/>
          </p:cNvSpPr>
          <p:nvPr/>
        </p:nvSpPr>
        <p:spPr bwMode="auto">
          <a:xfrm>
            <a:off x="5232400" y="2060575"/>
            <a:ext cx="0" cy="936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8" name="Text Box 15"/>
          <p:cNvSpPr txBox="1">
            <a:spLocks noChangeArrowheads="1"/>
          </p:cNvSpPr>
          <p:nvPr/>
        </p:nvSpPr>
        <p:spPr bwMode="auto">
          <a:xfrm>
            <a:off x="7896225" y="2852738"/>
            <a:ext cx="16319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kumimoji="1" lang="zh-CN" altLang="en-US" sz="2400">
                <a:latin typeface="Times New Roman" panose="02020603050405020304" pitchFamily="18" charset="0"/>
                <a:ea typeface="宋体" panose="02010600030101010101" pitchFamily="2" charset="-122"/>
              </a:rPr>
              <a:t>结构体</a:t>
            </a:r>
          </a:p>
        </p:txBody>
      </p:sp>
      <p:sp>
        <p:nvSpPr>
          <p:cNvPr id="45069"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1703388" y="1916113"/>
            <a:ext cx="505301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 </a:t>
            </a:r>
            <a:r>
              <a:rPr kumimoji="1" lang="en-US" altLang="zh-CN" sz="2400">
                <a:latin typeface="Times New Roman" panose="02020603050405020304" pitchFamily="18" charset="0"/>
                <a:ea typeface="宋体" panose="02010600030101010101" pitchFamily="2" charset="-122"/>
              </a:rPr>
              <a:t>Status  StackEmpty ( S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if (S.top= = S.base)  return  TRUE;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else  return  FALSE;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46083" name="标题 1"/>
          <p:cNvSpPr>
            <a:spLocks noGrp="1"/>
          </p:cNvSpPr>
          <p:nvPr>
            <p:ph type="title"/>
          </p:nvPr>
        </p:nvSpPr>
        <p:spPr>
          <a:xfrm>
            <a:off x="527050" y="333375"/>
            <a:ext cx="10321925" cy="863600"/>
          </a:xfrm>
        </p:spPr>
        <p:txBody>
          <a:bodyPr/>
          <a:lstStyle/>
          <a:p>
            <a:pPr eaLnBrk="1" hangingPunct="1"/>
            <a:r>
              <a:rPr lang="zh-CN" altLang="en-US" smtClean="0"/>
              <a:t>⑵ 判空栈</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1416050" y="1773238"/>
            <a:ext cx="6346825"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Push ( SqStack &amp;S, Elemtype  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if ( S.top-S.base &gt;= S.stacksize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OVERFLOW;      /*</a:t>
            </a:r>
            <a:r>
              <a:rPr kumimoji="1" lang="zh-CN" altLang="en-US" sz="2400">
                <a:latin typeface="Times New Roman" panose="02020603050405020304" pitchFamily="18" charset="0"/>
                <a:ea typeface="宋体" panose="02010600030101010101" pitchFamily="2" charset="-122"/>
              </a:rPr>
              <a:t>栈满不能入栈*</a:t>
            </a:r>
            <a:r>
              <a:rPr kumimoji="1" lang="en-US" altLang="zh-CN" sz="24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else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*S.top++ = e;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p:txBody>
      </p:sp>
      <p:sp>
        <p:nvSpPr>
          <p:cNvPr id="47107" name="标题 1"/>
          <p:cNvSpPr>
            <a:spLocks noGrp="1"/>
          </p:cNvSpPr>
          <p:nvPr>
            <p:ph type="title"/>
          </p:nvPr>
        </p:nvSpPr>
        <p:spPr>
          <a:xfrm>
            <a:off x="527050" y="333375"/>
            <a:ext cx="10321925" cy="863600"/>
          </a:xfrm>
        </p:spPr>
        <p:txBody>
          <a:bodyPr/>
          <a:lstStyle/>
          <a:p>
            <a:pPr eaLnBrk="1" hangingPunct="1"/>
            <a:r>
              <a:rPr lang="zh-CN" altLang="en-US" smtClean="0"/>
              <a:t>⑶ 入栈</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1343025" y="1916113"/>
            <a:ext cx="55895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Status   Pop ( SqStack &amp;S, Elemtype &amp;e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if( S.top = = S.base )  return ERROR;</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else  e = *--(S.top);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p:txBody>
      </p:sp>
      <p:sp>
        <p:nvSpPr>
          <p:cNvPr id="48131" name="标题 1"/>
          <p:cNvSpPr>
            <a:spLocks noGrp="1"/>
          </p:cNvSpPr>
          <p:nvPr>
            <p:ph type="title"/>
          </p:nvPr>
        </p:nvSpPr>
        <p:spPr>
          <a:xfrm>
            <a:off x="527050" y="333375"/>
            <a:ext cx="10321925" cy="863600"/>
          </a:xfrm>
        </p:spPr>
        <p:txBody>
          <a:bodyPr/>
          <a:lstStyle/>
          <a:p>
            <a:pPr eaLnBrk="1" hangingPunct="1"/>
            <a:r>
              <a:rPr lang="zh-CN" altLang="en-US" smtClean="0"/>
              <a:t>⑷ 出栈</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1271588" y="1773238"/>
            <a:ext cx="58213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Status  GetTop ( SqStack S, Elemtype &amp;e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if( S.top = = S.base )     return ERROR;</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else  e = *(S.top-1);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p:txBody>
      </p:sp>
      <p:sp>
        <p:nvSpPr>
          <p:cNvPr id="49155" name="标题 1"/>
          <p:cNvSpPr>
            <a:spLocks noGrp="1"/>
          </p:cNvSpPr>
          <p:nvPr>
            <p:ph type="title"/>
          </p:nvPr>
        </p:nvSpPr>
        <p:spPr>
          <a:xfrm>
            <a:off x="527050" y="333375"/>
            <a:ext cx="10321925" cy="863600"/>
          </a:xfrm>
        </p:spPr>
        <p:txBody>
          <a:bodyPr/>
          <a:lstStyle/>
          <a:p>
            <a:pPr eaLnBrk="1" hangingPunct="1"/>
            <a:r>
              <a:rPr lang="zh-CN" altLang="en-US" smtClean="0"/>
              <a:t>⑸ 读取栈顶元素</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527050" y="333375"/>
            <a:ext cx="10321925" cy="863600"/>
          </a:xfrm>
        </p:spPr>
        <p:txBody>
          <a:bodyPr/>
          <a:lstStyle/>
          <a:p>
            <a:pPr eaLnBrk="1" hangingPunct="1"/>
            <a:r>
              <a:rPr lang="en-US" altLang="zh-CN" sz="1900" b="1" smtClean="0">
                <a:solidFill>
                  <a:srgbClr val="FF3300"/>
                </a:solidFill>
              </a:rPr>
              <a:t> </a:t>
            </a:r>
            <a:r>
              <a:rPr lang="zh-CN" altLang="en-US" smtClean="0"/>
              <a:t>两个栈共享一组地址连续的存储单元</a:t>
            </a:r>
            <a:endParaRPr lang="zh-CN" altLang="en-US" sz="3200" smtClean="0"/>
          </a:p>
        </p:txBody>
      </p:sp>
      <p:sp>
        <p:nvSpPr>
          <p:cNvPr id="50179" name="Rectangle 3"/>
          <p:cNvSpPr>
            <a:spLocks noGrp="1" noChangeArrowheads="1"/>
          </p:cNvSpPr>
          <p:nvPr>
            <p:ph idx="1"/>
          </p:nvPr>
        </p:nvSpPr>
        <p:spPr>
          <a:xfrm>
            <a:off x="525463" y="1504950"/>
            <a:ext cx="10321925" cy="4351338"/>
          </a:xfrm>
        </p:spPr>
        <p:txBody>
          <a:bodyPr/>
          <a:lstStyle/>
          <a:p>
            <a:pPr eaLnBrk="1" hangingPunct="1">
              <a:buFont typeface="Wingdings" panose="05000000000000000000" pitchFamily="2" charset="2"/>
              <a:buNone/>
            </a:pPr>
            <a:r>
              <a:rPr lang="en-US" altLang="zh-CN" sz="2600" smtClean="0"/>
              <a:t> </a:t>
            </a:r>
            <a:r>
              <a:rPr lang="en-US" altLang="zh-CN" sz="2100" b="1" smtClean="0">
                <a:solidFill>
                  <a:srgbClr val="FF3300"/>
                </a:solidFill>
              </a:rPr>
              <a:t>[</a:t>
            </a:r>
            <a:r>
              <a:rPr lang="zh-CN" altLang="en-US" sz="2100" b="1" smtClean="0">
                <a:solidFill>
                  <a:srgbClr val="FF3300"/>
                </a:solidFill>
              </a:rPr>
              <a:t>类型定义</a:t>
            </a:r>
            <a:r>
              <a:rPr lang="en-US" altLang="zh-CN" sz="2100" b="1" smtClean="0">
                <a:solidFill>
                  <a:srgbClr val="FF3300"/>
                </a:solidFill>
              </a:rPr>
              <a:t>]</a:t>
            </a:r>
            <a:r>
              <a:rPr lang="en-US" altLang="zh-CN" sz="2100" smtClean="0"/>
              <a:t>    </a:t>
            </a:r>
            <a:r>
              <a:rPr lang="zh-CN" altLang="en-US" sz="2100" smtClean="0">
                <a:solidFill>
                  <a:schemeClr val="accent2"/>
                </a:solidFill>
                <a:latin typeface="楷体_GB2312" panose="02010609030101010101" pitchFamily="49" charset="-122"/>
                <a:ea typeface="楷体_GB2312" panose="02010609030101010101" pitchFamily="49" charset="-122"/>
              </a:rPr>
              <a:t>数组</a:t>
            </a:r>
            <a:r>
              <a:rPr lang="en-US" altLang="zh-CN" sz="2100" smtClean="0">
                <a:solidFill>
                  <a:schemeClr val="accent2"/>
                </a:solidFill>
                <a:latin typeface="楷体_GB2312" panose="02010609030101010101" pitchFamily="49" charset="-122"/>
                <a:ea typeface="楷体_GB2312" panose="02010609030101010101" pitchFamily="49" charset="-122"/>
              </a:rPr>
              <a:t>(</a:t>
            </a:r>
            <a:r>
              <a:rPr lang="zh-CN" altLang="en-US" sz="2100" smtClean="0">
                <a:solidFill>
                  <a:schemeClr val="accent2"/>
                </a:solidFill>
                <a:latin typeface="楷体_GB2312" panose="02010609030101010101" pitchFamily="49" charset="-122"/>
                <a:ea typeface="楷体_GB2312" panose="02010609030101010101" pitchFamily="49" charset="-122"/>
              </a:rPr>
              <a:t>栈空间</a:t>
            </a:r>
            <a:r>
              <a:rPr lang="en-US" altLang="zh-CN" sz="2100" smtClean="0">
                <a:solidFill>
                  <a:schemeClr val="accent2"/>
                </a:solidFill>
                <a:latin typeface="楷体_GB2312" panose="02010609030101010101" pitchFamily="49" charset="-122"/>
                <a:ea typeface="楷体_GB2312" panose="02010609030101010101" pitchFamily="49" charset="-122"/>
              </a:rPr>
              <a:t>) + </a:t>
            </a:r>
            <a:r>
              <a:rPr lang="zh-CN" altLang="en-US" sz="2100" smtClean="0">
                <a:solidFill>
                  <a:schemeClr val="accent2"/>
                </a:solidFill>
                <a:latin typeface="楷体_GB2312" panose="02010609030101010101" pitchFamily="49" charset="-122"/>
                <a:ea typeface="楷体_GB2312" panose="02010609030101010101" pitchFamily="49" charset="-122"/>
              </a:rPr>
              <a:t>两个栈顶指示</a:t>
            </a:r>
            <a:endParaRPr lang="zh-CN" altLang="en-US" sz="2100" smtClean="0"/>
          </a:p>
          <a:p>
            <a:pPr eaLnBrk="1" hangingPunct="1">
              <a:buFont typeface="Wingdings" panose="05000000000000000000" pitchFamily="2" charset="2"/>
              <a:buNone/>
            </a:pPr>
            <a:r>
              <a:rPr lang="zh-CN" altLang="en-US" sz="2600" smtClean="0"/>
              <a:t>    </a:t>
            </a:r>
          </a:p>
        </p:txBody>
      </p:sp>
      <p:sp>
        <p:nvSpPr>
          <p:cNvPr id="50180" name="Rectangle 5"/>
          <p:cNvSpPr>
            <a:spLocks noChangeArrowheads="1"/>
          </p:cNvSpPr>
          <p:nvPr/>
        </p:nvSpPr>
        <p:spPr bwMode="auto">
          <a:xfrm>
            <a:off x="2819400" y="4953000"/>
            <a:ext cx="60960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0181" name="Text Box 15"/>
          <p:cNvSpPr txBox="1">
            <a:spLocks noChangeArrowheads="1"/>
          </p:cNvSpPr>
          <p:nvPr/>
        </p:nvSpPr>
        <p:spPr bwMode="auto">
          <a:xfrm>
            <a:off x="2743200" y="44958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 1   2                                                                     m</a:t>
            </a:r>
          </a:p>
        </p:txBody>
      </p:sp>
      <p:sp>
        <p:nvSpPr>
          <p:cNvPr id="50182" name="Line 17"/>
          <p:cNvSpPr>
            <a:spLocks noChangeShapeType="1"/>
          </p:cNvSpPr>
          <p:nvPr/>
        </p:nvSpPr>
        <p:spPr bwMode="auto">
          <a:xfrm flipH="1" flipV="1">
            <a:off x="4495800" y="54864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3" name="Text Box 18"/>
          <p:cNvSpPr txBox="1">
            <a:spLocks noChangeArrowheads="1"/>
          </p:cNvSpPr>
          <p:nvPr/>
        </p:nvSpPr>
        <p:spPr bwMode="auto">
          <a:xfrm>
            <a:off x="3962400" y="56388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top</a:t>
            </a:r>
          </a:p>
        </p:txBody>
      </p:sp>
      <p:sp>
        <p:nvSpPr>
          <p:cNvPr id="50184" name="Line 20"/>
          <p:cNvSpPr>
            <a:spLocks noChangeShapeType="1"/>
          </p:cNvSpPr>
          <p:nvPr/>
        </p:nvSpPr>
        <p:spPr bwMode="auto">
          <a:xfrm flipV="1">
            <a:off x="6934200" y="54864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5" name="Text Box 21"/>
          <p:cNvSpPr txBox="1">
            <a:spLocks noChangeArrowheads="1"/>
          </p:cNvSpPr>
          <p:nvPr/>
        </p:nvSpPr>
        <p:spPr bwMode="auto">
          <a:xfrm>
            <a:off x="6553200" y="55626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top1</a:t>
            </a:r>
          </a:p>
        </p:txBody>
      </p:sp>
      <p:sp>
        <p:nvSpPr>
          <p:cNvPr id="50186" name="Rectangle 24"/>
          <p:cNvSpPr>
            <a:spLocks noChangeArrowheads="1"/>
          </p:cNvSpPr>
          <p:nvPr/>
        </p:nvSpPr>
        <p:spPr bwMode="auto">
          <a:xfrm>
            <a:off x="2819400" y="4953000"/>
            <a:ext cx="1828800" cy="533400"/>
          </a:xfrm>
          <a:prstGeom prst="rect">
            <a:avLst/>
          </a:prstGeom>
          <a:solidFill>
            <a:srgbClr val="FF9933"/>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0187" name="Line 25"/>
          <p:cNvSpPr>
            <a:spLocks noChangeShapeType="1"/>
          </p:cNvSpPr>
          <p:nvPr/>
        </p:nvSpPr>
        <p:spPr bwMode="auto">
          <a:xfrm>
            <a:off x="3124200" y="4953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8" name="Line 26"/>
          <p:cNvSpPr>
            <a:spLocks noChangeShapeType="1"/>
          </p:cNvSpPr>
          <p:nvPr/>
        </p:nvSpPr>
        <p:spPr bwMode="auto">
          <a:xfrm>
            <a:off x="3429000" y="4953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9" name="Line 27"/>
          <p:cNvSpPr>
            <a:spLocks noChangeShapeType="1"/>
          </p:cNvSpPr>
          <p:nvPr/>
        </p:nvSpPr>
        <p:spPr bwMode="auto">
          <a:xfrm>
            <a:off x="4343400" y="4953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0" name="Rectangle 28"/>
          <p:cNvSpPr>
            <a:spLocks noChangeArrowheads="1"/>
          </p:cNvSpPr>
          <p:nvPr/>
        </p:nvSpPr>
        <p:spPr bwMode="auto">
          <a:xfrm>
            <a:off x="6781800" y="4953000"/>
            <a:ext cx="2133600" cy="533400"/>
          </a:xfrm>
          <a:prstGeom prst="rect">
            <a:avLst/>
          </a:prstGeom>
          <a:solidFill>
            <a:srgbClr val="FF9933"/>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0191" name="Line 29"/>
          <p:cNvSpPr>
            <a:spLocks noChangeShapeType="1"/>
          </p:cNvSpPr>
          <p:nvPr/>
        </p:nvSpPr>
        <p:spPr bwMode="auto">
          <a:xfrm>
            <a:off x="8610600" y="4953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2" name="Line 30"/>
          <p:cNvSpPr>
            <a:spLocks noChangeShapeType="1"/>
          </p:cNvSpPr>
          <p:nvPr/>
        </p:nvSpPr>
        <p:spPr bwMode="auto">
          <a:xfrm>
            <a:off x="8305800" y="4953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3" name="Line 31"/>
          <p:cNvSpPr>
            <a:spLocks noChangeShapeType="1"/>
          </p:cNvSpPr>
          <p:nvPr/>
        </p:nvSpPr>
        <p:spPr bwMode="auto">
          <a:xfrm>
            <a:off x="7086600" y="4953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4" name="Text Box 32"/>
          <p:cNvSpPr txBox="1">
            <a:spLocks noChangeArrowheads="1"/>
          </p:cNvSpPr>
          <p:nvPr/>
        </p:nvSpPr>
        <p:spPr bwMode="auto">
          <a:xfrm>
            <a:off x="2711450" y="2060575"/>
            <a:ext cx="5256213" cy="2195513"/>
          </a:xfrm>
          <a:prstGeom prst="rect">
            <a:avLst/>
          </a:prstGeom>
          <a:solidFill>
            <a:srgbClr val="FF9933"/>
          </a:solidFill>
          <a:ln w="9525" algn="ctr">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cs typeface="Times New Roman" panose="02020603050405020304" pitchFamily="18" charset="0"/>
              </a:rPr>
              <a:t>CONST   m=</a:t>
            </a:r>
            <a:r>
              <a:rPr kumimoji="1" lang="en-US" altLang="zh-CN" sz="2400">
                <a:latin typeface="Times New Roman" panose="02020603050405020304" pitchFamily="18" charset="0"/>
                <a:ea typeface="楷体_GB2312" panose="02010609030101010101" pitchFamily="49" charset="-122"/>
                <a:cs typeface="Times New Roman" panose="02020603050405020304" pitchFamily="18" charset="0"/>
              </a:rPr>
              <a:t>500{</a:t>
            </a:r>
            <a:r>
              <a:rPr kumimoji="1" lang="zh-CN" altLang="en-US" sz="2400">
                <a:latin typeface="Times New Roman" panose="02020603050405020304" pitchFamily="18" charset="0"/>
                <a:ea typeface="楷体_GB2312" panose="02010609030101010101" pitchFamily="49" charset="-122"/>
                <a:cs typeface="Times New Roman" panose="02020603050405020304" pitchFamily="18" charset="0"/>
              </a:rPr>
              <a:t>两栈的</a:t>
            </a:r>
            <a:r>
              <a:rPr kumimoji="1" lang="zh-CN" altLang="zh-CN" sz="2400">
                <a:latin typeface="Times New Roman" panose="02020603050405020304" pitchFamily="18" charset="0"/>
                <a:ea typeface="楷体_GB2312" panose="02010609030101010101" pitchFamily="49" charset="-122"/>
                <a:cs typeface="Times New Roman" panose="02020603050405020304" pitchFamily="18" charset="0"/>
              </a:rPr>
              <a:t>总允许容量}；</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typedef  struct  {</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    Elemtype    * top;</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    Elemtype    * top1;</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    Elemtype    * base;</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    int    stacksize;</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  SqStack;</a:t>
            </a:r>
          </a:p>
        </p:txBody>
      </p:sp>
      <p:sp>
        <p:nvSpPr>
          <p:cNvPr id="50195" name="Rectangle 33" descr="浅色上对角线"/>
          <p:cNvSpPr>
            <a:spLocks noChangeArrowheads="1"/>
          </p:cNvSpPr>
          <p:nvPr/>
        </p:nvSpPr>
        <p:spPr bwMode="auto">
          <a:xfrm>
            <a:off x="4648200" y="4953000"/>
            <a:ext cx="2133600" cy="5334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0196" name="Line 34"/>
          <p:cNvSpPr>
            <a:spLocks noChangeShapeType="1"/>
          </p:cNvSpPr>
          <p:nvPr/>
        </p:nvSpPr>
        <p:spPr bwMode="auto">
          <a:xfrm flipH="1" flipV="1">
            <a:off x="2813050" y="5508625"/>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7" name="Text Box 35"/>
          <p:cNvSpPr txBox="1">
            <a:spLocks noChangeArrowheads="1"/>
          </p:cNvSpPr>
          <p:nvPr/>
        </p:nvSpPr>
        <p:spPr bwMode="auto">
          <a:xfrm>
            <a:off x="2279650" y="5661025"/>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base</a:t>
            </a:r>
          </a:p>
        </p:txBody>
      </p:sp>
      <p:sp>
        <p:nvSpPr>
          <p:cNvPr id="50198" name="Line 36"/>
          <p:cNvSpPr>
            <a:spLocks noChangeShapeType="1"/>
          </p:cNvSpPr>
          <p:nvPr/>
        </p:nvSpPr>
        <p:spPr bwMode="auto">
          <a:xfrm flipH="1" flipV="1">
            <a:off x="8947150" y="5483225"/>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9" name="Text Box 37"/>
          <p:cNvSpPr txBox="1">
            <a:spLocks noChangeArrowheads="1"/>
          </p:cNvSpPr>
          <p:nvPr/>
        </p:nvSpPr>
        <p:spPr bwMode="auto">
          <a:xfrm>
            <a:off x="7824788" y="5635625"/>
            <a:ext cx="2303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Base+sstacksize</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527050" y="333375"/>
            <a:ext cx="10321925" cy="863600"/>
          </a:xfrm>
        </p:spPr>
        <p:txBody>
          <a:bodyPr/>
          <a:lstStyle/>
          <a:p>
            <a:pPr eaLnBrk="1" hangingPunct="1"/>
            <a:r>
              <a:rPr lang="zh-CN" altLang="en-US" smtClean="0"/>
              <a:t>出栈次序</a:t>
            </a:r>
          </a:p>
        </p:txBody>
      </p:sp>
      <p:sp>
        <p:nvSpPr>
          <p:cNvPr id="51203"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zh-CN" altLang="en-US" smtClean="0"/>
              <a:t>有</a:t>
            </a:r>
            <a:r>
              <a:rPr lang="en-US" altLang="zh-CN" smtClean="0"/>
              <a:t>5 </a:t>
            </a:r>
            <a:r>
              <a:rPr lang="zh-CN" altLang="en-US" smtClean="0"/>
              <a:t>个元素，其入栈次序为：</a:t>
            </a:r>
            <a:r>
              <a:rPr lang="en-US" altLang="zh-CN" smtClean="0"/>
              <a:t>A</a:t>
            </a:r>
            <a:r>
              <a:rPr lang="zh-CN" altLang="en-US" smtClean="0"/>
              <a:t>，</a:t>
            </a:r>
            <a:r>
              <a:rPr lang="en-US" altLang="zh-CN" smtClean="0"/>
              <a:t>B</a:t>
            </a:r>
            <a:r>
              <a:rPr lang="zh-CN" altLang="en-US" smtClean="0"/>
              <a:t>，</a:t>
            </a:r>
            <a:r>
              <a:rPr lang="en-US" altLang="zh-CN" smtClean="0"/>
              <a:t>C</a:t>
            </a:r>
            <a:r>
              <a:rPr lang="zh-CN" altLang="en-US" smtClean="0"/>
              <a:t>，</a:t>
            </a:r>
            <a:r>
              <a:rPr lang="en-US" altLang="zh-CN" smtClean="0"/>
              <a:t>D</a:t>
            </a:r>
            <a:r>
              <a:rPr lang="zh-CN" altLang="en-US" smtClean="0"/>
              <a:t>，</a:t>
            </a:r>
            <a:r>
              <a:rPr lang="en-US" altLang="zh-CN" smtClean="0"/>
              <a:t>E</a:t>
            </a:r>
            <a:r>
              <a:rPr lang="zh-CN" altLang="en-US" smtClean="0"/>
              <a:t>，在各种可能的出栈次序中，以元素</a:t>
            </a:r>
            <a:r>
              <a:rPr lang="en-US" altLang="zh-CN" smtClean="0"/>
              <a:t>C</a:t>
            </a:r>
            <a:r>
              <a:rPr lang="zh-CN" altLang="en-US" smtClean="0"/>
              <a:t>，</a:t>
            </a:r>
            <a:r>
              <a:rPr lang="en-US" altLang="zh-CN" smtClean="0"/>
              <a:t>D</a:t>
            </a:r>
            <a:r>
              <a:rPr lang="zh-CN" altLang="en-US" smtClean="0"/>
              <a:t>最先出栈（即</a:t>
            </a:r>
            <a:r>
              <a:rPr lang="en-US" altLang="zh-CN" smtClean="0"/>
              <a:t>C</a:t>
            </a:r>
            <a:r>
              <a:rPr lang="zh-CN" altLang="en-US" smtClean="0"/>
              <a:t>第一个且</a:t>
            </a:r>
            <a:r>
              <a:rPr lang="en-US" altLang="zh-CN" smtClean="0"/>
              <a:t>D</a:t>
            </a:r>
            <a:r>
              <a:rPr lang="zh-CN" altLang="en-US" smtClean="0"/>
              <a:t>第二个出栈）的次序有哪几个 ？</a:t>
            </a:r>
          </a:p>
        </p:txBody>
      </p:sp>
      <p:sp>
        <p:nvSpPr>
          <p:cNvPr id="244740" name="Rectangle 4"/>
          <p:cNvSpPr>
            <a:spLocks noChangeArrowheads="1"/>
          </p:cNvSpPr>
          <p:nvPr/>
        </p:nvSpPr>
        <p:spPr bwMode="auto">
          <a:xfrm>
            <a:off x="2135188" y="3284538"/>
            <a:ext cx="7921625" cy="936625"/>
          </a:xfrm>
          <a:prstGeom prst="rect">
            <a:avLst/>
          </a:prstGeom>
          <a:solidFill>
            <a:srgbClr val="CCFFFF"/>
          </a:solidFill>
          <a:ln w="25400" algn="ctr">
            <a:solidFill>
              <a:schemeClr val="accent1"/>
            </a:solidFill>
            <a:miter lim="800000"/>
            <a:headEnd/>
            <a:tailEnd/>
          </a:ln>
        </p:spPr>
        <p:txBody>
          <a:bodyPr wrap="none" anchor="ct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ctr" eaLnBrk="1" hangingPunct="1">
              <a:lnSpc>
                <a:spcPct val="80000"/>
              </a:lnSpc>
              <a:spcBef>
                <a:spcPct val="20000"/>
              </a:spcBef>
              <a:buClr>
                <a:schemeClr val="hlink"/>
              </a:buClr>
              <a:buFont typeface="Wingdings" panose="05000000000000000000" pitchFamily="2" charset="2"/>
              <a:buNone/>
            </a:pPr>
            <a:r>
              <a:rPr lang="en-US" altLang="zh-CN">
                <a:latin typeface="Arial" panose="020B0604020202020204" pitchFamily="34" charset="0"/>
                <a:ea typeface="宋体" panose="02010600030101010101" pitchFamily="2" charset="-122"/>
              </a:rPr>
              <a:t>CDEBA</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CDBEA</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CDBAE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44740"/>
                                        </p:tgtEl>
                                        <p:attrNameLst>
                                          <p:attrName>style.visibility</p:attrName>
                                        </p:attrNameLst>
                                      </p:cBhvr>
                                      <p:to>
                                        <p:strVal val="visible"/>
                                      </p:to>
                                    </p:set>
                                    <p:animEffect transition="in" filter="box(in)">
                                      <p:cBhvr>
                                        <p:cTn id="7" dur="500"/>
                                        <p:tgtEl>
                                          <p:spTgt spid="244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527050" y="333375"/>
            <a:ext cx="10321925" cy="863600"/>
          </a:xfrm>
        </p:spPr>
        <p:txBody>
          <a:bodyPr/>
          <a:lstStyle/>
          <a:p>
            <a:pPr eaLnBrk="1" hangingPunct="1"/>
            <a:r>
              <a:rPr lang="en-US" altLang="zh-CN" b="1" smtClean="0"/>
              <a:t>3.1.3 </a:t>
            </a:r>
            <a:r>
              <a:rPr lang="zh-CN" altLang="en-US" b="1" smtClean="0"/>
              <a:t>栈的链式</a:t>
            </a:r>
            <a:r>
              <a:rPr lang="zh-CN" altLang="zh-CN" b="1" smtClean="0"/>
              <a:t>存储结构以及操作的实现</a:t>
            </a:r>
            <a:endParaRPr lang="zh-CN" altLang="en-US" sz="3600" b="1" smtClean="0"/>
          </a:p>
        </p:txBody>
      </p:sp>
      <p:sp>
        <p:nvSpPr>
          <p:cNvPr id="52227"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z="2100" b="1" smtClean="0">
                <a:solidFill>
                  <a:srgbClr val="FF3300"/>
                </a:solidFill>
              </a:rPr>
              <a:t>[</a:t>
            </a:r>
            <a:r>
              <a:rPr lang="zh-CN" altLang="en-US" sz="2100" b="1" smtClean="0">
                <a:solidFill>
                  <a:srgbClr val="FF3300"/>
                </a:solidFill>
              </a:rPr>
              <a:t>类型定义</a:t>
            </a:r>
            <a:r>
              <a:rPr lang="en-US" altLang="zh-CN" sz="2100" b="1" smtClean="0">
                <a:solidFill>
                  <a:srgbClr val="FF3300"/>
                </a:solidFill>
              </a:rPr>
              <a:t>]</a:t>
            </a:r>
            <a:r>
              <a:rPr lang="en-US" altLang="zh-CN" sz="2100" smtClean="0"/>
              <a:t>       </a:t>
            </a:r>
            <a:r>
              <a:rPr lang="zh-CN" altLang="en-US" sz="2100" smtClean="0">
                <a:solidFill>
                  <a:schemeClr val="accent2"/>
                </a:solidFill>
                <a:latin typeface="楷体_GB2312" panose="02010609030101010101" pitchFamily="49" charset="-122"/>
                <a:ea typeface="楷体_GB2312" panose="02010609030101010101" pitchFamily="49" charset="-122"/>
              </a:rPr>
              <a:t>栈顶指针</a:t>
            </a:r>
            <a:r>
              <a:rPr lang="en-US" altLang="zh-CN" sz="2100" smtClean="0">
                <a:solidFill>
                  <a:schemeClr val="accent2"/>
                </a:solidFill>
                <a:latin typeface="楷体_GB2312" panose="02010609030101010101" pitchFamily="49" charset="-122"/>
                <a:ea typeface="楷体_GB2312" panose="02010609030101010101" pitchFamily="49" charset="-122"/>
              </a:rPr>
              <a:t>(</a:t>
            </a:r>
            <a:r>
              <a:rPr lang="zh-CN" altLang="en-US" sz="2100" smtClean="0">
                <a:solidFill>
                  <a:schemeClr val="accent2"/>
                </a:solidFill>
                <a:latin typeface="楷体_GB2312" panose="02010609030101010101" pitchFamily="49" charset="-122"/>
                <a:ea typeface="楷体_GB2312" panose="02010609030101010101" pitchFamily="49" charset="-122"/>
              </a:rPr>
              <a:t>链首指针</a:t>
            </a:r>
            <a:r>
              <a:rPr lang="en-US" altLang="zh-CN" sz="2100" smtClean="0">
                <a:solidFill>
                  <a:schemeClr val="accent2"/>
                </a:solidFill>
                <a:latin typeface="楷体_GB2312" panose="02010609030101010101" pitchFamily="49" charset="-122"/>
                <a:ea typeface="楷体_GB2312" panose="02010609030101010101" pitchFamily="49" charset="-122"/>
              </a:rPr>
              <a:t>)</a:t>
            </a:r>
          </a:p>
          <a:p>
            <a:pPr eaLnBrk="1" hangingPunct="1">
              <a:buFont typeface="Wingdings" panose="05000000000000000000" pitchFamily="2" charset="2"/>
              <a:buNone/>
            </a:pPr>
            <a:r>
              <a:rPr lang="en-US" altLang="zh-CN" sz="2100" smtClean="0"/>
              <a:t>        </a:t>
            </a:r>
            <a:endParaRPr lang="en-US" altLang="zh-CN" sz="2600" smtClean="0"/>
          </a:p>
        </p:txBody>
      </p:sp>
      <p:grpSp>
        <p:nvGrpSpPr>
          <p:cNvPr id="52228" name="Group 23"/>
          <p:cNvGrpSpPr>
            <a:grpSpLocks/>
          </p:cNvGrpSpPr>
          <p:nvPr/>
        </p:nvGrpSpPr>
        <p:grpSpPr bwMode="auto">
          <a:xfrm>
            <a:off x="2971800" y="5334000"/>
            <a:ext cx="6019800" cy="762000"/>
            <a:chOff x="912" y="3360"/>
            <a:chExt cx="3792" cy="480"/>
          </a:xfrm>
        </p:grpSpPr>
        <p:sp>
          <p:nvSpPr>
            <p:cNvPr id="52230" name="Rectangle 4"/>
            <p:cNvSpPr>
              <a:spLocks noChangeArrowheads="1"/>
            </p:cNvSpPr>
            <p:nvPr/>
          </p:nvSpPr>
          <p:spPr bwMode="auto">
            <a:xfrm>
              <a:off x="1392" y="3408"/>
              <a:ext cx="672"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2231" name="Line 5"/>
            <p:cNvSpPr>
              <a:spLocks noChangeShapeType="1"/>
            </p:cNvSpPr>
            <p:nvPr/>
          </p:nvSpPr>
          <p:spPr bwMode="auto">
            <a:xfrm>
              <a:off x="1728" y="340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2" name="Rectangle 6"/>
            <p:cNvSpPr>
              <a:spLocks noChangeArrowheads="1"/>
            </p:cNvSpPr>
            <p:nvPr/>
          </p:nvSpPr>
          <p:spPr bwMode="auto">
            <a:xfrm>
              <a:off x="2352" y="3408"/>
              <a:ext cx="672"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2233" name="Line 7"/>
            <p:cNvSpPr>
              <a:spLocks noChangeShapeType="1"/>
            </p:cNvSpPr>
            <p:nvPr/>
          </p:nvSpPr>
          <p:spPr bwMode="auto">
            <a:xfrm>
              <a:off x="2688" y="340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4" name="Line 8"/>
            <p:cNvSpPr>
              <a:spLocks noChangeShapeType="1"/>
            </p:cNvSpPr>
            <p:nvPr/>
          </p:nvSpPr>
          <p:spPr bwMode="auto">
            <a:xfrm>
              <a:off x="1872" y="3504"/>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5" name="Rectangle 9"/>
            <p:cNvSpPr>
              <a:spLocks noChangeArrowheads="1"/>
            </p:cNvSpPr>
            <p:nvPr/>
          </p:nvSpPr>
          <p:spPr bwMode="auto">
            <a:xfrm>
              <a:off x="3936" y="3408"/>
              <a:ext cx="672"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2236" name="Line 10"/>
            <p:cNvSpPr>
              <a:spLocks noChangeShapeType="1"/>
            </p:cNvSpPr>
            <p:nvPr/>
          </p:nvSpPr>
          <p:spPr bwMode="auto">
            <a:xfrm>
              <a:off x="4272" y="340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7" name="Line 11"/>
            <p:cNvSpPr>
              <a:spLocks noChangeShapeType="1"/>
            </p:cNvSpPr>
            <p:nvPr/>
          </p:nvSpPr>
          <p:spPr bwMode="auto">
            <a:xfrm>
              <a:off x="2928" y="3504"/>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8" name="Line 12"/>
            <p:cNvSpPr>
              <a:spLocks noChangeShapeType="1"/>
            </p:cNvSpPr>
            <p:nvPr/>
          </p:nvSpPr>
          <p:spPr bwMode="auto">
            <a:xfrm>
              <a:off x="3648" y="3504"/>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9" name="Line 13"/>
            <p:cNvSpPr>
              <a:spLocks noChangeShapeType="1"/>
            </p:cNvSpPr>
            <p:nvPr/>
          </p:nvSpPr>
          <p:spPr bwMode="auto">
            <a:xfrm flipV="1">
              <a:off x="3312" y="3504"/>
              <a:ext cx="432"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0" name="Line 14"/>
            <p:cNvSpPr>
              <a:spLocks noChangeShapeType="1"/>
            </p:cNvSpPr>
            <p:nvPr/>
          </p:nvSpPr>
          <p:spPr bwMode="auto">
            <a:xfrm>
              <a:off x="1104" y="3504"/>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1" name="Line 15"/>
            <p:cNvSpPr>
              <a:spLocks noChangeShapeType="1"/>
            </p:cNvSpPr>
            <p:nvPr/>
          </p:nvSpPr>
          <p:spPr bwMode="auto">
            <a:xfrm>
              <a:off x="1104" y="350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2" name="Text Box 16"/>
            <p:cNvSpPr txBox="1">
              <a:spLocks noChangeArrowheads="1"/>
            </p:cNvSpPr>
            <p:nvPr/>
          </p:nvSpPr>
          <p:spPr bwMode="auto">
            <a:xfrm>
              <a:off x="912" y="355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top</a:t>
              </a:r>
            </a:p>
          </p:txBody>
        </p:sp>
        <p:sp>
          <p:nvSpPr>
            <p:cNvPr id="52243" name="Text Box 17"/>
            <p:cNvSpPr txBox="1">
              <a:spLocks noChangeArrowheads="1"/>
            </p:cNvSpPr>
            <p:nvPr/>
          </p:nvSpPr>
          <p:spPr bwMode="auto">
            <a:xfrm>
              <a:off x="4368" y="340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t>
              </a:r>
            </a:p>
          </p:txBody>
        </p:sp>
        <p:sp>
          <p:nvSpPr>
            <p:cNvPr id="52244" name="Text Box 19"/>
            <p:cNvSpPr txBox="1">
              <a:spLocks noChangeArrowheads="1"/>
            </p:cNvSpPr>
            <p:nvPr/>
          </p:nvSpPr>
          <p:spPr bwMode="auto">
            <a:xfrm>
              <a:off x="3984" y="3408"/>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a</a:t>
              </a:r>
              <a:r>
                <a:rPr kumimoji="1" lang="en-US" altLang="zh-CN" sz="2000" baseline="-25000">
                  <a:latin typeface="Times New Roman" panose="02020603050405020304" pitchFamily="18" charset="0"/>
                  <a:ea typeface="宋体" panose="02010600030101010101" pitchFamily="2" charset="-122"/>
                </a:rPr>
                <a:t>1</a:t>
              </a:r>
              <a:endParaRPr kumimoji="1" lang="en-US" altLang="zh-CN" sz="2000">
                <a:latin typeface="Times New Roman" panose="02020603050405020304" pitchFamily="18" charset="0"/>
                <a:ea typeface="宋体" panose="02010600030101010101" pitchFamily="2" charset="-122"/>
              </a:endParaRPr>
            </a:p>
          </p:txBody>
        </p:sp>
        <p:sp>
          <p:nvSpPr>
            <p:cNvPr id="52245" name="Text Box 20"/>
            <p:cNvSpPr txBox="1">
              <a:spLocks noChangeArrowheads="1"/>
            </p:cNvSpPr>
            <p:nvPr/>
          </p:nvSpPr>
          <p:spPr bwMode="auto">
            <a:xfrm>
              <a:off x="2352" y="340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a </a:t>
              </a:r>
              <a:r>
                <a:rPr kumimoji="1" lang="en-US" altLang="zh-CN" sz="2000" baseline="-25000">
                  <a:latin typeface="Times New Roman" panose="02020603050405020304" pitchFamily="18" charset="0"/>
                  <a:ea typeface="宋体" panose="02010600030101010101" pitchFamily="2" charset="-122"/>
                </a:rPr>
                <a:t>n-1</a:t>
              </a:r>
            </a:p>
          </p:txBody>
        </p:sp>
        <p:sp>
          <p:nvSpPr>
            <p:cNvPr id="52246" name="Text Box 21"/>
            <p:cNvSpPr txBox="1">
              <a:spLocks noChangeArrowheads="1"/>
            </p:cNvSpPr>
            <p:nvPr/>
          </p:nvSpPr>
          <p:spPr bwMode="auto">
            <a:xfrm>
              <a:off x="1440" y="336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grpSp>
      <p:sp>
        <p:nvSpPr>
          <p:cNvPr id="52229" name="Text Box 22"/>
          <p:cNvSpPr txBox="1">
            <a:spLocks noChangeArrowheads="1"/>
          </p:cNvSpPr>
          <p:nvPr/>
        </p:nvSpPr>
        <p:spPr bwMode="auto">
          <a:xfrm>
            <a:off x="3006725" y="2627313"/>
            <a:ext cx="5867400" cy="2308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cs typeface="Times New Roman" panose="02020603050405020304" pitchFamily="18" charset="0"/>
              </a:rPr>
              <a:t>typedef  struct node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cs typeface="Times New Roman" panose="02020603050405020304" pitchFamily="18" charset="0"/>
              </a:rPr>
              <a:t>    Elemtype     data;</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cs typeface="Times New Roman" panose="02020603050405020304" pitchFamily="18" charset="0"/>
              </a:rPr>
              <a:t>    struct node  *next;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cs typeface="Times New Roman" panose="02020603050405020304" pitchFamily="18" charset="0"/>
              </a:rPr>
              <a:t>}  LinkStack;</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cs typeface="Times New Roman" panose="02020603050405020304" pitchFamily="18" charset="0"/>
              </a:rPr>
              <a:t>LinkStack  * top;</a:t>
            </a:r>
            <a:endParaRPr kumimoji="1"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53251" name="Rectangle 3"/>
          <p:cNvSpPr>
            <a:spLocks noGrp="1" noChangeArrowheads="1"/>
          </p:cNvSpPr>
          <p:nvPr>
            <p:ph idx="1"/>
          </p:nvPr>
        </p:nvSpPr>
        <p:spPr>
          <a:xfrm>
            <a:off x="527050" y="1773238"/>
            <a:ext cx="10321925" cy="4351337"/>
          </a:xfrm>
        </p:spPr>
        <p:txBody>
          <a:bodyPr/>
          <a:lstStyle/>
          <a:p>
            <a:pPr eaLnBrk="1" hangingPunct="1">
              <a:lnSpc>
                <a:spcPct val="80000"/>
              </a:lnSpc>
            </a:pPr>
            <a:r>
              <a:rPr lang="zh-CN" altLang="en-US" sz="2600" smtClean="0"/>
              <a:t>此时只需要对顺序栈的基本操作接口作两处改动，便可作为链栈的基本操作接口。</a:t>
            </a:r>
            <a:br>
              <a:rPr lang="zh-CN" altLang="en-US" sz="2600" smtClean="0"/>
            </a:br>
            <a:r>
              <a:rPr lang="zh-CN" altLang="en-US" sz="2600" smtClean="0"/>
              <a:t/>
            </a:r>
            <a:br>
              <a:rPr lang="zh-CN" altLang="en-US" sz="2600" smtClean="0"/>
            </a:br>
            <a:r>
              <a:rPr lang="zh-CN" altLang="en-US" sz="2600" smtClean="0"/>
              <a:t>　　</a:t>
            </a:r>
            <a:r>
              <a:rPr lang="zh-CN" altLang="en-US" sz="2600" b="1" smtClean="0"/>
              <a:t>其一是</a:t>
            </a:r>
            <a:r>
              <a:rPr lang="zh-CN" altLang="en-US" sz="2600" smtClean="0"/>
              <a:t>，初始化时不需要</a:t>
            </a:r>
            <a:r>
              <a:rPr lang="zh-CN" altLang="en-US" sz="2600" smtClean="0">
                <a:latin typeface="Arial" panose="020B0604020202020204" pitchFamily="34" charset="0"/>
              </a:rPr>
              <a:t>“</a:t>
            </a:r>
            <a:r>
              <a:rPr lang="en-US" altLang="zh-CN" sz="2600" smtClean="0"/>
              <a:t>maxsize</a:t>
            </a:r>
            <a:r>
              <a:rPr lang="en-US" altLang="zh-CN" sz="2600" smtClean="0">
                <a:latin typeface="Arial" panose="020B0604020202020204" pitchFamily="34" charset="0"/>
              </a:rPr>
              <a:t>”</a:t>
            </a:r>
            <a:r>
              <a:rPr lang="zh-CN" altLang="en-US" sz="2600" smtClean="0"/>
              <a:t>的参数，因为它不需要事先分配空间；</a:t>
            </a:r>
            <a:r>
              <a:rPr lang="zh-CN" altLang="en-US" sz="2600" b="1" smtClean="0"/>
              <a:t>其二是</a:t>
            </a:r>
            <a:r>
              <a:rPr lang="zh-CN" altLang="en-US" sz="2600" smtClean="0"/>
              <a:t>，在进行入栈操作时不需要顾忌栈的空间是否已经被填满。</a:t>
            </a:r>
          </a:p>
          <a:p>
            <a:pPr eaLnBrk="1" hangingPunct="1">
              <a:lnSpc>
                <a:spcPct val="80000"/>
              </a:lnSpc>
            </a:pPr>
            <a:endParaRPr lang="zh-CN" altLang="en-US" sz="2600" smtClean="0"/>
          </a:p>
          <a:p>
            <a:pPr eaLnBrk="1" hangingPunct="1">
              <a:lnSpc>
                <a:spcPct val="80000"/>
              </a:lnSpc>
            </a:pPr>
            <a:r>
              <a:rPr lang="zh-CN" altLang="en-US" sz="2600" smtClean="0"/>
              <a:t>链栈的定义更简单，结点结构和单链表中的结点结构相同，无须重复定义。</a:t>
            </a:r>
            <a:r>
              <a:rPr lang="zh-CN" altLang="en-US" sz="2600" b="1" smtClean="0"/>
              <a:t>由于栈只在栈顶作插入和删除操作，因此链栈中不需要头结点，但要注意链栈中指针的方向是从栈顶指向栈底的，这正好和单链表是相反的。</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527050" y="333375"/>
            <a:ext cx="10321925" cy="863600"/>
          </a:xfrm>
        </p:spPr>
        <p:txBody>
          <a:bodyPr/>
          <a:lstStyle/>
          <a:p>
            <a:pPr eaLnBrk="1" hangingPunct="1"/>
            <a:endParaRPr lang="zh-CN" altLang="en-US" smtClean="0"/>
          </a:p>
        </p:txBody>
      </p:sp>
      <p:pic>
        <p:nvPicPr>
          <p:cNvPr id="173060" name="Picture 4" descr="3_1_2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7800" y="2781300"/>
            <a:ext cx="2341563"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61" name="AutoShape 5"/>
          <p:cNvSpPr>
            <a:spLocks noChangeArrowheads="1"/>
          </p:cNvSpPr>
          <p:nvPr/>
        </p:nvSpPr>
        <p:spPr bwMode="auto">
          <a:xfrm>
            <a:off x="2351088" y="2997200"/>
            <a:ext cx="3673475" cy="2447925"/>
          </a:xfrm>
          <a:prstGeom prst="wedgeRectCallout">
            <a:avLst>
              <a:gd name="adj1" fmla="val 70699"/>
              <a:gd name="adj2" fmla="val -34306"/>
            </a:avLst>
          </a:prstGeom>
          <a:solidFill>
            <a:schemeClr val="bg1"/>
          </a:solidFill>
          <a:ln w="9525">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400">
                <a:latin typeface="华文楷体" panose="02010600040101010101" pitchFamily="2" charset="-122"/>
                <a:ea typeface="华文楷体" panose="02010600040101010101" pitchFamily="2" charset="-122"/>
              </a:rPr>
              <a:t>能否将链栈中的指针方向反过来，从栈底到栈顶？ </a:t>
            </a:r>
          </a:p>
          <a:p>
            <a:pPr eaLnBrk="1" hangingPunct="1">
              <a:lnSpc>
                <a:spcPct val="100000"/>
              </a:lnSpc>
              <a:spcBef>
                <a:spcPct val="0"/>
              </a:spcBef>
              <a:buFontTx/>
              <a:buNone/>
            </a:pPr>
            <a:r>
              <a:rPr lang="zh-CN" altLang="en-US" sz="2400">
                <a:latin typeface="华文楷体" panose="02010600040101010101" pitchFamily="2" charset="-122"/>
                <a:ea typeface="华文楷体" panose="02010600040101010101" pitchFamily="2" charset="-122"/>
              </a:rPr>
              <a:t>　不行，如果反过来的话，删除栈顶元素时，为修改其前驱指针，需要从栈底一直找到栈顶。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73060"/>
                                        </p:tgtEl>
                                        <p:attrNameLst>
                                          <p:attrName>style.visibility</p:attrName>
                                        </p:attrNameLst>
                                      </p:cBhvr>
                                      <p:to>
                                        <p:strVal val="visible"/>
                                      </p:to>
                                    </p:set>
                                    <p:animEffect transition="in" filter="diamond(in)">
                                      <p:cBhvr>
                                        <p:cTn id="7" dur="2000"/>
                                        <p:tgtEl>
                                          <p:spTgt spid="1730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3061"/>
                                        </p:tgtEl>
                                        <p:attrNameLst>
                                          <p:attrName>style.visibility</p:attrName>
                                        </p:attrNameLst>
                                      </p:cBhvr>
                                      <p:to>
                                        <p:strVal val="visible"/>
                                      </p:to>
                                    </p:set>
                                    <p:animEffect transition="in" filter="checkerboard(across)">
                                      <p:cBhvr>
                                        <p:cTn id="12" dur="500"/>
                                        <p:tgtEl>
                                          <p:spTgt spid="1730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xit" presetSubtype="16" fill="hold" grpId="1" nodeType="clickEffect">
                                  <p:stCondLst>
                                    <p:cond delay="0"/>
                                  </p:stCondLst>
                                  <p:childTnLst>
                                    <p:animEffect transition="out" filter="box(in)">
                                      <p:cBhvr>
                                        <p:cTn id="16" dur="500"/>
                                        <p:tgtEl>
                                          <p:spTgt spid="173061"/>
                                        </p:tgtEl>
                                      </p:cBhvr>
                                    </p:animEffect>
                                    <p:set>
                                      <p:cBhvr>
                                        <p:cTn id="17" dur="1" fill="hold">
                                          <p:stCondLst>
                                            <p:cond delay="499"/>
                                          </p:stCondLst>
                                        </p:cTn>
                                        <p:tgtEl>
                                          <p:spTgt spid="1730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animBg="1"/>
      <p:bldP spid="173061"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1343025" y="1773238"/>
            <a:ext cx="7543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Push_LinkStack</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LinkStack </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top, Elemtype e</a:t>
            </a:r>
            <a:r>
              <a:rPr kumimoji="1" lang="zh-CN" altLang="en-US"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 = (LinkStack*)malloc(sizeof(LinkStack));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s-&gt;data = 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s-&gt;next = </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top;</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top = s;</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p:txBody>
      </p:sp>
      <p:sp>
        <p:nvSpPr>
          <p:cNvPr id="55299" name="标题 1"/>
          <p:cNvSpPr>
            <a:spLocks noGrp="1"/>
          </p:cNvSpPr>
          <p:nvPr>
            <p:ph type="title"/>
          </p:nvPr>
        </p:nvSpPr>
        <p:spPr>
          <a:xfrm>
            <a:off x="527050" y="333375"/>
            <a:ext cx="10321925" cy="863600"/>
          </a:xfrm>
        </p:spPr>
        <p:txBody>
          <a:bodyPr/>
          <a:lstStyle/>
          <a:p>
            <a:pPr eaLnBrk="1" hangingPunct="1"/>
            <a:r>
              <a:rPr lang="en-US" altLang="zh-CN" smtClean="0"/>
              <a:t>(1) </a:t>
            </a:r>
            <a:r>
              <a:rPr lang="zh-CN" altLang="en-US" smtClean="0"/>
              <a:t>入栈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1328738" y="1487488"/>
            <a:ext cx="7477125"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Status   Pop_LinkStack (LinkStack  </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top, Elemtype  &amp;e)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if </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top = = NULL</a:t>
            </a:r>
            <a:r>
              <a:rPr kumimoji="1" lang="zh-CN" altLang="en-US" sz="2400">
                <a:latin typeface="Times New Roman" panose="02020603050405020304" pitchFamily="18" charset="0"/>
                <a:ea typeface="宋体" panose="02010600030101010101" pitchFamily="2" charset="-122"/>
              </a:rPr>
              <a:t>） </a:t>
            </a:r>
            <a:r>
              <a:rPr kumimoji="1" lang="en-US" altLang="zh-CN" sz="2400">
                <a:latin typeface="Times New Roman" panose="02020603050405020304" pitchFamily="18" charset="0"/>
                <a:ea typeface="宋体" panose="02010600030101010101" pitchFamily="2" charset="-122"/>
              </a:rPr>
              <a:t>return ERROR;</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 = (</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top)-&gt;data;</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p = </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top;</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top = (</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top)-&gt;next;</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free (p);</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p:txBody>
      </p:sp>
      <p:grpSp>
        <p:nvGrpSpPr>
          <p:cNvPr id="56323" name="Group 3"/>
          <p:cNvGrpSpPr>
            <a:grpSpLocks/>
          </p:cNvGrpSpPr>
          <p:nvPr/>
        </p:nvGrpSpPr>
        <p:grpSpPr bwMode="auto">
          <a:xfrm>
            <a:off x="3124200" y="5638800"/>
            <a:ext cx="6019800" cy="762000"/>
            <a:chOff x="912" y="3360"/>
            <a:chExt cx="3792" cy="480"/>
          </a:xfrm>
        </p:grpSpPr>
        <p:sp>
          <p:nvSpPr>
            <p:cNvPr id="56325" name="Rectangle 4"/>
            <p:cNvSpPr>
              <a:spLocks noChangeArrowheads="1"/>
            </p:cNvSpPr>
            <p:nvPr/>
          </p:nvSpPr>
          <p:spPr bwMode="auto">
            <a:xfrm>
              <a:off x="1392" y="3408"/>
              <a:ext cx="672"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6326" name="Line 5"/>
            <p:cNvSpPr>
              <a:spLocks noChangeShapeType="1"/>
            </p:cNvSpPr>
            <p:nvPr/>
          </p:nvSpPr>
          <p:spPr bwMode="auto">
            <a:xfrm>
              <a:off x="1728" y="340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7" name="Rectangle 6"/>
            <p:cNvSpPr>
              <a:spLocks noChangeArrowheads="1"/>
            </p:cNvSpPr>
            <p:nvPr/>
          </p:nvSpPr>
          <p:spPr bwMode="auto">
            <a:xfrm>
              <a:off x="2352" y="3408"/>
              <a:ext cx="672"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6328" name="Line 7"/>
            <p:cNvSpPr>
              <a:spLocks noChangeShapeType="1"/>
            </p:cNvSpPr>
            <p:nvPr/>
          </p:nvSpPr>
          <p:spPr bwMode="auto">
            <a:xfrm>
              <a:off x="2688" y="340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9" name="Line 8"/>
            <p:cNvSpPr>
              <a:spLocks noChangeShapeType="1"/>
            </p:cNvSpPr>
            <p:nvPr/>
          </p:nvSpPr>
          <p:spPr bwMode="auto">
            <a:xfrm>
              <a:off x="1872" y="3504"/>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0" name="Rectangle 9"/>
            <p:cNvSpPr>
              <a:spLocks noChangeArrowheads="1"/>
            </p:cNvSpPr>
            <p:nvPr/>
          </p:nvSpPr>
          <p:spPr bwMode="auto">
            <a:xfrm>
              <a:off x="3936" y="3408"/>
              <a:ext cx="672"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6331" name="Line 10"/>
            <p:cNvSpPr>
              <a:spLocks noChangeShapeType="1"/>
            </p:cNvSpPr>
            <p:nvPr/>
          </p:nvSpPr>
          <p:spPr bwMode="auto">
            <a:xfrm>
              <a:off x="4272" y="340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2" name="Line 11"/>
            <p:cNvSpPr>
              <a:spLocks noChangeShapeType="1"/>
            </p:cNvSpPr>
            <p:nvPr/>
          </p:nvSpPr>
          <p:spPr bwMode="auto">
            <a:xfrm>
              <a:off x="2928" y="3504"/>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3" name="Line 12"/>
            <p:cNvSpPr>
              <a:spLocks noChangeShapeType="1"/>
            </p:cNvSpPr>
            <p:nvPr/>
          </p:nvSpPr>
          <p:spPr bwMode="auto">
            <a:xfrm>
              <a:off x="3648" y="3504"/>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4" name="Line 13"/>
            <p:cNvSpPr>
              <a:spLocks noChangeShapeType="1"/>
            </p:cNvSpPr>
            <p:nvPr/>
          </p:nvSpPr>
          <p:spPr bwMode="auto">
            <a:xfrm flipV="1">
              <a:off x="3312" y="3504"/>
              <a:ext cx="432"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5" name="Line 14"/>
            <p:cNvSpPr>
              <a:spLocks noChangeShapeType="1"/>
            </p:cNvSpPr>
            <p:nvPr/>
          </p:nvSpPr>
          <p:spPr bwMode="auto">
            <a:xfrm>
              <a:off x="1104" y="3504"/>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6" name="Line 15"/>
            <p:cNvSpPr>
              <a:spLocks noChangeShapeType="1"/>
            </p:cNvSpPr>
            <p:nvPr/>
          </p:nvSpPr>
          <p:spPr bwMode="auto">
            <a:xfrm>
              <a:off x="1104" y="350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7" name="Text Box 16"/>
            <p:cNvSpPr txBox="1">
              <a:spLocks noChangeArrowheads="1"/>
            </p:cNvSpPr>
            <p:nvPr/>
          </p:nvSpPr>
          <p:spPr bwMode="auto">
            <a:xfrm>
              <a:off x="912" y="355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top</a:t>
              </a:r>
            </a:p>
          </p:txBody>
        </p:sp>
        <p:sp>
          <p:nvSpPr>
            <p:cNvPr id="56338" name="Text Box 17"/>
            <p:cNvSpPr txBox="1">
              <a:spLocks noChangeArrowheads="1"/>
            </p:cNvSpPr>
            <p:nvPr/>
          </p:nvSpPr>
          <p:spPr bwMode="auto">
            <a:xfrm>
              <a:off x="4368" y="340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t>
              </a:r>
            </a:p>
          </p:txBody>
        </p:sp>
        <p:sp>
          <p:nvSpPr>
            <p:cNvPr id="56339" name="Text Box 18"/>
            <p:cNvSpPr txBox="1">
              <a:spLocks noChangeArrowheads="1"/>
            </p:cNvSpPr>
            <p:nvPr/>
          </p:nvSpPr>
          <p:spPr bwMode="auto">
            <a:xfrm>
              <a:off x="3984" y="3408"/>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a</a:t>
              </a:r>
              <a:r>
                <a:rPr kumimoji="1" lang="en-US" altLang="zh-CN" sz="2000" baseline="-25000">
                  <a:latin typeface="Times New Roman" panose="02020603050405020304" pitchFamily="18" charset="0"/>
                  <a:ea typeface="宋体" panose="02010600030101010101" pitchFamily="2" charset="-122"/>
                </a:rPr>
                <a:t>1</a:t>
              </a:r>
              <a:endParaRPr kumimoji="1" lang="en-US" altLang="zh-CN" sz="2000">
                <a:latin typeface="Times New Roman" panose="02020603050405020304" pitchFamily="18" charset="0"/>
                <a:ea typeface="宋体" panose="02010600030101010101" pitchFamily="2" charset="-122"/>
              </a:endParaRPr>
            </a:p>
          </p:txBody>
        </p:sp>
        <p:sp>
          <p:nvSpPr>
            <p:cNvPr id="56340" name="Text Box 19"/>
            <p:cNvSpPr txBox="1">
              <a:spLocks noChangeArrowheads="1"/>
            </p:cNvSpPr>
            <p:nvPr/>
          </p:nvSpPr>
          <p:spPr bwMode="auto">
            <a:xfrm>
              <a:off x="2352" y="340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a </a:t>
              </a:r>
              <a:r>
                <a:rPr kumimoji="1" lang="en-US" altLang="zh-CN" sz="2000" baseline="-25000">
                  <a:latin typeface="Times New Roman" panose="02020603050405020304" pitchFamily="18" charset="0"/>
                  <a:ea typeface="宋体" panose="02010600030101010101" pitchFamily="2" charset="-122"/>
                </a:rPr>
                <a:t>n-1</a:t>
              </a:r>
            </a:p>
          </p:txBody>
        </p:sp>
        <p:sp>
          <p:nvSpPr>
            <p:cNvPr id="56341" name="Text Box 20"/>
            <p:cNvSpPr txBox="1">
              <a:spLocks noChangeArrowheads="1"/>
            </p:cNvSpPr>
            <p:nvPr/>
          </p:nvSpPr>
          <p:spPr bwMode="auto">
            <a:xfrm>
              <a:off x="1440" y="336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grpSp>
      <p:sp>
        <p:nvSpPr>
          <p:cNvPr id="56324" name="标题 1"/>
          <p:cNvSpPr>
            <a:spLocks noGrp="1"/>
          </p:cNvSpPr>
          <p:nvPr>
            <p:ph type="title"/>
          </p:nvPr>
        </p:nvSpPr>
        <p:spPr>
          <a:xfrm>
            <a:off x="527050" y="333375"/>
            <a:ext cx="10321925" cy="863600"/>
          </a:xfrm>
        </p:spPr>
        <p:txBody>
          <a:bodyPr/>
          <a:lstStyle/>
          <a:p>
            <a:pPr eaLnBrk="1" hangingPunct="1"/>
            <a:r>
              <a:rPr lang="en-US" altLang="zh-CN" smtClean="0"/>
              <a:t>(2) </a:t>
            </a:r>
            <a:r>
              <a:rPr lang="zh-CN" altLang="en-US" smtClean="0"/>
              <a:t>出栈</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527050" y="333375"/>
            <a:ext cx="10321925" cy="863600"/>
          </a:xfrm>
        </p:spPr>
        <p:txBody>
          <a:bodyPr/>
          <a:lstStyle/>
          <a:p>
            <a:pPr eaLnBrk="1" hangingPunct="1"/>
            <a:r>
              <a:rPr lang="en-US" altLang="zh-CN" b="1" smtClean="0"/>
              <a:t>3.1.4  </a:t>
            </a:r>
            <a:r>
              <a:rPr lang="zh-CN" altLang="en-US" b="1" smtClean="0"/>
              <a:t>栈的应用例</a:t>
            </a:r>
          </a:p>
        </p:txBody>
      </p:sp>
      <p:sp>
        <p:nvSpPr>
          <p:cNvPr id="57347" name="Rectangle 3"/>
          <p:cNvSpPr>
            <a:spLocks noGrp="1" noChangeArrowheads="1"/>
          </p:cNvSpPr>
          <p:nvPr>
            <p:ph idx="1"/>
          </p:nvPr>
        </p:nvSpPr>
        <p:spPr>
          <a:xfrm>
            <a:off x="527050" y="1773238"/>
            <a:ext cx="10321925" cy="4351337"/>
          </a:xfrm>
        </p:spPr>
        <p:txBody>
          <a:bodyPr/>
          <a:lstStyle/>
          <a:p>
            <a:pPr eaLnBrk="1" hangingPunct="1">
              <a:lnSpc>
                <a:spcPct val="80000"/>
              </a:lnSpc>
            </a:pPr>
            <a:r>
              <a:rPr lang="zh-CN" altLang="en-US" sz="2400" smtClean="0"/>
              <a:t>数制转换</a:t>
            </a:r>
          </a:p>
          <a:p>
            <a:pPr eaLnBrk="1" hangingPunct="1">
              <a:lnSpc>
                <a:spcPct val="80000"/>
              </a:lnSpc>
            </a:pPr>
            <a:r>
              <a:rPr lang="zh-CN" altLang="en-US" sz="2400" smtClean="0"/>
              <a:t>括弧匹配检验</a:t>
            </a:r>
          </a:p>
          <a:p>
            <a:pPr eaLnBrk="1" hangingPunct="1">
              <a:lnSpc>
                <a:spcPct val="80000"/>
              </a:lnSpc>
            </a:pPr>
            <a:r>
              <a:rPr lang="zh-CN" altLang="en-US" sz="2400" smtClean="0"/>
              <a:t>迷宫求解问题</a:t>
            </a:r>
          </a:p>
          <a:p>
            <a:pPr eaLnBrk="1" hangingPunct="1">
              <a:lnSpc>
                <a:spcPct val="80000"/>
              </a:lnSpc>
            </a:pPr>
            <a:r>
              <a:rPr lang="zh-CN" altLang="en-US" b="1" smtClean="0">
                <a:solidFill>
                  <a:srgbClr val="993300"/>
                </a:solidFill>
              </a:rPr>
              <a:t>整型数简单表达式求值</a:t>
            </a:r>
            <a:endParaRPr lang="zh-CN" altLang="en-US" sz="2400" smtClean="0"/>
          </a:p>
          <a:p>
            <a:pPr eaLnBrk="1" hangingPunct="1">
              <a:lnSpc>
                <a:spcPct val="80000"/>
              </a:lnSpc>
            </a:pPr>
            <a:endParaRPr lang="en-US" altLang="zh-CN" sz="240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527050" y="333375"/>
            <a:ext cx="10321925" cy="863600"/>
          </a:xfrm>
        </p:spPr>
        <p:txBody>
          <a:bodyPr/>
          <a:lstStyle/>
          <a:p>
            <a:pPr eaLnBrk="1" hangingPunct="1"/>
            <a:r>
              <a:rPr lang="zh-CN" altLang="en-US" smtClean="0"/>
              <a:t>数制转换</a:t>
            </a:r>
          </a:p>
        </p:txBody>
      </p:sp>
      <p:sp>
        <p:nvSpPr>
          <p:cNvPr id="65539" name="Rectangle 3"/>
          <p:cNvSpPr>
            <a:spLocks noGrp="1" noChangeArrowheads="1"/>
          </p:cNvSpPr>
          <p:nvPr>
            <p:ph idx="1"/>
          </p:nvPr>
        </p:nvSpPr>
        <p:spPr>
          <a:xfrm>
            <a:off x="527050" y="1773238"/>
            <a:ext cx="10321925" cy="4351337"/>
          </a:xfrm>
        </p:spPr>
        <p:txBody>
          <a:bodyPr rtlCol="0">
            <a:normAutofit/>
          </a:bodyPr>
          <a:lstStyle/>
          <a:p>
            <a:pPr eaLnBrk="1" fontAlgn="auto" hangingPunct="1">
              <a:lnSpc>
                <a:spcPct val="80000"/>
              </a:lnSpc>
              <a:spcAft>
                <a:spcPts val="0"/>
              </a:spcAft>
              <a:defRPr/>
            </a:pPr>
            <a:r>
              <a:rPr lang="zh-CN" altLang="en-US" sz="1900" dirty="0"/>
              <a:t>十进制数</a:t>
            </a:r>
            <a:r>
              <a:rPr lang="en-US" altLang="zh-CN" sz="1900" dirty="0"/>
              <a:t>N</a:t>
            </a:r>
            <a:r>
              <a:rPr lang="zh-CN" altLang="en-US" sz="1900" dirty="0"/>
              <a:t>和其他</a:t>
            </a:r>
            <a:r>
              <a:rPr lang="en-US" altLang="zh-CN" sz="1900" dirty="0"/>
              <a:t>d</a:t>
            </a:r>
            <a:r>
              <a:rPr lang="zh-CN" altLang="en-US" sz="1900" dirty="0"/>
              <a:t>进制数的转换是计算机实现计算的基本问题，其解决方法很多，其中一个简单算法基于下列原理：</a:t>
            </a:r>
            <a:br>
              <a:rPr lang="zh-CN" altLang="en-US" sz="1900" dirty="0"/>
            </a:br>
            <a:r>
              <a:rPr lang="zh-CN" altLang="en-US" sz="1900" dirty="0"/>
              <a:t>　　　</a:t>
            </a:r>
            <a:r>
              <a:rPr lang="en-US" altLang="zh-CN" sz="1900" b="1" dirty="0"/>
              <a:t>N = (N div d)×d + N mod d</a:t>
            </a:r>
            <a:r>
              <a:rPr lang="en-US" altLang="zh-CN" sz="1900" dirty="0"/>
              <a:t> </a:t>
            </a:r>
            <a:br>
              <a:rPr lang="en-US" altLang="zh-CN" sz="1900" dirty="0"/>
            </a:br>
            <a:r>
              <a:rPr lang="zh-CN" altLang="en-US" sz="1900" dirty="0"/>
              <a:t>　　</a:t>
            </a:r>
            <a:r>
              <a:rPr lang="en-US" altLang="zh-CN" sz="1900" dirty="0"/>
              <a:t>(</a:t>
            </a:r>
            <a:r>
              <a:rPr lang="zh-CN" altLang="en-US" sz="1900" dirty="0"/>
              <a:t>其中：</a:t>
            </a:r>
            <a:r>
              <a:rPr lang="en-US" altLang="zh-CN" sz="1900" dirty="0"/>
              <a:t>div </a:t>
            </a:r>
            <a:r>
              <a:rPr lang="zh-CN" altLang="en-US" sz="1900" dirty="0"/>
              <a:t>为整除运算，</a:t>
            </a:r>
            <a:r>
              <a:rPr lang="en-US" altLang="zh-CN" sz="1900" dirty="0"/>
              <a:t>mod </a:t>
            </a:r>
            <a:r>
              <a:rPr lang="zh-CN" altLang="en-US" sz="1900" dirty="0"/>
              <a:t>为求余运算</a:t>
            </a:r>
            <a:r>
              <a:rPr lang="en-US" altLang="zh-CN" sz="1900" dirty="0"/>
              <a:t>)</a:t>
            </a:r>
            <a:br>
              <a:rPr lang="en-US" altLang="zh-CN" sz="1900" dirty="0"/>
            </a:br>
            <a:r>
              <a:rPr lang="en-US" altLang="zh-CN" sz="1900" dirty="0"/>
              <a:t/>
            </a:r>
            <a:br>
              <a:rPr lang="en-US" altLang="zh-CN" sz="1900" dirty="0"/>
            </a:br>
            <a:r>
              <a:rPr lang="zh-CN" altLang="en-US" sz="1900" dirty="0"/>
              <a:t>　例如：</a:t>
            </a:r>
            <a:r>
              <a:rPr lang="en-US" altLang="zh-CN" sz="1900" dirty="0"/>
              <a:t>(1348)10 = (2504)8 </a:t>
            </a:r>
            <a:r>
              <a:rPr lang="zh-CN" altLang="en-US" sz="1900" dirty="0"/>
              <a:t>：</a:t>
            </a:r>
          </a:p>
          <a:p>
            <a:pPr marL="0" indent="0" eaLnBrk="1" fontAlgn="auto" hangingPunct="1">
              <a:lnSpc>
                <a:spcPct val="80000"/>
              </a:lnSpc>
              <a:spcAft>
                <a:spcPts val="0"/>
              </a:spcAft>
              <a:buFont typeface="Wingdings" panose="05000000000000000000" pitchFamily="2" charset="2"/>
              <a:buNone/>
              <a:defRPr/>
            </a:pPr>
            <a:r>
              <a:rPr lang="zh-CN" altLang="en-US" sz="1900" dirty="0"/>
              <a:t/>
            </a:r>
            <a:br>
              <a:rPr lang="zh-CN" altLang="en-US" sz="1900" dirty="0"/>
            </a:br>
            <a:r>
              <a:rPr lang="zh-CN" altLang="en-US" sz="1900" dirty="0"/>
              <a:t>　　假设现要编制一个满足下列要求的程序：对于输入的任意一个非负十进制整数，打印输出与其等值的八进制数。</a:t>
            </a:r>
            <a:br>
              <a:rPr lang="zh-CN" altLang="en-US" sz="1900" dirty="0"/>
            </a:br>
            <a:r>
              <a:rPr lang="zh-CN" altLang="en-US" sz="1900" dirty="0"/>
              <a:t/>
            </a:r>
            <a:br>
              <a:rPr lang="zh-CN" altLang="en-US" sz="1900" dirty="0"/>
            </a:br>
            <a:r>
              <a:rPr lang="zh-CN" altLang="en-US" sz="1900" dirty="0"/>
              <a:t>　　问题很明确，就是要输出计算过程中所得到的各个八进制数位。这八进制的各个数位产生的顺序是从低位到高位的，而打印输出的顺序，一般来说应从高位到低位，这恰好和计算过程相反。 </a:t>
            </a:r>
            <a:br>
              <a:rPr lang="zh-CN" altLang="en-US" sz="1900" dirty="0"/>
            </a:br>
            <a:r>
              <a:rPr lang="zh-CN" altLang="en-US" sz="1900" dirty="0"/>
              <a:t>　　因此，需要先保存在计算过程中得到的八进制数的各位，然后逆序输出，因为它是按</a:t>
            </a:r>
            <a:r>
              <a:rPr lang="en-US" altLang="zh-CN" sz="1900" dirty="0"/>
              <a:t>"</a:t>
            </a:r>
            <a:r>
              <a:rPr lang="zh-CN" altLang="en-US" sz="1900" dirty="0"/>
              <a:t>后进先出</a:t>
            </a:r>
            <a:r>
              <a:rPr lang="en-US" altLang="zh-CN" sz="1900" dirty="0"/>
              <a:t>"</a:t>
            </a:r>
            <a:r>
              <a:rPr lang="zh-CN" altLang="en-US" sz="1900" dirty="0"/>
              <a:t>的规律进行的，所以用栈最合适。</a:t>
            </a:r>
            <a:br>
              <a:rPr lang="zh-CN" altLang="en-US" sz="1900" dirty="0"/>
            </a:br>
            <a:endParaRPr lang="zh-CN" altLang="en-US" sz="19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66563" name="Rectangle 3"/>
          <p:cNvSpPr>
            <a:spLocks noGrp="1" noChangeArrowheads="1"/>
          </p:cNvSpPr>
          <p:nvPr>
            <p:ph idx="1"/>
          </p:nvPr>
        </p:nvSpPr>
        <p:spPr>
          <a:xfrm>
            <a:off x="527050" y="1773238"/>
            <a:ext cx="10321925" cy="4351337"/>
          </a:xfrm>
        </p:spPr>
        <p:txBody>
          <a:bodyPr rtlCol="0">
            <a:normAutofit/>
          </a:bodyPr>
          <a:lstStyle/>
          <a:p>
            <a:pPr eaLnBrk="1" fontAlgn="auto" hangingPunct="1">
              <a:spcAft>
                <a:spcPts val="0"/>
              </a:spcAft>
              <a:defRPr/>
            </a:pPr>
            <a:r>
              <a:rPr lang="zh-CN" altLang="en-US" sz="2600" dirty="0"/>
              <a:t>八进制转十进制： </a:t>
            </a:r>
            <a:endParaRPr lang="en-US" altLang="zh-CN" sz="2600" dirty="0" smtClean="0"/>
          </a:p>
          <a:p>
            <a:pPr marL="0" indent="0" eaLnBrk="1" fontAlgn="auto" hangingPunct="1">
              <a:spcAft>
                <a:spcPts val="0"/>
              </a:spcAft>
              <a:buFont typeface="Wingdings" panose="05000000000000000000" pitchFamily="2" charset="2"/>
              <a:buNone/>
              <a:defRPr/>
            </a:pPr>
            <a:r>
              <a:rPr lang="zh-CN" altLang="en-US" sz="2600" dirty="0" smtClean="0"/>
              <a:t> </a:t>
            </a:r>
            <a:r>
              <a:rPr lang="en-US" altLang="zh-CN" sz="2600" dirty="0"/>
              <a:t>3457=3*8*8*8+4*8*8+5*8+7</a:t>
            </a:r>
          </a:p>
          <a:p>
            <a:pPr eaLnBrk="1" fontAlgn="auto" hangingPunct="1">
              <a:spcAft>
                <a:spcPts val="0"/>
              </a:spcAft>
              <a:defRPr/>
            </a:pPr>
            <a:endParaRPr lang="en-US" altLang="zh-CN" sz="2600" dirty="0"/>
          </a:p>
          <a:p>
            <a:pPr eaLnBrk="1" fontAlgn="auto" hangingPunct="1">
              <a:spcAft>
                <a:spcPts val="0"/>
              </a:spcAft>
              <a:defRPr/>
            </a:pPr>
            <a:r>
              <a:rPr lang="zh-CN" altLang="en-US" sz="2600" dirty="0"/>
              <a:t>十进制转</a:t>
            </a:r>
            <a:r>
              <a:rPr lang="zh-CN" altLang="en-US" sz="2600" dirty="0" smtClean="0"/>
              <a:t>八进制：</a:t>
            </a:r>
            <a:endParaRPr lang="zh-CN" altLang="en-US" sz="2600" dirty="0"/>
          </a:p>
          <a:p>
            <a:pPr eaLnBrk="1" fontAlgn="auto" hangingPunct="1">
              <a:spcAft>
                <a:spcPts val="0"/>
              </a:spcAft>
              <a:buFont typeface="Wingdings" panose="05000000000000000000" pitchFamily="2" charset="2"/>
              <a:buNone/>
              <a:defRPr/>
            </a:pPr>
            <a:r>
              <a:rPr lang="en-US" altLang="zh-CN" sz="2600" dirty="0"/>
              <a:t>X=3*8*8*8+4*8*8+5*8+7</a:t>
            </a:r>
          </a:p>
          <a:p>
            <a:pPr eaLnBrk="1" fontAlgn="auto" hangingPunct="1">
              <a:spcAft>
                <a:spcPts val="0"/>
              </a:spcAft>
              <a:buFont typeface="Wingdings" panose="05000000000000000000" pitchFamily="2" charset="2"/>
              <a:buNone/>
              <a:defRPr/>
            </a:pPr>
            <a:r>
              <a:rPr lang="en-US" altLang="zh-CN" sz="2600" dirty="0"/>
              <a:t>X/8</a:t>
            </a:r>
            <a:r>
              <a:rPr lang="zh-CN" altLang="en-US" sz="2600" dirty="0"/>
              <a:t>余</a:t>
            </a:r>
            <a:r>
              <a:rPr lang="en-US" altLang="zh-CN" sz="2600" dirty="0"/>
              <a:t>7   </a:t>
            </a:r>
            <a:r>
              <a:rPr lang="zh-CN" altLang="en-US" sz="2600" dirty="0"/>
              <a:t>得</a:t>
            </a:r>
            <a:r>
              <a:rPr lang="en-US" altLang="zh-CN" sz="2600" dirty="0"/>
              <a:t>x</a:t>
            </a:r>
            <a:r>
              <a:rPr lang="en-US" altLang="zh-CN" sz="2600" dirty="0">
                <a:latin typeface="Arial" panose="020B0604020202020204" pitchFamily="34" charset="0"/>
              </a:rPr>
              <a:t>’</a:t>
            </a:r>
            <a:r>
              <a:rPr lang="en-US" altLang="zh-CN" sz="2600" dirty="0"/>
              <a:t>= 3*8*8+4*8+5</a:t>
            </a:r>
          </a:p>
          <a:p>
            <a:pPr eaLnBrk="1" fontAlgn="auto" hangingPunct="1">
              <a:spcAft>
                <a:spcPts val="0"/>
              </a:spcAft>
              <a:buFont typeface="Wingdings" panose="05000000000000000000" pitchFamily="2" charset="2"/>
              <a:buNone/>
              <a:defRPr/>
            </a:pPr>
            <a:r>
              <a:rPr lang="en-US" altLang="zh-CN" sz="2600" dirty="0"/>
              <a:t>X</a:t>
            </a:r>
            <a:r>
              <a:rPr lang="en-US" altLang="zh-CN" sz="2600" dirty="0">
                <a:latin typeface="Arial" panose="020B0604020202020204" pitchFamily="34" charset="0"/>
              </a:rPr>
              <a:t>’</a:t>
            </a:r>
            <a:r>
              <a:rPr lang="en-US" altLang="zh-CN" sz="2600" dirty="0"/>
              <a:t>/8</a:t>
            </a:r>
            <a:r>
              <a:rPr lang="zh-CN" altLang="en-US" sz="2600" dirty="0"/>
              <a:t>余</a:t>
            </a:r>
            <a:r>
              <a:rPr lang="en-US" altLang="zh-CN" sz="2600" dirty="0"/>
              <a:t>5   </a:t>
            </a:r>
            <a:r>
              <a:rPr lang="zh-CN" altLang="en-US" sz="2600" dirty="0"/>
              <a:t>得</a:t>
            </a:r>
            <a:r>
              <a:rPr lang="en-US" altLang="zh-CN" sz="2600" dirty="0"/>
              <a:t>x</a:t>
            </a:r>
            <a:r>
              <a:rPr lang="en-US" altLang="zh-CN" sz="2600" dirty="0">
                <a:latin typeface="Arial" panose="020B0604020202020204" pitchFamily="34" charset="0"/>
              </a:rPr>
              <a:t>’’</a:t>
            </a:r>
            <a:r>
              <a:rPr lang="en-US" altLang="zh-CN" sz="2600" dirty="0"/>
              <a:t>=3*8+4</a:t>
            </a:r>
          </a:p>
          <a:p>
            <a:pPr eaLnBrk="1" fontAlgn="auto" hangingPunct="1">
              <a:spcAft>
                <a:spcPts val="0"/>
              </a:spcAft>
              <a:buFont typeface="Wingdings" panose="05000000000000000000" pitchFamily="2" charset="2"/>
              <a:buNone/>
              <a:defRPr/>
            </a:pPr>
            <a:r>
              <a:rPr lang="en-US" altLang="zh-CN" sz="2600" dirty="0"/>
              <a:t>X</a:t>
            </a:r>
            <a:r>
              <a:rPr lang="en-US" altLang="zh-CN" sz="2600" dirty="0">
                <a:latin typeface="Arial" panose="020B0604020202020204" pitchFamily="34" charset="0"/>
              </a:rPr>
              <a:t>’’</a:t>
            </a:r>
            <a:r>
              <a:rPr lang="en-US" altLang="zh-CN" sz="2600" dirty="0"/>
              <a:t>/8</a:t>
            </a:r>
            <a:r>
              <a:rPr lang="zh-CN" altLang="en-US" sz="2600" dirty="0"/>
              <a:t>余</a:t>
            </a:r>
            <a:r>
              <a:rPr lang="en-US" altLang="zh-CN" sz="2600" dirty="0"/>
              <a:t>4  </a:t>
            </a:r>
            <a:r>
              <a:rPr lang="zh-CN" altLang="en-US" sz="2600" dirty="0"/>
              <a:t>得</a:t>
            </a:r>
            <a:r>
              <a:rPr lang="en-US" altLang="zh-CN" sz="2600" dirty="0"/>
              <a:t>x</a:t>
            </a:r>
            <a:r>
              <a:rPr lang="en-US" altLang="zh-CN" sz="2600" dirty="0">
                <a:latin typeface="Arial" panose="020B0604020202020204" pitchFamily="34" charset="0"/>
              </a:rPr>
              <a:t>’’’</a:t>
            </a:r>
            <a:r>
              <a:rPr lang="en-US" altLang="zh-CN" sz="2600" dirty="0"/>
              <a:t>=3</a:t>
            </a:r>
          </a:p>
          <a:p>
            <a:pPr eaLnBrk="1" fontAlgn="auto" hangingPunct="1">
              <a:spcAft>
                <a:spcPts val="0"/>
              </a:spcAft>
              <a:buFont typeface="Wingdings" panose="05000000000000000000" pitchFamily="2" charset="2"/>
              <a:buNone/>
              <a:defRPr/>
            </a:pPr>
            <a:r>
              <a:rPr lang="en-US" altLang="zh-CN" sz="2600" dirty="0"/>
              <a:t>X</a:t>
            </a:r>
            <a:r>
              <a:rPr lang="en-US" altLang="zh-CN" sz="2600" dirty="0">
                <a:latin typeface="Arial" panose="020B0604020202020204" pitchFamily="34" charset="0"/>
              </a:rPr>
              <a:t>’’’</a:t>
            </a:r>
            <a:r>
              <a:rPr lang="en-US" altLang="zh-CN" sz="2600" dirty="0"/>
              <a:t>/8</a:t>
            </a:r>
            <a:r>
              <a:rPr lang="zh-CN" altLang="en-US" sz="2600" dirty="0"/>
              <a:t>余</a:t>
            </a:r>
            <a:r>
              <a:rPr lang="en-US" altLang="zh-CN" sz="2600" dirty="0"/>
              <a:t>3</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527050" y="333375"/>
            <a:ext cx="10321925" cy="863600"/>
          </a:xfrm>
        </p:spPr>
        <p:txBody>
          <a:bodyPr/>
          <a:lstStyle/>
          <a:p>
            <a:pPr eaLnBrk="1" hangingPunct="1"/>
            <a:r>
              <a:rPr lang="zh-CN" altLang="en-US" smtClean="0"/>
              <a:t>数制转换</a:t>
            </a:r>
          </a:p>
        </p:txBody>
      </p:sp>
      <p:sp>
        <p:nvSpPr>
          <p:cNvPr id="60419" name="Rectangle 3"/>
          <p:cNvSpPr>
            <a:spLocks noGrp="1" noChangeArrowheads="1"/>
          </p:cNvSpPr>
          <p:nvPr>
            <p:ph idx="1"/>
          </p:nvPr>
        </p:nvSpPr>
        <p:spPr>
          <a:xfrm>
            <a:off x="527050" y="1412875"/>
            <a:ext cx="10321925" cy="5040313"/>
          </a:xfrm>
        </p:spPr>
        <p:txBody>
          <a:bodyPr/>
          <a:lstStyle/>
          <a:p>
            <a:pPr eaLnBrk="1" hangingPunct="1">
              <a:lnSpc>
                <a:spcPct val="80000"/>
              </a:lnSpc>
            </a:pPr>
            <a:r>
              <a:rPr lang="zh-CN" altLang="en-US" sz="1700" b="1" smtClean="0"/>
              <a:t>算法 </a:t>
            </a:r>
            <a:r>
              <a:rPr lang="en-US" altLang="zh-CN" sz="1700" b="1" smtClean="0"/>
              <a:t>3.1</a:t>
            </a:r>
            <a:r>
              <a:rPr lang="en-US" altLang="zh-CN" sz="1700" smtClean="0"/>
              <a:t/>
            </a:r>
            <a:br>
              <a:rPr lang="en-US" altLang="zh-CN" sz="1700" smtClean="0"/>
            </a:br>
            <a:r>
              <a:rPr lang="zh-CN" altLang="en-US" sz="2000" smtClean="0"/>
              <a:t>　</a:t>
            </a:r>
            <a:r>
              <a:rPr lang="en-US" altLang="zh-CN" sz="2000" b="1" smtClean="0"/>
              <a:t>void</a:t>
            </a:r>
            <a:r>
              <a:rPr lang="en-US" altLang="zh-CN" sz="2000" smtClean="0"/>
              <a:t> conversion ()</a:t>
            </a:r>
            <a:br>
              <a:rPr lang="en-US" altLang="zh-CN" sz="2000" smtClean="0"/>
            </a:br>
            <a:r>
              <a:rPr lang="zh-CN" altLang="en-US" sz="2000" smtClean="0"/>
              <a:t>　</a:t>
            </a:r>
            <a:r>
              <a:rPr lang="en-US" altLang="zh-CN" sz="2000" b="1" smtClean="0"/>
              <a:t>{</a:t>
            </a:r>
            <a:r>
              <a:rPr lang="en-US" altLang="zh-CN" sz="2000" smtClean="0"/>
              <a:t/>
            </a:r>
            <a:br>
              <a:rPr lang="en-US" altLang="zh-CN" sz="2000" smtClean="0"/>
            </a:br>
            <a:r>
              <a:rPr lang="zh-CN" altLang="en-US" sz="2000" b="1" smtClean="0"/>
              <a:t>　</a:t>
            </a:r>
            <a:r>
              <a:rPr lang="en-US" altLang="zh-CN" sz="2000" b="1" smtClean="0"/>
              <a:t>// </a:t>
            </a:r>
            <a:r>
              <a:rPr lang="zh-CN" altLang="en-US" sz="2000" b="1" smtClean="0"/>
              <a:t>对于输入的任意一个非负十进制整数，打印输出与其等值的八进制数</a:t>
            </a:r>
            <a:r>
              <a:rPr lang="zh-CN" altLang="en-US" sz="2000" smtClean="0"/>
              <a:t/>
            </a:r>
            <a:br>
              <a:rPr lang="zh-CN" altLang="en-US" sz="2000" smtClean="0"/>
            </a:br>
            <a:r>
              <a:rPr lang="zh-CN" altLang="en-US" sz="2000" smtClean="0"/>
              <a:t>　　</a:t>
            </a:r>
            <a:r>
              <a:rPr lang="en-US" altLang="zh-CN" sz="2000" smtClean="0"/>
              <a:t>InitStack(S); </a:t>
            </a:r>
            <a:r>
              <a:rPr lang="zh-CN" altLang="en-US" sz="2000" smtClean="0"/>
              <a:t>　　</a:t>
            </a:r>
            <a:r>
              <a:rPr lang="en-US" altLang="zh-CN" sz="2000" smtClean="0"/>
              <a:t>// </a:t>
            </a:r>
            <a:r>
              <a:rPr lang="zh-CN" altLang="en-US" sz="2000" smtClean="0"/>
              <a:t>构造空栈</a:t>
            </a:r>
            <a:br>
              <a:rPr lang="zh-CN" altLang="en-US" sz="2000" smtClean="0"/>
            </a:br>
            <a:r>
              <a:rPr lang="zh-CN" altLang="en-US" sz="2000" smtClean="0"/>
              <a:t>　</a:t>
            </a:r>
            <a:r>
              <a:rPr lang="zh-CN" altLang="en-US" sz="2000" b="1" smtClean="0"/>
              <a:t>　</a:t>
            </a:r>
            <a:r>
              <a:rPr lang="en-US" altLang="zh-CN" sz="2000" b="1" smtClean="0"/>
              <a:t>cin</a:t>
            </a:r>
            <a:r>
              <a:rPr lang="en-US" altLang="zh-CN" sz="2000" smtClean="0"/>
              <a:t> &gt;&gt; N;</a:t>
            </a:r>
            <a:r>
              <a:rPr lang="zh-CN" altLang="en-US" sz="2000" smtClean="0"/>
              <a:t>　　　　</a:t>
            </a:r>
            <a:r>
              <a:rPr lang="en-US" altLang="zh-CN" sz="2000" smtClean="0"/>
              <a:t>// </a:t>
            </a:r>
            <a:r>
              <a:rPr lang="zh-CN" altLang="en-US" sz="2000" smtClean="0"/>
              <a:t>输入一个十进制数</a:t>
            </a:r>
            <a:br>
              <a:rPr lang="zh-CN" altLang="en-US" sz="2000" smtClean="0"/>
            </a:br>
            <a:r>
              <a:rPr lang="zh-CN" altLang="en-US" sz="2000" smtClean="0"/>
              <a:t>　</a:t>
            </a:r>
            <a:r>
              <a:rPr lang="zh-CN" altLang="en-US" sz="2000" b="1" smtClean="0"/>
              <a:t>　</a:t>
            </a:r>
            <a:r>
              <a:rPr lang="en-US" altLang="zh-CN" sz="2000" b="1" smtClean="0"/>
              <a:t>while</a:t>
            </a:r>
            <a:r>
              <a:rPr lang="en-US" altLang="zh-CN" sz="2000" smtClean="0"/>
              <a:t>(N)</a:t>
            </a:r>
            <a:br>
              <a:rPr lang="en-US" altLang="zh-CN" sz="2000" smtClean="0"/>
            </a:br>
            <a:r>
              <a:rPr lang="zh-CN" altLang="en-US" sz="2000" smtClean="0"/>
              <a:t>　　</a:t>
            </a:r>
            <a:r>
              <a:rPr lang="en-US" altLang="zh-CN" sz="2000" b="1" smtClean="0"/>
              <a:t>{</a:t>
            </a:r>
            <a:r>
              <a:rPr lang="en-US" altLang="zh-CN" sz="2000" smtClean="0"/>
              <a:t/>
            </a:r>
            <a:br>
              <a:rPr lang="en-US" altLang="zh-CN" sz="2000" smtClean="0"/>
            </a:br>
            <a:r>
              <a:rPr lang="zh-CN" altLang="en-US" sz="2000" smtClean="0"/>
              <a:t>　　　</a:t>
            </a:r>
            <a:r>
              <a:rPr lang="en-US" altLang="zh-CN" sz="2000" smtClean="0"/>
              <a:t>Push(S,N </a:t>
            </a:r>
            <a:r>
              <a:rPr lang="en-US" altLang="zh-CN" sz="2000" b="1" smtClean="0"/>
              <a:t>%</a:t>
            </a:r>
            <a:r>
              <a:rPr lang="en-US" altLang="zh-CN" sz="2000" smtClean="0"/>
              <a:t> 8);</a:t>
            </a:r>
            <a:r>
              <a:rPr lang="zh-CN" altLang="en-US" sz="2000" smtClean="0"/>
              <a:t>　</a:t>
            </a:r>
            <a:r>
              <a:rPr lang="en-US" altLang="zh-CN" sz="2000" smtClean="0"/>
              <a:t>// "</a:t>
            </a:r>
            <a:r>
              <a:rPr lang="zh-CN" altLang="en-US" sz="2000" smtClean="0"/>
              <a:t>余数</a:t>
            </a:r>
            <a:r>
              <a:rPr lang="en-US" altLang="zh-CN" sz="2000" smtClean="0"/>
              <a:t>"</a:t>
            </a:r>
            <a:r>
              <a:rPr lang="zh-CN" altLang="en-US" sz="2000" smtClean="0"/>
              <a:t>入栈</a:t>
            </a:r>
            <a:br>
              <a:rPr lang="zh-CN" altLang="en-US" sz="2000" smtClean="0"/>
            </a:br>
            <a:r>
              <a:rPr lang="zh-CN" altLang="en-US" sz="2000" smtClean="0"/>
              <a:t>　　　</a:t>
            </a:r>
            <a:r>
              <a:rPr lang="en-US" altLang="zh-CN" sz="2000" smtClean="0"/>
              <a:t>N = N/8;</a:t>
            </a:r>
            <a:r>
              <a:rPr lang="zh-CN" altLang="en-US" sz="2000" smtClean="0"/>
              <a:t>　　　　</a:t>
            </a:r>
            <a:r>
              <a:rPr lang="en-US" altLang="zh-CN" sz="2000" smtClean="0"/>
              <a:t>// </a:t>
            </a:r>
            <a:r>
              <a:rPr lang="zh-CN" altLang="en-US" sz="2000" smtClean="0"/>
              <a:t>非零</a:t>
            </a:r>
            <a:r>
              <a:rPr lang="en-US" altLang="zh-CN" sz="2000" smtClean="0"/>
              <a:t>"</a:t>
            </a:r>
            <a:r>
              <a:rPr lang="zh-CN" altLang="en-US" sz="2000" smtClean="0"/>
              <a:t>商</a:t>
            </a:r>
            <a:r>
              <a:rPr lang="en-US" altLang="zh-CN" sz="2000" smtClean="0"/>
              <a:t>"</a:t>
            </a:r>
            <a:r>
              <a:rPr lang="zh-CN" altLang="en-US" sz="2000" smtClean="0"/>
              <a:t>继续运算</a:t>
            </a:r>
            <a:br>
              <a:rPr lang="zh-CN" altLang="en-US" sz="2000" smtClean="0"/>
            </a:br>
            <a:r>
              <a:rPr lang="zh-CN" altLang="en-US" sz="2000" smtClean="0"/>
              <a:t>　</a:t>
            </a:r>
            <a:r>
              <a:rPr lang="zh-CN" altLang="en-US" sz="2000" b="1" smtClean="0"/>
              <a:t>　</a:t>
            </a:r>
            <a:r>
              <a:rPr lang="en-US" altLang="zh-CN" sz="2000" b="1" smtClean="0"/>
              <a:t>} </a:t>
            </a:r>
            <a:r>
              <a:rPr lang="en-US" altLang="zh-CN" sz="2000" smtClean="0"/>
              <a:t>// while</a:t>
            </a:r>
            <a:br>
              <a:rPr lang="en-US" altLang="zh-CN" sz="2000" smtClean="0"/>
            </a:br>
            <a:r>
              <a:rPr lang="zh-CN" altLang="en-US" sz="2000" smtClean="0"/>
              <a:t>　</a:t>
            </a:r>
            <a:r>
              <a:rPr lang="zh-CN" altLang="en-US" sz="2000" b="1" smtClean="0"/>
              <a:t>　</a:t>
            </a:r>
            <a:r>
              <a:rPr lang="en-US" altLang="zh-CN" sz="2000" b="1" smtClean="0"/>
              <a:t>while</a:t>
            </a:r>
            <a:r>
              <a:rPr lang="en-US" altLang="zh-CN" sz="2000" smtClean="0"/>
              <a:t> (</a:t>
            </a:r>
            <a:r>
              <a:rPr lang="en-US" altLang="zh-CN" sz="2000" b="1" smtClean="0"/>
              <a:t>!</a:t>
            </a:r>
            <a:r>
              <a:rPr lang="en-US" altLang="zh-CN" sz="2000" smtClean="0"/>
              <a:t>StackEmpty())</a:t>
            </a:r>
            <a:br>
              <a:rPr lang="en-US" altLang="zh-CN" sz="2000" smtClean="0"/>
            </a:br>
            <a:r>
              <a:rPr lang="zh-CN" altLang="en-US" sz="2000" smtClean="0"/>
              <a:t>　</a:t>
            </a:r>
            <a:r>
              <a:rPr lang="zh-CN" altLang="en-US" sz="2000" b="1" smtClean="0"/>
              <a:t>　</a:t>
            </a:r>
            <a:r>
              <a:rPr lang="en-US" altLang="zh-CN" sz="2000" b="1" smtClean="0"/>
              <a:t>{</a:t>
            </a:r>
            <a:r>
              <a:rPr lang="en-US" altLang="zh-CN" sz="2000" smtClean="0"/>
              <a:t> </a:t>
            </a:r>
            <a:r>
              <a:rPr lang="zh-CN" altLang="en-US" sz="2000" smtClean="0"/>
              <a:t>　　　　　　　 </a:t>
            </a:r>
            <a:r>
              <a:rPr lang="en-US" altLang="zh-CN" sz="2000" smtClean="0"/>
              <a:t>// </a:t>
            </a:r>
            <a:r>
              <a:rPr lang="zh-CN" altLang="en-US" sz="2000" smtClean="0"/>
              <a:t>和</a:t>
            </a:r>
            <a:r>
              <a:rPr lang="en-US" altLang="zh-CN" sz="2000" smtClean="0"/>
              <a:t>"</a:t>
            </a:r>
            <a:r>
              <a:rPr lang="zh-CN" altLang="en-US" sz="2000" smtClean="0"/>
              <a:t>求余</a:t>
            </a:r>
            <a:r>
              <a:rPr lang="en-US" altLang="zh-CN" sz="2000" smtClean="0"/>
              <a:t>"</a:t>
            </a:r>
            <a:r>
              <a:rPr lang="zh-CN" altLang="en-US" sz="2000" smtClean="0"/>
              <a:t>所得相逆的顺序输出八进制的各位数</a:t>
            </a:r>
            <a:br>
              <a:rPr lang="zh-CN" altLang="en-US" sz="2000" smtClean="0"/>
            </a:br>
            <a:r>
              <a:rPr lang="zh-CN" altLang="en-US" sz="2000" smtClean="0"/>
              <a:t>　　　</a:t>
            </a:r>
            <a:r>
              <a:rPr lang="en-US" altLang="zh-CN" sz="2000" smtClean="0"/>
              <a:t>Pop(S,e);</a:t>
            </a:r>
            <a:br>
              <a:rPr lang="en-US" altLang="zh-CN" sz="2000" smtClean="0"/>
            </a:br>
            <a:r>
              <a:rPr lang="zh-CN" altLang="en-US" sz="2000" smtClean="0"/>
              <a:t>　　</a:t>
            </a:r>
            <a:r>
              <a:rPr lang="zh-CN" altLang="en-US" sz="2000" b="1" smtClean="0"/>
              <a:t>　</a:t>
            </a:r>
            <a:r>
              <a:rPr lang="en-US" altLang="zh-CN" sz="2000" b="1" smtClean="0"/>
              <a:t>cout </a:t>
            </a:r>
            <a:r>
              <a:rPr lang="en-US" altLang="zh-CN" sz="2000" smtClean="0"/>
              <a:t>&lt;&lt; e;</a:t>
            </a:r>
            <a:br>
              <a:rPr lang="en-US" altLang="zh-CN" sz="2000" smtClean="0"/>
            </a:br>
            <a:r>
              <a:rPr lang="zh-CN" altLang="en-US" sz="2000" smtClean="0"/>
              <a:t>　</a:t>
            </a:r>
            <a:r>
              <a:rPr lang="zh-CN" altLang="en-US" sz="2000" b="1" smtClean="0"/>
              <a:t>　</a:t>
            </a:r>
            <a:r>
              <a:rPr lang="en-US" altLang="zh-CN" sz="2000" b="1" smtClean="0"/>
              <a:t>} </a:t>
            </a:r>
            <a:r>
              <a:rPr lang="en-US" altLang="zh-CN" sz="2000" smtClean="0"/>
              <a:t>// while</a:t>
            </a:r>
            <a:br>
              <a:rPr lang="en-US" altLang="zh-CN" sz="2000" smtClean="0"/>
            </a:br>
            <a:r>
              <a:rPr lang="zh-CN" altLang="en-US" sz="2000" b="1" smtClean="0"/>
              <a:t>　</a:t>
            </a:r>
            <a:r>
              <a:rPr lang="en-US" altLang="zh-CN" sz="2000" b="1" smtClean="0"/>
              <a:t>}</a:t>
            </a:r>
            <a:r>
              <a:rPr lang="en-US" altLang="zh-CN" sz="2000" smtClean="0"/>
              <a:t> // conversion</a:t>
            </a:r>
            <a:br>
              <a:rPr lang="en-US" altLang="zh-CN" sz="2000" smtClean="0"/>
            </a:br>
            <a:endParaRPr lang="en-US" altLang="zh-CN" sz="2000" smtClean="0"/>
          </a:p>
        </p:txBody>
      </p:sp>
      <p:sp>
        <p:nvSpPr>
          <p:cNvPr id="60420" name="AutoShape 4"/>
          <p:cNvSpPr>
            <a:spLocks noChangeArrowheads="1"/>
          </p:cNvSpPr>
          <p:nvPr/>
        </p:nvSpPr>
        <p:spPr bwMode="auto">
          <a:xfrm>
            <a:off x="7248525" y="1052513"/>
            <a:ext cx="3240088" cy="3889375"/>
          </a:xfrm>
          <a:prstGeom prst="wedgeRectCallout">
            <a:avLst>
              <a:gd name="adj1" fmla="val -73912"/>
              <a:gd name="adj2" fmla="val -22694"/>
            </a:avLst>
          </a:prstGeom>
          <a:solidFill>
            <a:schemeClr val="bg1"/>
          </a:solidFill>
          <a:ln w="9525">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000">
                <a:latin typeface="华文仿宋" panose="02010600040101010101" pitchFamily="2" charset="-122"/>
                <a:ea typeface="华文仿宋" panose="02010600040101010101" pitchFamily="2" charset="-122"/>
              </a:rPr>
              <a:t>当然这是利用栈的一个极其简单的例子。在这个例子中，栈的操作序列是直线式的，即先一味地入栈，然后一味地出栈。</a:t>
            </a:r>
            <a:br>
              <a:rPr lang="zh-CN" altLang="en-US" sz="2000">
                <a:latin typeface="华文仿宋" panose="02010600040101010101" pitchFamily="2" charset="-122"/>
                <a:ea typeface="华文仿宋" panose="02010600040101010101" pitchFamily="2" charset="-122"/>
              </a:rPr>
            </a:br>
            <a:r>
              <a:rPr lang="zh-CN" altLang="en-US" sz="2000">
                <a:latin typeface="华文仿宋" panose="02010600040101010101" pitchFamily="2" charset="-122"/>
                <a:ea typeface="华文仿宋" panose="02010600040101010101" pitchFamily="2" charset="-122"/>
              </a:rPr>
              <a:t/>
            </a:r>
            <a:br>
              <a:rPr lang="zh-CN" altLang="en-US" sz="2000">
                <a:latin typeface="华文仿宋" panose="02010600040101010101" pitchFamily="2" charset="-122"/>
                <a:ea typeface="华文仿宋" panose="02010600040101010101" pitchFamily="2" charset="-122"/>
              </a:rPr>
            </a:br>
            <a:r>
              <a:rPr lang="zh-CN" altLang="en-US" sz="2000">
                <a:latin typeface="华文仿宋" panose="02010600040101010101" pitchFamily="2" charset="-122"/>
                <a:ea typeface="华文仿宋" panose="02010600040101010101" pitchFamily="2" charset="-122"/>
              </a:rPr>
              <a:t>　　你可能会说，用数组直接实现不也很简单吗？你可以试一下利用数组重新写这个算法，那么你一定能体会到在这个算法中用栈的好处了。</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27050" y="333375"/>
            <a:ext cx="10321925" cy="863600"/>
          </a:xfrm>
        </p:spPr>
        <p:txBody>
          <a:bodyPr/>
          <a:lstStyle/>
          <a:p>
            <a:pPr eaLnBrk="1" hangingPunct="1"/>
            <a:r>
              <a:rPr lang="zh-CN" altLang="en-US" smtClean="0"/>
              <a:t>括弧匹配检验 </a:t>
            </a:r>
          </a:p>
        </p:txBody>
      </p:sp>
      <p:sp>
        <p:nvSpPr>
          <p:cNvPr id="61443" name="Rectangle 3"/>
          <p:cNvSpPr>
            <a:spLocks noGrp="1" noChangeArrowheads="1"/>
          </p:cNvSpPr>
          <p:nvPr>
            <p:ph idx="1"/>
          </p:nvPr>
        </p:nvSpPr>
        <p:spPr>
          <a:xfrm>
            <a:off x="527050" y="1557338"/>
            <a:ext cx="10321925" cy="4351337"/>
          </a:xfrm>
        </p:spPr>
        <p:txBody>
          <a:bodyPr/>
          <a:lstStyle/>
          <a:p>
            <a:pPr eaLnBrk="1" hangingPunct="1">
              <a:lnSpc>
                <a:spcPct val="80000"/>
              </a:lnSpc>
            </a:pPr>
            <a:r>
              <a:rPr lang="zh-CN" altLang="en-US" sz="2100" smtClean="0"/>
              <a:t>假设表达式中允许包含两种括号：圆括号和方括号，其嵌套的顺序随意，如（［ ］（））或［（［ ］［ ］）］等为正确的匹配，［（ </a:t>
            </a:r>
            <a:r>
              <a:rPr lang="en-US" altLang="zh-CN" sz="2100" smtClean="0"/>
              <a:t>]</a:t>
            </a:r>
            <a:r>
              <a:rPr lang="zh-CN" altLang="en-US" sz="2100" smtClean="0"/>
              <a:t>）或（［ ］（ ）或 </a:t>
            </a:r>
            <a:r>
              <a:rPr lang="en-US" altLang="zh-CN" sz="2100" smtClean="0"/>
              <a:t>( ( ) ) </a:t>
            </a:r>
            <a:r>
              <a:rPr lang="zh-CN" altLang="en-US" sz="2100" smtClean="0"/>
              <a:t>）均为错误的匹配。</a:t>
            </a:r>
          </a:p>
          <a:p>
            <a:pPr eaLnBrk="1" hangingPunct="1">
              <a:lnSpc>
                <a:spcPct val="80000"/>
              </a:lnSpc>
            </a:pPr>
            <a:r>
              <a:rPr lang="zh-CN" altLang="en-US" sz="2100" smtClean="0"/>
              <a:t>现在的问题是，要求检验一个给定表达式中的括弧是否正确匹配？</a:t>
            </a:r>
            <a:br>
              <a:rPr lang="zh-CN" altLang="en-US" sz="2100" smtClean="0"/>
            </a:br>
            <a:r>
              <a:rPr lang="zh-CN" altLang="en-US" sz="2100" smtClean="0"/>
              <a:t>　　检验括号是否匹配的方法可用</a:t>
            </a:r>
            <a:r>
              <a:rPr lang="en-US" altLang="zh-CN" sz="2100" smtClean="0"/>
              <a:t>"</a:t>
            </a:r>
            <a:r>
              <a:rPr lang="zh-CN" altLang="en-US" sz="2100" smtClean="0"/>
              <a:t>期待的急迫程度</a:t>
            </a:r>
            <a:r>
              <a:rPr lang="en-US" altLang="zh-CN" sz="2100" smtClean="0"/>
              <a:t>"</a:t>
            </a:r>
            <a:r>
              <a:rPr lang="zh-CN" altLang="en-US" sz="2100" smtClean="0"/>
              <a:t>这个概念来描述。即后出现的</a:t>
            </a:r>
            <a:r>
              <a:rPr lang="en-US" altLang="zh-CN" sz="2100" smtClean="0"/>
              <a:t>"</a:t>
            </a:r>
            <a:r>
              <a:rPr lang="zh-CN" altLang="en-US" sz="2100" smtClean="0"/>
              <a:t>左括弧</a:t>
            </a:r>
            <a:r>
              <a:rPr lang="en-US" altLang="zh-CN" sz="2100" smtClean="0"/>
              <a:t>"</a:t>
            </a:r>
            <a:r>
              <a:rPr lang="zh-CN" altLang="en-US" sz="2100" smtClean="0"/>
              <a:t>，它等待与其匹配的</a:t>
            </a:r>
            <a:r>
              <a:rPr lang="en-US" altLang="zh-CN" sz="2100" smtClean="0"/>
              <a:t>"</a:t>
            </a:r>
            <a:r>
              <a:rPr lang="zh-CN" altLang="en-US" sz="2100" smtClean="0"/>
              <a:t>右括弧</a:t>
            </a:r>
            <a:r>
              <a:rPr lang="en-US" altLang="zh-CN" sz="2100" smtClean="0"/>
              <a:t>"</a:t>
            </a:r>
            <a:r>
              <a:rPr lang="zh-CN" altLang="en-US" sz="2100" smtClean="0"/>
              <a:t>出现的</a:t>
            </a:r>
            <a:r>
              <a:rPr lang="en-US" altLang="zh-CN" sz="2100" smtClean="0"/>
              <a:t>"</a:t>
            </a:r>
            <a:r>
              <a:rPr lang="zh-CN" altLang="en-US" sz="2100" smtClean="0"/>
              <a:t>急迫</a:t>
            </a:r>
            <a:r>
              <a:rPr lang="en-US" altLang="zh-CN" sz="2100" smtClean="0"/>
              <a:t>"</a:t>
            </a:r>
            <a:r>
              <a:rPr lang="zh-CN" altLang="en-US" sz="2100" smtClean="0"/>
              <a:t>心情要比先出现的左括弧高。换句话说，对</a:t>
            </a:r>
            <a:r>
              <a:rPr lang="en-US" altLang="zh-CN" sz="2100" smtClean="0"/>
              <a:t>"</a:t>
            </a:r>
            <a:r>
              <a:rPr lang="zh-CN" altLang="en-US" sz="2100" smtClean="0"/>
              <a:t>左括弧</a:t>
            </a:r>
            <a:r>
              <a:rPr lang="en-US" altLang="zh-CN" sz="2100" smtClean="0"/>
              <a:t>"</a:t>
            </a:r>
            <a:r>
              <a:rPr lang="zh-CN" altLang="en-US" sz="2100" smtClean="0"/>
              <a:t>来说，后出现的比先出现的</a:t>
            </a:r>
            <a:r>
              <a:rPr lang="en-US" altLang="zh-CN" sz="2100" smtClean="0"/>
              <a:t>"</a:t>
            </a:r>
            <a:r>
              <a:rPr lang="zh-CN" altLang="en-US" sz="2100" smtClean="0"/>
              <a:t>优先</a:t>
            </a:r>
            <a:r>
              <a:rPr lang="en-US" altLang="zh-CN" sz="2100" smtClean="0"/>
              <a:t>"</a:t>
            </a:r>
            <a:r>
              <a:rPr lang="zh-CN" altLang="en-US" sz="2100" smtClean="0"/>
              <a:t>等待检验，对</a:t>
            </a:r>
            <a:r>
              <a:rPr lang="en-US" altLang="zh-CN" sz="2100" smtClean="0"/>
              <a:t>"</a:t>
            </a:r>
            <a:r>
              <a:rPr lang="zh-CN" altLang="en-US" sz="2100" smtClean="0"/>
              <a:t>右括弧</a:t>
            </a:r>
            <a:r>
              <a:rPr lang="en-US" altLang="zh-CN" sz="2100" smtClean="0"/>
              <a:t>"</a:t>
            </a:r>
            <a:r>
              <a:rPr lang="zh-CN" altLang="en-US" sz="2100" smtClean="0"/>
              <a:t>来说，每个出现的右括弧要去找在它之前</a:t>
            </a:r>
            <a:r>
              <a:rPr lang="en-US" altLang="zh-CN" sz="2100" smtClean="0"/>
              <a:t>"</a:t>
            </a:r>
            <a:r>
              <a:rPr lang="zh-CN" altLang="en-US" sz="2100" smtClean="0"/>
              <a:t>最后</a:t>
            </a:r>
            <a:r>
              <a:rPr lang="en-US" altLang="zh-CN" sz="2100" smtClean="0"/>
              <a:t>"</a:t>
            </a:r>
            <a:r>
              <a:rPr lang="zh-CN" altLang="en-US" sz="2100" smtClean="0"/>
              <a:t>出现的那个左括弧去匹配。显然，必须将先后出现的左括弧依次保存，为了反映这个优先程度，保存左括弧的结构用栈最合适。这样对出现的右括弧来说，只要</a:t>
            </a:r>
            <a:r>
              <a:rPr lang="en-US" altLang="zh-CN" sz="2100" smtClean="0"/>
              <a:t>"</a:t>
            </a:r>
            <a:r>
              <a:rPr lang="zh-CN" altLang="en-US" sz="2100" smtClean="0"/>
              <a:t>栈顶元素</a:t>
            </a:r>
            <a:r>
              <a:rPr lang="en-US" altLang="zh-CN" sz="2100" smtClean="0"/>
              <a:t>"</a:t>
            </a:r>
            <a:r>
              <a:rPr lang="zh-CN" altLang="en-US" sz="2100" smtClean="0"/>
              <a:t>相匹配即可。如果在栈顶的那个左括弧正好和它匹配，就可将它从栈顶删除。</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527050" y="333375"/>
            <a:ext cx="10321925" cy="863600"/>
          </a:xfrm>
        </p:spPr>
        <p:txBody>
          <a:bodyPr/>
          <a:lstStyle/>
          <a:p>
            <a:pPr eaLnBrk="1" hangingPunct="1"/>
            <a:r>
              <a:rPr lang="zh-CN" altLang="en-US" smtClean="0"/>
              <a:t>括弧匹配检验</a:t>
            </a:r>
          </a:p>
        </p:txBody>
      </p:sp>
      <p:sp>
        <p:nvSpPr>
          <p:cNvPr id="62467" name="Rectangle 3"/>
          <p:cNvSpPr>
            <a:spLocks noGrp="1" noChangeArrowheads="1"/>
          </p:cNvSpPr>
          <p:nvPr>
            <p:ph idx="1"/>
          </p:nvPr>
        </p:nvSpPr>
        <p:spPr>
          <a:xfrm>
            <a:off x="527050" y="1557338"/>
            <a:ext cx="10321925" cy="4351337"/>
          </a:xfrm>
        </p:spPr>
        <p:txBody>
          <a:bodyPr/>
          <a:lstStyle/>
          <a:p>
            <a:pPr eaLnBrk="1" hangingPunct="1"/>
            <a:r>
              <a:rPr lang="zh-CN" altLang="en-US" sz="2100" smtClean="0"/>
              <a:t>例如考虑下列括号序列：</a:t>
            </a:r>
            <a:br>
              <a:rPr lang="zh-CN" altLang="en-US" sz="2100" smtClean="0"/>
            </a:br>
            <a:r>
              <a:rPr lang="zh-CN" altLang="en-US" sz="2600" smtClean="0"/>
              <a:t>　</a:t>
            </a:r>
            <a:r>
              <a:rPr lang="en-US" altLang="zh-CN" sz="2600" smtClean="0"/>
              <a:t>[  (   [   ]   [   ]   )   ]</a:t>
            </a:r>
            <a:br>
              <a:rPr lang="en-US" altLang="zh-CN" sz="2600" smtClean="0"/>
            </a:br>
            <a:r>
              <a:rPr lang="zh-CN" altLang="en-US" sz="2600" smtClean="0"/>
              <a:t>　</a:t>
            </a:r>
            <a:r>
              <a:rPr lang="en-US" altLang="zh-CN" sz="2600" smtClean="0"/>
              <a:t>1 2  3  4  5  6  7  8</a:t>
            </a:r>
            <a:br>
              <a:rPr lang="en-US" altLang="zh-CN" sz="2600" smtClean="0"/>
            </a:br>
            <a:r>
              <a:rPr lang="zh-CN" altLang="en-US" sz="2100" smtClean="0"/>
              <a:t>　　当计算机接受了第一个括号后，它期待着与其匹配的第八个括号的出现，然而等来的却是第二个括号，此时第一个括号</a:t>
            </a:r>
            <a:r>
              <a:rPr lang="en-US" altLang="zh-CN" sz="2100" smtClean="0"/>
              <a:t>"["</a:t>
            </a:r>
            <a:r>
              <a:rPr lang="zh-CN" altLang="en-US" sz="2100" smtClean="0"/>
              <a:t>只能暂时靠边，而迫切等待与第二个括号相匹配的、第七个括号</a:t>
            </a:r>
            <a:r>
              <a:rPr lang="en-US" altLang="zh-CN" sz="2100" smtClean="0"/>
              <a:t>"]"</a:t>
            </a:r>
            <a:r>
              <a:rPr lang="zh-CN" altLang="en-US" sz="2100" smtClean="0"/>
              <a:t>的出现，类似地，因等来的是第三个括号</a:t>
            </a:r>
            <a:r>
              <a:rPr lang="en-US" altLang="zh-CN" sz="2100" smtClean="0"/>
              <a:t>"["</a:t>
            </a:r>
            <a:r>
              <a:rPr lang="zh-CN" altLang="en-US" sz="2100" smtClean="0"/>
              <a:t>，其期待匹配的程度较第二个括号更急迫，则第二个括号也只能靠边，让位于第三个括号，在接受了第四个括号之后，第三个括号的期待得到满足，消解之后，第二个括号的期待匹配就成为当前最急迫的任务了，</a:t>
            </a:r>
            <a:r>
              <a:rPr lang="en-US" altLang="zh-CN" sz="2100" smtClean="0">
                <a:latin typeface="Arial" panose="020B0604020202020204" pitchFamily="34" charset="0"/>
              </a:rPr>
              <a:t>…</a:t>
            </a:r>
            <a:r>
              <a:rPr lang="zh-CN" altLang="en-US" sz="2100" smtClean="0"/>
              <a:t>，依次类推。 </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527050" y="333375"/>
            <a:ext cx="10321925" cy="863600"/>
          </a:xfrm>
        </p:spPr>
        <p:txBody>
          <a:bodyPr/>
          <a:lstStyle/>
          <a:p>
            <a:pPr eaLnBrk="1" hangingPunct="1"/>
            <a:r>
              <a:rPr lang="zh-CN" altLang="en-US" smtClean="0"/>
              <a:t>括弧匹配检验</a:t>
            </a:r>
          </a:p>
        </p:txBody>
      </p:sp>
      <p:sp>
        <p:nvSpPr>
          <p:cNvPr id="63491" name="Rectangle 3"/>
          <p:cNvSpPr>
            <a:spLocks noGrp="1" noChangeArrowheads="1"/>
          </p:cNvSpPr>
          <p:nvPr>
            <p:ph idx="1"/>
          </p:nvPr>
        </p:nvSpPr>
        <p:spPr>
          <a:xfrm>
            <a:off x="527050" y="1773238"/>
            <a:ext cx="10321925" cy="4351337"/>
          </a:xfrm>
        </p:spPr>
        <p:txBody>
          <a:bodyPr/>
          <a:lstStyle/>
          <a:p>
            <a:pPr eaLnBrk="1" hangingPunct="1">
              <a:lnSpc>
                <a:spcPct val="80000"/>
              </a:lnSpc>
            </a:pPr>
            <a:r>
              <a:rPr lang="zh-CN" altLang="en-US" sz="2600" smtClean="0"/>
              <a:t>那么，什么样的情况是</a:t>
            </a:r>
            <a:r>
              <a:rPr lang="en-US" altLang="zh-CN" sz="2600" smtClean="0"/>
              <a:t>"</a:t>
            </a:r>
            <a:r>
              <a:rPr lang="zh-CN" altLang="en-US" sz="2600" smtClean="0"/>
              <a:t>不匹配</a:t>
            </a:r>
            <a:r>
              <a:rPr lang="en-US" altLang="zh-CN" sz="2600" smtClean="0"/>
              <a:t>"</a:t>
            </a:r>
            <a:r>
              <a:rPr lang="zh-CN" altLang="en-US" sz="2600" smtClean="0"/>
              <a:t>的情况呢？上面列举的三种错误匹配从</a:t>
            </a:r>
            <a:r>
              <a:rPr lang="en-US" altLang="zh-CN" sz="2600" smtClean="0"/>
              <a:t>"</a:t>
            </a:r>
            <a:r>
              <a:rPr lang="zh-CN" altLang="en-US" sz="2600" smtClean="0"/>
              <a:t>期待匹配</a:t>
            </a:r>
            <a:r>
              <a:rPr lang="en-US" altLang="zh-CN" sz="2600" smtClean="0"/>
              <a:t>"</a:t>
            </a:r>
            <a:r>
              <a:rPr lang="zh-CN" altLang="en-US" sz="2600" smtClean="0"/>
              <a:t>的角度描述即为：</a:t>
            </a:r>
            <a:br>
              <a:rPr lang="zh-CN" altLang="en-US" sz="2600" smtClean="0"/>
            </a:br>
            <a:r>
              <a:rPr lang="zh-CN" altLang="en-US" sz="2600" smtClean="0"/>
              <a:t>　　</a:t>
            </a:r>
            <a:r>
              <a:rPr lang="en-US" altLang="zh-CN" sz="2600" smtClean="0"/>
              <a:t>1</a:t>
            </a:r>
            <a:r>
              <a:rPr lang="zh-CN" altLang="en-US" sz="2600" smtClean="0"/>
              <a:t>．来的右括弧非是所</a:t>
            </a:r>
            <a:r>
              <a:rPr lang="en-US" altLang="zh-CN" sz="2600" smtClean="0"/>
              <a:t>"</a:t>
            </a:r>
            <a:r>
              <a:rPr lang="zh-CN" altLang="en-US" sz="2600" smtClean="0"/>
              <a:t>期待</a:t>
            </a:r>
            <a:r>
              <a:rPr lang="en-US" altLang="zh-CN" sz="2600" smtClean="0"/>
              <a:t>"</a:t>
            </a:r>
            <a:r>
              <a:rPr lang="zh-CN" altLang="en-US" sz="2600" smtClean="0"/>
              <a:t>的；</a:t>
            </a:r>
            <a:br>
              <a:rPr lang="zh-CN" altLang="en-US" sz="2600" smtClean="0"/>
            </a:br>
            <a:r>
              <a:rPr lang="zh-CN" altLang="en-US" sz="2600" smtClean="0"/>
              <a:t>　　</a:t>
            </a:r>
            <a:r>
              <a:rPr lang="en-US" altLang="zh-CN" sz="2600" smtClean="0"/>
              <a:t>2</a:t>
            </a:r>
            <a:r>
              <a:rPr lang="zh-CN" altLang="en-US" sz="2600" smtClean="0"/>
              <a:t>．来的是</a:t>
            </a:r>
            <a:r>
              <a:rPr lang="en-US" altLang="zh-CN" sz="2600" smtClean="0"/>
              <a:t>"</a:t>
            </a:r>
            <a:r>
              <a:rPr lang="zh-CN" altLang="en-US" sz="2600" smtClean="0"/>
              <a:t>不速之客</a:t>
            </a:r>
            <a:r>
              <a:rPr lang="en-US" altLang="zh-CN" sz="2600" smtClean="0"/>
              <a:t>"</a:t>
            </a:r>
            <a:r>
              <a:rPr lang="zh-CN" altLang="en-US" sz="2600" smtClean="0"/>
              <a:t>；</a:t>
            </a:r>
            <a:br>
              <a:rPr lang="zh-CN" altLang="en-US" sz="2600" smtClean="0"/>
            </a:br>
            <a:r>
              <a:rPr lang="zh-CN" altLang="en-US" sz="2600" smtClean="0"/>
              <a:t>　　</a:t>
            </a:r>
            <a:r>
              <a:rPr lang="en-US" altLang="zh-CN" sz="2600" smtClean="0"/>
              <a:t>3</a:t>
            </a:r>
            <a:r>
              <a:rPr lang="zh-CN" altLang="en-US" sz="2600" smtClean="0"/>
              <a:t>．直到结束，也没有到来所</a:t>
            </a:r>
            <a:r>
              <a:rPr lang="en-US" altLang="zh-CN" sz="2600" smtClean="0"/>
              <a:t>"</a:t>
            </a:r>
            <a:r>
              <a:rPr lang="zh-CN" altLang="en-US" sz="2600" smtClean="0"/>
              <a:t>期待</a:t>
            </a:r>
            <a:r>
              <a:rPr lang="en-US" altLang="zh-CN" sz="2600" smtClean="0"/>
              <a:t>"</a:t>
            </a:r>
            <a:r>
              <a:rPr lang="zh-CN" altLang="en-US" sz="2600" smtClean="0"/>
              <a:t>的。</a:t>
            </a:r>
            <a:br>
              <a:rPr lang="zh-CN" altLang="en-US" sz="2600" smtClean="0"/>
            </a:br>
            <a:r>
              <a:rPr lang="zh-CN" altLang="en-US" sz="2600" smtClean="0"/>
              <a:t/>
            </a:r>
            <a:br>
              <a:rPr lang="zh-CN" altLang="en-US" sz="2600" smtClean="0"/>
            </a:br>
            <a:r>
              <a:rPr lang="zh-CN" altLang="en-US" sz="2600" smtClean="0"/>
              <a:t>　　这三种情况对应到栈的操作即为：</a:t>
            </a:r>
            <a:br>
              <a:rPr lang="zh-CN" altLang="en-US" sz="2600" smtClean="0"/>
            </a:br>
            <a:r>
              <a:rPr lang="zh-CN" altLang="en-US" sz="2600" smtClean="0"/>
              <a:t>　　</a:t>
            </a:r>
            <a:r>
              <a:rPr lang="en-US" altLang="zh-CN" sz="2600" smtClean="0"/>
              <a:t>1</a:t>
            </a:r>
            <a:r>
              <a:rPr lang="zh-CN" altLang="en-US" sz="2600" smtClean="0"/>
              <a:t>．和栈顶的左括弧不相匹配；</a:t>
            </a:r>
            <a:br>
              <a:rPr lang="zh-CN" altLang="en-US" sz="2600" smtClean="0"/>
            </a:br>
            <a:r>
              <a:rPr lang="zh-CN" altLang="en-US" sz="2600" smtClean="0"/>
              <a:t>　　</a:t>
            </a:r>
            <a:r>
              <a:rPr lang="en-US" altLang="zh-CN" sz="2600" smtClean="0"/>
              <a:t>2</a:t>
            </a:r>
            <a:r>
              <a:rPr lang="zh-CN" altLang="en-US" sz="2600" smtClean="0"/>
              <a:t>．栈中并没有左括弧等在哪里；</a:t>
            </a:r>
            <a:br>
              <a:rPr lang="zh-CN" altLang="en-US" sz="2600" smtClean="0"/>
            </a:br>
            <a:r>
              <a:rPr lang="zh-CN" altLang="en-US" sz="2600" smtClean="0"/>
              <a:t>　　</a:t>
            </a:r>
            <a:r>
              <a:rPr lang="en-US" altLang="zh-CN" sz="2600" smtClean="0"/>
              <a:t>3</a:t>
            </a:r>
            <a:r>
              <a:rPr lang="zh-CN" altLang="en-US" sz="2600" smtClean="0"/>
              <a:t>．栈中还有左括弧没有等到和它相匹配的右括弧。</a:t>
            </a:r>
            <a:br>
              <a:rPr lang="zh-CN" altLang="en-US" sz="2600" smtClean="0"/>
            </a:br>
            <a:r>
              <a:rPr lang="zh-CN" altLang="en-US" sz="2600" smtClean="0"/>
              <a:t>　　在以上分析的基础上就可以写出检验括弧匹配的算法了。</a:t>
            </a:r>
            <a:br>
              <a:rPr lang="zh-CN" altLang="en-US" sz="2600" smtClean="0"/>
            </a:br>
            <a:endParaRPr lang="zh-CN" altLang="en-US" sz="2600" smtClean="0"/>
          </a:p>
        </p:txBody>
      </p:sp>
      <p:sp>
        <p:nvSpPr>
          <p:cNvPr id="187396" name="AutoShape 4"/>
          <p:cNvSpPr>
            <a:spLocks noChangeArrowheads="1"/>
          </p:cNvSpPr>
          <p:nvPr/>
        </p:nvSpPr>
        <p:spPr bwMode="auto">
          <a:xfrm>
            <a:off x="2063750" y="1484313"/>
            <a:ext cx="8135938" cy="2592387"/>
          </a:xfrm>
          <a:prstGeom prst="wedgeRectCallout">
            <a:avLst>
              <a:gd name="adj1" fmla="val -34060"/>
              <a:gd name="adj2" fmla="val 42958"/>
            </a:avLst>
          </a:prstGeom>
          <a:solidFill>
            <a:schemeClr val="bg1"/>
          </a:solidFill>
          <a:ln w="9525">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2000">
                <a:latin typeface="华文楷体" panose="02010600040101010101" pitchFamily="2" charset="-122"/>
                <a:ea typeface="华文楷体" panose="02010600040101010101" pitchFamily="2" charset="-122"/>
              </a:rPr>
              <a:t>1</a:t>
            </a:r>
            <a:r>
              <a:rPr lang="zh-CN" altLang="en-US" sz="2000">
                <a:latin typeface="华文楷体" panose="02010600040101010101" pitchFamily="2" charset="-122"/>
                <a:ea typeface="华文楷体" panose="02010600040101010101" pitchFamily="2" charset="-122"/>
              </a:rPr>
              <a:t>．</a:t>
            </a:r>
            <a:r>
              <a:rPr lang="en-US" altLang="zh-CN" sz="2000">
                <a:latin typeface="华文楷体" panose="02010600040101010101" pitchFamily="2" charset="-122"/>
                <a:ea typeface="华文楷体" panose="02010600040101010101" pitchFamily="2" charset="-122"/>
              </a:rPr>
              <a:t>"</a:t>
            </a:r>
            <a:r>
              <a:rPr lang="zh-CN" altLang="en-US" sz="2000">
                <a:latin typeface="华文楷体" panose="02010600040101010101" pitchFamily="2" charset="-122"/>
                <a:ea typeface="华文楷体" panose="02010600040101010101" pitchFamily="2" charset="-122"/>
              </a:rPr>
              <a:t>匹配</a:t>
            </a:r>
            <a:r>
              <a:rPr lang="en-US" altLang="zh-CN" sz="2000">
                <a:latin typeface="华文楷体" panose="02010600040101010101" pitchFamily="2" charset="-122"/>
                <a:ea typeface="华文楷体" panose="02010600040101010101" pitchFamily="2" charset="-122"/>
              </a:rPr>
              <a:t>"</a:t>
            </a:r>
            <a:r>
              <a:rPr lang="zh-CN" altLang="en-US" sz="2000">
                <a:latin typeface="华文楷体" panose="02010600040101010101" pitchFamily="2" charset="-122"/>
                <a:ea typeface="华文楷体" panose="02010600040101010101" pitchFamily="2" charset="-122"/>
              </a:rPr>
              <a:t>不是</a:t>
            </a:r>
            <a:r>
              <a:rPr lang="en-US" altLang="zh-CN" sz="2000">
                <a:latin typeface="华文楷体" panose="02010600040101010101" pitchFamily="2" charset="-122"/>
                <a:ea typeface="华文楷体" panose="02010600040101010101" pitchFamily="2" charset="-122"/>
              </a:rPr>
              <a:t>"</a:t>
            </a:r>
            <a:r>
              <a:rPr lang="zh-CN" altLang="en-US" sz="2000">
                <a:latin typeface="华文楷体" panose="02010600040101010101" pitchFamily="2" charset="-122"/>
                <a:ea typeface="华文楷体" panose="02010600040101010101" pitchFamily="2" charset="-122"/>
              </a:rPr>
              <a:t>相等</a:t>
            </a:r>
            <a:r>
              <a:rPr lang="en-US" altLang="zh-CN" sz="2000">
                <a:latin typeface="华文楷体" panose="02010600040101010101" pitchFamily="2" charset="-122"/>
                <a:ea typeface="华文楷体" panose="02010600040101010101" pitchFamily="2" charset="-122"/>
              </a:rPr>
              <a:t>"</a:t>
            </a:r>
            <a:r>
              <a:rPr lang="zh-CN" altLang="en-US" sz="2000">
                <a:latin typeface="华文楷体" panose="02010600040101010101" pitchFamily="2" charset="-122"/>
                <a:ea typeface="华文楷体" panose="02010600040101010101" pitchFamily="2" charset="-122"/>
              </a:rPr>
              <a:t>。因此你若在遇到左括弧时是将当前这个左括弧进栈的话，那么在遇到右括弧时必须分别不同情况进行判别，你是这样写的吗？</a:t>
            </a:r>
            <a:br>
              <a:rPr lang="zh-CN" altLang="en-US" sz="2000">
                <a:latin typeface="华文楷体" panose="02010600040101010101" pitchFamily="2" charset="-122"/>
                <a:ea typeface="华文楷体" panose="02010600040101010101" pitchFamily="2" charset="-122"/>
              </a:rPr>
            </a:br>
            <a:r>
              <a:rPr lang="en-US" altLang="zh-CN" sz="2000">
                <a:latin typeface="华文楷体" panose="02010600040101010101" pitchFamily="2" charset="-122"/>
                <a:ea typeface="华文楷体" panose="02010600040101010101" pitchFamily="2" charset="-122"/>
              </a:rPr>
              <a:t>2</a:t>
            </a:r>
            <a:r>
              <a:rPr lang="zh-CN" altLang="en-US" sz="2000">
                <a:latin typeface="华文楷体" panose="02010600040101010101" pitchFamily="2" charset="-122"/>
                <a:ea typeface="华文楷体" panose="02010600040101010101" pitchFamily="2" charset="-122"/>
              </a:rPr>
              <a:t>．和栈顶元素进行比较的前提是栈不为空。因此你在判别当前出现的右括弧是否和相应左括弧匹配之前有否先判别当前栈是否为空？</a:t>
            </a:r>
            <a:br>
              <a:rPr lang="zh-CN" altLang="en-US" sz="2000">
                <a:latin typeface="华文楷体" panose="02010600040101010101" pitchFamily="2" charset="-122"/>
                <a:ea typeface="华文楷体" panose="02010600040101010101" pitchFamily="2" charset="-122"/>
              </a:rPr>
            </a:br>
            <a:r>
              <a:rPr lang="en-US" altLang="zh-CN" sz="2000">
                <a:latin typeface="华文楷体" panose="02010600040101010101" pitchFamily="2" charset="-122"/>
                <a:ea typeface="华文楷体" panose="02010600040101010101" pitchFamily="2" charset="-122"/>
              </a:rPr>
              <a:t>3</a:t>
            </a:r>
            <a:r>
              <a:rPr lang="zh-CN" altLang="en-US" sz="2000">
                <a:latin typeface="华文楷体" panose="02010600040101010101" pitchFamily="2" charset="-122"/>
                <a:ea typeface="华文楷体" panose="02010600040101010101" pitchFamily="2" charset="-122"/>
              </a:rPr>
              <a:t>．</a:t>
            </a:r>
            <a:r>
              <a:rPr lang="en-US" altLang="zh-CN" sz="2000">
                <a:latin typeface="华文楷体" panose="02010600040101010101" pitchFamily="2" charset="-122"/>
                <a:ea typeface="华文楷体" panose="02010600040101010101" pitchFamily="2" charset="-122"/>
              </a:rPr>
              <a:t>"</a:t>
            </a:r>
            <a:r>
              <a:rPr lang="zh-CN" altLang="en-US" sz="2000">
                <a:latin typeface="华文楷体" panose="02010600040101010101" pitchFamily="2" charset="-122"/>
                <a:ea typeface="华文楷体" panose="02010600040101010101" pitchFamily="2" charset="-122"/>
              </a:rPr>
              <a:t>没有等到</a:t>
            </a:r>
            <a:r>
              <a:rPr lang="en-US" altLang="zh-CN" sz="2000">
                <a:latin typeface="华文楷体" panose="02010600040101010101" pitchFamily="2" charset="-122"/>
                <a:ea typeface="华文楷体" panose="02010600040101010101" pitchFamily="2" charset="-122"/>
              </a:rPr>
              <a:t>"</a:t>
            </a:r>
            <a:r>
              <a:rPr lang="zh-CN" altLang="en-US" sz="2000">
                <a:latin typeface="华文楷体" panose="02010600040101010101" pitchFamily="2" charset="-122"/>
                <a:ea typeface="华文楷体" panose="02010600040101010101" pitchFamily="2" charset="-122"/>
              </a:rPr>
              <a:t>即为栈不空的情况。因此在算法结束之前，你有没有判别栈是否已为空了？</a:t>
            </a:r>
            <a:br>
              <a:rPr lang="zh-CN" altLang="en-US" sz="2000">
                <a:latin typeface="华文楷体" panose="02010600040101010101" pitchFamily="2" charset="-122"/>
                <a:ea typeface="华文楷体" panose="02010600040101010101" pitchFamily="2" charset="-122"/>
              </a:rPr>
            </a:br>
            <a:r>
              <a:rPr lang="zh-CN" altLang="en-US" sz="2000">
                <a:latin typeface="华文楷体" panose="02010600040101010101" pitchFamily="2" charset="-122"/>
                <a:ea typeface="华文楷体" panose="02010600040101010101" pitchFamily="2" charset="-122"/>
              </a:rPr>
              <a:t>　　此外别忘了使用栈之前一定要进行初始化。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87396"/>
                                        </p:tgtEl>
                                        <p:attrNameLst>
                                          <p:attrName>style.visibility</p:attrName>
                                        </p:attrNameLst>
                                      </p:cBhvr>
                                      <p:to>
                                        <p:strVal val="visible"/>
                                      </p:to>
                                    </p:set>
                                    <p:animEffect transition="in" filter="wedge">
                                      <p:cBhvr>
                                        <p:cTn id="7" dur="2000"/>
                                        <p:tgtEl>
                                          <p:spTgt spid="1873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1" presetClass="exit" presetSubtype="0" fill="hold" grpId="1" nodeType="clickEffect">
                                  <p:stCondLst>
                                    <p:cond delay="0"/>
                                  </p:stCondLst>
                                  <p:childTnLst>
                                    <p:anim calcmode="discrete" valueType="str">
                                      <p:cBhvr>
                                        <p:cTn id="11" dur="1000"/>
                                        <p:tgtEl>
                                          <p:spTgt spid="187396"/>
                                        </p:tgtEl>
                                        <p:attrNameLst>
                                          <p:attrName>style.visibility</p:attrName>
                                        </p:attrNameLst>
                                      </p:cBhvr>
                                      <p:tavLst>
                                        <p:tav tm="0">
                                          <p:val>
                                            <p:strVal val="hidden"/>
                                          </p:val>
                                        </p:tav>
                                        <p:tav tm="50000">
                                          <p:val>
                                            <p:strVal val="visible"/>
                                          </p:val>
                                        </p:tav>
                                      </p:tavLst>
                                    </p:anim>
                                    <p:set>
                                      <p:cBhvr>
                                        <p:cTn id="12" dur="1" fill="hold">
                                          <p:stCondLst>
                                            <p:cond delay="999"/>
                                          </p:stCondLst>
                                        </p:cTn>
                                        <p:tgtEl>
                                          <p:spTgt spid="1873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6" grpId="0" animBg="1"/>
      <p:bldP spid="187396"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xfrm>
            <a:off x="527050" y="333375"/>
            <a:ext cx="10321925" cy="863600"/>
          </a:xfrm>
        </p:spPr>
        <p:txBody>
          <a:bodyPr/>
          <a:lstStyle/>
          <a:p>
            <a:pPr eaLnBrk="1" hangingPunct="1"/>
            <a:r>
              <a:rPr lang="zh-CN" altLang="en-US" smtClean="0"/>
              <a:t>迷宫问题</a:t>
            </a:r>
          </a:p>
        </p:txBody>
      </p:sp>
      <p:sp>
        <p:nvSpPr>
          <p:cNvPr id="64515" name="矩形 93"/>
          <p:cNvSpPr>
            <a:spLocks noChangeArrowheads="1"/>
          </p:cNvSpPr>
          <p:nvPr/>
        </p:nvSpPr>
        <p:spPr bwMode="auto">
          <a:xfrm>
            <a:off x="6808788" y="2349500"/>
            <a:ext cx="3175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nSpc>
                <a:spcPct val="100000"/>
              </a:lnSpc>
              <a:spcBef>
                <a:spcPct val="0"/>
              </a:spcBef>
              <a:buFontTx/>
              <a:buNone/>
            </a:pPr>
            <a:r>
              <a:rPr lang="zh-CN" altLang="en-US" sz="2000">
                <a:solidFill>
                  <a:srgbClr val="333333"/>
                </a:solidFill>
                <a:latin typeface="华文楷体" panose="02010600040101010101" pitchFamily="2" charset="-122"/>
                <a:ea typeface="华文楷体" panose="02010600040101010101" pitchFamily="2" charset="-122"/>
              </a:rPr>
              <a:t>迷宫指的是充满复杂通道，很难找到从其内部到达入口或从入口到达中心的道路，道路复杂难辨，人进去不容易出来的建筑物或者自然环境。</a:t>
            </a:r>
            <a:endParaRPr lang="zh-CN" altLang="en-US" sz="2000">
              <a:latin typeface="华文楷体" panose="02010600040101010101" pitchFamily="2" charset="-122"/>
              <a:ea typeface="华文楷体" panose="02010600040101010101" pitchFamily="2" charset="-122"/>
            </a:endParaRPr>
          </a:p>
        </p:txBody>
      </p:sp>
      <p:pic>
        <p:nvPicPr>
          <p:cNvPr id="64516" name="图片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2235200"/>
            <a:ext cx="1785938"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67138" y="2243138"/>
            <a:ext cx="1987550" cy="130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图片 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81200" y="3868738"/>
            <a:ext cx="1782763"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9" name="图片 6"/>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978275" y="3652838"/>
            <a:ext cx="1565275" cy="156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527050" y="333375"/>
            <a:ext cx="10321925" cy="863600"/>
          </a:xfrm>
        </p:spPr>
        <p:txBody>
          <a:bodyPr/>
          <a:lstStyle/>
          <a:p>
            <a:pPr eaLnBrk="1" hangingPunct="1"/>
            <a:r>
              <a:rPr lang="zh-CN" altLang="en-US" smtClean="0"/>
              <a:t>迷宫求解问题 </a:t>
            </a:r>
          </a:p>
        </p:txBody>
      </p:sp>
      <p:sp>
        <p:nvSpPr>
          <p:cNvPr id="66563" name="Rectangle 3"/>
          <p:cNvSpPr>
            <a:spLocks noGrp="1" noChangeArrowheads="1"/>
          </p:cNvSpPr>
          <p:nvPr>
            <p:ph idx="1"/>
          </p:nvPr>
        </p:nvSpPr>
        <p:spPr>
          <a:xfrm>
            <a:off x="527050" y="1773238"/>
            <a:ext cx="10321925" cy="4351337"/>
          </a:xfrm>
        </p:spPr>
        <p:txBody>
          <a:bodyPr/>
          <a:lstStyle/>
          <a:p>
            <a:pPr eaLnBrk="1" hangingPunct="1"/>
            <a:r>
              <a:rPr lang="zh-CN" altLang="en-US" sz="2400" smtClean="0"/>
              <a:t>计算机解迷宫时，通常用的是</a:t>
            </a:r>
            <a:r>
              <a:rPr lang="zh-CN" altLang="en-US" sz="2400" b="1" smtClean="0">
                <a:latin typeface="Arial" panose="020B0604020202020204" pitchFamily="34" charset="0"/>
              </a:rPr>
              <a:t>“</a:t>
            </a:r>
            <a:r>
              <a:rPr lang="zh-CN" altLang="en-US" sz="2400" b="1" smtClean="0"/>
              <a:t>穷举求解</a:t>
            </a:r>
            <a:r>
              <a:rPr lang="zh-CN" altLang="en-US" sz="2400" b="1" smtClean="0">
                <a:latin typeface="Arial" panose="020B0604020202020204" pitchFamily="34" charset="0"/>
              </a:rPr>
              <a:t>”</a:t>
            </a:r>
            <a:r>
              <a:rPr lang="zh-CN" altLang="en-US" sz="2400" smtClean="0"/>
              <a:t>的方法，即从入口出发，顺某一方向向前探索，若能走通，则继续往前走；否则沿原路退回，换一个方向再继续探索，直至所有可能的通路都探索到为止</a:t>
            </a:r>
            <a:r>
              <a:rPr lang="en-US" altLang="zh-CN" sz="2400" smtClean="0"/>
              <a:t>,</a:t>
            </a:r>
            <a:r>
              <a:rPr lang="zh-CN" altLang="en-US" sz="2400" smtClean="0"/>
              <a:t>如果所有可能的通路都试探过，还是不能走到终点，那就说明该迷宫不存在从起点到终点的通道。</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527050" y="333375"/>
            <a:ext cx="10321925" cy="863600"/>
          </a:xfrm>
        </p:spPr>
        <p:txBody>
          <a:bodyPr/>
          <a:lstStyle/>
          <a:p>
            <a:pPr eaLnBrk="1" hangingPunct="1"/>
            <a:r>
              <a:rPr lang="zh-CN" altLang="en-US" smtClean="0"/>
              <a:t>迷宫求解问题</a:t>
            </a:r>
          </a:p>
        </p:txBody>
      </p:sp>
      <p:sp>
        <p:nvSpPr>
          <p:cNvPr id="67587" name="Rectangle 3"/>
          <p:cNvSpPr>
            <a:spLocks noGrp="1" noChangeArrowheads="1"/>
          </p:cNvSpPr>
          <p:nvPr>
            <p:ph idx="1"/>
          </p:nvPr>
        </p:nvSpPr>
        <p:spPr>
          <a:xfrm>
            <a:off x="527050" y="1773238"/>
            <a:ext cx="10321925" cy="4351337"/>
          </a:xfrm>
        </p:spPr>
        <p:txBody>
          <a:bodyPr/>
          <a:lstStyle/>
          <a:p>
            <a:pPr eaLnBrk="1" hangingPunct="1">
              <a:lnSpc>
                <a:spcPct val="80000"/>
              </a:lnSpc>
            </a:pPr>
            <a:r>
              <a:rPr lang="zh-CN" altLang="en-US" sz="2000" smtClean="0"/>
              <a:t>从入口进入迷宫之后，不管在迷宫的哪一个位置上，都是先往东走，如果走得通就继续往东走，如果在某个位置上往东走不通的话，就依次试探往南、往西和往北方向，从一个走得通的方向继续往前直到出口为止；</a:t>
            </a:r>
          </a:p>
          <a:p>
            <a:pPr eaLnBrk="1" hangingPunct="1">
              <a:lnSpc>
                <a:spcPct val="80000"/>
              </a:lnSpc>
            </a:pPr>
            <a:r>
              <a:rPr lang="zh-CN" altLang="en-US" sz="2000" smtClean="0"/>
              <a:t>如果在某个位置上四个方向都走不通的话，就退回到前一个位置，换一个方向再试，如果这个位置已经没有方向可试了就再退一步，如果所有已经走过的位置的四个方向都试探过了，一直退到起始点都没有走通，那就说明这个迷宫根本不通；</a:t>
            </a:r>
          </a:p>
          <a:p>
            <a:pPr eaLnBrk="1" hangingPunct="1">
              <a:lnSpc>
                <a:spcPct val="80000"/>
              </a:lnSpc>
            </a:pPr>
            <a:r>
              <a:rPr lang="zh-CN" altLang="en-US" sz="2000" smtClean="0"/>
              <a:t>所谓</a:t>
            </a:r>
            <a:r>
              <a:rPr lang="zh-CN" altLang="en-US" sz="2000" smtClean="0">
                <a:latin typeface="Arial" panose="020B0604020202020204" pitchFamily="34" charset="0"/>
              </a:rPr>
              <a:t>“</a:t>
            </a:r>
            <a:r>
              <a:rPr lang="zh-CN" altLang="en-US" sz="2000" smtClean="0"/>
              <a:t>走不通</a:t>
            </a:r>
            <a:r>
              <a:rPr lang="zh-CN" altLang="en-US" sz="2000" smtClean="0">
                <a:latin typeface="Arial" panose="020B0604020202020204" pitchFamily="34" charset="0"/>
              </a:rPr>
              <a:t>”</a:t>
            </a:r>
            <a:r>
              <a:rPr lang="zh-CN" altLang="en-US" sz="2000" smtClean="0"/>
              <a:t>不单是指遇到</a:t>
            </a:r>
            <a:r>
              <a:rPr lang="zh-CN" altLang="en-US" sz="2000" smtClean="0">
                <a:latin typeface="Arial" panose="020B0604020202020204" pitchFamily="34" charset="0"/>
              </a:rPr>
              <a:t>“</a:t>
            </a:r>
            <a:r>
              <a:rPr lang="zh-CN" altLang="en-US" sz="2000" smtClean="0"/>
              <a:t>墙挡路</a:t>
            </a:r>
            <a:r>
              <a:rPr lang="zh-CN" altLang="en-US" sz="2000" smtClean="0">
                <a:latin typeface="Arial" panose="020B0604020202020204" pitchFamily="34" charset="0"/>
              </a:rPr>
              <a:t>”</a:t>
            </a:r>
            <a:r>
              <a:rPr lang="zh-CN" altLang="en-US" sz="2000" smtClean="0"/>
              <a:t>，还有</a:t>
            </a:r>
            <a:r>
              <a:rPr lang="zh-CN" altLang="en-US" sz="2000" smtClean="0">
                <a:latin typeface="Arial" panose="020B0604020202020204" pitchFamily="34" charset="0"/>
              </a:rPr>
              <a:t>“</a:t>
            </a:r>
            <a:r>
              <a:rPr lang="zh-CN" altLang="en-US" sz="2000" smtClean="0"/>
              <a:t>已经走过的路不能重复走第二次</a:t>
            </a:r>
            <a:r>
              <a:rPr lang="zh-CN" altLang="en-US" sz="2000" smtClean="0">
                <a:latin typeface="Arial" panose="020B0604020202020204" pitchFamily="34" charset="0"/>
              </a:rPr>
              <a:t>”</a:t>
            </a:r>
            <a:r>
              <a:rPr lang="zh-CN" altLang="en-US" sz="2000" smtClean="0"/>
              <a:t>，它包括</a:t>
            </a:r>
            <a:r>
              <a:rPr lang="zh-CN" altLang="en-US" sz="2000" smtClean="0">
                <a:latin typeface="Arial" panose="020B0604020202020204" pitchFamily="34" charset="0"/>
              </a:rPr>
              <a:t>“</a:t>
            </a:r>
            <a:r>
              <a:rPr lang="zh-CN" altLang="en-US" sz="2000" smtClean="0"/>
              <a:t>曾经走过而没有走通的路</a:t>
            </a:r>
            <a:r>
              <a:rPr lang="zh-CN" altLang="en-US" sz="2000" smtClean="0">
                <a:latin typeface="Arial" panose="020B0604020202020204" pitchFamily="34" charset="0"/>
              </a:rPr>
              <a:t>”</a:t>
            </a:r>
            <a:r>
              <a:rPr lang="zh-CN" altLang="en-US" sz="2000" smtClean="0"/>
              <a:t>。</a:t>
            </a:r>
          </a:p>
          <a:p>
            <a:pPr eaLnBrk="1" hangingPunct="1">
              <a:lnSpc>
                <a:spcPct val="80000"/>
              </a:lnSpc>
              <a:buFont typeface="Wingdings" panose="05000000000000000000" pitchFamily="2" charset="2"/>
              <a:buNone/>
            </a:pPr>
            <a:endParaRPr lang="zh-CN" altLang="en-US" sz="2000" smtClean="0"/>
          </a:p>
          <a:p>
            <a:pPr eaLnBrk="1" hangingPunct="1">
              <a:lnSpc>
                <a:spcPct val="80000"/>
              </a:lnSpc>
              <a:buFont typeface="Wingdings" panose="05000000000000000000" pitchFamily="2" charset="2"/>
              <a:buNone/>
            </a:pPr>
            <a:r>
              <a:rPr lang="zh-CN" altLang="en-US" sz="1900" smtClean="0"/>
              <a:t>显然为了保证在任何位置上都能沿原路退回，</a:t>
            </a:r>
            <a:r>
              <a:rPr lang="zh-CN" altLang="en-US" sz="1900" b="1" smtClean="0"/>
              <a:t>需要用一个</a:t>
            </a:r>
            <a:r>
              <a:rPr lang="en-US" altLang="zh-CN" sz="1900" b="1" smtClean="0"/>
              <a:t>"</a:t>
            </a:r>
            <a:r>
              <a:rPr lang="zh-CN" altLang="en-US" sz="1900" b="1" smtClean="0"/>
              <a:t>后进先出</a:t>
            </a:r>
            <a:r>
              <a:rPr lang="en-US" altLang="zh-CN" sz="1900" b="1" smtClean="0"/>
              <a:t>"</a:t>
            </a:r>
            <a:r>
              <a:rPr lang="zh-CN" altLang="en-US" sz="1900" b="1" smtClean="0"/>
              <a:t>的结构即栈来保存从入口到当前位置的路径。</a:t>
            </a:r>
            <a:r>
              <a:rPr lang="zh-CN" altLang="en-US" sz="1900" smtClean="0"/>
              <a:t>并且在走出出口之后，栈中保存的正是一条从入口到出口的路径。</a:t>
            </a:r>
            <a:r>
              <a:rPr lang="zh-CN" altLang="en-US" sz="1500" smtClean="0"/>
              <a:t/>
            </a:r>
            <a:br>
              <a:rPr lang="zh-CN" altLang="en-US" sz="1500" smtClean="0"/>
            </a:br>
            <a:endParaRPr lang="zh-CN" altLang="en-US" sz="1500" smtClean="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xfrm>
            <a:off x="527050" y="333375"/>
            <a:ext cx="10321925" cy="863600"/>
          </a:xfrm>
        </p:spPr>
        <p:txBody>
          <a:bodyPr/>
          <a:lstStyle/>
          <a:p>
            <a:pPr eaLnBrk="1" hangingPunct="1"/>
            <a:r>
              <a:rPr lang="zh-CN" altLang="en-US" smtClean="0"/>
              <a:t>迷宫问题</a:t>
            </a:r>
          </a:p>
        </p:txBody>
      </p:sp>
      <p:sp>
        <p:nvSpPr>
          <p:cNvPr id="68611" name="文本占位符 4"/>
          <p:cNvSpPr>
            <a:spLocks noGrp="1"/>
          </p:cNvSpPr>
          <p:nvPr>
            <p:ph type="body" sz="quarter" idx="4294967295"/>
          </p:nvPr>
        </p:nvSpPr>
        <p:spPr>
          <a:xfrm>
            <a:off x="8237538" y="3822700"/>
            <a:ext cx="3954462" cy="533400"/>
          </a:xfrm>
          <a:extLst>
            <a:ext uri="{91240B29-F687-4F45-9708-019B960494DF}">
              <a14:hiddenLine xmlns:a14="http://schemas.microsoft.com/office/drawing/2010/main" w="12700">
                <a:solidFill>
                  <a:srgbClr val="000000"/>
                </a:solidFill>
                <a:miter lim="400000"/>
                <a:headEnd/>
                <a:tailEnd/>
              </a14:hiddenLine>
            </a:ext>
          </a:extLst>
        </p:spPr>
        <p:txBody>
          <a:bodyPr/>
          <a:lstStyle/>
          <a:p>
            <a:pPr eaLnBrk="1" hangingPunct="1">
              <a:spcBef>
                <a:spcPct val="50000"/>
              </a:spcBef>
              <a:buFont typeface="Arial" panose="020B0604020202020204" pitchFamily="34" charset="0"/>
              <a:buNone/>
            </a:pPr>
            <a:r>
              <a:rPr lang="zh-CN" altLang="zh-CN" smtClean="0">
                <a:ea typeface="楷体_GB2312" panose="02010609030101010101" pitchFamily="49" charset="-122"/>
              </a:rPr>
              <a:t>穷举求解</a:t>
            </a:r>
          </a:p>
        </p:txBody>
      </p:sp>
      <p:graphicFrame>
        <p:nvGraphicFramePr>
          <p:cNvPr id="46" name="Group 5"/>
          <p:cNvGraphicFramePr>
            <a:graphicFrameLocks noGrp="1"/>
          </p:cNvGraphicFramePr>
          <p:nvPr/>
        </p:nvGraphicFramePr>
        <p:xfrm>
          <a:off x="2757488" y="2452688"/>
          <a:ext cx="2286000" cy="2143128"/>
        </p:xfrm>
        <a:graphic>
          <a:graphicData uri="http://schemas.openxmlformats.org/drawingml/2006/table">
            <a:tbl>
              <a:tblPr/>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381000">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tblGrid>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rgbClr val="FF0000"/>
                          </a:solidFill>
                          <a:effectLst/>
                          <a:latin typeface="Symbol" pitchFamily="18" charset="2"/>
                          <a:ea typeface="宋体" pitchFamily="2" charset="-122"/>
                        </a:rPr>
                        <a:t>Q</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7" name="AutoShape 56"/>
          <p:cNvSpPr>
            <a:spLocks noChangeArrowheads="1"/>
          </p:cNvSpPr>
          <p:nvPr/>
        </p:nvSpPr>
        <p:spPr bwMode="auto">
          <a:xfrm>
            <a:off x="3186113" y="29670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48" name="Rectangle 57"/>
          <p:cNvSpPr>
            <a:spLocks noChangeArrowheads="1"/>
          </p:cNvSpPr>
          <p:nvPr/>
        </p:nvSpPr>
        <p:spPr bwMode="auto">
          <a:xfrm>
            <a:off x="3157538" y="2938463"/>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49" name="AutoShape 58"/>
          <p:cNvSpPr>
            <a:spLocks noChangeArrowheads="1"/>
          </p:cNvSpPr>
          <p:nvPr/>
        </p:nvSpPr>
        <p:spPr bwMode="auto">
          <a:xfrm rot="5362678">
            <a:off x="3186113" y="2938463"/>
            <a:ext cx="314325" cy="142875"/>
          </a:xfrm>
          <a:prstGeom prst="rightArrow">
            <a:avLst>
              <a:gd name="adj1" fmla="val 35556"/>
              <a:gd name="adj2" fmla="val 80830"/>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50" name="AutoShape 59"/>
          <p:cNvSpPr>
            <a:spLocks noChangeArrowheads="1"/>
          </p:cNvSpPr>
          <p:nvPr/>
        </p:nvSpPr>
        <p:spPr bwMode="auto">
          <a:xfrm>
            <a:off x="3186113" y="328136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51" name="AutoShape 60"/>
          <p:cNvSpPr>
            <a:spLocks noChangeArrowheads="1"/>
          </p:cNvSpPr>
          <p:nvPr/>
        </p:nvSpPr>
        <p:spPr bwMode="auto">
          <a:xfrm>
            <a:off x="3557588" y="328136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52" name="AutoShape 61"/>
          <p:cNvSpPr>
            <a:spLocks noChangeArrowheads="1"/>
          </p:cNvSpPr>
          <p:nvPr/>
        </p:nvSpPr>
        <p:spPr bwMode="auto">
          <a:xfrm>
            <a:off x="3957638" y="328136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53" name="AutoShape 62"/>
          <p:cNvSpPr>
            <a:spLocks noChangeArrowheads="1"/>
          </p:cNvSpPr>
          <p:nvPr/>
        </p:nvSpPr>
        <p:spPr bwMode="auto">
          <a:xfrm>
            <a:off x="4329113" y="328136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54" name="Rectangle 63"/>
          <p:cNvSpPr>
            <a:spLocks noChangeArrowheads="1"/>
          </p:cNvSpPr>
          <p:nvPr/>
        </p:nvSpPr>
        <p:spPr bwMode="auto">
          <a:xfrm>
            <a:off x="4300538" y="3252788"/>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55" name="AutoShape 64"/>
          <p:cNvSpPr>
            <a:spLocks noChangeArrowheads="1"/>
          </p:cNvSpPr>
          <p:nvPr/>
        </p:nvSpPr>
        <p:spPr bwMode="auto">
          <a:xfrm rot="5362678">
            <a:off x="4300538" y="328136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56" name="Rectangle 65"/>
          <p:cNvSpPr>
            <a:spLocks noChangeArrowheads="1"/>
          </p:cNvSpPr>
          <p:nvPr/>
        </p:nvSpPr>
        <p:spPr bwMode="auto">
          <a:xfrm>
            <a:off x="4300538" y="319563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57" name="AutoShape 66"/>
          <p:cNvSpPr>
            <a:spLocks noChangeArrowheads="1"/>
          </p:cNvSpPr>
          <p:nvPr/>
        </p:nvSpPr>
        <p:spPr bwMode="auto">
          <a:xfrm rot="10699178">
            <a:off x="4300538" y="3281363"/>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58" name="Rectangle 67"/>
          <p:cNvSpPr>
            <a:spLocks noChangeArrowheads="1"/>
          </p:cNvSpPr>
          <p:nvPr/>
        </p:nvSpPr>
        <p:spPr bwMode="auto">
          <a:xfrm>
            <a:off x="4300538" y="3224213"/>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59" name="AutoShape 68"/>
          <p:cNvSpPr>
            <a:spLocks noChangeArrowheads="1"/>
          </p:cNvSpPr>
          <p:nvPr/>
        </p:nvSpPr>
        <p:spPr bwMode="auto">
          <a:xfrm rot="-5400000">
            <a:off x="4329113" y="328136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60" name="AutoShape 69"/>
          <p:cNvSpPr>
            <a:spLocks noChangeArrowheads="1"/>
          </p:cNvSpPr>
          <p:nvPr/>
        </p:nvSpPr>
        <p:spPr bwMode="auto">
          <a:xfrm>
            <a:off x="4329113" y="293846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61" name="Rectangle 70"/>
          <p:cNvSpPr>
            <a:spLocks noChangeArrowheads="1"/>
          </p:cNvSpPr>
          <p:nvPr/>
        </p:nvSpPr>
        <p:spPr bwMode="auto">
          <a:xfrm>
            <a:off x="4300538" y="2881313"/>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62" name="AutoShape 71"/>
          <p:cNvSpPr>
            <a:spLocks noChangeArrowheads="1"/>
          </p:cNvSpPr>
          <p:nvPr/>
        </p:nvSpPr>
        <p:spPr bwMode="auto">
          <a:xfrm rot="5362678">
            <a:off x="4329113" y="293846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63" name="Rectangle 72"/>
          <p:cNvSpPr>
            <a:spLocks noChangeArrowheads="1"/>
          </p:cNvSpPr>
          <p:nvPr/>
        </p:nvSpPr>
        <p:spPr bwMode="auto">
          <a:xfrm>
            <a:off x="4300538" y="2824163"/>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64" name="AutoShape 73"/>
          <p:cNvSpPr>
            <a:spLocks noChangeArrowheads="1"/>
          </p:cNvSpPr>
          <p:nvPr/>
        </p:nvSpPr>
        <p:spPr bwMode="auto">
          <a:xfrm rot="10699178">
            <a:off x="4300538" y="2909888"/>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65" name="AutoShape 74"/>
          <p:cNvSpPr>
            <a:spLocks noChangeArrowheads="1"/>
          </p:cNvSpPr>
          <p:nvPr/>
        </p:nvSpPr>
        <p:spPr bwMode="auto">
          <a:xfrm>
            <a:off x="3957638" y="290988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66" name="Rectangle 75"/>
          <p:cNvSpPr>
            <a:spLocks noChangeArrowheads="1"/>
          </p:cNvSpPr>
          <p:nvPr/>
        </p:nvSpPr>
        <p:spPr bwMode="auto">
          <a:xfrm>
            <a:off x="3929063" y="2881313"/>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67" name="AutoShape 76"/>
          <p:cNvSpPr>
            <a:spLocks noChangeArrowheads="1"/>
          </p:cNvSpPr>
          <p:nvPr/>
        </p:nvSpPr>
        <p:spPr bwMode="auto">
          <a:xfrm rot="5362678">
            <a:off x="3929063" y="290988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68" name="Rectangle 77"/>
          <p:cNvSpPr>
            <a:spLocks noChangeArrowheads="1"/>
          </p:cNvSpPr>
          <p:nvPr/>
        </p:nvSpPr>
        <p:spPr bwMode="auto">
          <a:xfrm>
            <a:off x="3929063" y="2824163"/>
            <a:ext cx="314325"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69" name="AutoShape 78"/>
          <p:cNvSpPr>
            <a:spLocks noChangeArrowheads="1"/>
          </p:cNvSpPr>
          <p:nvPr/>
        </p:nvSpPr>
        <p:spPr bwMode="auto">
          <a:xfrm rot="10699178">
            <a:off x="3900488" y="2909888"/>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70" name="Rectangle 79"/>
          <p:cNvSpPr>
            <a:spLocks noChangeArrowheads="1"/>
          </p:cNvSpPr>
          <p:nvPr/>
        </p:nvSpPr>
        <p:spPr bwMode="auto">
          <a:xfrm>
            <a:off x="3929063" y="2881313"/>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1" name="AutoShape 80"/>
          <p:cNvSpPr>
            <a:spLocks noChangeArrowheads="1"/>
          </p:cNvSpPr>
          <p:nvPr/>
        </p:nvSpPr>
        <p:spPr bwMode="auto">
          <a:xfrm rot="-5400000">
            <a:off x="3929063" y="290988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 name="Rectangle 81" descr="棚架"/>
          <p:cNvSpPr>
            <a:spLocks noChangeArrowheads="1"/>
          </p:cNvSpPr>
          <p:nvPr/>
        </p:nvSpPr>
        <p:spPr bwMode="auto">
          <a:xfrm>
            <a:off x="3900488" y="2795588"/>
            <a:ext cx="371475" cy="371475"/>
          </a:xfrm>
          <a:prstGeom prst="rect">
            <a:avLst/>
          </a:prstGeom>
          <a:blipFill dpi="0" rotWithShape="0">
            <a:blip r:embed="rId3"/>
            <a:srcRect/>
            <a:tile tx="0" ty="0" sx="100000" sy="100000" flip="none" algn="tl"/>
          </a:blipFill>
          <a:ln w="9525">
            <a:solidFill>
              <a:srgbClr val="003366"/>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73" name="Rectangle 82"/>
          <p:cNvSpPr>
            <a:spLocks noChangeArrowheads="1"/>
          </p:cNvSpPr>
          <p:nvPr/>
        </p:nvSpPr>
        <p:spPr bwMode="auto">
          <a:xfrm>
            <a:off x="4300538" y="2852738"/>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4" name="AutoShape 83"/>
          <p:cNvSpPr>
            <a:spLocks noChangeArrowheads="1"/>
          </p:cNvSpPr>
          <p:nvPr/>
        </p:nvSpPr>
        <p:spPr bwMode="auto">
          <a:xfrm rot="-5400000">
            <a:off x="4300538" y="290988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5" name="Rectangle 84" descr="棚架"/>
          <p:cNvSpPr>
            <a:spLocks noChangeArrowheads="1"/>
          </p:cNvSpPr>
          <p:nvPr/>
        </p:nvSpPr>
        <p:spPr bwMode="auto">
          <a:xfrm>
            <a:off x="4271963" y="2795588"/>
            <a:ext cx="371475" cy="371475"/>
          </a:xfrm>
          <a:prstGeom prst="rect">
            <a:avLst/>
          </a:prstGeom>
          <a:blipFill dpi="0" rotWithShape="0">
            <a:blip r:embed="rId3"/>
            <a:srcRect/>
            <a:tile tx="0" ty="0" sx="100000" sy="100000" flip="none" algn="tl"/>
          </a:blipFill>
          <a:ln w="9525">
            <a:solidFill>
              <a:srgbClr val="003366"/>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6" name="Rectangle 85" descr="棚架"/>
          <p:cNvSpPr>
            <a:spLocks noChangeArrowheads="1"/>
          </p:cNvSpPr>
          <p:nvPr/>
        </p:nvSpPr>
        <p:spPr bwMode="auto">
          <a:xfrm>
            <a:off x="4271963" y="3167063"/>
            <a:ext cx="371475" cy="371475"/>
          </a:xfrm>
          <a:prstGeom prst="rect">
            <a:avLst/>
          </a:prstGeom>
          <a:blipFill dpi="0" rotWithShape="0">
            <a:blip r:embed="rId3"/>
            <a:srcRect/>
            <a:tile tx="0" ty="0" sx="100000" sy="100000" flip="none" algn="tl"/>
          </a:blipFill>
          <a:ln w="9525">
            <a:solidFill>
              <a:srgbClr val="003366"/>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77" name="Rectangle 86"/>
          <p:cNvSpPr>
            <a:spLocks noChangeArrowheads="1"/>
          </p:cNvSpPr>
          <p:nvPr/>
        </p:nvSpPr>
        <p:spPr bwMode="auto">
          <a:xfrm>
            <a:off x="3929063" y="3252788"/>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8" name="AutoShape 87"/>
          <p:cNvSpPr>
            <a:spLocks noChangeArrowheads="1"/>
          </p:cNvSpPr>
          <p:nvPr/>
        </p:nvSpPr>
        <p:spPr bwMode="auto">
          <a:xfrm rot="5362678">
            <a:off x="3929063" y="328136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9" name="AutoShape 88"/>
          <p:cNvSpPr>
            <a:spLocks noChangeArrowheads="1"/>
          </p:cNvSpPr>
          <p:nvPr/>
        </p:nvSpPr>
        <p:spPr bwMode="auto">
          <a:xfrm>
            <a:off x="3929063" y="36528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80" name="Rectangle 89"/>
          <p:cNvSpPr>
            <a:spLocks noChangeArrowheads="1"/>
          </p:cNvSpPr>
          <p:nvPr/>
        </p:nvSpPr>
        <p:spPr bwMode="auto">
          <a:xfrm>
            <a:off x="3929063" y="3624263"/>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81" name="AutoShape 90"/>
          <p:cNvSpPr>
            <a:spLocks noChangeArrowheads="1"/>
          </p:cNvSpPr>
          <p:nvPr/>
        </p:nvSpPr>
        <p:spPr bwMode="auto">
          <a:xfrm rot="5362678">
            <a:off x="3929063" y="36528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82" name="AutoShape 91"/>
          <p:cNvSpPr>
            <a:spLocks noChangeArrowheads="1"/>
          </p:cNvSpPr>
          <p:nvPr/>
        </p:nvSpPr>
        <p:spPr bwMode="auto">
          <a:xfrm>
            <a:off x="3957638" y="39957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83" name="AutoShape 92"/>
          <p:cNvSpPr>
            <a:spLocks noChangeArrowheads="1"/>
          </p:cNvSpPr>
          <p:nvPr/>
        </p:nvSpPr>
        <p:spPr bwMode="auto">
          <a:xfrm>
            <a:off x="4357688" y="3938588"/>
            <a:ext cx="228600" cy="257175"/>
          </a:xfrm>
          <a:prstGeom prst="smileyFace">
            <a:avLst>
              <a:gd name="adj" fmla="val 4653"/>
            </a:avLst>
          </a:prstGeom>
          <a:solidFill>
            <a:srgbClr val="FFE7F7"/>
          </a:solidFill>
          <a:ln w="9525">
            <a:solidFill>
              <a:srgbClr val="FE62B0"/>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grpSp>
        <p:nvGrpSpPr>
          <p:cNvPr id="68700" name="Group 103"/>
          <p:cNvGrpSpPr>
            <a:grpSpLocks/>
          </p:cNvGrpSpPr>
          <p:nvPr/>
        </p:nvGrpSpPr>
        <p:grpSpPr bwMode="auto">
          <a:xfrm>
            <a:off x="5576888" y="1779588"/>
            <a:ext cx="1647825" cy="1174750"/>
            <a:chOff x="340" y="1797"/>
            <a:chExt cx="1179" cy="936"/>
          </a:xfrm>
        </p:grpSpPr>
        <p:sp>
          <p:nvSpPr>
            <p:cNvPr id="85" name="Line 94"/>
            <p:cNvSpPr>
              <a:spLocks noChangeShapeType="1"/>
            </p:cNvSpPr>
            <p:nvPr/>
          </p:nvSpPr>
          <p:spPr bwMode="auto">
            <a:xfrm>
              <a:off x="929" y="2297"/>
              <a:ext cx="318" cy="0"/>
            </a:xfrm>
            <a:prstGeom prst="line">
              <a:avLst/>
            </a:prstGeom>
            <a:noFill/>
            <a:ln w="28575">
              <a:solidFill>
                <a:srgbClr val="FF9933"/>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86" name="Line 95"/>
            <p:cNvSpPr>
              <a:spLocks noChangeShapeType="1"/>
            </p:cNvSpPr>
            <p:nvPr/>
          </p:nvSpPr>
          <p:spPr bwMode="auto">
            <a:xfrm>
              <a:off x="884" y="2297"/>
              <a:ext cx="0" cy="316"/>
            </a:xfrm>
            <a:prstGeom prst="line">
              <a:avLst/>
            </a:prstGeom>
            <a:noFill/>
            <a:ln w="28575">
              <a:solidFill>
                <a:srgbClr val="FF9933"/>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87" name="Line 96"/>
            <p:cNvSpPr>
              <a:spLocks noChangeShapeType="1"/>
            </p:cNvSpPr>
            <p:nvPr/>
          </p:nvSpPr>
          <p:spPr bwMode="auto">
            <a:xfrm flipH="1">
              <a:off x="521" y="2297"/>
              <a:ext cx="318" cy="0"/>
            </a:xfrm>
            <a:prstGeom prst="line">
              <a:avLst/>
            </a:prstGeom>
            <a:noFill/>
            <a:ln w="28575">
              <a:solidFill>
                <a:srgbClr val="FF9933"/>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68704" name="Oval 97"/>
            <p:cNvSpPr>
              <a:spLocks noChangeArrowheads="1"/>
            </p:cNvSpPr>
            <p:nvPr/>
          </p:nvSpPr>
          <p:spPr bwMode="auto">
            <a:xfrm>
              <a:off x="839" y="2251"/>
              <a:ext cx="91" cy="9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89" name="Line 98"/>
            <p:cNvSpPr>
              <a:spLocks noChangeShapeType="1"/>
            </p:cNvSpPr>
            <p:nvPr/>
          </p:nvSpPr>
          <p:spPr bwMode="auto">
            <a:xfrm flipV="1">
              <a:off x="884" y="2025"/>
              <a:ext cx="0" cy="226"/>
            </a:xfrm>
            <a:prstGeom prst="line">
              <a:avLst/>
            </a:prstGeom>
            <a:noFill/>
            <a:ln w="28575">
              <a:solidFill>
                <a:srgbClr val="FF9933"/>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90" name="Text Box 99"/>
            <p:cNvSpPr txBox="1">
              <a:spLocks noChangeArrowheads="1"/>
            </p:cNvSpPr>
            <p:nvPr/>
          </p:nvSpPr>
          <p:spPr bwMode="auto">
            <a:xfrm>
              <a:off x="1202" y="2116"/>
              <a:ext cx="317"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750" b="1" dirty="0">
                  <a:ea typeface="华文彩云" panose="02010800040101010101" pitchFamily="2" charset="-122"/>
                </a:rPr>
                <a:t>1</a:t>
              </a:r>
            </a:p>
          </p:txBody>
        </p:sp>
        <p:sp>
          <p:nvSpPr>
            <p:cNvPr id="91" name="Text Box 100"/>
            <p:cNvSpPr txBox="1">
              <a:spLocks noChangeArrowheads="1"/>
            </p:cNvSpPr>
            <p:nvPr/>
          </p:nvSpPr>
          <p:spPr bwMode="auto">
            <a:xfrm>
              <a:off x="793" y="2569"/>
              <a:ext cx="31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750" b="1" dirty="0">
                  <a:ea typeface="华文彩云" panose="02010800040101010101" pitchFamily="2" charset="-122"/>
                </a:rPr>
                <a:t>2</a:t>
              </a:r>
            </a:p>
          </p:txBody>
        </p:sp>
        <p:sp>
          <p:nvSpPr>
            <p:cNvPr id="92" name="Text Box 101"/>
            <p:cNvSpPr txBox="1">
              <a:spLocks noChangeArrowheads="1"/>
            </p:cNvSpPr>
            <p:nvPr/>
          </p:nvSpPr>
          <p:spPr bwMode="auto">
            <a:xfrm>
              <a:off x="340" y="2160"/>
              <a:ext cx="31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750" b="1" dirty="0">
                  <a:ea typeface="华文彩云" panose="02010800040101010101" pitchFamily="2" charset="-122"/>
                </a:rPr>
                <a:t>3</a:t>
              </a:r>
            </a:p>
          </p:txBody>
        </p:sp>
        <p:sp>
          <p:nvSpPr>
            <p:cNvPr id="93" name="Text Box 102"/>
            <p:cNvSpPr txBox="1">
              <a:spLocks noChangeArrowheads="1"/>
            </p:cNvSpPr>
            <p:nvPr/>
          </p:nvSpPr>
          <p:spPr bwMode="auto">
            <a:xfrm>
              <a:off x="793" y="1797"/>
              <a:ext cx="270"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750" b="1" dirty="0">
                  <a:ea typeface="华文彩云" panose="02010800040101010101" pitchFamily="2" charset="-122"/>
                </a:rPr>
                <a:t>4</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right)">
                                      <p:cBhvr>
                                        <p:cTn id="12" dur="500"/>
                                        <p:tgtEl>
                                          <p:spTgt spid="48"/>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wipe(up)">
                                      <p:cBhvr>
                                        <p:cTn id="16" dur="500"/>
                                        <p:tgtEl>
                                          <p:spTgt spid="4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wipe(left)">
                                      <p:cBhvr>
                                        <p:cTn id="21" dur="500"/>
                                        <p:tgtEl>
                                          <p:spTgt spid="5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wipe(left)">
                                      <p:cBhvr>
                                        <p:cTn id="26" dur="500"/>
                                        <p:tgtEl>
                                          <p:spTgt spid="5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wipe(left)">
                                      <p:cBhvr>
                                        <p:cTn id="31" dur="500"/>
                                        <p:tgtEl>
                                          <p:spTgt spid="5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wipe(left)">
                                      <p:cBhvr>
                                        <p:cTn id="36" dur="500"/>
                                        <p:tgtEl>
                                          <p:spTgt spid="5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wipe(right)">
                                      <p:cBhvr>
                                        <p:cTn id="41" dur="500"/>
                                        <p:tgtEl>
                                          <p:spTgt spid="54"/>
                                        </p:tgtEl>
                                      </p:cBhvr>
                                    </p:animEffect>
                                  </p:childTnLst>
                                </p:cTn>
                              </p:par>
                            </p:childTnLst>
                          </p:cTn>
                        </p:par>
                        <p:par>
                          <p:cTn id="42" fill="hold" nodeType="afterGroup">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55"/>
                                        </p:tgtEl>
                                        <p:attrNameLst>
                                          <p:attrName>style.visibility</p:attrName>
                                        </p:attrNameLst>
                                      </p:cBhvr>
                                      <p:to>
                                        <p:strVal val="visible"/>
                                      </p:to>
                                    </p:set>
                                    <p:animEffect transition="in" filter="wipe(up)">
                                      <p:cBhvr>
                                        <p:cTn id="45" dur="500"/>
                                        <p:tgtEl>
                                          <p:spTgt spid="5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56"/>
                                        </p:tgtEl>
                                        <p:attrNameLst>
                                          <p:attrName>style.visibility</p:attrName>
                                        </p:attrNameLst>
                                      </p:cBhvr>
                                      <p:to>
                                        <p:strVal val="visible"/>
                                      </p:to>
                                    </p:set>
                                    <p:animEffect transition="in" filter="wipe(down)">
                                      <p:cBhvr>
                                        <p:cTn id="50" dur="500"/>
                                        <p:tgtEl>
                                          <p:spTgt spid="56"/>
                                        </p:tgtEl>
                                      </p:cBhvr>
                                    </p:animEffect>
                                  </p:childTnLst>
                                </p:cTn>
                              </p:par>
                            </p:childTnLst>
                          </p:cTn>
                        </p:par>
                        <p:par>
                          <p:cTn id="51" fill="hold" nodeType="afterGroup">
                            <p:stCondLst>
                              <p:cond delay="500"/>
                            </p:stCondLst>
                            <p:childTnLst>
                              <p:par>
                                <p:cTn id="52" presetID="22" presetClass="entr" presetSubtype="2" fill="hold" grpId="0" nodeType="after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wipe(right)">
                                      <p:cBhvr>
                                        <p:cTn id="54" dur="500"/>
                                        <p:tgtEl>
                                          <p:spTgt spid="5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58"/>
                                        </p:tgtEl>
                                        <p:attrNameLst>
                                          <p:attrName>style.visibility</p:attrName>
                                        </p:attrNameLst>
                                      </p:cBhvr>
                                      <p:to>
                                        <p:strVal val="visible"/>
                                      </p:to>
                                    </p:set>
                                    <p:animEffect transition="in" filter="wipe(left)">
                                      <p:cBhvr>
                                        <p:cTn id="59" dur="500"/>
                                        <p:tgtEl>
                                          <p:spTgt spid="58"/>
                                        </p:tgtEl>
                                      </p:cBhvr>
                                    </p:animEffect>
                                  </p:childTnLst>
                                </p:cTn>
                              </p:par>
                            </p:childTnLst>
                          </p:cTn>
                        </p:par>
                        <p:par>
                          <p:cTn id="60" fill="hold" nodeType="afterGroup">
                            <p:stCondLst>
                              <p:cond delay="500"/>
                            </p:stCondLst>
                            <p:childTnLst>
                              <p:par>
                                <p:cTn id="61" presetID="22" presetClass="entr" presetSubtype="4" fill="hold" grpId="0" nodeType="after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wipe(down)">
                                      <p:cBhvr>
                                        <p:cTn id="63" dur="500"/>
                                        <p:tgtEl>
                                          <p:spTgt spid="59"/>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60"/>
                                        </p:tgtEl>
                                        <p:attrNameLst>
                                          <p:attrName>style.visibility</p:attrName>
                                        </p:attrNameLst>
                                      </p:cBhvr>
                                      <p:to>
                                        <p:strVal val="visible"/>
                                      </p:to>
                                    </p:set>
                                    <p:animEffect transition="in" filter="wipe(left)">
                                      <p:cBhvr>
                                        <p:cTn id="68" dur="500"/>
                                        <p:tgtEl>
                                          <p:spTgt spid="6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2" fill="hold" grpId="0" nodeType="clickEffect">
                                  <p:stCondLst>
                                    <p:cond delay="0"/>
                                  </p:stCondLst>
                                  <p:childTnLst>
                                    <p:set>
                                      <p:cBhvr>
                                        <p:cTn id="72" dur="1" fill="hold">
                                          <p:stCondLst>
                                            <p:cond delay="0"/>
                                          </p:stCondLst>
                                        </p:cTn>
                                        <p:tgtEl>
                                          <p:spTgt spid="61"/>
                                        </p:tgtEl>
                                        <p:attrNameLst>
                                          <p:attrName>style.visibility</p:attrName>
                                        </p:attrNameLst>
                                      </p:cBhvr>
                                      <p:to>
                                        <p:strVal val="visible"/>
                                      </p:to>
                                    </p:set>
                                    <p:animEffect transition="in" filter="wipe(right)">
                                      <p:cBhvr>
                                        <p:cTn id="73" dur="500"/>
                                        <p:tgtEl>
                                          <p:spTgt spid="61"/>
                                        </p:tgtEl>
                                      </p:cBhvr>
                                    </p:animEffect>
                                  </p:childTnLst>
                                </p:cTn>
                              </p:par>
                            </p:childTnLst>
                          </p:cTn>
                        </p:par>
                        <p:par>
                          <p:cTn id="74" fill="hold" nodeType="afterGroup">
                            <p:stCondLst>
                              <p:cond delay="500"/>
                            </p:stCondLst>
                            <p:childTnLst>
                              <p:par>
                                <p:cTn id="75" presetID="22" presetClass="entr" presetSubtype="1" fill="hold" grpId="0" nodeType="afterEffect">
                                  <p:stCondLst>
                                    <p:cond delay="0"/>
                                  </p:stCondLst>
                                  <p:childTnLst>
                                    <p:set>
                                      <p:cBhvr>
                                        <p:cTn id="76" dur="1" fill="hold">
                                          <p:stCondLst>
                                            <p:cond delay="0"/>
                                          </p:stCondLst>
                                        </p:cTn>
                                        <p:tgtEl>
                                          <p:spTgt spid="62"/>
                                        </p:tgtEl>
                                        <p:attrNameLst>
                                          <p:attrName>style.visibility</p:attrName>
                                        </p:attrNameLst>
                                      </p:cBhvr>
                                      <p:to>
                                        <p:strVal val="visible"/>
                                      </p:to>
                                    </p:set>
                                    <p:animEffect transition="in" filter="wipe(up)">
                                      <p:cBhvr>
                                        <p:cTn id="77" dur="500"/>
                                        <p:tgtEl>
                                          <p:spTgt spid="6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63"/>
                                        </p:tgtEl>
                                        <p:attrNameLst>
                                          <p:attrName>style.visibility</p:attrName>
                                        </p:attrNameLst>
                                      </p:cBhvr>
                                      <p:to>
                                        <p:strVal val="visible"/>
                                      </p:to>
                                    </p:set>
                                    <p:animEffect transition="in" filter="wipe(down)">
                                      <p:cBhvr>
                                        <p:cTn id="82" dur="500"/>
                                        <p:tgtEl>
                                          <p:spTgt spid="63"/>
                                        </p:tgtEl>
                                      </p:cBhvr>
                                    </p:animEffect>
                                  </p:childTnLst>
                                </p:cTn>
                              </p:par>
                            </p:childTnLst>
                          </p:cTn>
                        </p:par>
                        <p:par>
                          <p:cTn id="83" fill="hold" nodeType="afterGroup">
                            <p:stCondLst>
                              <p:cond delay="500"/>
                            </p:stCondLst>
                            <p:childTnLst>
                              <p:par>
                                <p:cTn id="84" presetID="22" presetClass="entr" presetSubtype="2" fill="hold" grpId="0" nodeType="afterEffect">
                                  <p:stCondLst>
                                    <p:cond delay="0"/>
                                  </p:stCondLst>
                                  <p:childTnLst>
                                    <p:set>
                                      <p:cBhvr>
                                        <p:cTn id="85" dur="1" fill="hold">
                                          <p:stCondLst>
                                            <p:cond delay="0"/>
                                          </p:stCondLst>
                                        </p:cTn>
                                        <p:tgtEl>
                                          <p:spTgt spid="64"/>
                                        </p:tgtEl>
                                        <p:attrNameLst>
                                          <p:attrName>style.visibility</p:attrName>
                                        </p:attrNameLst>
                                      </p:cBhvr>
                                      <p:to>
                                        <p:strVal val="visible"/>
                                      </p:to>
                                    </p:set>
                                    <p:animEffect transition="in" filter="wipe(right)">
                                      <p:cBhvr>
                                        <p:cTn id="86" dur="500"/>
                                        <p:tgtEl>
                                          <p:spTgt spid="6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65"/>
                                        </p:tgtEl>
                                        <p:attrNameLst>
                                          <p:attrName>style.visibility</p:attrName>
                                        </p:attrNameLst>
                                      </p:cBhvr>
                                      <p:to>
                                        <p:strVal val="visible"/>
                                      </p:to>
                                    </p:set>
                                    <p:animEffect transition="in" filter="wipe(left)">
                                      <p:cBhvr>
                                        <p:cTn id="91" dur="500"/>
                                        <p:tgtEl>
                                          <p:spTgt spid="65"/>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2" fill="hold" grpId="0" nodeType="clickEffect">
                                  <p:stCondLst>
                                    <p:cond delay="0"/>
                                  </p:stCondLst>
                                  <p:childTnLst>
                                    <p:set>
                                      <p:cBhvr>
                                        <p:cTn id="95" dur="1" fill="hold">
                                          <p:stCondLst>
                                            <p:cond delay="0"/>
                                          </p:stCondLst>
                                        </p:cTn>
                                        <p:tgtEl>
                                          <p:spTgt spid="66"/>
                                        </p:tgtEl>
                                        <p:attrNameLst>
                                          <p:attrName>style.visibility</p:attrName>
                                        </p:attrNameLst>
                                      </p:cBhvr>
                                      <p:to>
                                        <p:strVal val="visible"/>
                                      </p:to>
                                    </p:set>
                                    <p:animEffect transition="in" filter="wipe(right)">
                                      <p:cBhvr>
                                        <p:cTn id="96" dur="500"/>
                                        <p:tgtEl>
                                          <p:spTgt spid="66"/>
                                        </p:tgtEl>
                                      </p:cBhvr>
                                    </p:animEffect>
                                  </p:childTnLst>
                                </p:cTn>
                              </p:par>
                            </p:childTnLst>
                          </p:cTn>
                        </p:par>
                        <p:par>
                          <p:cTn id="97" fill="hold" nodeType="afterGroup">
                            <p:stCondLst>
                              <p:cond delay="500"/>
                            </p:stCondLst>
                            <p:childTnLst>
                              <p:par>
                                <p:cTn id="98" presetID="22" presetClass="entr" presetSubtype="1" fill="hold" grpId="0" nodeType="afterEffect">
                                  <p:stCondLst>
                                    <p:cond delay="0"/>
                                  </p:stCondLst>
                                  <p:childTnLst>
                                    <p:set>
                                      <p:cBhvr>
                                        <p:cTn id="99" dur="1" fill="hold">
                                          <p:stCondLst>
                                            <p:cond delay="0"/>
                                          </p:stCondLst>
                                        </p:cTn>
                                        <p:tgtEl>
                                          <p:spTgt spid="67"/>
                                        </p:tgtEl>
                                        <p:attrNameLst>
                                          <p:attrName>style.visibility</p:attrName>
                                        </p:attrNameLst>
                                      </p:cBhvr>
                                      <p:to>
                                        <p:strVal val="visible"/>
                                      </p:to>
                                    </p:set>
                                    <p:animEffect transition="in" filter="wipe(up)">
                                      <p:cBhvr>
                                        <p:cTn id="100" dur="500"/>
                                        <p:tgtEl>
                                          <p:spTgt spid="67"/>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68"/>
                                        </p:tgtEl>
                                        <p:attrNameLst>
                                          <p:attrName>style.visibility</p:attrName>
                                        </p:attrNameLst>
                                      </p:cBhvr>
                                      <p:to>
                                        <p:strVal val="visible"/>
                                      </p:to>
                                    </p:set>
                                    <p:animEffect transition="in" filter="wipe(down)">
                                      <p:cBhvr>
                                        <p:cTn id="105" dur="500"/>
                                        <p:tgtEl>
                                          <p:spTgt spid="68"/>
                                        </p:tgtEl>
                                      </p:cBhvr>
                                    </p:animEffect>
                                  </p:childTnLst>
                                </p:cTn>
                              </p:par>
                            </p:childTnLst>
                          </p:cTn>
                        </p:par>
                        <p:par>
                          <p:cTn id="106" fill="hold" nodeType="afterGroup">
                            <p:stCondLst>
                              <p:cond delay="500"/>
                            </p:stCondLst>
                            <p:childTnLst>
                              <p:par>
                                <p:cTn id="107" presetID="22" presetClass="entr" presetSubtype="2" fill="hold" grpId="0" nodeType="afterEffect">
                                  <p:stCondLst>
                                    <p:cond delay="0"/>
                                  </p:stCondLst>
                                  <p:childTnLst>
                                    <p:set>
                                      <p:cBhvr>
                                        <p:cTn id="108" dur="1" fill="hold">
                                          <p:stCondLst>
                                            <p:cond delay="0"/>
                                          </p:stCondLst>
                                        </p:cTn>
                                        <p:tgtEl>
                                          <p:spTgt spid="69"/>
                                        </p:tgtEl>
                                        <p:attrNameLst>
                                          <p:attrName>style.visibility</p:attrName>
                                        </p:attrNameLst>
                                      </p:cBhvr>
                                      <p:to>
                                        <p:strVal val="visible"/>
                                      </p:to>
                                    </p:set>
                                    <p:animEffect transition="in" filter="wipe(right)">
                                      <p:cBhvr>
                                        <p:cTn id="109" dur="500"/>
                                        <p:tgtEl>
                                          <p:spTgt spid="69"/>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70"/>
                                        </p:tgtEl>
                                        <p:attrNameLst>
                                          <p:attrName>style.visibility</p:attrName>
                                        </p:attrNameLst>
                                      </p:cBhvr>
                                      <p:to>
                                        <p:strVal val="visible"/>
                                      </p:to>
                                    </p:set>
                                    <p:animEffect transition="in" filter="wipe(left)">
                                      <p:cBhvr>
                                        <p:cTn id="114" dur="500"/>
                                        <p:tgtEl>
                                          <p:spTgt spid="70"/>
                                        </p:tgtEl>
                                      </p:cBhvr>
                                    </p:animEffect>
                                  </p:childTnLst>
                                </p:cTn>
                              </p:par>
                            </p:childTnLst>
                          </p:cTn>
                        </p:par>
                        <p:par>
                          <p:cTn id="115" fill="hold" nodeType="afterGroup">
                            <p:stCondLst>
                              <p:cond delay="500"/>
                            </p:stCondLst>
                            <p:childTnLst>
                              <p:par>
                                <p:cTn id="116" presetID="22" presetClass="entr" presetSubtype="4" fill="hold" grpId="0" nodeType="afterEffect">
                                  <p:stCondLst>
                                    <p:cond delay="0"/>
                                  </p:stCondLst>
                                  <p:childTnLst>
                                    <p:set>
                                      <p:cBhvr>
                                        <p:cTn id="117" dur="1" fill="hold">
                                          <p:stCondLst>
                                            <p:cond delay="0"/>
                                          </p:stCondLst>
                                        </p:cTn>
                                        <p:tgtEl>
                                          <p:spTgt spid="71"/>
                                        </p:tgtEl>
                                        <p:attrNameLst>
                                          <p:attrName>style.visibility</p:attrName>
                                        </p:attrNameLst>
                                      </p:cBhvr>
                                      <p:to>
                                        <p:strVal val="visible"/>
                                      </p:to>
                                    </p:set>
                                    <p:animEffect transition="in" filter="wipe(down)">
                                      <p:cBhvr>
                                        <p:cTn id="118" dur="500"/>
                                        <p:tgtEl>
                                          <p:spTgt spid="71"/>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72"/>
                                        </p:tgtEl>
                                        <p:attrNameLst>
                                          <p:attrName>style.visibility</p:attrName>
                                        </p:attrNameLst>
                                      </p:cBhvr>
                                      <p:to>
                                        <p:strVal val="visible"/>
                                      </p:to>
                                    </p:set>
                                    <p:animEffect transition="in" filter="wipe(left)">
                                      <p:cBhvr>
                                        <p:cTn id="123" dur="500"/>
                                        <p:tgtEl>
                                          <p:spTgt spid="72"/>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73"/>
                                        </p:tgtEl>
                                        <p:attrNameLst>
                                          <p:attrName>style.visibility</p:attrName>
                                        </p:attrNameLst>
                                      </p:cBhvr>
                                      <p:to>
                                        <p:strVal val="visible"/>
                                      </p:to>
                                    </p:set>
                                    <p:animEffect transition="in" filter="wipe(left)">
                                      <p:cBhvr>
                                        <p:cTn id="128" dur="500"/>
                                        <p:tgtEl>
                                          <p:spTgt spid="73"/>
                                        </p:tgtEl>
                                      </p:cBhvr>
                                    </p:animEffect>
                                  </p:childTnLst>
                                </p:cTn>
                              </p:par>
                            </p:childTnLst>
                          </p:cTn>
                        </p:par>
                        <p:par>
                          <p:cTn id="129" fill="hold" nodeType="afterGroup">
                            <p:stCondLst>
                              <p:cond delay="500"/>
                            </p:stCondLst>
                            <p:childTnLst>
                              <p:par>
                                <p:cTn id="130" presetID="22" presetClass="entr" presetSubtype="4" fill="hold" grpId="0" nodeType="afterEffect">
                                  <p:stCondLst>
                                    <p:cond delay="0"/>
                                  </p:stCondLst>
                                  <p:childTnLst>
                                    <p:set>
                                      <p:cBhvr>
                                        <p:cTn id="131" dur="1" fill="hold">
                                          <p:stCondLst>
                                            <p:cond delay="0"/>
                                          </p:stCondLst>
                                        </p:cTn>
                                        <p:tgtEl>
                                          <p:spTgt spid="74"/>
                                        </p:tgtEl>
                                        <p:attrNameLst>
                                          <p:attrName>style.visibility</p:attrName>
                                        </p:attrNameLst>
                                      </p:cBhvr>
                                      <p:to>
                                        <p:strVal val="visible"/>
                                      </p:to>
                                    </p:set>
                                    <p:animEffect transition="in" filter="wipe(down)">
                                      <p:cBhvr>
                                        <p:cTn id="132" dur="500"/>
                                        <p:tgtEl>
                                          <p:spTgt spid="74"/>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1" fill="hold" grpId="0" nodeType="clickEffect">
                                  <p:stCondLst>
                                    <p:cond delay="0"/>
                                  </p:stCondLst>
                                  <p:childTnLst>
                                    <p:set>
                                      <p:cBhvr>
                                        <p:cTn id="136" dur="1" fill="hold">
                                          <p:stCondLst>
                                            <p:cond delay="0"/>
                                          </p:stCondLst>
                                        </p:cTn>
                                        <p:tgtEl>
                                          <p:spTgt spid="75"/>
                                        </p:tgtEl>
                                        <p:attrNameLst>
                                          <p:attrName>style.visibility</p:attrName>
                                        </p:attrNameLst>
                                      </p:cBhvr>
                                      <p:to>
                                        <p:strVal val="visible"/>
                                      </p:to>
                                    </p:set>
                                    <p:animEffect transition="in" filter="wipe(up)">
                                      <p:cBhvr>
                                        <p:cTn id="137" dur="500"/>
                                        <p:tgtEl>
                                          <p:spTgt spid="75"/>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2" fill="hold" grpId="0" nodeType="clickEffect">
                                  <p:stCondLst>
                                    <p:cond delay="0"/>
                                  </p:stCondLst>
                                  <p:childTnLst>
                                    <p:set>
                                      <p:cBhvr>
                                        <p:cTn id="141" dur="1" fill="hold">
                                          <p:stCondLst>
                                            <p:cond delay="0"/>
                                          </p:stCondLst>
                                        </p:cTn>
                                        <p:tgtEl>
                                          <p:spTgt spid="76"/>
                                        </p:tgtEl>
                                        <p:attrNameLst>
                                          <p:attrName>style.visibility</p:attrName>
                                        </p:attrNameLst>
                                      </p:cBhvr>
                                      <p:to>
                                        <p:strVal val="visible"/>
                                      </p:to>
                                    </p:set>
                                    <p:animEffect transition="in" filter="wipe(right)">
                                      <p:cBhvr>
                                        <p:cTn id="142" dur="500"/>
                                        <p:tgtEl>
                                          <p:spTgt spid="76"/>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2" fill="hold" grpId="0" nodeType="clickEffect">
                                  <p:stCondLst>
                                    <p:cond delay="0"/>
                                  </p:stCondLst>
                                  <p:childTnLst>
                                    <p:set>
                                      <p:cBhvr>
                                        <p:cTn id="146" dur="1" fill="hold">
                                          <p:stCondLst>
                                            <p:cond delay="0"/>
                                          </p:stCondLst>
                                        </p:cTn>
                                        <p:tgtEl>
                                          <p:spTgt spid="77"/>
                                        </p:tgtEl>
                                        <p:attrNameLst>
                                          <p:attrName>style.visibility</p:attrName>
                                        </p:attrNameLst>
                                      </p:cBhvr>
                                      <p:to>
                                        <p:strVal val="visible"/>
                                      </p:to>
                                    </p:set>
                                    <p:animEffect transition="in" filter="wipe(right)">
                                      <p:cBhvr>
                                        <p:cTn id="147" dur="500"/>
                                        <p:tgtEl>
                                          <p:spTgt spid="77"/>
                                        </p:tgtEl>
                                      </p:cBhvr>
                                    </p:animEffect>
                                  </p:childTnLst>
                                </p:cTn>
                              </p:par>
                            </p:childTnLst>
                          </p:cTn>
                        </p:par>
                        <p:par>
                          <p:cTn id="148" fill="hold" nodeType="afterGroup">
                            <p:stCondLst>
                              <p:cond delay="500"/>
                            </p:stCondLst>
                            <p:childTnLst>
                              <p:par>
                                <p:cTn id="149" presetID="22" presetClass="entr" presetSubtype="1" fill="hold" grpId="0" nodeType="afterEffect">
                                  <p:stCondLst>
                                    <p:cond delay="0"/>
                                  </p:stCondLst>
                                  <p:childTnLst>
                                    <p:set>
                                      <p:cBhvr>
                                        <p:cTn id="150" dur="1" fill="hold">
                                          <p:stCondLst>
                                            <p:cond delay="0"/>
                                          </p:stCondLst>
                                        </p:cTn>
                                        <p:tgtEl>
                                          <p:spTgt spid="78"/>
                                        </p:tgtEl>
                                        <p:attrNameLst>
                                          <p:attrName>style.visibility</p:attrName>
                                        </p:attrNameLst>
                                      </p:cBhvr>
                                      <p:to>
                                        <p:strVal val="visible"/>
                                      </p:to>
                                    </p:set>
                                    <p:animEffect transition="in" filter="wipe(up)">
                                      <p:cBhvr>
                                        <p:cTn id="151" dur="500"/>
                                        <p:tgtEl>
                                          <p:spTgt spid="78"/>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79"/>
                                        </p:tgtEl>
                                        <p:attrNameLst>
                                          <p:attrName>style.visibility</p:attrName>
                                        </p:attrNameLst>
                                      </p:cBhvr>
                                      <p:to>
                                        <p:strVal val="visible"/>
                                      </p:to>
                                    </p:set>
                                    <p:animEffect transition="in" filter="wipe(left)">
                                      <p:cBhvr>
                                        <p:cTn id="156" dur="500"/>
                                        <p:tgtEl>
                                          <p:spTgt spid="79"/>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2" fill="hold" grpId="0" nodeType="clickEffect">
                                  <p:stCondLst>
                                    <p:cond delay="0"/>
                                  </p:stCondLst>
                                  <p:childTnLst>
                                    <p:set>
                                      <p:cBhvr>
                                        <p:cTn id="160" dur="1" fill="hold">
                                          <p:stCondLst>
                                            <p:cond delay="0"/>
                                          </p:stCondLst>
                                        </p:cTn>
                                        <p:tgtEl>
                                          <p:spTgt spid="80"/>
                                        </p:tgtEl>
                                        <p:attrNameLst>
                                          <p:attrName>style.visibility</p:attrName>
                                        </p:attrNameLst>
                                      </p:cBhvr>
                                      <p:to>
                                        <p:strVal val="visible"/>
                                      </p:to>
                                    </p:set>
                                    <p:animEffect transition="in" filter="wipe(right)">
                                      <p:cBhvr>
                                        <p:cTn id="161" dur="500"/>
                                        <p:tgtEl>
                                          <p:spTgt spid="80"/>
                                        </p:tgtEl>
                                      </p:cBhvr>
                                    </p:animEffect>
                                  </p:childTnLst>
                                </p:cTn>
                              </p:par>
                            </p:childTnLst>
                          </p:cTn>
                        </p:par>
                        <p:par>
                          <p:cTn id="162" fill="hold" nodeType="afterGroup">
                            <p:stCondLst>
                              <p:cond delay="500"/>
                            </p:stCondLst>
                            <p:childTnLst>
                              <p:par>
                                <p:cTn id="163" presetID="22" presetClass="entr" presetSubtype="1" fill="hold" grpId="0" nodeType="afterEffect">
                                  <p:stCondLst>
                                    <p:cond delay="0"/>
                                  </p:stCondLst>
                                  <p:childTnLst>
                                    <p:set>
                                      <p:cBhvr>
                                        <p:cTn id="164" dur="1" fill="hold">
                                          <p:stCondLst>
                                            <p:cond delay="0"/>
                                          </p:stCondLst>
                                        </p:cTn>
                                        <p:tgtEl>
                                          <p:spTgt spid="81"/>
                                        </p:tgtEl>
                                        <p:attrNameLst>
                                          <p:attrName>style.visibility</p:attrName>
                                        </p:attrNameLst>
                                      </p:cBhvr>
                                      <p:to>
                                        <p:strVal val="visible"/>
                                      </p:to>
                                    </p:set>
                                    <p:animEffect transition="in" filter="wipe(up)">
                                      <p:cBhvr>
                                        <p:cTn id="165" dur="500"/>
                                        <p:tgtEl>
                                          <p:spTgt spid="81"/>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8" fill="hold" grpId="0" nodeType="clickEffect">
                                  <p:stCondLst>
                                    <p:cond delay="0"/>
                                  </p:stCondLst>
                                  <p:childTnLst>
                                    <p:set>
                                      <p:cBhvr>
                                        <p:cTn id="169" dur="1" fill="hold">
                                          <p:stCondLst>
                                            <p:cond delay="0"/>
                                          </p:stCondLst>
                                        </p:cTn>
                                        <p:tgtEl>
                                          <p:spTgt spid="82"/>
                                        </p:tgtEl>
                                        <p:attrNameLst>
                                          <p:attrName>style.visibility</p:attrName>
                                        </p:attrNameLst>
                                      </p:cBhvr>
                                      <p:to>
                                        <p:strVal val="visible"/>
                                      </p:to>
                                    </p:set>
                                    <p:animEffect transition="in" filter="wipe(left)">
                                      <p:cBhvr>
                                        <p:cTn id="170" dur="500"/>
                                        <p:tgtEl>
                                          <p:spTgt spid="82"/>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1" fill="hold" grpId="0" nodeType="clickEffect">
                                  <p:stCondLst>
                                    <p:cond delay="0"/>
                                  </p:stCondLst>
                                  <p:childTnLst>
                                    <p:set>
                                      <p:cBhvr>
                                        <p:cTn id="174" dur="1" fill="hold">
                                          <p:stCondLst>
                                            <p:cond delay="0"/>
                                          </p:stCondLst>
                                        </p:cTn>
                                        <p:tgtEl>
                                          <p:spTgt spid="83"/>
                                        </p:tgtEl>
                                        <p:attrNameLst>
                                          <p:attrName>style.visibility</p:attrName>
                                        </p:attrNameLst>
                                      </p:cBhvr>
                                      <p:to>
                                        <p:strVal val="visible"/>
                                      </p:to>
                                    </p:set>
                                    <p:animEffect transition="in" filter="wipe(up)">
                                      <p:cBhvr>
                                        <p:cTn id="175"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xfrm>
            <a:off x="527050" y="333375"/>
            <a:ext cx="10321925" cy="863600"/>
          </a:xfrm>
        </p:spPr>
        <p:txBody>
          <a:bodyPr/>
          <a:lstStyle/>
          <a:p>
            <a:pPr eaLnBrk="1" hangingPunct="1"/>
            <a:r>
              <a:rPr lang="zh-CN" altLang="en-US" smtClean="0"/>
              <a:t>迷宫问题</a:t>
            </a:r>
          </a:p>
        </p:txBody>
      </p:sp>
      <p:sp>
        <p:nvSpPr>
          <p:cNvPr id="70659" name="文本占位符 4"/>
          <p:cNvSpPr>
            <a:spLocks noGrp="1"/>
          </p:cNvSpPr>
          <p:nvPr>
            <p:ph type="body" sz="quarter" idx="4294967295"/>
          </p:nvPr>
        </p:nvSpPr>
        <p:spPr>
          <a:xfrm>
            <a:off x="8235950" y="3395663"/>
            <a:ext cx="3956050" cy="533400"/>
          </a:xfrm>
          <a:extLst>
            <a:ext uri="{91240B29-F687-4F45-9708-019B960494DF}">
              <a14:hiddenLine xmlns:a14="http://schemas.microsoft.com/office/drawing/2010/main" w="12700">
                <a:solidFill>
                  <a:srgbClr val="000000"/>
                </a:solidFill>
                <a:miter lim="400000"/>
                <a:headEnd/>
                <a:tailEnd/>
              </a14:hiddenLine>
            </a:ext>
          </a:extLst>
        </p:spPr>
        <p:txBody>
          <a:bodyPr/>
          <a:lstStyle/>
          <a:p>
            <a:pPr eaLnBrk="1" hangingPunct="1">
              <a:spcBef>
                <a:spcPct val="50000"/>
              </a:spcBef>
              <a:buFont typeface="Arial" panose="020B0604020202020204" pitchFamily="34" charset="0"/>
              <a:buNone/>
            </a:pPr>
            <a:r>
              <a:rPr lang="zh-CN" altLang="zh-CN" smtClean="0">
                <a:ea typeface="楷体_GB2312" panose="02010609030101010101" pitchFamily="49" charset="-122"/>
              </a:rPr>
              <a:t>求解失败</a:t>
            </a:r>
          </a:p>
        </p:txBody>
      </p:sp>
      <p:graphicFrame>
        <p:nvGraphicFramePr>
          <p:cNvPr id="94" name="Group 4"/>
          <p:cNvGraphicFramePr>
            <a:graphicFrameLocks noGrp="1"/>
          </p:cNvGraphicFramePr>
          <p:nvPr/>
        </p:nvGraphicFramePr>
        <p:xfrm>
          <a:off x="3216275" y="2230438"/>
          <a:ext cx="2286000" cy="2143128"/>
        </p:xfrm>
        <a:graphic>
          <a:graphicData uri="http://schemas.openxmlformats.org/drawingml/2006/table">
            <a:tbl>
              <a:tblPr/>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381000">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tblGrid>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rgbClr val="FF0000"/>
                          </a:solidFill>
                          <a:effectLst/>
                          <a:latin typeface="Symbol" pitchFamily="18" charset="2"/>
                          <a:ea typeface="宋体" pitchFamily="2" charset="-122"/>
                        </a:rPr>
                        <a:t>Q</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folHlink"/>
                          </a:solidFill>
                          <a:effectLst/>
                          <a:latin typeface="Times New Roman" pitchFamily="18" charset="0"/>
                          <a:ea typeface="宋体" pitchFamily="2" charset="-122"/>
                        </a:rPr>
                        <a:t>#</a:t>
                      </a:r>
                    </a:p>
                  </a:txBody>
                  <a:tcPr marL="34290" marR="34290" marT="17145" marB="17145"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5" name="AutoShape 55"/>
          <p:cNvSpPr>
            <a:spLocks noChangeArrowheads="1"/>
          </p:cNvSpPr>
          <p:nvPr/>
        </p:nvSpPr>
        <p:spPr bwMode="auto">
          <a:xfrm>
            <a:off x="3644900" y="26876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96" name="Rectangle 56"/>
          <p:cNvSpPr>
            <a:spLocks noChangeArrowheads="1"/>
          </p:cNvSpPr>
          <p:nvPr/>
        </p:nvSpPr>
        <p:spPr bwMode="auto">
          <a:xfrm>
            <a:off x="3616325" y="2687638"/>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97" name="AutoShape 57"/>
          <p:cNvSpPr>
            <a:spLocks noChangeArrowheads="1"/>
          </p:cNvSpPr>
          <p:nvPr/>
        </p:nvSpPr>
        <p:spPr bwMode="auto">
          <a:xfrm rot="5362678">
            <a:off x="3616325" y="26876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98" name="AutoShape 58"/>
          <p:cNvSpPr>
            <a:spLocks noChangeArrowheads="1"/>
          </p:cNvSpPr>
          <p:nvPr/>
        </p:nvSpPr>
        <p:spPr bwMode="auto">
          <a:xfrm>
            <a:off x="3644900"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99" name="AutoShape 59"/>
          <p:cNvSpPr>
            <a:spLocks noChangeArrowheads="1"/>
          </p:cNvSpPr>
          <p:nvPr/>
        </p:nvSpPr>
        <p:spPr bwMode="auto">
          <a:xfrm>
            <a:off x="4016375"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00" name="AutoShape 60"/>
          <p:cNvSpPr>
            <a:spLocks noChangeArrowheads="1"/>
          </p:cNvSpPr>
          <p:nvPr/>
        </p:nvSpPr>
        <p:spPr bwMode="auto">
          <a:xfrm>
            <a:off x="4416425"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01" name="AutoShape 61"/>
          <p:cNvSpPr>
            <a:spLocks noChangeArrowheads="1"/>
          </p:cNvSpPr>
          <p:nvPr/>
        </p:nvSpPr>
        <p:spPr bwMode="auto">
          <a:xfrm>
            <a:off x="4787900"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02" name="Rectangle 62"/>
          <p:cNvSpPr>
            <a:spLocks noChangeArrowheads="1"/>
          </p:cNvSpPr>
          <p:nvPr/>
        </p:nvSpPr>
        <p:spPr bwMode="auto">
          <a:xfrm>
            <a:off x="4759325" y="3030538"/>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03" name="AutoShape 63"/>
          <p:cNvSpPr>
            <a:spLocks noChangeArrowheads="1"/>
          </p:cNvSpPr>
          <p:nvPr/>
        </p:nvSpPr>
        <p:spPr bwMode="auto">
          <a:xfrm rot="5362678">
            <a:off x="4787900"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04" name="Rectangle 64"/>
          <p:cNvSpPr>
            <a:spLocks noChangeArrowheads="1"/>
          </p:cNvSpPr>
          <p:nvPr/>
        </p:nvSpPr>
        <p:spPr bwMode="auto">
          <a:xfrm>
            <a:off x="4759325" y="297338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05" name="AutoShape 65"/>
          <p:cNvSpPr>
            <a:spLocks noChangeArrowheads="1"/>
          </p:cNvSpPr>
          <p:nvPr/>
        </p:nvSpPr>
        <p:spPr bwMode="auto">
          <a:xfrm rot="10699178">
            <a:off x="4759325" y="3059113"/>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06" name="Rectangle 66"/>
          <p:cNvSpPr>
            <a:spLocks noChangeArrowheads="1"/>
          </p:cNvSpPr>
          <p:nvPr/>
        </p:nvSpPr>
        <p:spPr bwMode="auto">
          <a:xfrm>
            <a:off x="4759325" y="3001963"/>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07" name="AutoShape 67"/>
          <p:cNvSpPr>
            <a:spLocks noChangeArrowheads="1"/>
          </p:cNvSpPr>
          <p:nvPr/>
        </p:nvSpPr>
        <p:spPr bwMode="auto">
          <a:xfrm rot="-5400000">
            <a:off x="4759325"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08" name="AutoShape 68"/>
          <p:cNvSpPr>
            <a:spLocks noChangeArrowheads="1"/>
          </p:cNvSpPr>
          <p:nvPr/>
        </p:nvSpPr>
        <p:spPr bwMode="auto">
          <a:xfrm>
            <a:off x="4787900" y="26876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09" name="Rectangle 69"/>
          <p:cNvSpPr>
            <a:spLocks noChangeArrowheads="1"/>
          </p:cNvSpPr>
          <p:nvPr/>
        </p:nvSpPr>
        <p:spPr bwMode="auto">
          <a:xfrm>
            <a:off x="4759325" y="2630488"/>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10" name="AutoShape 70"/>
          <p:cNvSpPr>
            <a:spLocks noChangeArrowheads="1"/>
          </p:cNvSpPr>
          <p:nvPr/>
        </p:nvSpPr>
        <p:spPr bwMode="auto">
          <a:xfrm rot="5362678">
            <a:off x="4787900" y="26876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11" name="Rectangle 71"/>
          <p:cNvSpPr>
            <a:spLocks noChangeArrowheads="1"/>
          </p:cNvSpPr>
          <p:nvPr/>
        </p:nvSpPr>
        <p:spPr bwMode="auto">
          <a:xfrm>
            <a:off x="4759325" y="2601913"/>
            <a:ext cx="342900" cy="3429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12" name="AutoShape 72"/>
          <p:cNvSpPr>
            <a:spLocks noChangeArrowheads="1"/>
          </p:cNvSpPr>
          <p:nvPr/>
        </p:nvSpPr>
        <p:spPr bwMode="auto">
          <a:xfrm rot="10699178">
            <a:off x="4759325" y="2687638"/>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13" name="AutoShape 73"/>
          <p:cNvSpPr>
            <a:spLocks noChangeArrowheads="1"/>
          </p:cNvSpPr>
          <p:nvPr/>
        </p:nvSpPr>
        <p:spPr bwMode="auto">
          <a:xfrm>
            <a:off x="4416425" y="26876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14" name="Rectangle 74"/>
          <p:cNvSpPr>
            <a:spLocks noChangeArrowheads="1"/>
          </p:cNvSpPr>
          <p:nvPr/>
        </p:nvSpPr>
        <p:spPr bwMode="auto">
          <a:xfrm>
            <a:off x="4387850" y="2659063"/>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15" name="AutoShape 75"/>
          <p:cNvSpPr>
            <a:spLocks noChangeArrowheads="1"/>
          </p:cNvSpPr>
          <p:nvPr/>
        </p:nvSpPr>
        <p:spPr bwMode="auto">
          <a:xfrm rot="5362678">
            <a:off x="4387850" y="27162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16" name="Rectangle 76"/>
          <p:cNvSpPr>
            <a:spLocks noChangeArrowheads="1"/>
          </p:cNvSpPr>
          <p:nvPr/>
        </p:nvSpPr>
        <p:spPr bwMode="auto">
          <a:xfrm>
            <a:off x="4387850" y="263048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17" name="AutoShape 77"/>
          <p:cNvSpPr>
            <a:spLocks noChangeArrowheads="1"/>
          </p:cNvSpPr>
          <p:nvPr/>
        </p:nvSpPr>
        <p:spPr bwMode="auto">
          <a:xfrm rot="10699178">
            <a:off x="4387850" y="2687638"/>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18" name="Rectangle 78"/>
          <p:cNvSpPr>
            <a:spLocks noChangeArrowheads="1"/>
          </p:cNvSpPr>
          <p:nvPr/>
        </p:nvSpPr>
        <p:spPr bwMode="auto">
          <a:xfrm>
            <a:off x="4387850" y="2687638"/>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19" name="AutoShape 79"/>
          <p:cNvSpPr>
            <a:spLocks noChangeArrowheads="1"/>
          </p:cNvSpPr>
          <p:nvPr/>
        </p:nvSpPr>
        <p:spPr bwMode="auto">
          <a:xfrm rot="-5400000">
            <a:off x="4387850" y="26876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20" name="Rectangle 80" descr="横向砖形"/>
          <p:cNvSpPr>
            <a:spLocks noChangeArrowheads="1"/>
          </p:cNvSpPr>
          <p:nvPr/>
        </p:nvSpPr>
        <p:spPr bwMode="auto">
          <a:xfrm>
            <a:off x="4359275" y="2601913"/>
            <a:ext cx="371475" cy="34290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21" name="Rectangle 81"/>
          <p:cNvSpPr>
            <a:spLocks noChangeArrowheads="1"/>
          </p:cNvSpPr>
          <p:nvPr/>
        </p:nvSpPr>
        <p:spPr bwMode="auto">
          <a:xfrm>
            <a:off x="4759325" y="2630488"/>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22" name="AutoShape 82"/>
          <p:cNvSpPr>
            <a:spLocks noChangeArrowheads="1"/>
          </p:cNvSpPr>
          <p:nvPr/>
        </p:nvSpPr>
        <p:spPr bwMode="auto">
          <a:xfrm rot="-5400000">
            <a:off x="4787900" y="26876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23" name="Rectangle 83" descr="横向砖形"/>
          <p:cNvSpPr>
            <a:spLocks noChangeArrowheads="1"/>
          </p:cNvSpPr>
          <p:nvPr/>
        </p:nvSpPr>
        <p:spPr bwMode="auto">
          <a:xfrm>
            <a:off x="4730750" y="2601913"/>
            <a:ext cx="371475" cy="34290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24" name="Rectangle 84" descr="横向砖形"/>
          <p:cNvSpPr>
            <a:spLocks noChangeArrowheads="1"/>
          </p:cNvSpPr>
          <p:nvPr/>
        </p:nvSpPr>
        <p:spPr bwMode="auto">
          <a:xfrm>
            <a:off x="4730750" y="2944813"/>
            <a:ext cx="371475" cy="34290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25" name="Rectangle 85"/>
          <p:cNvSpPr>
            <a:spLocks noChangeArrowheads="1"/>
          </p:cNvSpPr>
          <p:nvPr/>
        </p:nvSpPr>
        <p:spPr bwMode="auto">
          <a:xfrm>
            <a:off x="4387850" y="3030538"/>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26" name="AutoShape 86"/>
          <p:cNvSpPr>
            <a:spLocks noChangeArrowheads="1"/>
          </p:cNvSpPr>
          <p:nvPr/>
        </p:nvSpPr>
        <p:spPr bwMode="auto">
          <a:xfrm rot="5362678">
            <a:off x="4387850"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27" name="Rectangle 87"/>
          <p:cNvSpPr>
            <a:spLocks noChangeArrowheads="1"/>
          </p:cNvSpPr>
          <p:nvPr/>
        </p:nvSpPr>
        <p:spPr bwMode="auto">
          <a:xfrm>
            <a:off x="4387850" y="2944813"/>
            <a:ext cx="342900" cy="3429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28" name="AutoShape 88"/>
          <p:cNvSpPr>
            <a:spLocks noChangeArrowheads="1"/>
          </p:cNvSpPr>
          <p:nvPr/>
        </p:nvSpPr>
        <p:spPr bwMode="auto">
          <a:xfrm rot="10699178">
            <a:off x="4359275" y="3059113"/>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29" name="Rectangle 89"/>
          <p:cNvSpPr>
            <a:spLocks noChangeArrowheads="1"/>
          </p:cNvSpPr>
          <p:nvPr/>
        </p:nvSpPr>
        <p:spPr bwMode="auto">
          <a:xfrm>
            <a:off x="4387850" y="3030538"/>
            <a:ext cx="3429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30" name="AutoShape 90"/>
          <p:cNvSpPr>
            <a:spLocks noChangeArrowheads="1"/>
          </p:cNvSpPr>
          <p:nvPr/>
        </p:nvSpPr>
        <p:spPr bwMode="auto">
          <a:xfrm rot="-5400000">
            <a:off x="4387850" y="30305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31" name="Rectangle 91" descr="横向砖形"/>
          <p:cNvSpPr>
            <a:spLocks noChangeArrowheads="1"/>
          </p:cNvSpPr>
          <p:nvPr/>
        </p:nvSpPr>
        <p:spPr bwMode="auto">
          <a:xfrm>
            <a:off x="4359275" y="2944813"/>
            <a:ext cx="371475" cy="34290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32" name="Rectangle 92"/>
          <p:cNvSpPr>
            <a:spLocks noChangeArrowheads="1"/>
          </p:cNvSpPr>
          <p:nvPr/>
        </p:nvSpPr>
        <p:spPr bwMode="auto">
          <a:xfrm>
            <a:off x="3987800" y="297338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33" name="AutoShape 93"/>
          <p:cNvSpPr>
            <a:spLocks noChangeArrowheads="1"/>
          </p:cNvSpPr>
          <p:nvPr/>
        </p:nvSpPr>
        <p:spPr bwMode="auto">
          <a:xfrm rot="5362678">
            <a:off x="3987800"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34" name="AutoShape 94"/>
          <p:cNvSpPr>
            <a:spLocks noChangeArrowheads="1"/>
          </p:cNvSpPr>
          <p:nvPr/>
        </p:nvSpPr>
        <p:spPr bwMode="auto">
          <a:xfrm>
            <a:off x="4016375" y="34020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35" name="Rectangle 95"/>
          <p:cNvSpPr>
            <a:spLocks noChangeArrowheads="1"/>
          </p:cNvSpPr>
          <p:nvPr/>
        </p:nvSpPr>
        <p:spPr bwMode="auto">
          <a:xfrm>
            <a:off x="3987800" y="331628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36" name="AutoShape 96"/>
          <p:cNvSpPr>
            <a:spLocks noChangeArrowheads="1"/>
          </p:cNvSpPr>
          <p:nvPr/>
        </p:nvSpPr>
        <p:spPr bwMode="auto">
          <a:xfrm rot="5362678">
            <a:off x="4016375" y="343058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37" name="Rectangle 97"/>
          <p:cNvSpPr>
            <a:spLocks noChangeArrowheads="1"/>
          </p:cNvSpPr>
          <p:nvPr/>
        </p:nvSpPr>
        <p:spPr bwMode="auto">
          <a:xfrm>
            <a:off x="4016375" y="3344863"/>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38" name="AutoShape 98"/>
          <p:cNvSpPr>
            <a:spLocks noChangeArrowheads="1"/>
          </p:cNvSpPr>
          <p:nvPr/>
        </p:nvSpPr>
        <p:spPr bwMode="auto">
          <a:xfrm rot="10699178">
            <a:off x="3987800" y="3402013"/>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39" name="Rectangle 99"/>
          <p:cNvSpPr>
            <a:spLocks noChangeArrowheads="1"/>
          </p:cNvSpPr>
          <p:nvPr/>
        </p:nvSpPr>
        <p:spPr bwMode="auto">
          <a:xfrm>
            <a:off x="3987800" y="331628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40" name="AutoShape 100"/>
          <p:cNvSpPr>
            <a:spLocks noChangeArrowheads="1"/>
          </p:cNvSpPr>
          <p:nvPr/>
        </p:nvSpPr>
        <p:spPr bwMode="auto">
          <a:xfrm rot="-5400000">
            <a:off x="3987800" y="34020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41" name="Rectangle 101" descr="横向砖形"/>
          <p:cNvSpPr>
            <a:spLocks noChangeArrowheads="1"/>
          </p:cNvSpPr>
          <p:nvPr/>
        </p:nvSpPr>
        <p:spPr bwMode="auto">
          <a:xfrm>
            <a:off x="3987800" y="3316288"/>
            <a:ext cx="371475" cy="34290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42" name="Rectangle 102"/>
          <p:cNvSpPr>
            <a:spLocks noChangeArrowheads="1"/>
          </p:cNvSpPr>
          <p:nvPr/>
        </p:nvSpPr>
        <p:spPr bwMode="auto">
          <a:xfrm>
            <a:off x="3987800" y="297338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43" name="AutoShape 103"/>
          <p:cNvSpPr>
            <a:spLocks noChangeArrowheads="1"/>
          </p:cNvSpPr>
          <p:nvPr/>
        </p:nvSpPr>
        <p:spPr bwMode="auto">
          <a:xfrm rot="10699178">
            <a:off x="3987800" y="3059113"/>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44" name="Rectangle 104"/>
          <p:cNvSpPr>
            <a:spLocks noChangeArrowheads="1"/>
          </p:cNvSpPr>
          <p:nvPr/>
        </p:nvSpPr>
        <p:spPr bwMode="auto">
          <a:xfrm>
            <a:off x="3987800" y="297338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45" name="AutoShape 105"/>
          <p:cNvSpPr>
            <a:spLocks noChangeArrowheads="1"/>
          </p:cNvSpPr>
          <p:nvPr/>
        </p:nvSpPr>
        <p:spPr bwMode="auto">
          <a:xfrm rot="-5400000">
            <a:off x="4016375"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46" name="Rectangle 106" descr="横向砖形"/>
          <p:cNvSpPr>
            <a:spLocks noChangeArrowheads="1"/>
          </p:cNvSpPr>
          <p:nvPr/>
        </p:nvSpPr>
        <p:spPr bwMode="auto">
          <a:xfrm>
            <a:off x="3987800" y="2944813"/>
            <a:ext cx="371475" cy="34290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47" name="Rectangle 107"/>
          <p:cNvSpPr>
            <a:spLocks noChangeArrowheads="1"/>
          </p:cNvSpPr>
          <p:nvPr/>
        </p:nvSpPr>
        <p:spPr bwMode="auto">
          <a:xfrm>
            <a:off x="3616325" y="297338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48" name="AutoShape 108"/>
          <p:cNvSpPr>
            <a:spLocks noChangeArrowheads="1"/>
          </p:cNvSpPr>
          <p:nvPr/>
        </p:nvSpPr>
        <p:spPr bwMode="auto">
          <a:xfrm rot="5362678">
            <a:off x="3644900"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49" name="Rectangle 109"/>
          <p:cNvSpPr>
            <a:spLocks noChangeArrowheads="1"/>
          </p:cNvSpPr>
          <p:nvPr/>
        </p:nvSpPr>
        <p:spPr bwMode="auto">
          <a:xfrm>
            <a:off x="3616325" y="297338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50" name="AutoShape 110"/>
          <p:cNvSpPr>
            <a:spLocks noChangeArrowheads="1"/>
          </p:cNvSpPr>
          <p:nvPr/>
        </p:nvSpPr>
        <p:spPr bwMode="auto">
          <a:xfrm rot="10699178">
            <a:off x="3616325" y="3059113"/>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51" name="Rectangle 111"/>
          <p:cNvSpPr>
            <a:spLocks noChangeArrowheads="1"/>
          </p:cNvSpPr>
          <p:nvPr/>
        </p:nvSpPr>
        <p:spPr bwMode="auto">
          <a:xfrm>
            <a:off x="3616325" y="2973388"/>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52" name="AutoShape 112"/>
          <p:cNvSpPr>
            <a:spLocks noChangeArrowheads="1"/>
          </p:cNvSpPr>
          <p:nvPr/>
        </p:nvSpPr>
        <p:spPr bwMode="auto">
          <a:xfrm rot="-5400000">
            <a:off x="3644900" y="3059113"/>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53" name="Rectangle 113" descr="横向砖形"/>
          <p:cNvSpPr>
            <a:spLocks noChangeArrowheads="1"/>
          </p:cNvSpPr>
          <p:nvPr/>
        </p:nvSpPr>
        <p:spPr bwMode="auto">
          <a:xfrm>
            <a:off x="3616325" y="2944813"/>
            <a:ext cx="342900" cy="34290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54" name="Rectangle 114"/>
          <p:cNvSpPr>
            <a:spLocks noChangeArrowheads="1"/>
          </p:cNvSpPr>
          <p:nvPr/>
        </p:nvSpPr>
        <p:spPr bwMode="auto">
          <a:xfrm>
            <a:off x="3616325" y="2601913"/>
            <a:ext cx="34290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55" name="AutoShape 115"/>
          <p:cNvSpPr>
            <a:spLocks noChangeArrowheads="1"/>
          </p:cNvSpPr>
          <p:nvPr/>
        </p:nvSpPr>
        <p:spPr bwMode="auto">
          <a:xfrm rot="10699178">
            <a:off x="3616325" y="2687638"/>
            <a:ext cx="342900" cy="142875"/>
          </a:xfrm>
          <a:prstGeom prst="rightArrow">
            <a:avLst>
              <a:gd name="adj1" fmla="val 44787"/>
              <a:gd name="adj2" fmla="val 9312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useBgFill="1">
        <p:nvSpPr>
          <p:cNvPr id="156" name="Rectangle 116"/>
          <p:cNvSpPr>
            <a:spLocks noChangeArrowheads="1"/>
          </p:cNvSpPr>
          <p:nvPr/>
        </p:nvSpPr>
        <p:spPr bwMode="auto">
          <a:xfrm>
            <a:off x="3616325" y="2630488"/>
            <a:ext cx="342900" cy="2571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57" name="AutoShape 117"/>
          <p:cNvSpPr>
            <a:spLocks noChangeArrowheads="1"/>
          </p:cNvSpPr>
          <p:nvPr/>
        </p:nvSpPr>
        <p:spPr bwMode="auto">
          <a:xfrm rot="-5400000">
            <a:off x="3644900" y="2687638"/>
            <a:ext cx="314325" cy="142875"/>
          </a:xfrm>
          <a:prstGeom prst="rightArrow">
            <a:avLst>
              <a:gd name="adj1" fmla="val 44787"/>
              <a:gd name="adj2" fmla="val 85362"/>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58" name="Rectangle 118" descr="横向砖形"/>
          <p:cNvSpPr>
            <a:spLocks noChangeArrowheads="1"/>
          </p:cNvSpPr>
          <p:nvPr/>
        </p:nvSpPr>
        <p:spPr bwMode="auto">
          <a:xfrm>
            <a:off x="3616325" y="2601913"/>
            <a:ext cx="342900" cy="34290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wipe(left)">
                                      <p:cBhvr>
                                        <p:cTn id="7" dur="500"/>
                                        <p:tgtEl>
                                          <p:spTgt spid="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96"/>
                                        </p:tgtEl>
                                        <p:attrNameLst>
                                          <p:attrName>style.visibility</p:attrName>
                                        </p:attrNameLst>
                                      </p:cBhvr>
                                      <p:to>
                                        <p:strVal val="visible"/>
                                      </p:to>
                                    </p:set>
                                    <p:animEffect transition="in" filter="wipe(right)">
                                      <p:cBhvr>
                                        <p:cTn id="12" dur="500"/>
                                        <p:tgtEl>
                                          <p:spTgt spid="96"/>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97"/>
                                        </p:tgtEl>
                                        <p:attrNameLst>
                                          <p:attrName>style.visibility</p:attrName>
                                        </p:attrNameLst>
                                      </p:cBhvr>
                                      <p:to>
                                        <p:strVal val="visible"/>
                                      </p:to>
                                    </p:set>
                                    <p:animEffect transition="in" filter="wipe(up)">
                                      <p:cBhvr>
                                        <p:cTn id="16" dur="500"/>
                                        <p:tgtEl>
                                          <p:spTgt spid="9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8"/>
                                        </p:tgtEl>
                                        <p:attrNameLst>
                                          <p:attrName>style.visibility</p:attrName>
                                        </p:attrNameLst>
                                      </p:cBhvr>
                                      <p:to>
                                        <p:strVal val="visible"/>
                                      </p:to>
                                    </p:set>
                                    <p:animEffect transition="in" filter="wipe(left)">
                                      <p:cBhvr>
                                        <p:cTn id="21" dur="500"/>
                                        <p:tgtEl>
                                          <p:spTgt spid="9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9"/>
                                        </p:tgtEl>
                                        <p:attrNameLst>
                                          <p:attrName>style.visibility</p:attrName>
                                        </p:attrNameLst>
                                      </p:cBhvr>
                                      <p:to>
                                        <p:strVal val="visible"/>
                                      </p:to>
                                    </p:set>
                                    <p:animEffect transition="in" filter="wipe(left)">
                                      <p:cBhvr>
                                        <p:cTn id="26" dur="500"/>
                                        <p:tgtEl>
                                          <p:spTgt spid="9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wipe(left)">
                                      <p:cBhvr>
                                        <p:cTn id="31" dur="500"/>
                                        <p:tgtEl>
                                          <p:spTgt spid="10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1"/>
                                        </p:tgtEl>
                                        <p:attrNameLst>
                                          <p:attrName>style.visibility</p:attrName>
                                        </p:attrNameLst>
                                      </p:cBhvr>
                                      <p:to>
                                        <p:strVal val="visible"/>
                                      </p:to>
                                    </p:set>
                                    <p:animEffect transition="in" filter="wipe(left)">
                                      <p:cBhvr>
                                        <p:cTn id="36" dur="500"/>
                                        <p:tgtEl>
                                          <p:spTgt spid="10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102"/>
                                        </p:tgtEl>
                                        <p:attrNameLst>
                                          <p:attrName>style.visibility</p:attrName>
                                        </p:attrNameLst>
                                      </p:cBhvr>
                                      <p:to>
                                        <p:strVal val="visible"/>
                                      </p:to>
                                    </p:set>
                                    <p:animEffect transition="in" filter="wipe(right)">
                                      <p:cBhvr>
                                        <p:cTn id="41" dur="500"/>
                                        <p:tgtEl>
                                          <p:spTgt spid="102"/>
                                        </p:tgtEl>
                                      </p:cBhvr>
                                    </p:animEffect>
                                  </p:childTnLst>
                                </p:cTn>
                              </p:par>
                            </p:childTnLst>
                          </p:cTn>
                        </p:par>
                        <p:par>
                          <p:cTn id="42" fill="hold" nodeType="afterGroup">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103"/>
                                        </p:tgtEl>
                                        <p:attrNameLst>
                                          <p:attrName>style.visibility</p:attrName>
                                        </p:attrNameLst>
                                      </p:cBhvr>
                                      <p:to>
                                        <p:strVal val="visible"/>
                                      </p:to>
                                    </p:set>
                                    <p:animEffect transition="in" filter="wipe(up)">
                                      <p:cBhvr>
                                        <p:cTn id="45" dur="500"/>
                                        <p:tgtEl>
                                          <p:spTgt spid="10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04"/>
                                        </p:tgtEl>
                                        <p:attrNameLst>
                                          <p:attrName>style.visibility</p:attrName>
                                        </p:attrNameLst>
                                      </p:cBhvr>
                                      <p:to>
                                        <p:strVal val="visible"/>
                                      </p:to>
                                    </p:set>
                                    <p:animEffect transition="in" filter="wipe(down)">
                                      <p:cBhvr>
                                        <p:cTn id="50" dur="500"/>
                                        <p:tgtEl>
                                          <p:spTgt spid="104"/>
                                        </p:tgtEl>
                                      </p:cBhvr>
                                    </p:animEffect>
                                  </p:childTnLst>
                                </p:cTn>
                              </p:par>
                            </p:childTnLst>
                          </p:cTn>
                        </p:par>
                        <p:par>
                          <p:cTn id="51" fill="hold" nodeType="afterGroup">
                            <p:stCondLst>
                              <p:cond delay="500"/>
                            </p:stCondLst>
                            <p:childTnLst>
                              <p:par>
                                <p:cTn id="52" presetID="22" presetClass="entr" presetSubtype="2" fill="hold" grpId="0" nodeType="afterEffect">
                                  <p:stCondLst>
                                    <p:cond delay="0"/>
                                  </p:stCondLst>
                                  <p:childTnLst>
                                    <p:set>
                                      <p:cBhvr>
                                        <p:cTn id="53" dur="1" fill="hold">
                                          <p:stCondLst>
                                            <p:cond delay="0"/>
                                          </p:stCondLst>
                                        </p:cTn>
                                        <p:tgtEl>
                                          <p:spTgt spid="105"/>
                                        </p:tgtEl>
                                        <p:attrNameLst>
                                          <p:attrName>style.visibility</p:attrName>
                                        </p:attrNameLst>
                                      </p:cBhvr>
                                      <p:to>
                                        <p:strVal val="visible"/>
                                      </p:to>
                                    </p:set>
                                    <p:animEffect transition="in" filter="wipe(right)">
                                      <p:cBhvr>
                                        <p:cTn id="54" dur="500"/>
                                        <p:tgtEl>
                                          <p:spTgt spid="10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6"/>
                                        </p:tgtEl>
                                        <p:attrNameLst>
                                          <p:attrName>style.visibility</p:attrName>
                                        </p:attrNameLst>
                                      </p:cBhvr>
                                      <p:to>
                                        <p:strVal val="visible"/>
                                      </p:to>
                                    </p:set>
                                    <p:animEffect transition="in" filter="wipe(left)">
                                      <p:cBhvr>
                                        <p:cTn id="59" dur="500"/>
                                        <p:tgtEl>
                                          <p:spTgt spid="106"/>
                                        </p:tgtEl>
                                      </p:cBhvr>
                                    </p:animEffect>
                                  </p:childTnLst>
                                </p:cTn>
                              </p:par>
                            </p:childTnLst>
                          </p:cTn>
                        </p:par>
                        <p:par>
                          <p:cTn id="60" fill="hold" nodeType="afterGroup">
                            <p:stCondLst>
                              <p:cond delay="500"/>
                            </p:stCondLst>
                            <p:childTnLst>
                              <p:par>
                                <p:cTn id="61" presetID="22" presetClass="entr" presetSubtype="4" fill="hold" grpId="0" nodeType="afterEffect">
                                  <p:stCondLst>
                                    <p:cond delay="0"/>
                                  </p:stCondLst>
                                  <p:childTnLst>
                                    <p:set>
                                      <p:cBhvr>
                                        <p:cTn id="62" dur="1" fill="hold">
                                          <p:stCondLst>
                                            <p:cond delay="0"/>
                                          </p:stCondLst>
                                        </p:cTn>
                                        <p:tgtEl>
                                          <p:spTgt spid="107"/>
                                        </p:tgtEl>
                                        <p:attrNameLst>
                                          <p:attrName>style.visibility</p:attrName>
                                        </p:attrNameLst>
                                      </p:cBhvr>
                                      <p:to>
                                        <p:strVal val="visible"/>
                                      </p:to>
                                    </p:set>
                                    <p:animEffect transition="in" filter="wipe(down)">
                                      <p:cBhvr>
                                        <p:cTn id="63" dur="500"/>
                                        <p:tgtEl>
                                          <p:spTgt spid="10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08"/>
                                        </p:tgtEl>
                                        <p:attrNameLst>
                                          <p:attrName>style.visibility</p:attrName>
                                        </p:attrNameLst>
                                      </p:cBhvr>
                                      <p:to>
                                        <p:strVal val="visible"/>
                                      </p:to>
                                    </p:set>
                                    <p:animEffect transition="in" filter="wipe(left)">
                                      <p:cBhvr>
                                        <p:cTn id="68" dur="500"/>
                                        <p:tgtEl>
                                          <p:spTgt spid="10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2" fill="hold" grpId="0" nodeType="clickEffect">
                                  <p:stCondLst>
                                    <p:cond delay="0"/>
                                  </p:stCondLst>
                                  <p:childTnLst>
                                    <p:set>
                                      <p:cBhvr>
                                        <p:cTn id="72" dur="1" fill="hold">
                                          <p:stCondLst>
                                            <p:cond delay="0"/>
                                          </p:stCondLst>
                                        </p:cTn>
                                        <p:tgtEl>
                                          <p:spTgt spid="109"/>
                                        </p:tgtEl>
                                        <p:attrNameLst>
                                          <p:attrName>style.visibility</p:attrName>
                                        </p:attrNameLst>
                                      </p:cBhvr>
                                      <p:to>
                                        <p:strVal val="visible"/>
                                      </p:to>
                                    </p:set>
                                    <p:animEffect transition="in" filter="wipe(right)">
                                      <p:cBhvr>
                                        <p:cTn id="73" dur="500"/>
                                        <p:tgtEl>
                                          <p:spTgt spid="109"/>
                                        </p:tgtEl>
                                      </p:cBhvr>
                                    </p:animEffect>
                                  </p:childTnLst>
                                </p:cTn>
                              </p:par>
                            </p:childTnLst>
                          </p:cTn>
                        </p:par>
                        <p:par>
                          <p:cTn id="74" fill="hold" nodeType="afterGroup">
                            <p:stCondLst>
                              <p:cond delay="500"/>
                            </p:stCondLst>
                            <p:childTnLst>
                              <p:par>
                                <p:cTn id="75" presetID="22" presetClass="entr" presetSubtype="1" fill="hold" grpId="0" nodeType="afterEffect">
                                  <p:stCondLst>
                                    <p:cond delay="0"/>
                                  </p:stCondLst>
                                  <p:childTnLst>
                                    <p:set>
                                      <p:cBhvr>
                                        <p:cTn id="76" dur="1" fill="hold">
                                          <p:stCondLst>
                                            <p:cond delay="0"/>
                                          </p:stCondLst>
                                        </p:cTn>
                                        <p:tgtEl>
                                          <p:spTgt spid="110"/>
                                        </p:tgtEl>
                                        <p:attrNameLst>
                                          <p:attrName>style.visibility</p:attrName>
                                        </p:attrNameLst>
                                      </p:cBhvr>
                                      <p:to>
                                        <p:strVal val="visible"/>
                                      </p:to>
                                    </p:set>
                                    <p:animEffect transition="in" filter="wipe(up)">
                                      <p:cBhvr>
                                        <p:cTn id="77" dur="500"/>
                                        <p:tgtEl>
                                          <p:spTgt spid="11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11"/>
                                        </p:tgtEl>
                                        <p:attrNameLst>
                                          <p:attrName>style.visibility</p:attrName>
                                        </p:attrNameLst>
                                      </p:cBhvr>
                                      <p:to>
                                        <p:strVal val="visible"/>
                                      </p:to>
                                    </p:set>
                                    <p:animEffect transition="in" filter="wipe(down)">
                                      <p:cBhvr>
                                        <p:cTn id="82" dur="500"/>
                                        <p:tgtEl>
                                          <p:spTgt spid="111"/>
                                        </p:tgtEl>
                                      </p:cBhvr>
                                    </p:animEffect>
                                  </p:childTnLst>
                                </p:cTn>
                              </p:par>
                            </p:childTnLst>
                          </p:cTn>
                        </p:par>
                        <p:par>
                          <p:cTn id="83" fill="hold" nodeType="afterGroup">
                            <p:stCondLst>
                              <p:cond delay="500"/>
                            </p:stCondLst>
                            <p:childTnLst>
                              <p:par>
                                <p:cTn id="84" presetID="22" presetClass="entr" presetSubtype="2" fill="hold" grpId="0" nodeType="afterEffect">
                                  <p:stCondLst>
                                    <p:cond delay="0"/>
                                  </p:stCondLst>
                                  <p:childTnLst>
                                    <p:set>
                                      <p:cBhvr>
                                        <p:cTn id="85" dur="1" fill="hold">
                                          <p:stCondLst>
                                            <p:cond delay="0"/>
                                          </p:stCondLst>
                                        </p:cTn>
                                        <p:tgtEl>
                                          <p:spTgt spid="112"/>
                                        </p:tgtEl>
                                        <p:attrNameLst>
                                          <p:attrName>style.visibility</p:attrName>
                                        </p:attrNameLst>
                                      </p:cBhvr>
                                      <p:to>
                                        <p:strVal val="visible"/>
                                      </p:to>
                                    </p:set>
                                    <p:animEffect transition="in" filter="wipe(right)">
                                      <p:cBhvr>
                                        <p:cTn id="86" dur="500"/>
                                        <p:tgtEl>
                                          <p:spTgt spid="112"/>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13"/>
                                        </p:tgtEl>
                                        <p:attrNameLst>
                                          <p:attrName>style.visibility</p:attrName>
                                        </p:attrNameLst>
                                      </p:cBhvr>
                                      <p:to>
                                        <p:strVal val="visible"/>
                                      </p:to>
                                    </p:set>
                                    <p:animEffect transition="in" filter="wipe(left)">
                                      <p:cBhvr>
                                        <p:cTn id="91" dur="500"/>
                                        <p:tgtEl>
                                          <p:spTgt spid="11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2" fill="hold" grpId="0" nodeType="clickEffect">
                                  <p:stCondLst>
                                    <p:cond delay="0"/>
                                  </p:stCondLst>
                                  <p:childTnLst>
                                    <p:set>
                                      <p:cBhvr>
                                        <p:cTn id="95" dur="1" fill="hold">
                                          <p:stCondLst>
                                            <p:cond delay="0"/>
                                          </p:stCondLst>
                                        </p:cTn>
                                        <p:tgtEl>
                                          <p:spTgt spid="114"/>
                                        </p:tgtEl>
                                        <p:attrNameLst>
                                          <p:attrName>style.visibility</p:attrName>
                                        </p:attrNameLst>
                                      </p:cBhvr>
                                      <p:to>
                                        <p:strVal val="visible"/>
                                      </p:to>
                                    </p:set>
                                    <p:animEffect transition="in" filter="wipe(right)">
                                      <p:cBhvr>
                                        <p:cTn id="96" dur="500"/>
                                        <p:tgtEl>
                                          <p:spTgt spid="114"/>
                                        </p:tgtEl>
                                      </p:cBhvr>
                                    </p:animEffect>
                                  </p:childTnLst>
                                </p:cTn>
                              </p:par>
                            </p:childTnLst>
                          </p:cTn>
                        </p:par>
                        <p:par>
                          <p:cTn id="97" fill="hold" nodeType="afterGroup">
                            <p:stCondLst>
                              <p:cond delay="500"/>
                            </p:stCondLst>
                            <p:childTnLst>
                              <p:par>
                                <p:cTn id="98" presetID="22" presetClass="entr" presetSubtype="1" fill="hold" grpId="0" nodeType="afterEffect">
                                  <p:stCondLst>
                                    <p:cond delay="0"/>
                                  </p:stCondLst>
                                  <p:childTnLst>
                                    <p:set>
                                      <p:cBhvr>
                                        <p:cTn id="99" dur="1" fill="hold">
                                          <p:stCondLst>
                                            <p:cond delay="0"/>
                                          </p:stCondLst>
                                        </p:cTn>
                                        <p:tgtEl>
                                          <p:spTgt spid="115"/>
                                        </p:tgtEl>
                                        <p:attrNameLst>
                                          <p:attrName>style.visibility</p:attrName>
                                        </p:attrNameLst>
                                      </p:cBhvr>
                                      <p:to>
                                        <p:strVal val="visible"/>
                                      </p:to>
                                    </p:set>
                                    <p:animEffect transition="in" filter="wipe(up)">
                                      <p:cBhvr>
                                        <p:cTn id="100" dur="500"/>
                                        <p:tgtEl>
                                          <p:spTgt spid="115"/>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116"/>
                                        </p:tgtEl>
                                        <p:attrNameLst>
                                          <p:attrName>style.visibility</p:attrName>
                                        </p:attrNameLst>
                                      </p:cBhvr>
                                      <p:to>
                                        <p:strVal val="visible"/>
                                      </p:to>
                                    </p:set>
                                    <p:animEffect transition="in" filter="wipe(down)">
                                      <p:cBhvr>
                                        <p:cTn id="105" dur="500"/>
                                        <p:tgtEl>
                                          <p:spTgt spid="116"/>
                                        </p:tgtEl>
                                      </p:cBhvr>
                                    </p:animEffect>
                                  </p:childTnLst>
                                </p:cTn>
                              </p:par>
                            </p:childTnLst>
                          </p:cTn>
                        </p:par>
                        <p:par>
                          <p:cTn id="106" fill="hold" nodeType="afterGroup">
                            <p:stCondLst>
                              <p:cond delay="500"/>
                            </p:stCondLst>
                            <p:childTnLst>
                              <p:par>
                                <p:cTn id="107" presetID="22" presetClass="entr" presetSubtype="2" fill="hold" grpId="0" nodeType="afterEffect">
                                  <p:stCondLst>
                                    <p:cond delay="0"/>
                                  </p:stCondLst>
                                  <p:childTnLst>
                                    <p:set>
                                      <p:cBhvr>
                                        <p:cTn id="108" dur="1" fill="hold">
                                          <p:stCondLst>
                                            <p:cond delay="0"/>
                                          </p:stCondLst>
                                        </p:cTn>
                                        <p:tgtEl>
                                          <p:spTgt spid="117"/>
                                        </p:tgtEl>
                                        <p:attrNameLst>
                                          <p:attrName>style.visibility</p:attrName>
                                        </p:attrNameLst>
                                      </p:cBhvr>
                                      <p:to>
                                        <p:strVal val="visible"/>
                                      </p:to>
                                    </p:set>
                                    <p:animEffect transition="in" filter="wipe(right)">
                                      <p:cBhvr>
                                        <p:cTn id="109" dur="500"/>
                                        <p:tgtEl>
                                          <p:spTgt spid="117"/>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18"/>
                                        </p:tgtEl>
                                        <p:attrNameLst>
                                          <p:attrName>style.visibility</p:attrName>
                                        </p:attrNameLst>
                                      </p:cBhvr>
                                      <p:to>
                                        <p:strVal val="visible"/>
                                      </p:to>
                                    </p:set>
                                    <p:animEffect transition="in" filter="wipe(left)">
                                      <p:cBhvr>
                                        <p:cTn id="114" dur="500"/>
                                        <p:tgtEl>
                                          <p:spTgt spid="118"/>
                                        </p:tgtEl>
                                      </p:cBhvr>
                                    </p:animEffect>
                                  </p:childTnLst>
                                </p:cTn>
                              </p:par>
                            </p:childTnLst>
                          </p:cTn>
                        </p:par>
                        <p:par>
                          <p:cTn id="115" fill="hold" nodeType="afterGroup">
                            <p:stCondLst>
                              <p:cond delay="500"/>
                            </p:stCondLst>
                            <p:childTnLst>
                              <p:par>
                                <p:cTn id="116" presetID="22" presetClass="entr" presetSubtype="4" fill="hold" grpId="0" nodeType="afterEffect">
                                  <p:stCondLst>
                                    <p:cond delay="0"/>
                                  </p:stCondLst>
                                  <p:childTnLst>
                                    <p:set>
                                      <p:cBhvr>
                                        <p:cTn id="117" dur="1" fill="hold">
                                          <p:stCondLst>
                                            <p:cond delay="0"/>
                                          </p:stCondLst>
                                        </p:cTn>
                                        <p:tgtEl>
                                          <p:spTgt spid="119"/>
                                        </p:tgtEl>
                                        <p:attrNameLst>
                                          <p:attrName>style.visibility</p:attrName>
                                        </p:attrNameLst>
                                      </p:cBhvr>
                                      <p:to>
                                        <p:strVal val="visible"/>
                                      </p:to>
                                    </p:set>
                                    <p:animEffect transition="in" filter="wipe(down)">
                                      <p:cBhvr>
                                        <p:cTn id="118" dur="500"/>
                                        <p:tgtEl>
                                          <p:spTgt spid="119"/>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20"/>
                                        </p:tgtEl>
                                        <p:attrNameLst>
                                          <p:attrName>style.visibility</p:attrName>
                                        </p:attrNameLst>
                                      </p:cBhvr>
                                      <p:to>
                                        <p:strVal val="visible"/>
                                      </p:to>
                                    </p:set>
                                    <p:animEffect transition="in" filter="wipe(left)">
                                      <p:cBhvr>
                                        <p:cTn id="123" dur="500"/>
                                        <p:tgtEl>
                                          <p:spTgt spid="120"/>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21"/>
                                        </p:tgtEl>
                                        <p:attrNameLst>
                                          <p:attrName>style.visibility</p:attrName>
                                        </p:attrNameLst>
                                      </p:cBhvr>
                                      <p:to>
                                        <p:strVal val="visible"/>
                                      </p:to>
                                    </p:set>
                                    <p:animEffect transition="in" filter="wipe(left)">
                                      <p:cBhvr>
                                        <p:cTn id="128" dur="500"/>
                                        <p:tgtEl>
                                          <p:spTgt spid="121"/>
                                        </p:tgtEl>
                                      </p:cBhvr>
                                    </p:animEffect>
                                  </p:childTnLst>
                                </p:cTn>
                              </p:par>
                            </p:childTnLst>
                          </p:cTn>
                        </p:par>
                        <p:par>
                          <p:cTn id="129" fill="hold" nodeType="afterGroup">
                            <p:stCondLst>
                              <p:cond delay="500"/>
                            </p:stCondLst>
                            <p:childTnLst>
                              <p:par>
                                <p:cTn id="130" presetID="22" presetClass="entr" presetSubtype="4" fill="hold" grpId="0" nodeType="afterEffect">
                                  <p:stCondLst>
                                    <p:cond delay="0"/>
                                  </p:stCondLst>
                                  <p:childTnLst>
                                    <p:set>
                                      <p:cBhvr>
                                        <p:cTn id="131" dur="1" fill="hold">
                                          <p:stCondLst>
                                            <p:cond delay="0"/>
                                          </p:stCondLst>
                                        </p:cTn>
                                        <p:tgtEl>
                                          <p:spTgt spid="122"/>
                                        </p:tgtEl>
                                        <p:attrNameLst>
                                          <p:attrName>style.visibility</p:attrName>
                                        </p:attrNameLst>
                                      </p:cBhvr>
                                      <p:to>
                                        <p:strVal val="visible"/>
                                      </p:to>
                                    </p:set>
                                    <p:animEffect transition="in" filter="wipe(down)">
                                      <p:cBhvr>
                                        <p:cTn id="132" dur="500"/>
                                        <p:tgtEl>
                                          <p:spTgt spid="122"/>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1" fill="hold" grpId="0" nodeType="clickEffect">
                                  <p:stCondLst>
                                    <p:cond delay="0"/>
                                  </p:stCondLst>
                                  <p:childTnLst>
                                    <p:set>
                                      <p:cBhvr>
                                        <p:cTn id="136" dur="1" fill="hold">
                                          <p:stCondLst>
                                            <p:cond delay="0"/>
                                          </p:stCondLst>
                                        </p:cTn>
                                        <p:tgtEl>
                                          <p:spTgt spid="123"/>
                                        </p:tgtEl>
                                        <p:attrNameLst>
                                          <p:attrName>style.visibility</p:attrName>
                                        </p:attrNameLst>
                                      </p:cBhvr>
                                      <p:to>
                                        <p:strVal val="visible"/>
                                      </p:to>
                                    </p:set>
                                    <p:animEffect transition="in" filter="wipe(up)">
                                      <p:cBhvr>
                                        <p:cTn id="137" dur="500"/>
                                        <p:tgtEl>
                                          <p:spTgt spid="123"/>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2" fill="hold" grpId="0" nodeType="clickEffect">
                                  <p:stCondLst>
                                    <p:cond delay="0"/>
                                  </p:stCondLst>
                                  <p:childTnLst>
                                    <p:set>
                                      <p:cBhvr>
                                        <p:cTn id="141" dur="1" fill="hold">
                                          <p:stCondLst>
                                            <p:cond delay="0"/>
                                          </p:stCondLst>
                                        </p:cTn>
                                        <p:tgtEl>
                                          <p:spTgt spid="124"/>
                                        </p:tgtEl>
                                        <p:attrNameLst>
                                          <p:attrName>style.visibility</p:attrName>
                                        </p:attrNameLst>
                                      </p:cBhvr>
                                      <p:to>
                                        <p:strVal val="visible"/>
                                      </p:to>
                                    </p:set>
                                    <p:animEffect transition="in" filter="wipe(right)">
                                      <p:cBhvr>
                                        <p:cTn id="142" dur="500"/>
                                        <p:tgtEl>
                                          <p:spTgt spid="124"/>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2" fill="hold" grpId="0" nodeType="clickEffect">
                                  <p:stCondLst>
                                    <p:cond delay="0"/>
                                  </p:stCondLst>
                                  <p:childTnLst>
                                    <p:set>
                                      <p:cBhvr>
                                        <p:cTn id="146" dur="1" fill="hold">
                                          <p:stCondLst>
                                            <p:cond delay="0"/>
                                          </p:stCondLst>
                                        </p:cTn>
                                        <p:tgtEl>
                                          <p:spTgt spid="125"/>
                                        </p:tgtEl>
                                        <p:attrNameLst>
                                          <p:attrName>style.visibility</p:attrName>
                                        </p:attrNameLst>
                                      </p:cBhvr>
                                      <p:to>
                                        <p:strVal val="visible"/>
                                      </p:to>
                                    </p:set>
                                    <p:animEffect transition="in" filter="wipe(right)">
                                      <p:cBhvr>
                                        <p:cTn id="147" dur="500"/>
                                        <p:tgtEl>
                                          <p:spTgt spid="125"/>
                                        </p:tgtEl>
                                      </p:cBhvr>
                                    </p:animEffect>
                                  </p:childTnLst>
                                </p:cTn>
                              </p:par>
                            </p:childTnLst>
                          </p:cTn>
                        </p:par>
                        <p:par>
                          <p:cTn id="148" fill="hold" nodeType="afterGroup">
                            <p:stCondLst>
                              <p:cond delay="500"/>
                            </p:stCondLst>
                            <p:childTnLst>
                              <p:par>
                                <p:cTn id="149" presetID="22" presetClass="entr" presetSubtype="1" fill="hold" grpId="0" nodeType="afterEffect">
                                  <p:stCondLst>
                                    <p:cond delay="0"/>
                                  </p:stCondLst>
                                  <p:childTnLst>
                                    <p:set>
                                      <p:cBhvr>
                                        <p:cTn id="150" dur="1" fill="hold">
                                          <p:stCondLst>
                                            <p:cond delay="0"/>
                                          </p:stCondLst>
                                        </p:cTn>
                                        <p:tgtEl>
                                          <p:spTgt spid="126"/>
                                        </p:tgtEl>
                                        <p:attrNameLst>
                                          <p:attrName>style.visibility</p:attrName>
                                        </p:attrNameLst>
                                      </p:cBhvr>
                                      <p:to>
                                        <p:strVal val="visible"/>
                                      </p:to>
                                    </p:set>
                                    <p:animEffect transition="in" filter="wipe(up)">
                                      <p:cBhvr>
                                        <p:cTn id="151" dur="500"/>
                                        <p:tgtEl>
                                          <p:spTgt spid="126"/>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4" fill="hold" grpId="0" nodeType="clickEffect">
                                  <p:stCondLst>
                                    <p:cond delay="0"/>
                                  </p:stCondLst>
                                  <p:childTnLst>
                                    <p:set>
                                      <p:cBhvr>
                                        <p:cTn id="155" dur="1" fill="hold">
                                          <p:stCondLst>
                                            <p:cond delay="0"/>
                                          </p:stCondLst>
                                        </p:cTn>
                                        <p:tgtEl>
                                          <p:spTgt spid="127"/>
                                        </p:tgtEl>
                                        <p:attrNameLst>
                                          <p:attrName>style.visibility</p:attrName>
                                        </p:attrNameLst>
                                      </p:cBhvr>
                                      <p:to>
                                        <p:strVal val="visible"/>
                                      </p:to>
                                    </p:set>
                                    <p:animEffect transition="in" filter="wipe(down)">
                                      <p:cBhvr>
                                        <p:cTn id="156" dur="500"/>
                                        <p:tgtEl>
                                          <p:spTgt spid="127"/>
                                        </p:tgtEl>
                                      </p:cBhvr>
                                    </p:animEffect>
                                  </p:childTnLst>
                                </p:cTn>
                              </p:par>
                            </p:childTnLst>
                          </p:cTn>
                        </p:par>
                        <p:par>
                          <p:cTn id="157" fill="hold" nodeType="afterGroup">
                            <p:stCondLst>
                              <p:cond delay="500"/>
                            </p:stCondLst>
                            <p:childTnLst>
                              <p:par>
                                <p:cTn id="158" presetID="22" presetClass="entr" presetSubtype="2" fill="hold" grpId="0" nodeType="afterEffect">
                                  <p:stCondLst>
                                    <p:cond delay="0"/>
                                  </p:stCondLst>
                                  <p:childTnLst>
                                    <p:set>
                                      <p:cBhvr>
                                        <p:cTn id="159" dur="1" fill="hold">
                                          <p:stCondLst>
                                            <p:cond delay="0"/>
                                          </p:stCondLst>
                                        </p:cTn>
                                        <p:tgtEl>
                                          <p:spTgt spid="128"/>
                                        </p:tgtEl>
                                        <p:attrNameLst>
                                          <p:attrName>style.visibility</p:attrName>
                                        </p:attrNameLst>
                                      </p:cBhvr>
                                      <p:to>
                                        <p:strVal val="visible"/>
                                      </p:to>
                                    </p:set>
                                    <p:animEffect transition="in" filter="wipe(right)">
                                      <p:cBhvr>
                                        <p:cTn id="160" dur="500"/>
                                        <p:tgtEl>
                                          <p:spTgt spid="128"/>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8" fill="hold" grpId="0" nodeType="clickEffect">
                                  <p:stCondLst>
                                    <p:cond delay="0"/>
                                  </p:stCondLst>
                                  <p:childTnLst>
                                    <p:set>
                                      <p:cBhvr>
                                        <p:cTn id="164" dur="1" fill="hold">
                                          <p:stCondLst>
                                            <p:cond delay="0"/>
                                          </p:stCondLst>
                                        </p:cTn>
                                        <p:tgtEl>
                                          <p:spTgt spid="129"/>
                                        </p:tgtEl>
                                        <p:attrNameLst>
                                          <p:attrName>style.visibility</p:attrName>
                                        </p:attrNameLst>
                                      </p:cBhvr>
                                      <p:to>
                                        <p:strVal val="visible"/>
                                      </p:to>
                                    </p:set>
                                    <p:animEffect transition="in" filter="wipe(left)">
                                      <p:cBhvr>
                                        <p:cTn id="165" dur="500"/>
                                        <p:tgtEl>
                                          <p:spTgt spid="129"/>
                                        </p:tgtEl>
                                      </p:cBhvr>
                                    </p:animEffect>
                                  </p:childTnLst>
                                </p:cTn>
                              </p:par>
                            </p:childTnLst>
                          </p:cTn>
                        </p:par>
                        <p:par>
                          <p:cTn id="166" fill="hold" nodeType="afterGroup">
                            <p:stCondLst>
                              <p:cond delay="500"/>
                            </p:stCondLst>
                            <p:childTnLst>
                              <p:par>
                                <p:cTn id="167" presetID="22" presetClass="entr" presetSubtype="4" fill="hold" grpId="0" nodeType="afterEffect">
                                  <p:stCondLst>
                                    <p:cond delay="0"/>
                                  </p:stCondLst>
                                  <p:childTnLst>
                                    <p:set>
                                      <p:cBhvr>
                                        <p:cTn id="168" dur="1" fill="hold">
                                          <p:stCondLst>
                                            <p:cond delay="0"/>
                                          </p:stCondLst>
                                        </p:cTn>
                                        <p:tgtEl>
                                          <p:spTgt spid="130"/>
                                        </p:tgtEl>
                                        <p:attrNameLst>
                                          <p:attrName>style.visibility</p:attrName>
                                        </p:attrNameLst>
                                      </p:cBhvr>
                                      <p:to>
                                        <p:strVal val="visible"/>
                                      </p:to>
                                    </p:set>
                                    <p:animEffect transition="in" filter="wipe(down)">
                                      <p:cBhvr>
                                        <p:cTn id="169" dur="500"/>
                                        <p:tgtEl>
                                          <p:spTgt spid="130"/>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22" presetClass="entr" presetSubtype="2" fill="hold" grpId="0" nodeType="clickEffect">
                                  <p:stCondLst>
                                    <p:cond delay="0"/>
                                  </p:stCondLst>
                                  <p:childTnLst>
                                    <p:set>
                                      <p:cBhvr>
                                        <p:cTn id="173" dur="1" fill="hold">
                                          <p:stCondLst>
                                            <p:cond delay="0"/>
                                          </p:stCondLst>
                                        </p:cTn>
                                        <p:tgtEl>
                                          <p:spTgt spid="131"/>
                                        </p:tgtEl>
                                        <p:attrNameLst>
                                          <p:attrName>style.visibility</p:attrName>
                                        </p:attrNameLst>
                                      </p:cBhvr>
                                      <p:to>
                                        <p:strVal val="visible"/>
                                      </p:to>
                                    </p:set>
                                    <p:animEffect transition="in" filter="wipe(right)">
                                      <p:cBhvr>
                                        <p:cTn id="174" dur="500"/>
                                        <p:tgtEl>
                                          <p:spTgt spid="131"/>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22" presetClass="entr" presetSubtype="2" fill="hold" grpId="0" nodeType="clickEffect">
                                  <p:stCondLst>
                                    <p:cond delay="0"/>
                                  </p:stCondLst>
                                  <p:childTnLst>
                                    <p:set>
                                      <p:cBhvr>
                                        <p:cTn id="178" dur="1" fill="hold">
                                          <p:stCondLst>
                                            <p:cond delay="0"/>
                                          </p:stCondLst>
                                        </p:cTn>
                                        <p:tgtEl>
                                          <p:spTgt spid="132"/>
                                        </p:tgtEl>
                                        <p:attrNameLst>
                                          <p:attrName>style.visibility</p:attrName>
                                        </p:attrNameLst>
                                      </p:cBhvr>
                                      <p:to>
                                        <p:strVal val="visible"/>
                                      </p:to>
                                    </p:set>
                                    <p:animEffect transition="in" filter="wipe(right)">
                                      <p:cBhvr>
                                        <p:cTn id="179" dur="500"/>
                                        <p:tgtEl>
                                          <p:spTgt spid="132"/>
                                        </p:tgtEl>
                                      </p:cBhvr>
                                    </p:animEffect>
                                  </p:childTnLst>
                                </p:cTn>
                              </p:par>
                            </p:childTnLst>
                          </p:cTn>
                        </p:par>
                        <p:par>
                          <p:cTn id="180" fill="hold" nodeType="afterGroup">
                            <p:stCondLst>
                              <p:cond delay="500"/>
                            </p:stCondLst>
                            <p:childTnLst>
                              <p:par>
                                <p:cTn id="181" presetID="22" presetClass="entr" presetSubtype="1" fill="hold" grpId="0" nodeType="afterEffect">
                                  <p:stCondLst>
                                    <p:cond delay="0"/>
                                  </p:stCondLst>
                                  <p:childTnLst>
                                    <p:set>
                                      <p:cBhvr>
                                        <p:cTn id="182" dur="1" fill="hold">
                                          <p:stCondLst>
                                            <p:cond delay="0"/>
                                          </p:stCondLst>
                                        </p:cTn>
                                        <p:tgtEl>
                                          <p:spTgt spid="133"/>
                                        </p:tgtEl>
                                        <p:attrNameLst>
                                          <p:attrName>style.visibility</p:attrName>
                                        </p:attrNameLst>
                                      </p:cBhvr>
                                      <p:to>
                                        <p:strVal val="visible"/>
                                      </p:to>
                                    </p:set>
                                    <p:animEffect transition="in" filter="wipe(up)">
                                      <p:cBhvr>
                                        <p:cTn id="183" dur="500"/>
                                        <p:tgtEl>
                                          <p:spTgt spid="133"/>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22" presetClass="entr" presetSubtype="8" fill="hold" grpId="0" nodeType="clickEffect">
                                  <p:stCondLst>
                                    <p:cond delay="0"/>
                                  </p:stCondLst>
                                  <p:childTnLst>
                                    <p:set>
                                      <p:cBhvr>
                                        <p:cTn id="187" dur="1" fill="hold">
                                          <p:stCondLst>
                                            <p:cond delay="0"/>
                                          </p:stCondLst>
                                        </p:cTn>
                                        <p:tgtEl>
                                          <p:spTgt spid="134"/>
                                        </p:tgtEl>
                                        <p:attrNameLst>
                                          <p:attrName>style.visibility</p:attrName>
                                        </p:attrNameLst>
                                      </p:cBhvr>
                                      <p:to>
                                        <p:strVal val="visible"/>
                                      </p:to>
                                    </p:set>
                                    <p:animEffect transition="in" filter="wipe(left)">
                                      <p:cBhvr>
                                        <p:cTn id="188" dur="500"/>
                                        <p:tgtEl>
                                          <p:spTgt spid="134"/>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2" presetClass="entr" presetSubtype="2" fill="hold" grpId="0" nodeType="clickEffect">
                                  <p:stCondLst>
                                    <p:cond delay="0"/>
                                  </p:stCondLst>
                                  <p:childTnLst>
                                    <p:set>
                                      <p:cBhvr>
                                        <p:cTn id="192" dur="1" fill="hold">
                                          <p:stCondLst>
                                            <p:cond delay="0"/>
                                          </p:stCondLst>
                                        </p:cTn>
                                        <p:tgtEl>
                                          <p:spTgt spid="135"/>
                                        </p:tgtEl>
                                        <p:attrNameLst>
                                          <p:attrName>style.visibility</p:attrName>
                                        </p:attrNameLst>
                                      </p:cBhvr>
                                      <p:to>
                                        <p:strVal val="visible"/>
                                      </p:to>
                                    </p:set>
                                    <p:animEffect transition="in" filter="wipe(right)">
                                      <p:cBhvr>
                                        <p:cTn id="193" dur="500"/>
                                        <p:tgtEl>
                                          <p:spTgt spid="135"/>
                                        </p:tgtEl>
                                      </p:cBhvr>
                                    </p:animEffect>
                                  </p:childTnLst>
                                </p:cTn>
                              </p:par>
                            </p:childTnLst>
                          </p:cTn>
                        </p:par>
                        <p:par>
                          <p:cTn id="194" fill="hold" nodeType="afterGroup">
                            <p:stCondLst>
                              <p:cond delay="500"/>
                            </p:stCondLst>
                            <p:childTnLst>
                              <p:par>
                                <p:cTn id="195" presetID="22" presetClass="entr" presetSubtype="1" fill="hold" grpId="0" nodeType="afterEffect">
                                  <p:stCondLst>
                                    <p:cond delay="0"/>
                                  </p:stCondLst>
                                  <p:childTnLst>
                                    <p:set>
                                      <p:cBhvr>
                                        <p:cTn id="196" dur="1" fill="hold">
                                          <p:stCondLst>
                                            <p:cond delay="0"/>
                                          </p:stCondLst>
                                        </p:cTn>
                                        <p:tgtEl>
                                          <p:spTgt spid="136"/>
                                        </p:tgtEl>
                                        <p:attrNameLst>
                                          <p:attrName>style.visibility</p:attrName>
                                        </p:attrNameLst>
                                      </p:cBhvr>
                                      <p:to>
                                        <p:strVal val="visible"/>
                                      </p:to>
                                    </p:set>
                                    <p:animEffect transition="in" filter="wipe(up)">
                                      <p:cBhvr>
                                        <p:cTn id="197" dur="500"/>
                                        <p:tgtEl>
                                          <p:spTgt spid="136"/>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4" fill="hold" grpId="0" nodeType="clickEffect">
                                  <p:stCondLst>
                                    <p:cond delay="0"/>
                                  </p:stCondLst>
                                  <p:childTnLst>
                                    <p:set>
                                      <p:cBhvr>
                                        <p:cTn id="201" dur="1" fill="hold">
                                          <p:stCondLst>
                                            <p:cond delay="0"/>
                                          </p:stCondLst>
                                        </p:cTn>
                                        <p:tgtEl>
                                          <p:spTgt spid="137"/>
                                        </p:tgtEl>
                                        <p:attrNameLst>
                                          <p:attrName>style.visibility</p:attrName>
                                        </p:attrNameLst>
                                      </p:cBhvr>
                                      <p:to>
                                        <p:strVal val="visible"/>
                                      </p:to>
                                    </p:set>
                                    <p:animEffect transition="in" filter="wipe(down)">
                                      <p:cBhvr>
                                        <p:cTn id="202" dur="500"/>
                                        <p:tgtEl>
                                          <p:spTgt spid="137"/>
                                        </p:tgtEl>
                                      </p:cBhvr>
                                    </p:animEffect>
                                  </p:childTnLst>
                                </p:cTn>
                              </p:par>
                            </p:childTnLst>
                          </p:cTn>
                        </p:par>
                        <p:par>
                          <p:cTn id="203" fill="hold" nodeType="afterGroup">
                            <p:stCondLst>
                              <p:cond delay="500"/>
                            </p:stCondLst>
                            <p:childTnLst>
                              <p:par>
                                <p:cTn id="204" presetID="22" presetClass="entr" presetSubtype="2" fill="hold" grpId="0" nodeType="afterEffect">
                                  <p:stCondLst>
                                    <p:cond delay="0"/>
                                  </p:stCondLst>
                                  <p:childTnLst>
                                    <p:set>
                                      <p:cBhvr>
                                        <p:cTn id="205" dur="1" fill="hold">
                                          <p:stCondLst>
                                            <p:cond delay="0"/>
                                          </p:stCondLst>
                                        </p:cTn>
                                        <p:tgtEl>
                                          <p:spTgt spid="138"/>
                                        </p:tgtEl>
                                        <p:attrNameLst>
                                          <p:attrName>style.visibility</p:attrName>
                                        </p:attrNameLst>
                                      </p:cBhvr>
                                      <p:to>
                                        <p:strVal val="visible"/>
                                      </p:to>
                                    </p:set>
                                    <p:animEffect transition="in" filter="wipe(right)">
                                      <p:cBhvr>
                                        <p:cTn id="206" dur="500"/>
                                        <p:tgtEl>
                                          <p:spTgt spid="138"/>
                                        </p:tgtEl>
                                      </p:cBhvr>
                                    </p:animEffect>
                                  </p:childTnLst>
                                </p:cTn>
                              </p:par>
                            </p:childTnLst>
                          </p:cTn>
                        </p:par>
                      </p:childTnLst>
                    </p:cTn>
                  </p:par>
                  <p:par>
                    <p:cTn id="207" fill="hold" nodeType="clickPar">
                      <p:stCondLst>
                        <p:cond delay="indefinite"/>
                      </p:stCondLst>
                      <p:childTnLst>
                        <p:par>
                          <p:cTn id="208" fill="hold" nodeType="withGroup">
                            <p:stCondLst>
                              <p:cond delay="0"/>
                            </p:stCondLst>
                            <p:childTnLst>
                              <p:par>
                                <p:cTn id="209" presetID="22" presetClass="entr" presetSubtype="8" fill="hold" grpId="0" nodeType="clickEffect">
                                  <p:stCondLst>
                                    <p:cond delay="0"/>
                                  </p:stCondLst>
                                  <p:childTnLst>
                                    <p:set>
                                      <p:cBhvr>
                                        <p:cTn id="210" dur="1" fill="hold">
                                          <p:stCondLst>
                                            <p:cond delay="0"/>
                                          </p:stCondLst>
                                        </p:cTn>
                                        <p:tgtEl>
                                          <p:spTgt spid="139"/>
                                        </p:tgtEl>
                                        <p:attrNameLst>
                                          <p:attrName>style.visibility</p:attrName>
                                        </p:attrNameLst>
                                      </p:cBhvr>
                                      <p:to>
                                        <p:strVal val="visible"/>
                                      </p:to>
                                    </p:set>
                                    <p:animEffect transition="in" filter="wipe(left)">
                                      <p:cBhvr>
                                        <p:cTn id="211" dur="500"/>
                                        <p:tgtEl>
                                          <p:spTgt spid="139"/>
                                        </p:tgtEl>
                                      </p:cBhvr>
                                    </p:animEffect>
                                  </p:childTnLst>
                                </p:cTn>
                              </p:par>
                            </p:childTnLst>
                          </p:cTn>
                        </p:par>
                        <p:par>
                          <p:cTn id="212" fill="hold" nodeType="afterGroup">
                            <p:stCondLst>
                              <p:cond delay="500"/>
                            </p:stCondLst>
                            <p:childTnLst>
                              <p:par>
                                <p:cTn id="213" presetID="22" presetClass="entr" presetSubtype="4" fill="hold" grpId="0" nodeType="afterEffect">
                                  <p:stCondLst>
                                    <p:cond delay="0"/>
                                  </p:stCondLst>
                                  <p:childTnLst>
                                    <p:set>
                                      <p:cBhvr>
                                        <p:cTn id="214" dur="1" fill="hold">
                                          <p:stCondLst>
                                            <p:cond delay="0"/>
                                          </p:stCondLst>
                                        </p:cTn>
                                        <p:tgtEl>
                                          <p:spTgt spid="140"/>
                                        </p:tgtEl>
                                        <p:attrNameLst>
                                          <p:attrName>style.visibility</p:attrName>
                                        </p:attrNameLst>
                                      </p:cBhvr>
                                      <p:to>
                                        <p:strVal val="visible"/>
                                      </p:to>
                                    </p:set>
                                    <p:animEffect transition="in" filter="wipe(down)">
                                      <p:cBhvr>
                                        <p:cTn id="215" dur="500"/>
                                        <p:tgtEl>
                                          <p:spTgt spid="140"/>
                                        </p:tgtEl>
                                      </p:cBhvr>
                                    </p:animEffec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22" presetClass="entr" presetSubtype="4" fill="hold" grpId="0" nodeType="clickEffect">
                                  <p:stCondLst>
                                    <p:cond delay="0"/>
                                  </p:stCondLst>
                                  <p:childTnLst>
                                    <p:set>
                                      <p:cBhvr>
                                        <p:cTn id="219" dur="1" fill="hold">
                                          <p:stCondLst>
                                            <p:cond delay="0"/>
                                          </p:stCondLst>
                                        </p:cTn>
                                        <p:tgtEl>
                                          <p:spTgt spid="141"/>
                                        </p:tgtEl>
                                        <p:attrNameLst>
                                          <p:attrName>style.visibility</p:attrName>
                                        </p:attrNameLst>
                                      </p:cBhvr>
                                      <p:to>
                                        <p:strVal val="visible"/>
                                      </p:to>
                                    </p:set>
                                    <p:animEffect transition="in" filter="wipe(down)">
                                      <p:cBhvr>
                                        <p:cTn id="220" dur="500"/>
                                        <p:tgtEl>
                                          <p:spTgt spid="141"/>
                                        </p:tgtEl>
                                      </p:cBhvr>
                                    </p:animEffect>
                                  </p:childTnLst>
                                </p:cTn>
                              </p:par>
                            </p:childTnLst>
                          </p:cTn>
                        </p:par>
                      </p:childTnLst>
                    </p:cTn>
                  </p:par>
                  <p:par>
                    <p:cTn id="221" fill="hold" nodeType="clickPar">
                      <p:stCondLst>
                        <p:cond delay="indefinite"/>
                      </p:stCondLst>
                      <p:childTnLst>
                        <p:par>
                          <p:cTn id="222" fill="hold" nodeType="withGroup">
                            <p:stCondLst>
                              <p:cond delay="0"/>
                            </p:stCondLst>
                            <p:childTnLst>
                              <p:par>
                                <p:cTn id="223" presetID="22" presetClass="entr" presetSubtype="4" fill="hold" grpId="0" nodeType="clickEffect">
                                  <p:stCondLst>
                                    <p:cond delay="0"/>
                                  </p:stCondLst>
                                  <p:childTnLst>
                                    <p:set>
                                      <p:cBhvr>
                                        <p:cTn id="224" dur="1" fill="hold">
                                          <p:stCondLst>
                                            <p:cond delay="0"/>
                                          </p:stCondLst>
                                        </p:cTn>
                                        <p:tgtEl>
                                          <p:spTgt spid="142"/>
                                        </p:tgtEl>
                                        <p:attrNameLst>
                                          <p:attrName>style.visibility</p:attrName>
                                        </p:attrNameLst>
                                      </p:cBhvr>
                                      <p:to>
                                        <p:strVal val="visible"/>
                                      </p:to>
                                    </p:set>
                                    <p:animEffect transition="in" filter="wipe(down)">
                                      <p:cBhvr>
                                        <p:cTn id="225" dur="500"/>
                                        <p:tgtEl>
                                          <p:spTgt spid="142"/>
                                        </p:tgtEl>
                                      </p:cBhvr>
                                    </p:animEffect>
                                  </p:childTnLst>
                                </p:cTn>
                              </p:par>
                            </p:childTnLst>
                          </p:cTn>
                        </p:par>
                        <p:par>
                          <p:cTn id="226" fill="hold" nodeType="afterGroup">
                            <p:stCondLst>
                              <p:cond delay="500"/>
                            </p:stCondLst>
                            <p:childTnLst>
                              <p:par>
                                <p:cTn id="227" presetID="22" presetClass="entr" presetSubtype="2" fill="hold" grpId="0" nodeType="afterEffect">
                                  <p:stCondLst>
                                    <p:cond delay="0"/>
                                  </p:stCondLst>
                                  <p:childTnLst>
                                    <p:set>
                                      <p:cBhvr>
                                        <p:cTn id="228" dur="1" fill="hold">
                                          <p:stCondLst>
                                            <p:cond delay="0"/>
                                          </p:stCondLst>
                                        </p:cTn>
                                        <p:tgtEl>
                                          <p:spTgt spid="143"/>
                                        </p:tgtEl>
                                        <p:attrNameLst>
                                          <p:attrName>style.visibility</p:attrName>
                                        </p:attrNameLst>
                                      </p:cBhvr>
                                      <p:to>
                                        <p:strVal val="visible"/>
                                      </p:to>
                                    </p:set>
                                    <p:animEffect transition="in" filter="wipe(right)">
                                      <p:cBhvr>
                                        <p:cTn id="229" dur="500"/>
                                        <p:tgtEl>
                                          <p:spTgt spid="143"/>
                                        </p:tgtEl>
                                      </p:cBhvr>
                                    </p:animEffec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22" presetClass="entr" presetSubtype="8" fill="hold" grpId="0" nodeType="clickEffect">
                                  <p:stCondLst>
                                    <p:cond delay="0"/>
                                  </p:stCondLst>
                                  <p:childTnLst>
                                    <p:set>
                                      <p:cBhvr>
                                        <p:cTn id="233" dur="1" fill="hold">
                                          <p:stCondLst>
                                            <p:cond delay="0"/>
                                          </p:stCondLst>
                                        </p:cTn>
                                        <p:tgtEl>
                                          <p:spTgt spid="144"/>
                                        </p:tgtEl>
                                        <p:attrNameLst>
                                          <p:attrName>style.visibility</p:attrName>
                                        </p:attrNameLst>
                                      </p:cBhvr>
                                      <p:to>
                                        <p:strVal val="visible"/>
                                      </p:to>
                                    </p:set>
                                    <p:animEffect transition="in" filter="wipe(left)">
                                      <p:cBhvr>
                                        <p:cTn id="234" dur="500"/>
                                        <p:tgtEl>
                                          <p:spTgt spid="144"/>
                                        </p:tgtEl>
                                      </p:cBhvr>
                                    </p:animEffect>
                                  </p:childTnLst>
                                </p:cTn>
                              </p:par>
                            </p:childTnLst>
                          </p:cTn>
                        </p:par>
                        <p:par>
                          <p:cTn id="235" fill="hold" nodeType="afterGroup">
                            <p:stCondLst>
                              <p:cond delay="500"/>
                            </p:stCondLst>
                            <p:childTnLst>
                              <p:par>
                                <p:cTn id="236" presetID="22" presetClass="entr" presetSubtype="4" fill="hold" grpId="0" nodeType="afterEffect">
                                  <p:stCondLst>
                                    <p:cond delay="0"/>
                                  </p:stCondLst>
                                  <p:childTnLst>
                                    <p:set>
                                      <p:cBhvr>
                                        <p:cTn id="237" dur="1" fill="hold">
                                          <p:stCondLst>
                                            <p:cond delay="0"/>
                                          </p:stCondLst>
                                        </p:cTn>
                                        <p:tgtEl>
                                          <p:spTgt spid="145"/>
                                        </p:tgtEl>
                                        <p:attrNameLst>
                                          <p:attrName>style.visibility</p:attrName>
                                        </p:attrNameLst>
                                      </p:cBhvr>
                                      <p:to>
                                        <p:strVal val="visible"/>
                                      </p:to>
                                    </p:set>
                                    <p:animEffect transition="in" filter="wipe(down)">
                                      <p:cBhvr>
                                        <p:cTn id="238" dur="500"/>
                                        <p:tgtEl>
                                          <p:spTgt spid="145"/>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2" presetClass="entr" presetSubtype="2" fill="hold" grpId="0" nodeType="clickEffect">
                                  <p:stCondLst>
                                    <p:cond delay="0"/>
                                  </p:stCondLst>
                                  <p:childTnLst>
                                    <p:set>
                                      <p:cBhvr>
                                        <p:cTn id="242" dur="1" fill="hold">
                                          <p:stCondLst>
                                            <p:cond delay="0"/>
                                          </p:stCondLst>
                                        </p:cTn>
                                        <p:tgtEl>
                                          <p:spTgt spid="146"/>
                                        </p:tgtEl>
                                        <p:attrNameLst>
                                          <p:attrName>style.visibility</p:attrName>
                                        </p:attrNameLst>
                                      </p:cBhvr>
                                      <p:to>
                                        <p:strVal val="visible"/>
                                      </p:to>
                                    </p:set>
                                    <p:animEffect transition="in" filter="wipe(right)">
                                      <p:cBhvr>
                                        <p:cTn id="243" dur="500"/>
                                        <p:tgtEl>
                                          <p:spTgt spid="146"/>
                                        </p:tgtEl>
                                      </p:cBhvr>
                                    </p:animEffec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22" presetClass="entr" presetSubtype="2" fill="hold" grpId="0" nodeType="clickEffect">
                                  <p:stCondLst>
                                    <p:cond delay="0"/>
                                  </p:stCondLst>
                                  <p:childTnLst>
                                    <p:set>
                                      <p:cBhvr>
                                        <p:cTn id="247" dur="1" fill="hold">
                                          <p:stCondLst>
                                            <p:cond delay="0"/>
                                          </p:stCondLst>
                                        </p:cTn>
                                        <p:tgtEl>
                                          <p:spTgt spid="147"/>
                                        </p:tgtEl>
                                        <p:attrNameLst>
                                          <p:attrName>style.visibility</p:attrName>
                                        </p:attrNameLst>
                                      </p:cBhvr>
                                      <p:to>
                                        <p:strVal val="visible"/>
                                      </p:to>
                                    </p:set>
                                    <p:animEffect transition="in" filter="wipe(right)">
                                      <p:cBhvr>
                                        <p:cTn id="248" dur="500"/>
                                        <p:tgtEl>
                                          <p:spTgt spid="147"/>
                                        </p:tgtEl>
                                      </p:cBhvr>
                                    </p:animEffect>
                                  </p:childTnLst>
                                </p:cTn>
                              </p:par>
                            </p:childTnLst>
                          </p:cTn>
                        </p:par>
                        <p:par>
                          <p:cTn id="249" fill="hold" nodeType="afterGroup">
                            <p:stCondLst>
                              <p:cond delay="500"/>
                            </p:stCondLst>
                            <p:childTnLst>
                              <p:par>
                                <p:cTn id="250" presetID="22" presetClass="entr" presetSubtype="1" fill="hold" grpId="0" nodeType="afterEffect">
                                  <p:stCondLst>
                                    <p:cond delay="0"/>
                                  </p:stCondLst>
                                  <p:childTnLst>
                                    <p:set>
                                      <p:cBhvr>
                                        <p:cTn id="251" dur="1" fill="hold">
                                          <p:stCondLst>
                                            <p:cond delay="0"/>
                                          </p:stCondLst>
                                        </p:cTn>
                                        <p:tgtEl>
                                          <p:spTgt spid="148"/>
                                        </p:tgtEl>
                                        <p:attrNameLst>
                                          <p:attrName>style.visibility</p:attrName>
                                        </p:attrNameLst>
                                      </p:cBhvr>
                                      <p:to>
                                        <p:strVal val="visible"/>
                                      </p:to>
                                    </p:set>
                                    <p:animEffect transition="in" filter="wipe(up)">
                                      <p:cBhvr>
                                        <p:cTn id="252" dur="500"/>
                                        <p:tgtEl>
                                          <p:spTgt spid="148"/>
                                        </p:tgtEl>
                                      </p:cBhvr>
                                    </p:animEffect>
                                  </p:childTnLst>
                                </p:cTn>
                              </p:par>
                            </p:childTnLst>
                          </p:cTn>
                        </p:par>
                      </p:childTnLst>
                    </p:cTn>
                  </p:par>
                  <p:par>
                    <p:cTn id="253" fill="hold" nodeType="clickPar">
                      <p:stCondLst>
                        <p:cond delay="indefinite"/>
                      </p:stCondLst>
                      <p:childTnLst>
                        <p:par>
                          <p:cTn id="254" fill="hold" nodeType="withGroup">
                            <p:stCondLst>
                              <p:cond delay="0"/>
                            </p:stCondLst>
                            <p:childTnLst>
                              <p:par>
                                <p:cTn id="255" presetID="22" presetClass="entr" presetSubtype="4" fill="hold" grpId="0" nodeType="clickEffect">
                                  <p:stCondLst>
                                    <p:cond delay="0"/>
                                  </p:stCondLst>
                                  <p:childTnLst>
                                    <p:set>
                                      <p:cBhvr>
                                        <p:cTn id="256" dur="1" fill="hold">
                                          <p:stCondLst>
                                            <p:cond delay="0"/>
                                          </p:stCondLst>
                                        </p:cTn>
                                        <p:tgtEl>
                                          <p:spTgt spid="149"/>
                                        </p:tgtEl>
                                        <p:attrNameLst>
                                          <p:attrName>style.visibility</p:attrName>
                                        </p:attrNameLst>
                                      </p:cBhvr>
                                      <p:to>
                                        <p:strVal val="visible"/>
                                      </p:to>
                                    </p:set>
                                    <p:animEffect transition="in" filter="wipe(down)">
                                      <p:cBhvr>
                                        <p:cTn id="257" dur="500"/>
                                        <p:tgtEl>
                                          <p:spTgt spid="149"/>
                                        </p:tgtEl>
                                      </p:cBhvr>
                                    </p:animEffect>
                                  </p:childTnLst>
                                </p:cTn>
                              </p:par>
                            </p:childTnLst>
                          </p:cTn>
                        </p:par>
                        <p:par>
                          <p:cTn id="258" fill="hold" nodeType="afterGroup">
                            <p:stCondLst>
                              <p:cond delay="500"/>
                            </p:stCondLst>
                            <p:childTnLst>
                              <p:par>
                                <p:cTn id="259" presetID="22" presetClass="entr" presetSubtype="2" fill="hold" grpId="0" nodeType="afterEffect">
                                  <p:stCondLst>
                                    <p:cond delay="0"/>
                                  </p:stCondLst>
                                  <p:childTnLst>
                                    <p:set>
                                      <p:cBhvr>
                                        <p:cTn id="260" dur="1" fill="hold">
                                          <p:stCondLst>
                                            <p:cond delay="0"/>
                                          </p:stCondLst>
                                        </p:cTn>
                                        <p:tgtEl>
                                          <p:spTgt spid="150"/>
                                        </p:tgtEl>
                                        <p:attrNameLst>
                                          <p:attrName>style.visibility</p:attrName>
                                        </p:attrNameLst>
                                      </p:cBhvr>
                                      <p:to>
                                        <p:strVal val="visible"/>
                                      </p:to>
                                    </p:set>
                                    <p:animEffect transition="in" filter="wipe(right)">
                                      <p:cBhvr>
                                        <p:cTn id="261" dur="500"/>
                                        <p:tgtEl>
                                          <p:spTgt spid="150"/>
                                        </p:tgtEl>
                                      </p:cBhvr>
                                    </p:animEffec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22" presetClass="entr" presetSubtype="8" fill="hold" grpId="0" nodeType="clickEffect">
                                  <p:stCondLst>
                                    <p:cond delay="0"/>
                                  </p:stCondLst>
                                  <p:childTnLst>
                                    <p:set>
                                      <p:cBhvr>
                                        <p:cTn id="265" dur="1" fill="hold">
                                          <p:stCondLst>
                                            <p:cond delay="0"/>
                                          </p:stCondLst>
                                        </p:cTn>
                                        <p:tgtEl>
                                          <p:spTgt spid="151"/>
                                        </p:tgtEl>
                                        <p:attrNameLst>
                                          <p:attrName>style.visibility</p:attrName>
                                        </p:attrNameLst>
                                      </p:cBhvr>
                                      <p:to>
                                        <p:strVal val="visible"/>
                                      </p:to>
                                    </p:set>
                                    <p:animEffect transition="in" filter="wipe(left)">
                                      <p:cBhvr>
                                        <p:cTn id="266" dur="500"/>
                                        <p:tgtEl>
                                          <p:spTgt spid="151"/>
                                        </p:tgtEl>
                                      </p:cBhvr>
                                    </p:animEffect>
                                  </p:childTnLst>
                                </p:cTn>
                              </p:par>
                            </p:childTnLst>
                          </p:cTn>
                        </p:par>
                        <p:par>
                          <p:cTn id="267" fill="hold" nodeType="afterGroup">
                            <p:stCondLst>
                              <p:cond delay="500"/>
                            </p:stCondLst>
                            <p:childTnLst>
                              <p:par>
                                <p:cTn id="268" presetID="22" presetClass="entr" presetSubtype="4" fill="hold" grpId="0" nodeType="afterEffect">
                                  <p:stCondLst>
                                    <p:cond delay="0"/>
                                  </p:stCondLst>
                                  <p:childTnLst>
                                    <p:set>
                                      <p:cBhvr>
                                        <p:cTn id="269" dur="1" fill="hold">
                                          <p:stCondLst>
                                            <p:cond delay="0"/>
                                          </p:stCondLst>
                                        </p:cTn>
                                        <p:tgtEl>
                                          <p:spTgt spid="152"/>
                                        </p:tgtEl>
                                        <p:attrNameLst>
                                          <p:attrName>style.visibility</p:attrName>
                                        </p:attrNameLst>
                                      </p:cBhvr>
                                      <p:to>
                                        <p:strVal val="visible"/>
                                      </p:to>
                                    </p:set>
                                    <p:animEffect transition="in" filter="wipe(down)">
                                      <p:cBhvr>
                                        <p:cTn id="270" dur="500"/>
                                        <p:tgtEl>
                                          <p:spTgt spid="152"/>
                                        </p:tgtEl>
                                      </p:cBhvr>
                                    </p:animEffect>
                                  </p:childTnLst>
                                </p:cTn>
                              </p:par>
                            </p:childTnLst>
                          </p:cTn>
                        </p:par>
                      </p:childTnLst>
                    </p:cTn>
                  </p:par>
                  <p:par>
                    <p:cTn id="271" fill="hold" nodeType="clickPar">
                      <p:stCondLst>
                        <p:cond delay="indefinite"/>
                      </p:stCondLst>
                      <p:childTnLst>
                        <p:par>
                          <p:cTn id="272" fill="hold" nodeType="withGroup">
                            <p:stCondLst>
                              <p:cond delay="0"/>
                            </p:stCondLst>
                            <p:childTnLst>
                              <p:par>
                                <p:cTn id="273" presetID="22" presetClass="entr" presetSubtype="4" fill="hold" grpId="0" nodeType="clickEffect">
                                  <p:stCondLst>
                                    <p:cond delay="0"/>
                                  </p:stCondLst>
                                  <p:childTnLst>
                                    <p:set>
                                      <p:cBhvr>
                                        <p:cTn id="274" dur="1" fill="hold">
                                          <p:stCondLst>
                                            <p:cond delay="0"/>
                                          </p:stCondLst>
                                        </p:cTn>
                                        <p:tgtEl>
                                          <p:spTgt spid="153"/>
                                        </p:tgtEl>
                                        <p:attrNameLst>
                                          <p:attrName>style.visibility</p:attrName>
                                        </p:attrNameLst>
                                      </p:cBhvr>
                                      <p:to>
                                        <p:strVal val="visible"/>
                                      </p:to>
                                    </p:set>
                                    <p:animEffect transition="in" filter="wipe(down)">
                                      <p:cBhvr>
                                        <p:cTn id="275" dur="500"/>
                                        <p:tgtEl>
                                          <p:spTgt spid="153"/>
                                        </p:tgtEl>
                                      </p:cBhvr>
                                    </p:animEffect>
                                  </p:childTnLst>
                                </p:cTn>
                              </p:par>
                            </p:childTnLst>
                          </p:cTn>
                        </p:par>
                      </p:childTnLst>
                    </p:cTn>
                  </p:par>
                  <p:par>
                    <p:cTn id="276" fill="hold" nodeType="clickPar">
                      <p:stCondLst>
                        <p:cond delay="indefinite"/>
                      </p:stCondLst>
                      <p:childTnLst>
                        <p:par>
                          <p:cTn id="277" fill="hold" nodeType="withGroup">
                            <p:stCondLst>
                              <p:cond delay="0"/>
                            </p:stCondLst>
                            <p:childTnLst>
                              <p:par>
                                <p:cTn id="278" presetID="22" presetClass="entr" presetSubtype="4" fill="hold" grpId="0" nodeType="clickEffect">
                                  <p:stCondLst>
                                    <p:cond delay="0"/>
                                  </p:stCondLst>
                                  <p:childTnLst>
                                    <p:set>
                                      <p:cBhvr>
                                        <p:cTn id="279" dur="1" fill="hold">
                                          <p:stCondLst>
                                            <p:cond delay="0"/>
                                          </p:stCondLst>
                                        </p:cTn>
                                        <p:tgtEl>
                                          <p:spTgt spid="154"/>
                                        </p:tgtEl>
                                        <p:attrNameLst>
                                          <p:attrName>style.visibility</p:attrName>
                                        </p:attrNameLst>
                                      </p:cBhvr>
                                      <p:to>
                                        <p:strVal val="visible"/>
                                      </p:to>
                                    </p:set>
                                    <p:animEffect transition="in" filter="wipe(down)">
                                      <p:cBhvr>
                                        <p:cTn id="280" dur="500"/>
                                        <p:tgtEl>
                                          <p:spTgt spid="154"/>
                                        </p:tgtEl>
                                      </p:cBhvr>
                                    </p:animEffect>
                                  </p:childTnLst>
                                </p:cTn>
                              </p:par>
                            </p:childTnLst>
                          </p:cTn>
                        </p:par>
                        <p:par>
                          <p:cTn id="281" fill="hold" nodeType="afterGroup">
                            <p:stCondLst>
                              <p:cond delay="500"/>
                            </p:stCondLst>
                            <p:childTnLst>
                              <p:par>
                                <p:cTn id="282" presetID="22" presetClass="entr" presetSubtype="2" fill="hold" grpId="0" nodeType="afterEffect">
                                  <p:stCondLst>
                                    <p:cond delay="0"/>
                                  </p:stCondLst>
                                  <p:childTnLst>
                                    <p:set>
                                      <p:cBhvr>
                                        <p:cTn id="283" dur="1" fill="hold">
                                          <p:stCondLst>
                                            <p:cond delay="0"/>
                                          </p:stCondLst>
                                        </p:cTn>
                                        <p:tgtEl>
                                          <p:spTgt spid="155"/>
                                        </p:tgtEl>
                                        <p:attrNameLst>
                                          <p:attrName>style.visibility</p:attrName>
                                        </p:attrNameLst>
                                      </p:cBhvr>
                                      <p:to>
                                        <p:strVal val="visible"/>
                                      </p:to>
                                    </p:set>
                                    <p:animEffect transition="in" filter="wipe(right)">
                                      <p:cBhvr>
                                        <p:cTn id="284" dur="500"/>
                                        <p:tgtEl>
                                          <p:spTgt spid="155"/>
                                        </p:tgtEl>
                                      </p:cBhvr>
                                    </p:animEffect>
                                  </p:childTnLst>
                                </p:cTn>
                              </p:par>
                            </p:childTnLst>
                          </p:cTn>
                        </p:par>
                      </p:childTnLst>
                    </p:cTn>
                  </p:par>
                  <p:par>
                    <p:cTn id="285" fill="hold" nodeType="clickPar">
                      <p:stCondLst>
                        <p:cond delay="indefinite"/>
                      </p:stCondLst>
                      <p:childTnLst>
                        <p:par>
                          <p:cTn id="286" fill="hold" nodeType="withGroup">
                            <p:stCondLst>
                              <p:cond delay="0"/>
                            </p:stCondLst>
                            <p:childTnLst>
                              <p:par>
                                <p:cTn id="287" presetID="22" presetClass="entr" presetSubtype="8" fill="hold" grpId="0" nodeType="clickEffect">
                                  <p:stCondLst>
                                    <p:cond delay="0"/>
                                  </p:stCondLst>
                                  <p:childTnLst>
                                    <p:set>
                                      <p:cBhvr>
                                        <p:cTn id="288" dur="1" fill="hold">
                                          <p:stCondLst>
                                            <p:cond delay="0"/>
                                          </p:stCondLst>
                                        </p:cTn>
                                        <p:tgtEl>
                                          <p:spTgt spid="156"/>
                                        </p:tgtEl>
                                        <p:attrNameLst>
                                          <p:attrName>style.visibility</p:attrName>
                                        </p:attrNameLst>
                                      </p:cBhvr>
                                      <p:to>
                                        <p:strVal val="visible"/>
                                      </p:to>
                                    </p:set>
                                    <p:animEffect transition="in" filter="wipe(left)">
                                      <p:cBhvr>
                                        <p:cTn id="289" dur="500"/>
                                        <p:tgtEl>
                                          <p:spTgt spid="156"/>
                                        </p:tgtEl>
                                      </p:cBhvr>
                                    </p:animEffect>
                                  </p:childTnLst>
                                </p:cTn>
                              </p:par>
                            </p:childTnLst>
                          </p:cTn>
                        </p:par>
                        <p:par>
                          <p:cTn id="290" fill="hold" nodeType="afterGroup">
                            <p:stCondLst>
                              <p:cond delay="500"/>
                            </p:stCondLst>
                            <p:childTnLst>
                              <p:par>
                                <p:cTn id="291" presetID="22" presetClass="entr" presetSubtype="4" fill="hold" grpId="0" nodeType="afterEffect">
                                  <p:stCondLst>
                                    <p:cond delay="0"/>
                                  </p:stCondLst>
                                  <p:childTnLst>
                                    <p:set>
                                      <p:cBhvr>
                                        <p:cTn id="292" dur="1" fill="hold">
                                          <p:stCondLst>
                                            <p:cond delay="0"/>
                                          </p:stCondLst>
                                        </p:cTn>
                                        <p:tgtEl>
                                          <p:spTgt spid="157"/>
                                        </p:tgtEl>
                                        <p:attrNameLst>
                                          <p:attrName>style.visibility</p:attrName>
                                        </p:attrNameLst>
                                      </p:cBhvr>
                                      <p:to>
                                        <p:strVal val="visible"/>
                                      </p:to>
                                    </p:set>
                                    <p:animEffect transition="in" filter="wipe(down)">
                                      <p:cBhvr>
                                        <p:cTn id="293" dur="500"/>
                                        <p:tgtEl>
                                          <p:spTgt spid="157"/>
                                        </p:tgtEl>
                                      </p:cBhvr>
                                    </p:animEffect>
                                  </p:childTnLst>
                                </p:cTn>
                              </p:par>
                            </p:childTnLst>
                          </p:cTn>
                        </p:par>
                      </p:childTnLst>
                    </p:cTn>
                  </p:par>
                  <p:par>
                    <p:cTn id="294" fill="hold" nodeType="clickPar">
                      <p:stCondLst>
                        <p:cond delay="indefinite"/>
                      </p:stCondLst>
                      <p:childTnLst>
                        <p:par>
                          <p:cTn id="295" fill="hold" nodeType="withGroup">
                            <p:stCondLst>
                              <p:cond delay="0"/>
                            </p:stCondLst>
                            <p:childTnLst>
                              <p:par>
                                <p:cTn id="296" presetID="22" presetClass="entr" presetSubtype="4" fill="hold" grpId="0" nodeType="clickEffect">
                                  <p:stCondLst>
                                    <p:cond delay="0"/>
                                  </p:stCondLst>
                                  <p:childTnLst>
                                    <p:set>
                                      <p:cBhvr>
                                        <p:cTn id="297" dur="1" fill="hold">
                                          <p:stCondLst>
                                            <p:cond delay="0"/>
                                          </p:stCondLst>
                                        </p:cTn>
                                        <p:tgtEl>
                                          <p:spTgt spid="158"/>
                                        </p:tgtEl>
                                        <p:attrNameLst>
                                          <p:attrName>style.visibility</p:attrName>
                                        </p:attrNameLst>
                                      </p:cBhvr>
                                      <p:to>
                                        <p:strVal val="visible"/>
                                      </p:to>
                                    </p:set>
                                    <p:animEffect transition="in" filter="wipe(down)">
                                      <p:cBhvr>
                                        <p:cTn id="298"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xfrm>
            <a:off x="527050" y="333375"/>
            <a:ext cx="10321925" cy="863600"/>
          </a:xfrm>
        </p:spPr>
        <p:txBody>
          <a:bodyPr/>
          <a:lstStyle/>
          <a:p>
            <a:pPr eaLnBrk="1" hangingPunct="1"/>
            <a:r>
              <a:rPr lang="zh-CN" altLang="en-US" smtClean="0"/>
              <a:t>迷宫问题</a:t>
            </a:r>
          </a:p>
        </p:txBody>
      </p:sp>
      <p:sp>
        <p:nvSpPr>
          <p:cNvPr id="72707" name="Text Box 85"/>
          <p:cNvSpPr txBox="1">
            <a:spLocks noChangeArrowheads="1"/>
          </p:cNvSpPr>
          <p:nvPr/>
        </p:nvSpPr>
        <p:spPr bwMode="auto">
          <a:xfrm>
            <a:off x="2927350" y="4638675"/>
            <a:ext cx="67691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1800">
                <a:latin typeface="Times New Roman" panose="02020603050405020304" pitchFamily="18" charset="0"/>
                <a:ea typeface="宋体" panose="02010600030101010101" pitchFamily="2" charset="-122"/>
              </a:rPr>
              <a:t>求解方法：从入口出发，沿某一方向搜索，若能走通，则继续向前走；否则沿原路返回，换一方向再进行搜索，直到所有可能的通路都探索为止。</a:t>
            </a:r>
          </a:p>
        </p:txBody>
      </p:sp>
      <p:sp>
        <p:nvSpPr>
          <p:cNvPr id="72708" name="Text Box 29"/>
          <p:cNvSpPr txBox="1">
            <a:spLocks noChangeArrowheads="1"/>
          </p:cNvSpPr>
          <p:nvPr/>
        </p:nvSpPr>
        <p:spPr bwMode="auto">
          <a:xfrm>
            <a:off x="3635375" y="2443163"/>
            <a:ext cx="185737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600">
                <a:latin typeface="Times New Roman" panose="02020603050405020304" pitchFamily="18" charset="0"/>
                <a:ea typeface="宋体" panose="02010600030101010101" pitchFamily="2" charset="-122"/>
              </a:rPr>
              <a:t> </a:t>
            </a:r>
            <a:r>
              <a:rPr kumimoji="1" lang="en-US" altLang="zh-CN" sz="600">
                <a:solidFill>
                  <a:schemeClr val="accent2"/>
                </a:solidFill>
                <a:latin typeface="Times New Roman" panose="02020603050405020304" pitchFamily="18" charset="0"/>
                <a:ea typeface="宋体" panose="02010600030101010101" pitchFamily="2" charset="-122"/>
              </a:rPr>
              <a:t>0    1    2     3    4   5    6     7   8    9   10</a:t>
            </a:r>
          </a:p>
        </p:txBody>
      </p:sp>
      <p:grpSp>
        <p:nvGrpSpPr>
          <p:cNvPr id="72709" name="Group 77"/>
          <p:cNvGrpSpPr>
            <a:grpSpLocks/>
          </p:cNvGrpSpPr>
          <p:nvPr/>
        </p:nvGrpSpPr>
        <p:grpSpPr bwMode="auto">
          <a:xfrm>
            <a:off x="3448050" y="2393950"/>
            <a:ext cx="1787525" cy="1577975"/>
            <a:chOff x="117" y="494"/>
            <a:chExt cx="3003" cy="2650"/>
          </a:xfrm>
        </p:grpSpPr>
        <p:sp>
          <p:nvSpPr>
            <p:cNvPr id="72723" name="Rectangle 3"/>
            <p:cNvSpPr>
              <a:spLocks noChangeArrowheads="1"/>
            </p:cNvSpPr>
            <p:nvPr/>
          </p:nvSpPr>
          <p:spPr bwMode="auto">
            <a:xfrm>
              <a:off x="480" y="816"/>
              <a:ext cx="2112" cy="192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213" name="Line 4"/>
            <p:cNvSpPr>
              <a:spLocks noChangeShapeType="1"/>
            </p:cNvSpPr>
            <p:nvPr/>
          </p:nvSpPr>
          <p:spPr bwMode="auto">
            <a:xfrm>
              <a:off x="480" y="1057"/>
              <a:ext cx="2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14" name="Line 5"/>
            <p:cNvSpPr>
              <a:spLocks noChangeShapeType="1"/>
            </p:cNvSpPr>
            <p:nvPr/>
          </p:nvSpPr>
          <p:spPr bwMode="auto">
            <a:xfrm>
              <a:off x="480" y="1296"/>
              <a:ext cx="2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15" name="Line 6"/>
            <p:cNvSpPr>
              <a:spLocks noChangeShapeType="1"/>
            </p:cNvSpPr>
            <p:nvPr/>
          </p:nvSpPr>
          <p:spPr bwMode="auto">
            <a:xfrm>
              <a:off x="480" y="1536"/>
              <a:ext cx="2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16" name="Line 7"/>
            <p:cNvSpPr>
              <a:spLocks noChangeShapeType="1"/>
            </p:cNvSpPr>
            <p:nvPr/>
          </p:nvSpPr>
          <p:spPr bwMode="auto">
            <a:xfrm>
              <a:off x="480" y="1776"/>
              <a:ext cx="2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17" name="Line 12"/>
            <p:cNvSpPr>
              <a:spLocks noChangeShapeType="1"/>
            </p:cNvSpPr>
            <p:nvPr/>
          </p:nvSpPr>
          <p:spPr bwMode="auto">
            <a:xfrm>
              <a:off x="480" y="2016"/>
              <a:ext cx="2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18" name="Line 13"/>
            <p:cNvSpPr>
              <a:spLocks noChangeShapeType="1"/>
            </p:cNvSpPr>
            <p:nvPr/>
          </p:nvSpPr>
          <p:spPr bwMode="auto">
            <a:xfrm>
              <a:off x="480" y="2256"/>
              <a:ext cx="2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19" name="Line 14"/>
            <p:cNvSpPr>
              <a:spLocks noChangeShapeType="1"/>
            </p:cNvSpPr>
            <p:nvPr/>
          </p:nvSpPr>
          <p:spPr bwMode="auto">
            <a:xfrm>
              <a:off x="480" y="2496"/>
              <a:ext cx="2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72731" name="Text Box 16"/>
            <p:cNvSpPr txBox="1">
              <a:spLocks noChangeArrowheads="1"/>
            </p:cNvSpPr>
            <p:nvPr/>
          </p:nvSpPr>
          <p:spPr bwMode="auto">
            <a:xfrm>
              <a:off x="187" y="816"/>
              <a:ext cx="581" cy="1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600">
                  <a:solidFill>
                    <a:schemeClr val="accent2"/>
                  </a:solidFill>
                  <a:latin typeface="Times New Roman" panose="02020603050405020304" pitchFamily="18" charset="0"/>
                  <a:ea typeface="宋体" panose="02010600030101010101" pitchFamily="2" charset="-122"/>
                </a:rPr>
                <a:t>0</a:t>
              </a:r>
            </a:p>
            <a:p>
              <a:pPr eaLnBrk="1" hangingPunct="1">
                <a:lnSpc>
                  <a:spcPct val="100000"/>
                </a:lnSpc>
                <a:spcBef>
                  <a:spcPct val="50000"/>
                </a:spcBef>
                <a:buFontTx/>
                <a:buNone/>
              </a:pPr>
              <a:r>
                <a:rPr kumimoji="1" lang="en-US" altLang="zh-CN" sz="600">
                  <a:solidFill>
                    <a:schemeClr val="accent2"/>
                  </a:solidFill>
                  <a:latin typeface="Times New Roman" panose="02020603050405020304" pitchFamily="18" charset="0"/>
                  <a:ea typeface="宋体" panose="02010600030101010101" pitchFamily="2" charset="-122"/>
                </a:rPr>
                <a:t>1</a:t>
              </a:r>
            </a:p>
            <a:p>
              <a:pPr eaLnBrk="1" hangingPunct="1">
                <a:lnSpc>
                  <a:spcPct val="100000"/>
                </a:lnSpc>
                <a:spcBef>
                  <a:spcPct val="50000"/>
                </a:spcBef>
                <a:buFontTx/>
                <a:buNone/>
              </a:pPr>
              <a:r>
                <a:rPr kumimoji="1" lang="en-US" altLang="zh-CN" sz="600">
                  <a:solidFill>
                    <a:schemeClr val="accent2"/>
                  </a:solidFill>
                  <a:latin typeface="Times New Roman" panose="02020603050405020304" pitchFamily="18" charset="0"/>
                  <a:ea typeface="宋体" panose="02010600030101010101" pitchFamily="2" charset="-122"/>
                </a:rPr>
                <a:t>2</a:t>
              </a:r>
            </a:p>
            <a:p>
              <a:pPr eaLnBrk="1" hangingPunct="1">
                <a:lnSpc>
                  <a:spcPct val="100000"/>
                </a:lnSpc>
                <a:spcBef>
                  <a:spcPct val="50000"/>
                </a:spcBef>
                <a:buFontTx/>
                <a:buNone/>
              </a:pPr>
              <a:r>
                <a:rPr kumimoji="1" lang="en-US" altLang="zh-CN" sz="600">
                  <a:solidFill>
                    <a:schemeClr val="accent2"/>
                  </a:solidFill>
                  <a:latin typeface="Times New Roman" panose="02020603050405020304" pitchFamily="18" charset="0"/>
                  <a:ea typeface="宋体" panose="02010600030101010101" pitchFamily="2" charset="-122"/>
                </a:rPr>
                <a:t>3</a:t>
              </a:r>
            </a:p>
            <a:p>
              <a:pPr eaLnBrk="1" hangingPunct="1">
                <a:lnSpc>
                  <a:spcPct val="100000"/>
                </a:lnSpc>
                <a:spcBef>
                  <a:spcPct val="50000"/>
                </a:spcBef>
                <a:buFontTx/>
                <a:buNone/>
              </a:pPr>
              <a:r>
                <a:rPr kumimoji="1" lang="en-US" altLang="zh-CN" sz="600">
                  <a:solidFill>
                    <a:schemeClr val="accent2"/>
                  </a:solidFill>
                  <a:latin typeface="Times New Roman" panose="02020603050405020304" pitchFamily="18" charset="0"/>
                  <a:ea typeface="宋体" panose="02010600030101010101" pitchFamily="2" charset="-122"/>
                </a:rPr>
                <a:t>4</a:t>
              </a:r>
            </a:p>
            <a:p>
              <a:pPr eaLnBrk="1" hangingPunct="1">
                <a:lnSpc>
                  <a:spcPct val="100000"/>
                </a:lnSpc>
                <a:spcBef>
                  <a:spcPct val="50000"/>
                </a:spcBef>
                <a:buFontTx/>
                <a:buNone/>
              </a:pPr>
              <a:r>
                <a:rPr kumimoji="1" lang="en-US" altLang="zh-CN" sz="600">
                  <a:solidFill>
                    <a:schemeClr val="accent2"/>
                  </a:solidFill>
                  <a:latin typeface="Times New Roman" panose="02020603050405020304" pitchFamily="18" charset="0"/>
                  <a:ea typeface="宋体" panose="02010600030101010101" pitchFamily="2" charset="-122"/>
                </a:rPr>
                <a:t>5</a:t>
              </a:r>
            </a:p>
            <a:p>
              <a:pPr eaLnBrk="1" hangingPunct="1">
                <a:lnSpc>
                  <a:spcPct val="100000"/>
                </a:lnSpc>
                <a:spcBef>
                  <a:spcPct val="50000"/>
                </a:spcBef>
                <a:buFontTx/>
                <a:buNone/>
              </a:pPr>
              <a:r>
                <a:rPr kumimoji="1" lang="en-US" altLang="zh-CN" sz="600">
                  <a:solidFill>
                    <a:schemeClr val="accent2"/>
                  </a:solidFill>
                  <a:latin typeface="Times New Roman" panose="02020603050405020304" pitchFamily="18" charset="0"/>
                  <a:ea typeface="宋体" panose="02010600030101010101" pitchFamily="2" charset="-122"/>
                </a:rPr>
                <a:t>6</a:t>
              </a:r>
            </a:p>
            <a:p>
              <a:pPr eaLnBrk="1" hangingPunct="1">
                <a:lnSpc>
                  <a:spcPct val="100000"/>
                </a:lnSpc>
                <a:spcBef>
                  <a:spcPct val="50000"/>
                </a:spcBef>
                <a:buFontTx/>
                <a:buNone/>
              </a:pPr>
              <a:r>
                <a:rPr kumimoji="1" lang="en-US" altLang="zh-CN" sz="600">
                  <a:solidFill>
                    <a:schemeClr val="accent2"/>
                  </a:solidFill>
                  <a:latin typeface="Times New Roman" panose="02020603050405020304" pitchFamily="18" charset="0"/>
                  <a:ea typeface="宋体" panose="02010600030101010101" pitchFamily="2" charset="-122"/>
                </a:rPr>
                <a:t>7</a:t>
              </a:r>
            </a:p>
          </p:txBody>
        </p:sp>
        <p:sp>
          <p:nvSpPr>
            <p:cNvPr id="221" name="Line 17"/>
            <p:cNvSpPr>
              <a:spLocks noChangeShapeType="1"/>
            </p:cNvSpPr>
            <p:nvPr/>
          </p:nvSpPr>
          <p:spPr bwMode="auto">
            <a:xfrm>
              <a:off x="672" y="817"/>
              <a:ext cx="0" cy="19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22" name="Line 18"/>
            <p:cNvSpPr>
              <a:spLocks noChangeShapeType="1"/>
            </p:cNvSpPr>
            <p:nvPr/>
          </p:nvSpPr>
          <p:spPr bwMode="auto">
            <a:xfrm>
              <a:off x="864" y="817"/>
              <a:ext cx="0" cy="19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23" name="Line 19"/>
            <p:cNvSpPr>
              <a:spLocks noChangeShapeType="1"/>
            </p:cNvSpPr>
            <p:nvPr/>
          </p:nvSpPr>
          <p:spPr bwMode="auto">
            <a:xfrm>
              <a:off x="1056" y="817"/>
              <a:ext cx="0" cy="19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24" name="Line 20"/>
            <p:cNvSpPr>
              <a:spLocks noChangeShapeType="1"/>
            </p:cNvSpPr>
            <p:nvPr/>
          </p:nvSpPr>
          <p:spPr bwMode="auto">
            <a:xfrm>
              <a:off x="1248" y="817"/>
              <a:ext cx="0" cy="19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25" name="Line 21"/>
            <p:cNvSpPr>
              <a:spLocks noChangeShapeType="1"/>
            </p:cNvSpPr>
            <p:nvPr/>
          </p:nvSpPr>
          <p:spPr bwMode="auto">
            <a:xfrm>
              <a:off x="1440" y="817"/>
              <a:ext cx="0" cy="19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26" name="Line 22"/>
            <p:cNvSpPr>
              <a:spLocks noChangeShapeType="1"/>
            </p:cNvSpPr>
            <p:nvPr/>
          </p:nvSpPr>
          <p:spPr bwMode="auto">
            <a:xfrm>
              <a:off x="1632" y="817"/>
              <a:ext cx="0" cy="19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27" name="Line 23"/>
            <p:cNvSpPr>
              <a:spLocks noChangeShapeType="1"/>
            </p:cNvSpPr>
            <p:nvPr/>
          </p:nvSpPr>
          <p:spPr bwMode="auto">
            <a:xfrm>
              <a:off x="1824" y="817"/>
              <a:ext cx="0" cy="19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28" name="Line 24"/>
            <p:cNvSpPr>
              <a:spLocks noChangeShapeType="1"/>
            </p:cNvSpPr>
            <p:nvPr/>
          </p:nvSpPr>
          <p:spPr bwMode="auto">
            <a:xfrm>
              <a:off x="2016" y="817"/>
              <a:ext cx="0" cy="19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29" name="Line 25"/>
            <p:cNvSpPr>
              <a:spLocks noChangeShapeType="1"/>
            </p:cNvSpPr>
            <p:nvPr/>
          </p:nvSpPr>
          <p:spPr bwMode="auto">
            <a:xfrm>
              <a:off x="2208" y="817"/>
              <a:ext cx="0" cy="19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30" name="Line 26"/>
            <p:cNvSpPr>
              <a:spLocks noChangeShapeType="1"/>
            </p:cNvSpPr>
            <p:nvPr/>
          </p:nvSpPr>
          <p:spPr bwMode="auto">
            <a:xfrm>
              <a:off x="2400" y="817"/>
              <a:ext cx="0" cy="19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72742" name="Rectangle 30"/>
            <p:cNvSpPr>
              <a:spLocks noChangeArrowheads="1"/>
            </p:cNvSpPr>
            <p:nvPr/>
          </p:nvSpPr>
          <p:spPr bwMode="auto">
            <a:xfrm>
              <a:off x="672" y="10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43" name="Rectangle 31"/>
            <p:cNvSpPr>
              <a:spLocks noChangeArrowheads="1"/>
            </p:cNvSpPr>
            <p:nvPr/>
          </p:nvSpPr>
          <p:spPr bwMode="auto">
            <a:xfrm>
              <a:off x="864" y="1056"/>
              <a:ext cx="192" cy="24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44" name="Rectangle 33"/>
            <p:cNvSpPr>
              <a:spLocks noChangeArrowheads="1"/>
            </p:cNvSpPr>
            <p:nvPr/>
          </p:nvSpPr>
          <p:spPr bwMode="auto">
            <a:xfrm>
              <a:off x="1056" y="10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45" name="Rectangle 34"/>
            <p:cNvSpPr>
              <a:spLocks noChangeArrowheads="1"/>
            </p:cNvSpPr>
            <p:nvPr/>
          </p:nvSpPr>
          <p:spPr bwMode="auto">
            <a:xfrm>
              <a:off x="1248" y="10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46" name="Rectangle 35"/>
            <p:cNvSpPr>
              <a:spLocks noChangeArrowheads="1"/>
            </p:cNvSpPr>
            <p:nvPr/>
          </p:nvSpPr>
          <p:spPr bwMode="auto">
            <a:xfrm>
              <a:off x="2016" y="10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47" name="Rectangle 36"/>
            <p:cNvSpPr>
              <a:spLocks noChangeArrowheads="1"/>
            </p:cNvSpPr>
            <p:nvPr/>
          </p:nvSpPr>
          <p:spPr bwMode="auto">
            <a:xfrm>
              <a:off x="2208" y="10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48" name="Rectangle 37"/>
            <p:cNvSpPr>
              <a:spLocks noChangeArrowheads="1"/>
            </p:cNvSpPr>
            <p:nvPr/>
          </p:nvSpPr>
          <p:spPr bwMode="auto">
            <a:xfrm>
              <a:off x="1824" y="129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49" name="Rectangle 38"/>
            <p:cNvSpPr>
              <a:spLocks noChangeArrowheads="1"/>
            </p:cNvSpPr>
            <p:nvPr/>
          </p:nvSpPr>
          <p:spPr bwMode="auto">
            <a:xfrm>
              <a:off x="2016" y="129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50" name="Rectangle 39"/>
            <p:cNvSpPr>
              <a:spLocks noChangeArrowheads="1"/>
            </p:cNvSpPr>
            <p:nvPr/>
          </p:nvSpPr>
          <p:spPr bwMode="auto">
            <a:xfrm>
              <a:off x="672" y="129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51" name="Rectangle 40"/>
            <p:cNvSpPr>
              <a:spLocks noChangeArrowheads="1"/>
            </p:cNvSpPr>
            <p:nvPr/>
          </p:nvSpPr>
          <p:spPr bwMode="auto">
            <a:xfrm>
              <a:off x="864" y="129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52" name="Rectangle 41"/>
            <p:cNvSpPr>
              <a:spLocks noChangeArrowheads="1"/>
            </p:cNvSpPr>
            <p:nvPr/>
          </p:nvSpPr>
          <p:spPr bwMode="auto">
            <a:xfrm>
              <a:off x="1056" y="129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53" name="Rectangle 42"/>
            <p:cNvSpPr>
              <a:spLocks noChangeArrowheads="1"/>
            </p:cNvSpPr>
            <p:nvPr/>
          </p:nvSpPr>
          <p:spPr bwMode="auto">
            <a:xfrm>
              <a:off x="1248" y="129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54" name="Rectangle 43"/>
            <p:cNvSpPr>
              <a:spLocks noChangeArrowheads="1"/>
            </p:cNvSpPr>
            <p:nvPr/>
          </p:nvSpPr>
          <p:spPr bwMode="auto">
            <a:xfrm>
              <a:off x="1440" y="129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55" name="Rectangle 46"/>
            <p:cNvSpPr>
              <a:spLocks noChangeArrowheads="1"/>
            </p:cNvSpPr>
            <p:nvPr/>
          </p:nvSpPr>
          <p:spPr bwMode="auto">
            <a:xfrm>
              <a:off x="1440" y="153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56" name="Rectangle 47"/>
            <p:cNvSpPr>
              <a:spLocks noChangeArrowheads="1"/>
            </p:cNvSpPr>
            <p:nvPr/>
          </p:nvSpPr>
          <p:spPr bwMode="auto">
            <a:xfrm>
              <a:off x="1632" y="153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57" name="Rectangle 48"/>
            <p:cNvSpPr>
              <a:spLocks noChangeArrowheads="1"/>
            </p:cNvSpPr>
            <p:nvPr/>
          </p:nvSpPr>
          <p:spPr bwMode="auto">
            <a:xfrm>
              <a:off x="1824" y="153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58" name="Rectangle 49"/>
            <p:cNvSpPr>
              <a:spLocks noChangeArrowheads="1"/>
            </p:cNvSpPr>
            <p:nvPr/>
          </p:nvSpPr>
          <p:spPr bwMode="auto">
            <a:xfrm>
              <a:off x="672" y="153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59" name="Rectangle 53"/>
            <p:cNvSpPr>
              <a:spLocks noChangeArrowheads="1"/>
            </p:cNvSpPr>
            <p:nvPr/>
          </p:nvSpPr>
          <p:spPr bwMode="auto">
            <a:xfrm>
              <a:off x="672" y="177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60" name="Rectangle 54"/>
            <p:cNvSpPr>
              <a:spLocks noChangeArrowheads="1"/>
            </p:cNvSpPr>
            <p:nvPr/>
          </p:nvSpPr>
          <p:spPr bwMode="auto">
            <a:xfrm>
              <a:off x="864" y="177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61" name="Rectangle 55"/>
            <p:cNvSpPr>
              <a:spLocks noChangeArrowheads="1"/>
            </p:cNvSpPr>
            <p:nvPr/>
          </p:nvSpPr>
          <p:spPr bwMode="auto">
            <a:xfrm>
              <a:off x="1056" y="177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62" name="Rectangle 56"/>
            <p:cNvSpPr>
              <a:spLocks noChangeArrowheads="1"/>
            </p:cNvSpPr>
            <p:nvPr/>
          </p:nvSpPr>
          <p:spPr bwMode="auto">
            <a:xfrm>
              <a:off x="1056" y="22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63" name="Rectangle 57"/>
            <p:cNvSpPr>
              <a:spLocks noChangeArrowheads="1"/>
            </p:cNvSpPr>
            <p:nvPr/>
          </p:nvSpPr>
          <p:spPr bwMode="auto">
            <a:xfrm>
              <a:off x="1248" y="22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64" name="Rectangle 58"/>
            <p:cNvSpPr>
              <a:spLocks noChangeArrowheads="1"/>
            </p:cNvSpPr>
            <p:nvPr/>
          </p:nvSpPr>
          <p:spPr bwMode="auto">
            <a:xfrm>
              <a:off x="1440" y="22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65" name="Rectangle 59"/>
            <p:cNvSpPr>
              <a:spLocks noChangeArrowheads="1"/>
            </p:cNvSpPr>
            <p:nvPr/>
          </p:nvSpPr>
          <p:spPr bwMode="auto">
            <a:xfrm>
              <a:off x="1632" y="22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66" name="Rectangle 60"/>
            <p:cNvSpPr>
              <a:spLocks noChangeArrowheads="1"/>
            </p:cNvSpPr>
            <p:nvPr/>
          </p:nvSpPr>
          <p:spPr bwMode="auto">
            <a:xfrm>
              <a:off x="1824" y="22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67" name="Rectangle 61"/>
            <p:cNvSpPr>
              <a:spLocks noChangeArrowheads="1"/>
            </p:cNvSpPr>
            <p:nvPr/>
          </p:nvSpPr>
          <p:spPr bwMode="auto">
            <a:xfrm>
              <a:off x="2016" y="22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68" name="Rectangle 62"/>
            <p:cNvSpPr>
              <a:spLocks noChangeArrowheads="1"/>
            </p:cNvSpPr>
            <p:nvPr/>
          </p:nvSpPr>
          <p:spPr bwMode="auto">
            <a:xfrm>
              <a:off x="2208" y="201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69" name="Rectangle 63"/>
            <p:cNvSpPr>
              <a:spLocks noChangeArrowheads="1"/>
            </p:cNvSpPr>
            <p:nvPr/>
          </p:nvSpPr>
          <p:spPr bwMode="auto">
            <a:xfrm>
              <a:off x="2208" y="225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70" name="Rectangle 64"/>
            <p:cNvSpPr>
              <a:spLocks noChangeArrowheads="1"/>
            </p:cNvSpPr>
            <p:nvPr/>
          </p:nvSpPr>
          <p:spPr bwMode="auto">
            <a:xfrm>
              <a:off x="2016" y="177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71" name="Rectangle 65"/>
            <p:cNvSpPr>
              <a:spLocks noChangeArrowheads="1"/>
            </p:cNvSpPr>
            <p:nvPr/>
          </p:nvSpPr>
          <p:spPr bwMode="auto">
            <a:xfrm>
              <a:off x="2016" y="201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72" name="Rectangle 66"/>
            <p:cNvSpPr>
              <a:spLocks noChangeArrowheads="1"/>
            </p:cNvSpPr>
            <p:nvPr/>
          </p:nvSpPr>
          <p:spPr bwMode="auto">
            <a:xfrm>
              <a:off x="1440" y="177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73" name="Rectangle 67"/>
            <p:cNvSpPr>
              <a:spLocks noChangeArrowheads="1"/>
            </p:cNvSpPr>
            <p:nvPr/>
          </p:nvSpPr>
          <p:spPr bwMode="auto">
            <a:xfrm>
              <a:off x="1440" y="201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74" name="Rectangle 68"/>
            <p:cNvSpPr>
              <a:spLocks noChangeArrowheads="1"/>
            </p:cNvSpPr>
            <p:nvPr/>
          </p:nvSpPr>
          <p:spPr bwMode="auto">
            <a:xfrm>
              <a:off x="864" y="201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75" name="Rectangle 69"/>
            <p:cNvSpPr>
              <a:spLocks noChangeArrowheads="1"/>
            </p:cNvSpPr>
            <p:nvPr/>
          </p:nvSpPr>
          <p:spPr bwMode="auto">
            <a:xfrm>
              <a:off x="1056" y="2016"/>
              <a:ext cx="192" cy="24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76" name="Oval 70"/>
            <p:cNvSpPr>
              <a:spLocks noChangeArrowheads="1"/>
            </p:cNvSpPr>
            <p:nvPr/>
          </p:nvSpPr>
          <p:spPr bwMode="auto">
            <a:xfrm>
              <a:off x="720" y="1152"/>
              <a:ext cx="96" cy="96"/>
            </a:xfrm>
            <a:prstGeom prst="ellipse">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2777" name="Oval 71"/>
            <p:cNvSpPr>
              <a:spLocks noChangeArrowheads="1"/>
            </p:cNvSpPr>
            <p:nvPr/>
          </p:nvSpPr>
          <p:spPr bwMode="auto">
            <a:xfrm>
              <a:off x="2256" y="2352"/>
              <a:ext cx="96" cy="96"/>
            </a:xfrm>
            <a:prstGeom prst="ellipse">
              <a:avLst/>
            </a:prstGeom>
            <a:solidFill>
              <a:srgbClr val="FFFF00"/>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267" name="Line 72"/>
            <p:cNvSpPr>
              <a:spLocks noChangeShapeType="1"/>
            </p:cNvSpPr>
            <p:nvPr/>
          </p:nvSpPr>
          <p:spPr bwMode="auto">
            <a:xfrm>
              <a:off x="2352" y="2400"/>
              <a:ext cx="336"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68" name="Text Box 73"/>
            <p:cNvSpPr txBox="1">
              <a:spLocks noChangeArrowheads="1"/>
            </p:cNvSpPr>
            <p:nvPr/>
          </p:nvSpPr>
          <p:spPr bwMode="auto">
            <a:xfrm>
              <a:off x="2640" y="2640"/>
              <a:ext cx="480"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zh-CN" altLang="en-US" sz="675"/>
                <a:t>出口</a:t>
              </a:r>
            </a:p>
          </p:txBody>
        </p:sp>
        <p:sp>
          <p:nvSpPr>
            <p:cNvPr id="269" name="Text Box 75"/>
            <p:cNvSpPr txBox="1">
              <a:spLocks noChangeArrowheads="1"/>
            </p:cNvSpPr>
            <p:nvPr/>
          </p:nvSpPr>
          <p:spPr bwMode="auto">
            <a:xfrm>
              <a:off x="117" y="494"/>
              <a:ext cx="480"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zh-CN" altLang="en-US" sz="675" dirty="0"/>
                <a:t>入口</a:t>
              </a:r>
            </a:p>
          </p:txBody>
        </p:sp>
        <p:sp>
          <p:nvSpPr>
            <p:cNvPr id="270" name="Line 76"/>
            <p:cNvSpPr>
              <a:spLocks noChangeShapeType="1"/>
            </p:cNvSpPr>
            <p:nvPr/>
          </p:nvSpPr>
          <p:spPr bwMode="auto">
            <a:xfrm flipH="1" flipV="1">
              <a:off x="480" y="769"/>
              <a:ext cx="24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grpSp>
      <p:grpSp>
        <p:nvGrpSpPr>
          <p:cNvPr id="271" name="Group 92"/>
          <p:cNvGrpSpPr>
            <a:grpSpLocks/>
          </p:cNvGrpSpPr>
          <p:nvPr/>
        </p:nvGrpSpPr>
        <p:grpSpPr bwMode="auto">
          <a:xfrm>
            <a:off x="6162675" y="2463800"/>
            <a:ext cx="1457325" cy="1552575"/>
            <a:chOff x="3168" y="576"/>
            <a:chExt cx="2448" cy="2607"/>
          </a:xfrm>
        </p:grpSpPr>
        <p:sp>
          <p:nvSpPr>
            <p:cNvPr id="72717" name="Text Box 78"/>
            <p:cNvSpPr txBox="1">
              <a:spLocks noChangeArrowheads="1"/>
            </p:cNvSpPr>
            <p:nvPr/>
          </p:nvSpPr>
          <p:spPr bwMode="auto">
            <a:xfrm>
              <a:off x="3168" y="576"/>
              <a:ext cx="2256" cy="2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600">
                  <a:solidFill>
                    <a:schemeClr val="accent2"/>
                  </a:solidFill>
                  <a:latin typeface="Times New Roman" panose="02020603050405020304" pitchFamily="18" charset="0"/>
                  <a:ea typeface="宋体" panose="02010600030101010101" pitchFamily="2" charset="-122"/>
                </a:rPr>
                <a:t>0    1    2    3    4    5   6   7   8   9   10</a:t>
              </a:r>
            </a:p>
            <a:p>
              <a:pPr eaLnBrk="1" hangingPunct="1">
                <a:lnSpc>
                  <a:spcPct val="100000"/>
                </a:lnSpc>
                <a:spcBef>
                  <a:spcPct val="50000"/>
                </a:spcBef>
                <a:buFontTx/>
                <a:buNone/>
              </a:pPr>
              <a:r>
                <a:rPr kumimoji="1" lang="en-US" altLang="zh-CN" sz="600">
                  <a:latin typeface="Times New Roman" panose="02020603050405020304" pitchFamily="18" charset="0"/>
                  <a:ea typeface="宋体" panose="02010600030101010101" pitchFamily="2" charset="-122"/>
                </a:rPr>
                <a:t>1    1    1    1    1    1    1   1   1   1    1</a:t>
              </a:r>
            </a:p>
            <a:p>
              <a:pPr eaLnBrk="1" hangingPunct="1">
                <a:lnSpc>
                  <a:spcPct val="100000"/>
                </a:lnSpc>
                <a:spcBef>
                  <a:spcPct val="50000"/>
                </a:spcBef>
                <a:buFontTx/>
                <a:buNone/>
              </a:pPr>
              <a:r>
                <a:rPr kumimoji="1" lang="en-US" altLang="zh-CN" sz="600">
                  <a:latin typeface="Times New Roman" panose="02020603050405020304" pitchFamily="18" charset="0"/>
                  <a:ea typeface="宋体" panose="02010600030101010101" pitchFamily="2" charset="-122"/>
                </a:rPr>
                <a:t>1    0    1    0    0    1    1   1   0   0    1</a:t>
              </a:r>
            </a:p>
            <a:p>
              <a:pPr eaLnBrk="1" hangingPunct="1">
                <a:lnSpc>
                  <a:spcPct val="100000"/>
                </a:lnSpc>
                <a:spcBef>
                  <a:spcPct val="50000"/>
                </a:spcBef>
                <a:buFontTx/>
                <a:buNone/>
              </a:pPr>
              <a:r>
                <a:rPr kumimoji="1" lang="en-US" altLang="zh-CN" sz="600">
                  <a:latin typeface="Times New Roman" panose="02020603050405020304" pitchFamily="18" charset="0"/>
                  <a:ea typeface="宋体" panose="02010600030101010101" pitchFamily="2" charset="-122"/>
                </a:rPr>
                <a:t>1    0    0    0    0    0    1   0   0   1    1</a:t>
              </a:r>
            </a:p>
            <a:p>
              <a:pPr eaLnBrk="1" hangingPunct="1">
                <a:lnSpc>
                  <a:spcPct val="100000"/>
                </a:lnSpc>
                <a:spcBef>
                  <a:spcPct val="50000"/>
                </a:spcBef>
                <a:buFontTx/>
                <a:buNone/>
              </a:pPr>
              <a:r>
                <a:rPr kumimoji="1" lang="en-US" altLang="zh-CN" sz="600">
                  <a:latin typeface="Times New Roman" panose="02020603050405020304" pitchFamily="18" charset="0"/>
                  <a:ea typeface="宋体" panose="02010600030101010101" pitchFamily="2" charset="-122"/>
                </a:rPr>
                <a:t>1    0    1    1    1    0    0   0   1    1   1</a:t>
              </a:r>
            </a:p>
            <a:p>
              <a:pPr eaLnBrk="1" hangingPunct="1">
                <a:lnSpc>
                  <a:spcPct val="100000"/>
                </a:lnSpc>
                <a:spcBef>
                  <a:spcPct val="50000"/>
                </a:spcBef>
                <a:buFontTx/>
                <a:buNone/>
              </a:pPr>
              <a:r>
                <a:rPr kumimoji="1" lang="en-US" altLang="zh-CN" sz="600">
                  <a:latin typeface="Times New Roman" panose="02020603050405020304" pitchFamily="18" charset="0"/>
                  <a:ea typeface="宋体" panose="02010600030101010101" pitchFamily="2" charset="-122"/>
                </a:rPr>
                <a:t>1    0    0    0    1    0    1    1   0   1   1</a:t>
              </a:r>
            </a:p>
            <a:p>
              <a:pPr eaLnBrk="1" hangingPunct="1">
                <a:lnSpc>
                  <a:spcPct val="100000"/>
                </a:lnSpc>
                <a:spcBef>
                  <a:spcPct val="50000"/>
                </a:spcBef>
                <a:buFontTx/>
                <a:buNone/>
              </a:pPr>
              <a:r>
                <a:rPr kumimoji="1" lang="en-US" altLang="zh-CN" sz="600">
                  <a:latin typeface="Times New Roman" panose="02020603050405020304" pitchFamily="18" charset="0"/>
                  <a:ea typeface="宋体" panose="02010600030101010101" pitchFamily="2" charset="-122"/>
                </a:rPr>
                <a:t>1    1    0    0    1    0    1   1    0   0   1</a:t>
              </a:r>
            </a:p>
            <a:p>
              <a:pPr eaLnBrk="1" hangingPunct="1">
                <a:lnSpc>
                  <a:spcPct val="100000"/>
                </a:lnSpc>
                <a:spcBef>
                  <a:spcPct val="50000"/>
                </a:spcBef>
                <a:buFontTx/>
                <a:buNone/>
              </a:pPr>
              <a:r>
                <a:rPr kumimoji="1" lang="en-US" altLang="zh-CN" sz="600">
                  <a:latin typeface="Times New Roman" panose="02020603050405020304" pitchFamily="18" charset="0"/>
                  <a:ea typeface="宋体" panose="02010600030101010101" pitchFamily="2" charset="-122"/>
                </a:rPr>
                <a:t>1    1    1    0    0    0    0   0    0   0   1</a:t>
              </a:r>
            </a:p>
            <a:p>
              <a:pPr eaLnBrk="1" hangingPunct="1">
                <a:lnSpc>
                  <a:spcPct val="100000"/>
                </a:lnSpc>
                <a:spcBef>
                  <a:spcPct val="50000"/>
                </a:spcBef>
                <a:buFontTx/>
                <a:buNone/>
              </a:pPr>
              <a:r>
                <a:rPr kumimoji="1" lang="en-US" altLang="zh-CN" sz="600">
                  <a:latin typeface="Times New Roman" panose="02020603050405020304" pitchFamily="18" charset="0"/>
                  <a:ea typeface="宋体" panose="02010600030101010101" pitchFamily="2" charset="-122"/>
                </a:rPr>
                <a:t>1    1    1    1    1    1    1    1   1   1   1</a:t>
              </a:r>
            </a:p>
          </p:txBody>
        </p:sp>
        <p:sp>
          <p:nvSpPr>
            <p:cNvPr id="273" name="Line 80"/>
            <p:cNvSpPr>
              <a:spLocks noChangeShapeType="1"/>
            </p:cNvSpPr>
            <p:nvPr/>
          </p:nvSpPr>
          <p:spPr bwMode="auto">
            <a:xfrm>
              <a:off x="3661" y="1165"/>
              <a:ext cx="0" cy="381"/>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74" name="Line 81"/>
            <p:cNvSpPr>
              <a:spLocks noChangeShapeType="1"/>
            </p:cNvSpPr>
            <p:nvPr/>
          </p:nvSpPr>
          <p:spPr bwMode="auto">
            <a:xfrm>
              <a:off x="3661" y="1514"/>
              <a:ext cx="563"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75" name="Line 82"/>
            <p:cNvSpPr>
              <a:spLocks noChangeShapeType="1"/>
            </p:cNvSpPr>
            <p:nvPr/>
          </p:nvSpPr>
          <p:spPr bwMode="auto">
            <a:xfrm>
              <a:off x="4224" y="1514"/>
              <a:ext cx="0" cy="898"/>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76" name="Line 83"/>
            <p:cNvSpPr>
              <a:spLocks noChangeShapeType="1"/>
            </p:cNvSpPr>
            <p:nvPr/>
          </p:nvSpPr>
          <p:spPr bwMode="auto">
            <a:xfrm flipV="1">
              <a:off x="4224" y="2413"/>
              <a:ext cx="768" cy="13"/>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77" name="Text Box 84"/>
            <p:cNvSpPr txBox="1">
              <a:spLocks noChangeArrowheads="1"/>
            </p:cNvSpPr>
            <p:nvPr/>
          </p:nvSpPr>
          <p:spPr bwMode="auto">
            <a:xfrm>
              <a:off x="3168" y="2639"/>
              <a:ext cx="2448"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zh-CN" altLang="en-US" sz="750" dirty="0"/>
                <a:t>迷宫的二维数组表示</a:t>
              </a:r>
              <a:r>
                <a:rPr lang="en-US" altLang="zh-CN" sz="750" dirty="0"/>
                <a:t>maze[m][n]</a:t>
              </a:r>
            </a:p>
          </p:txBody>
        </p:sp>
      </p:grpSp>
      <p:grpSp>
        <p:nvGrpSpPr>
          <p:cNvPr id="72711" name="Group 91"/>
          <p:cNvGrpSpPr>
            <a:grpSpLocks/>
          </p:cNvGrpSpPr>
          <p:nvPr/>
        </p:nvGrpSpPr>
        <p:grpSpPr bwMode="auto">
          <a:xfrm>
            <a:off x="8350250" y="2728913"/>
            <a:ext cx="625475" cy="430212"/>
            <a:chOff x="4800" y="3216"/>
            <a:chExt cx="624" cy="528"/>
          </a:xfrm>
        </p:grpSpPr>
        <p:sp>
          <p:nvSpPr>
            <p:cNvPr id="279" name="Text Box 86"/>
            <p:cNvSpPr txBox="1">
              <a:spLocks noChangeArrowheads="1"/>
            </p:cNvSpPr>
            <p:nvPr/>
          </p:nvSpPr>
          <p:spPr bwMode="auto">
            <a:xfrm>
              <a:off x="4944" y="3360"/>
              <a:ext cx="432"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750" b="1" dirty="0"/>
                <a:t>(</a:t>
              </a:r>
              <a:r>
                <a:rPr lang="en-US" altLang="zh-CN" sz="750" b="1" dirty="0" err="1"/>
                <a:t>i,j</a:t>
              </a:r>
              <a:r>
                <a:rPr lang="en-US" altLang="zh-CN" sz="750" b="1" dirty="0"/>
                <a:t>)</a:t>
              </a:r>
            </a:p>
          </p:txBody>
        </p:sp>
        <p:sp>
          <p:nvSpPr>
            <p:cNvPr id="280" name="Line 87"/>
            <p:cNvSpPr>
              <a:spLocks noChangeShapeType="1"/>
            </p:cNvSpPr>
            <p:nvPr/>
          </p:nvSpPr>
          <p:spPr bwMode="auto">
            <a:xfrm flipV="1">
              <a:off x="5088" y="3216"/>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81" name="Line 88"/>
            <p:cNvSpPr>
              <a:spLocks noChangeShapeType="1"/>
            </p:cNvSpPr>
            <p:nvPr/>
          </p:nvSpPr>
          <p:spPr bwMode="auto">
            <a:xfrm>
              <a:off x="5280" y="3504"/>
              <a:ext cx="1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82" name="Line 89"/>
            <p:cNvSpPr>
              <a:spLocks noChangeShapeType="1"/>
            </p:cNvSpPr>
            <p:nvPr/>
          </p:nvSpPr>
          <p:spPr bwMode="auto">
            <a:xfrm flipH="1">
              <a:off x="4800" y="3504"/>
              <a:ext cx="1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83" name="Line 90"/>
            <p:cNvSpPr>
              <a:spLocks noChangeShapeType="1"/>
            </p:cNvSpPr>
            <p:nvPr/>
          </p:nvSpPr>
          <p:spPr bwMode="auto">
            <a:xfrm>
              <a:off x="5088" y="3600"/>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sz="638"/>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71"/>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527050" y="333375"/>
            <a:ext cx="10321925" cy="863600"/>
          </a:xfrm>
        </p:spPr>
        <p:txBody>
          <a:bodyPr/>
          <a:lstStyle/>
          <a:p>
            <a:pPr eaLnBrk="1" hangingPunct="1"/>
            <a:r>
              <a:rPr lang="zh-CN" altLang="en-US" smtClean="0"/>
              <a:t>回溯法</a:t>
            </a:r>
          </a:p>
        </p:txBody>
      </p:sp>
      <p:sp>
        <p:nvSpPr>
          <p:cNvPr id="74755" name="Text Box 11"/>
          <p:cNvSpPr txBox="1">
            <a:spLocks noChangeArrowheads="1"/>
          </p:cNvSpPr>
          <p:nvPr/>
        </p:nvSpPr>
        <p:spPr bwMode="auto">
          <a:xfrm>
            <a:off x="1562100" y="1557338"/>
            <a:ext cx="6378575"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MazePath(){//S</a:t>
            </a:r>
            <a:r>
              <a:rPr kumimoji="1" lang="zh-CN" altLang="en-US" sz="1400">
                <a:latin typeface="Times New Roman" panose="02020603050405020304" pitchFamily="18" charset="0"/>
                <a:ea typeface="宋体" panose="02010600030101010101" pitchFamily="2" charset="-122"/>
              </a:rPr>
              <a:t>为堆栈，</a:t>
            </a:r>
            <a:r>
              <a:rPr kumimoji="1" lang="en-US" altLang="zh-CN" sz="1400">
                <a:latin typeface="Times New Roman" panose="02020603050405020304" pitchFamily="18" charset="0"/>
                <a:ea typeface="宋体" panose="02010600030101010101" pitchFamily="2" charset="-122"/>
              </a:rPr>
              <a:t>e</a:t>
            </a:r>
            <a:r>
              <a:rPr kumimoji="1" lang="zh-CN" altLang="en-US" sz="1400">
                <a:latin typeface="Times New Roman" panose="02020603050405020304" pitchFamily="18" charset="0"/>
                <a:ea typeface="宋体" panose="02010600030101010101" pitchFamily="2" charset="-122"/>
              </a:rPr>
              <a:t>为栈元素类型的变量；</a:t>
            </a:r>
            <a:endParaRPr kumimoji="1" lang="en-US" altLang="zh-CN" sz="1400">
              <a:latin typeface="Times New Roman" panose="02020603050405020304" pitchFamily="18" charset="0"/>
              <a:ea typeface="宋体" panose="02010600030101010101" pitchFamily="2" charset="-122"/>
            </a:endParaRP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a:t>
            </a:r>
            <a:r>
              <a:rPr kumimoji="1" lang="zh-CN" altLang="en-US" sz="1400">
                <a:latin typeface="Times New Roman" panose="02020603050405020304" pitchFamily="18" charset="0"/>
                <a:ea typeface="宋体" panose="02010600030101010101" pitchFamily="2" charset="-122"/>
              </a:rPr>
              <a:t>将</a:t>
            </a:r>
            <a:r>
              <a:rPr kumimoji="1" lang="en-US" altLang="zh-CN" sz="1400">
                <a:latin typeface="Times New Roman" panose="02020603050405020304" pitchFamily="18" charset="0"/>
                <a:ea typeface="宋体" panose="02010600030101010101" pitchFamily="2" charset="-122"/>
              </a:rPr>
              <a:t>(</a:t>
            </a:r>
            <a:r>
              <a:rPr kumimoji="1" lang="zh-CN" altLang="en-US" sz="1400">
                <a:latin typeface="Times New Roman" panose="02020603050405020304" pitchFamily="18" charset="0"/>
                <a:ea typeface="宋体" panose="02010600030101010101" pitchFamily="2" charset="-122"/>
              </a:rPr>
              <a:t>入口</a:t>
            </a:r>
            <a:r>
              <a:rPr kumimoji="1" lang="en-US" altLang="zh-CN" sz="1400">
                <a:latin typeface="Times New Roman" panose="02020603050405020304" pitchFamily="18" charset="0"/>
                <a:ea typeface="宋体" panose="02010600030101010101" pitchFamily="2" charset="-122"/>
              </a:rPr>
              <a:t>, </a:t>
            </a:r>
            <a:r>
              <a:rPr kumimoji="1" lang="zh-CN" altLang="en-US" sz="1400">
                <a:latin typeface="Times New Roman" panose="02020603050405020304" pitchFamily="18" charset="0"/>
                <a:ea typeface="宋体" panose="02010600030101010101" pitchFamily="2" charset="-122"/>
              </a:rPr>
              <a:t>初始方向</a:t>
            </a:r>
            <a:r>
              <a:rPr kumimoji="1" lang="en-US" altLang="zh-CN" sz="1400">
                <a:latin typeface="Times New Roman" panose="02020603050405020304" pitchFamily="18" charset="0"/>
                <a:ea typeface="宋体" panose="02010600030101010101" pitchFamily="2" charset="-122"/>
              </a:rPr>
              <a:t>)</a:t>
            </a:r>
            <a:r>
              <a:rPr kumimoji="1" lang="zh-CN" altLang="en-US" sz="1400">
                <a:latin typeface="Times New Roman" panose="02020603050405020304" pitchFamily="18" charset="0"/>
                <a:ea typeface="宋体" panose="02010600030101010101" pitchFamily="2" charset="-122"/>
              </a:rPr>
              <a:t>入栈</a:t>
            </a:r>
            <a:r>
              <a:rPr kumimoji="1" lang="en-US" altLang="zh-CN" sz="1400">
                <a:latin typeface="Times New Roman" panose="02020603050405020304" pitchFamily="18" charset="0"/>
                <a:ea typeface="宋体" panose="02010600030101010101" pitchFamily="2" charset="-122"/>
              </a:rPr>
              <a:t>; </a:t>
            </a:r>
            <a:endParaRPr kumimoji="1" lang="zh-CN" altLang="en-US" sz="1400">
              <a:latin typeface="Times New Roman" panose="02020603050405020304" pitchFamily="18" charset="0"/>
              <a:ea typeface="宋体" panose="02010600030101010101" pitchFamily="2" charset="-122"/>
            </a:endParaRP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while(!StackEmpty(S)){  //</a:t>
            </a:r>
            <a:r>
              <a:rPr kumimoji="1" lang="zh-CN" altLang="en-US" sz="1400">
                <a:latin typeface="Times New Roman" panose="02020603050405020304" pitchFamily="18" charset="0"/>
                <a:ea typeface="宋体" panose="02010600030101010101" pitchFamily="2" charset="-122"/>
              </a:rPr>
              <a:t>栈不空时</a:t>
            </a:r>
            <a:endParaRPr kumimoji="1" lang="en-US" altLang="zh-CN" sz="1400">
              <a:latin typeface="Times New Roman" panose="02020603050405020304" pitchFamily="18" charset="0"/>
              <a:ea typeface="宋体" panose="02010600030101010101" pitchFamily="2" charset="-122"/>
            </a:endParaRP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GetTop(S,e)//</a:t>
            </a:r>
            <a:r>
              <a:rPr kumimoji="1" lang="zh-CN" altLang="en-US" sz="1400">
                <a:latin typeface="Times New Roman" panose="02020603050405020304" pitchFamily="18" charset="0"/>
                <a:ea typeface="宋体" panose="02010600030101010101" pitchFamily="2" charset="-122"/>
              </a:rPr>
              <a:t>访问栈顶元素</a:t>
            </a:r>
            <a:r>
              <a:rPr kumimoji="1" lang="en-US" altLang="zh-CN" sz="1400">
                <a:latin typeface="Times New Roman" panose="02020603050405020304" pitchFamily="18" charset="0"/>
                <a:ea typeface="宋体" panose="02010600030101010101" pitchFamily="2" charset="-122"/>
              </a:rPr>
              <a:t>;</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while(</a:t>
            </a:r>
            <a:r>
              <a:rPr kumimoji="1" lang="zh-CN" altLang="en-US" sz="1400">
                <a:latin typeface="Times New Roman" panose="02020603050405020304" pitchFamily="18" charset="0"/>
                <a:ea typeface="宋体" panose="02010600030101010101" pitchFamily="2" charset="-122"/>
              </a:rPr>
              <a:t>当前位置存在未试探方向</a:t>
            </a:r>
            <a:r>
              <a:rPr kumimoji="1" lang="en-US" altLang="zh-CN" sz="1400">
                <a:latin typeface="Times New Roman" panose="02020603050405020304" pitchFamily="18" charset="0"/>
                <a:ea typeface="宋体" panose="02010600030101010101" pitchFamily="2" charset="-122"/>
              </a:rPr>
              <a:t>){</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a:t>
            </a:r>
            <a:r>
              <a:rPr kumimoji="1" lang="zh-CN" altLang="en-US" sz="1400">
                <a:latin typeface="Times New Roman" panose="02020603050405020304" pitchFamily="18" charset="0"/>
                <a:ea typeface="宋体" panose="02010600030101010101" pitchFamily="2" charset="-122"/>
              </a:rPr>
              <a:t>求下一个位置</a:t>
            </a:r>
            <a:r>
              <a:rPr kumimoji="1" lang="en-US" altLang="zh-CN" sz="1400">
                <a:latin typeface="Times New Roman" panose="02020603050405020304" pitchFamily="18" charset="0"/>
                <a:ea typeface="宋体" panose="02010600030101010101" pitchFamily="2" charset="-122"/>
              </a:rPr>
              <a:t>maze[i][j];    /</a:t>
            </a:r>
            <a:r>
              <a:rPr kumimoji="1" lang="zh-CN" altLang="en-US" sz="1400">
                <a:latin typeface="Times New Roman" panose="02020603050405020304" pitchFamily="18" charset="0"/>
                <a:ea typeface="宋体" panose="02010600030101010101" pitchFamily="2" charset="-122"/>
              </a:rPr>
              <a:t>*根据方向的遍历次序和当前</a:t>
            </a:r>
            <a:endParaRPr kumimoji="1" lang="en-US" altLang="zh-CN" sz="1400">
              <a:latin typeface="Times New Roman" panose="02020603050405020304" pitchFamily="18" charset="0"/>
              <a:ea typeface="宋体" panose="02010600030101010101" pitchFamily="2" charset="-122"/>
            </a:endParaRPr>
          </a:p>
          <a:p>
            <a:pPr eaLnBrk="1" hangingPunct="1">
              <a:lnSpc>
                <a:spcPts val="825"/>
              </a:lnSpc>
              <a:spcBef>
                <a:spcPct val="50000"/>
              </a:spcBef>
              <a:buFont typeface="Wingdings" panose="05000000000000000000" pitchFamily="2" charset="2"/>
              <a:buNone/>
            </a:pPr>
            <a:r>
              <a:rPr kumimoji="1" lang="zh-CN" altLang="en-US" sz="1400">
                <a:latin typeface="Times New Roman" panose="02020603050405020304" pitchFamily="18" charset="0"/>
                <a:ea typeface="宋体" panose="02010600030101010101" pitchFamily="2" charset="-122"/>
              </a:rPr>
              <a:t>                                                                    遍历的方向找到下一个位置*</a:t>
            </a:r>
            <a:r>
              <a:rPr kumimoji="1" lang="en-US" altLang="zh-CN" sz="1400">
                <a:latin typeface="Times New Roman" panose="02020603050405020304" pitchFamily="18" charset="0"/>
                <a:ea typeface="宋体" panose="02010600030101010101" pitchFamily="2" charset="-122"/>
              </a:rPr>
              <a:t>/</a:t>
            </a:r>
            <a:endParaRPr kumimoji="1" lang="zh-CN" altLang="en-US" sz="1400">
              <a:latin typeface="Times New Roman" panose="02020603050405020304" pitchFamily="18" charset="0"/>
              <a:ea typeface="宋体" panose="02010600030101010101" pitchFamily="2" charset="-122"/>
            </a:endParaRPr>
          </a:p>
          <a:p>
            <a:pPr eaLnBrk="1" hangingPunct="1">
              <a:lnSpc>
                <a:spcPts val="825"/>
              </a:lnSpc>
              <a:spcBef>
                <a:spcPct val="50000"/>
              </a:spcBef>
              <a:buFont typeface="Wingdings" panose="05000000000000000000" pitchFamily="2" charset="2"/>
              <a:buNone/>
            </a:pPr>
            <a:r>
              <a:rPr kumimoji="1" lang="zh-CN" altLang="en-US" sz="1400">
                <a:latin typeface="Times New Roman" panose="02020603050405020304" pitchFamily="18" charset="0"/>
                <a:ea typeface="宋体" panose="02010600030101010101" pitchFamily="2" charset="-122"/>
              </a:rPr>
              <a:t>	    </a:t>
            </a:r>
            <a:r>
              <a:rPr kumimoji="1" lang="en-US" altLang="zh-CN" sz="1400">
                <a:latin typeface="Times New Roman" panose="02020603050405020304" pitchFamily="18" charset="0"/>
                <a:ea typeface="宋体" panose="02010600030101010101" pitchFamily="2" charset="-122"/>
              </a:rPr>
              <a:t>if (maze[i][j] </a:t>
            </a:r>
            <a:r>
              <a:rPr kumimoji="1" lang="zh-CN" altLang="en-US" sz="1400">
                <a:latin typeface="Times New Roman" panose="02020603050405020304" pitchFamily="18" charset="0"/>
                <a:ea typeface="宋体" panose="02010600030101010101" pitchFamily="2" charset="-122"/>
              </a:rPr>
              <a:t>是出口位置</a:t>
            </a:r>
            <a:r>
              <a:rPr kumimoji="1" lang="en-US" altLang="zh-CN" sz="1400">
                <a:latin typeface="Times New Roman" panose="02020603050405020304" pitchFamily="18" charset="0"/>
                <a:ea typeface="宋体" panose="02010600030101010101" pitchFamily="2" charset="-122"/>
              </a:rPr>
              <a:t>){</a:t>
            </a:r>
            <a:endParaRPr kumimoji="1" lang="zh-CN" altLang="en-US" sz="1400">
              <a:latin typeface="Times New Roman" panose="02020603050405020304" pitchFamily="18" charset="0"/>
              <a:ea typeface="宋体" panose="02010600030101010101" pitchFamily="2" charset="-122"/>
            </a:endParaRPr>
          </a:p>
          <a:p>
            <a:pPr eaLnBrk="1" hangingPunct="1">
              <a:lnSpc>
                <a:spcPts val="825"/>
              </a:lnSpc>
              <a:spcBef>
                <a:spcPct val="50000"/>
              </a:spcBef>
              <a:buFont typeface="Wingdings" panose="05000000000000000000" pitchFamily="2" charset="2"/>
              <a:buNone/>
            </a:pPr>
            <a:r>
              <a:rPr kumimoji="1" lang="zh-CN" altLang="en-US" sz="1400">
                <a:latin typeface="Times New Roman" panose="02020603050405020304" pitchFamily="18" charset="0"/>
                <a:ea typeface="宋体" panose="02010600030101010101" pitchFamily="2" charset="-122"/>
              </a:rPr>
              <a:t>	            输出路径上的每一个位置</a:t>
            </a:r>
            <a:r>
              <a:rPr kumimoji="1" lang="en-US" altLang="zh-CN" sz="1400">
                <a:latin typeface="Times New Roman" panose="02020603050405020304" pitchFamily="18" charset="0"/>
                <a:ea typeface="宋体" panose="02010600030101010101" pitchFamily="2" charset="-122"/>
              </a:rPr>
              <a:t>;</a:t>
            </a:r>
            <a:r>
              <a:rPr kumimoji="1" lang="zh-CN" altLang="en-US" sz="1400">
                <a:latin typeface="Times New Roman" panose="02020603050405020304" pitchFamily="18" charset="0"/>
                <a:ea typeface="宋体" panose="02010600030101010101" pitchFamily="2" charset="-122"/>
              </a:rPr>
              <a:t>    </a:t>
            </a:r>
            <a:r>
              <a:rPr kumimoji="1" lang="en-US" altLang="zh-CN" sz="1400">
                <a:latin typeface="Times New Roman" panose="02020603050405020304" pitchFamily="18" charset="0"/>
                <a:ea typeface="宋体" panose="02010600030101010101" pitchFamily="2" charset="-122"/>
              </a:rPr>
              <a:t>return;</a:t>
            </a:r>
            <a:r>
              <a:rPr kumimoji="1" lang="zh-CN" altLang="en-US" sz="1400">
                <a:latin typeface="Times New Roman" panose="02020603050405020304" pitchFamily="18" charset="0"/>
                <a:ea typeface="宋体" panose="02010600030101010101" pitchFamily="2" charset="-122"/>
              </a:rPr>
              <a:t>  </a:t>
            </a:r>
            <a:r>
              <a:rPr kumimoji="1" lang="en-US" altLang="zh-CN" sz="1400">
                <a:latin typeface="Times New Roman" panose="02020603050405020304" pitchFamily="18" charset="0"/>
                <a:ea typeface="宋体" panose="02010600030101010101" pitchFamily="2" charset="-122"/>
              </a:rPr>
              <a:t>}//</a:t>
            </a:r>
            <a:r>
              <a:rPr kumimoji="1" lang="zh-CN" altLang="en-US" sz="1400">
                <a:latin typeface="Times New Roman" panose="02020603050405020304" pitchFamily="18" charset="0"/>
                <a:ea typeface="宋体" panose="02010600030101010101" pitchFamily="2" charset="-122"/>
              </a:rPr>
              <a:t>可以反序后输出</a:t>
            </a:r>
            <a:r>
              <a:rPr kumimoji="1" lang="en-US" altLang="zh-CN" sz="1400">
                <a:latin typeface="Times New Roman" panose="02020603050405020304" pitchFamily="18" charset="0"/>
                <a:ea typeface="宋体" panose="02010600030101010101" pitchFamily="2" charset="-122"/>
              </a:rPr>
              <a:t>;</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if(maze[i][j] == 0){</a:t>
            </a:r>
            <a:r>
              <a:rPr kumimoji="1" lang="zh-CN" altLang="en-US" sz="1400">
                <a:latin typeface="Times New Roman" panose="02020603050405020304" pitchFamily="18" charset="0"/>
                <a:ea typeface="宋体" panose="02010600030101010101" pitchFamily="2" charset="-122"/>
              </a:rPr>
              <a:t>  </a:t>
            </a:r>
            <a:r>
              <a:rPr kumimoji="1" lang="en-US" altLang="zh-CN" sz="1400">
                <a:latin typeface="Times New Roman" panose="02020603050405020304" pitchFamily="18" charset="0"/>
                <a:ea typeface="宋体" panose="02010600030101010101" pitchFamily="2" charset="-122"/>
              </a:rPr>
              <a:t>//</a:t>
            </a:r>
            <a:r>
              <a:rPr kumimoji="1" lang="zh-CN" altLang="en-US" sz="1400">
                <a:latin typeface="Times New Roman" panose="02020603050405020304" pitchFamily="18" charset="0"/>
                <a:ea typeface="宋体" panose="02010600030101010101" pitchFamily="2" charset="-122"/>
              </a:rPr>
              <a:t>可前进</a:t>
            </a:r>
            <a:endParaRPr kumimoji="1" lang="en-US" altLang="zh-CN" sz="1400">
              <a:latin typeface="Times New Roman" panose="02020603050405020304" pitchFamily="18" charset="0"/>
              <a:ea typeface="宋体" panose="02010600030101010101" pitchFamily="2" charset="-122"/>
            </a:endParaRP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a:t>
            </a:r>
            <a:r>
              <a:rPr kumimoji="1" lang="zh-CN" altLang="en-US" sz="1400">
                <a:latin typeface="Times New Roman" panose="02020603050405020304" pitchFamily="18" charset="0"/>
                <a:ea typeface="宋体" panose="02010600030101010101" pitchFamily="2" charset="-122"/>
              </a:rPr>
              <a:t>更改栈顶元素的探索方向</a:t>
            </a:r>
            <a:r>
              <a:rPr kumimoji="1" lang="en-US" altLang="zh-CN" sz="1400">
                <a:latin typeface="Times New Roman" panose="02020603050405020304" pitchFamily="18" charset="0"/>
                <a:ea typeface="宋体" panose="02010600030101010101" pitchFamily="2" charset="-122"/>
              </a:rPr>
              <a:t>;</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a:t>
            </a:r>
            <a:r>
              <a:rPr kumimoji="1" lang="zh-CN" altLang="en-US" sz="1400">
                <a:latin typeface="Times New Roman" panose="02020603050405020304" pitchFamily="18" charset="0"/>
                <a:ea typeface="宋体" panose="02010600030101010101" pitchFamily="2" charset="-122"/>
              </a:rPr>
              <a:t>标记</a:t>
            </a:r>
            <a:r>
              <a:rPr kumimoji="1" lang="en-US" altLang="zh-CN" sz="1400">
                <a:latin typeface="Times New Roman" panose="02020603050405020304" pitchFamily="18" charset="0"/>
                <a:ea typeface="宋体" panose="02010600030101010101" pitchFamily="2" charset="-122"/>
              </a:rPr>
              <a:t>maze[i][j] ;</a:t>
            </a:r>
            <a:r>
              <a:rPr kumimoji="1" lang="zh-CN" altLang="en-US" sz="1400">
                <a:latin typeface="Times New Roman" panose="02020603050405020304" pitchFamily="18" charset="0"/>
                <a:ea typeface="宋体" panose="02010600030101010101" pitchFamily="2" charset="-122"/>
              </a:rPr>
              <a:t> </a:t>
            </a:r>
            <a:endParaRPr kumimoji="1" lang="en-US" altLang="zh-CN" sz="1400">
              <a:latin typeface="Times New Roman" panose="02020603050405020304" pitchFamily="18" charset="0"/>
              <a:ea typeface="宋体" panose="02010600030101010101" pitchFamily="2" charset="-122"/>
            </a:endParaRP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a:t>
            </a:r>
            <a:r>
              <a:rPr kumimoji="1" lang="zh-CN" altLang="en-US" sz="1400">
                <a:latin typeface="Times New Roman" panose="02020603050405020304" pitchFamily="18" charset="0"/>
                <a:ea typeface="宋体" panose="02010600030101010101" pitchFamily="2" charset="-122"/>
              </a:rPr>
              <a:t>将</a:t>
            </a:r>
            <a:r>
              <a:rPr kumimoji="1" lang="en-US" altLang="zh-CN" sz="1400">
                <a:latin typeface="Times New Roman" panose="02020603050405020304" pitchFamily="18" charset="0"/>
                <a:ea typeface="宋体" panose="02010600030101010101" pitchFamily="2" charset="-122"/>
              </a:rPr>
              <a:t>(i, j, </a:t>
            </a:r>
            <a:r>
              <a:rPr kumimoji="1" lang="zh-CN" altLang="en-US" sz="1400">
                <a:latin typeface="Times New Roman" panose="02020603050405020304" pitchFamily="18" charset="0"/>
                <a:ea typeface="宋体" panose="02010600030101010101" pitchFamily="2" charset="-122"/>
              </a:rPr>
              <a:t>初始方向</a:t>
            </a:r>
            <a:r>
              <a:rPr kumimoji="1" lang="en-US" altLang="zh-CN" sz="1400">
                <a:latin typeface="Times New Roman" panose="02020603050405020304" pitchFamily="18" charset="0"/>
                <a:ea typeface="宋体" panose="02010600030101010101" pitchFamily="2" charset="-122"/>
              </a:rPr>
              <a:t>)</a:t>
            </a:r>
            <a:r>
              <a:rPr kumimoji="1" lang="zh-CN" altLang="en-US" sz="1400">
                <a:latin typeface="Times New Roman" panose="02020603050405020304" pitchFamily="18" charset="0"/>
                <a:ea typeface="宋体" panose="02010600030101010101" pitchFamily="2" charset="-122"/>
              </a:rPr>
              <a:t>入栈</a:t>
            </a:r>
            <a:r>
              <a:rPr kumimoji="1" lang="en-US" altLang="zh-CN" sz="1400">
                <a:latin typeface="Times New Roman" panose="02020603050405020304" pitchFamily="18" charset="0"/>
                <a:ea typeface="宋体" panose="02010600030101010101" pitchFamily="2" charset="-122"/>
              </a:rPr>
              <a:t>;</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a:t>
            </a:r>
            <a:r>
              <a:rPr kumimoji="1" lang="zh-CN" altLang="en-US" sz="1400">
                <a:latin typeface="Times New Roman" panose="02020603050405020304" pitchFamily="18" charset="0"/>
                <a:ea typeface="宋体" panose="02010600030101010101" pitchFamily="2" charset="-122"/>
              </a:rPr>
              <a:t>前进到下一位置</a:t>
            </a:r>
            <a:r>
              <a:rPr kumimoji="1" lang="en-US" altLang="zh-CN" sz="1400">
                <a:latin typeface="Times New Roman" panose="02020603050405020304" pitchFamily="18" charset="0"/>
                <a:ea typeface="宋体" panose="02010600030101010101" pitchFamily="2" charset="-122"/>
              </a:rPr>
              <a:t>(i,j);</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Pop(S,e)//</a:t>
            </a:r>
            <a:r>
              <a:rPr kumimoji="1" lang="zh-CN" altLang="en-US" sz="1400">
                <a:latin typeface="Times New Roman" panose="02020603050405020304" pitchFamily="18" charset="0"/>
                <a:ea typeface="宋体" panose="02010600030101010101" pitchFamily="2" charset="-122"/>
              </a:rPr>
              <a:t>栈顶元素出栈</a:t>
            </a:r>
            <a:r>
              <a:rPr kumimoji="1" lang="en-US" altLang="zh-CN" sz="1400">
                <a:latin typeface="Times New Roman" panose="02020603050405020304" pitchFamily="18" charset="0"/>
                <a:ea typeface="宋体" panose="02010600030101010101" pitchFamily="2" charset="-122"/>
              </a:rPr>
              <a:t>;</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        </a:t>
            </a:r>
            <a:r>
              <a:rPr kumimoji="1" lang="zh-CN" altLang="en-US" sz="1400">
                <a:latin typeface="Times New Roman" panose="02020603050405020304" pitchFamily="18" charset="0"/>
                <a:ea typeface="宋体" panose="02010600030101010101" pitchFamily="2" charset="-122"/>
              </a:rPr>
              <a:t>没有找到一条能够到达出口的路径</a:t>
            </a:r>
            <a:r>
              <a:rPr kumimoji="1" lang="en-US" altLang="zh-CN" sz="1400">
                <a:latin typeface="Times New Roman" panose="02020603050405020304" pitchFamily="18" charset="0"/>
                <a:ea typeface="宋体" panose="02010600030101010101" pitchFamily="2" charset="-122"/>
              </a:rPr>
              <a:t>;</a:t>
            </a:r>
          </a:p>
          <a:p>
            <a:pPr eaLnBrk="1" hangingPunct="1">
              <a:lnSpc>
                <a:spcPts val="825"/>
              </a:lnSpc>
              <a:spcBef>
                <a:spcPct val="50000"/>
              </a:spcBef>
              <a:buFont typeface="Wingdings" panose="05000000000000000000" pitchFamily="2" charset="2"/>
              <a:buNone/>
            </a:pPr>
            <a:r>
              <a:rPr kumimoji="1" lang="en-US" altLang="zh-CN" sz="1400">
                <a:latin typeface="Times New Roman" panose="02020603050405020304" pitchFamily="18" charset="0"/>
                <a:ea typeface="宋体" panose="02010600030101010101" pitchFamily="2" charset="-122"/>
              </a:rPr>
              <a:t>}</a:t>
            </a:r>
          </a:p>
        </p:txBody>
      </p:sp>
      <p:grpSp>
        <p:nvGrpSpPr>
          <p:cNvPr id="74756" name="组合 7"/>
          <p:cNvGrpSpPr>
            <a:grpSpLocks/>
          </p:cNvGrpSpPr>
          <p:nvPr/>
        </p:nvGrpSpPr>
        <p:grpSpPr bwMode="auto">
          <a:xfrm>
            <a:off x="8112125" y="2492375"/>
            <a:ext cx="1946275" cy="1338263"/>
            <a:chOff x="5410200" y="609600"/>
            <a:chExt cx="3200400" cy="2057400"/>
          </a:xfrm>
        </p:grpSpPr>
        <p:sp>
          <p:nvSpPr>
            <p:cNvPr id="74757" name="Oval 12"/>
            <p:cNvSpPr>
              <a:spLocks noChangeArrowheads="1"/>
            </p:cNvSpPr>
            <p:nvPr/>
          </p:nvSpPr>
          <p:spPr bwMode="auto">
            <a:xfrm>
              <a:off x="7772400" y="609600"/>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4758" name="Oval 13"/>
            <p:cNvSpPr>
              <a:spLocks noChangeArrowheads="1"/>
            </p:cNvSpPr>
            <p:nvPr/>
          </p:nvSpPr>
          <p:spPr bwMode="auto">
            <a:xfrm>
              <a:off x="6705600" y="1219200"/>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4759" name="Oval 14"/>
            <p:cNvSpPr>
              <a:spLocks noChangeArrowheads="1"/>
            </p:cNvSpPr>
            <p:nvPr/>
          </p:nvSpPr>
          <p:spPr bwMode="auto">
            <a:xfrm>
              <a:off x="7315200" y="1219200"/>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4760" name="Oval 15"/>
            <p:cNvSpPr>
              <a:spLocks noChangeArrowheads="1"/>
            </p:cNvSpPr>
            <p:nvPr/>
          </p:nvSpPr>
          <p:spPr bwMode="auto">
            <a:xfrm>
              <a:off x="7848600" y="1219200"/>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4761" name="Oval 16"/>
            <p:cNvSpPr>
              <a:spLocks noChangeArrowheads="1"/>
            </p:cNvSpPr>
            <p:nvPr/>
          </p:nvSpPr>
          <p:spPr bwMode="auto">
            <a:xfrm>
              <a:off x="8458200" y="1219200"/>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14" name="Line 17"/>
            <p:cNvSpPr>
              <a:spLocks noChangeShapeType="1"/>
            </p:cNvSpPr>
            <p:nvPr/>
          </p:nvSpPr>
          <p:spPr bwMode="auto">
            <a:xfrm flipH="1">
              <a:off x="6780682" y="760915"/>
              <a:ext cx="991967" cy="4588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15" name="Line 18"/>
            <p:cNvSpPr>
              <a:spLocks noChangeShapeType="1"/>
            </p:cNvSpPr>
            <p:nvPr/>
          </p:nvSpPr>
          <p:spPr bwMode="auto">
            <a:xfrm flipH="1">
              <a:off x="7391525" y="760915"/>
              <a:ext cx="381124" cy="4588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16" name="Line 19"/>
            <p:cNvSpPr>
              <a:spLocks noChangeShapeType="1"/>
            </p:cNvSpPr>
            <p:nvPr/>
          </p:nvSpPr>
          <p:spPr bwMode="auto">
            <a:xfrm>
              <a:off x="7848351" y="760915"/>
              <a:ext cx="75704" cy="4588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17" name="Line 20"/>
            <p:cNvSpPr>
              <a:spLocks noChangeShapeType="1"/>
            </p:cNvSpPr>
            <p:nvPr/>
          </p:nvSpPr>
          <p:spPr bwMode="auto">
            <a:xfrm>
              <a:off x="7924055" y="685258"/>
              <a:ext cx="535139" cy="5344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74766" name="Oval 21"/>
            <p:cNvSpPr>
              <a:spLocks noChangeArrowheads="1"/>
            </p:cNvSpPr>
            <p:nvPr/>
          </p:nvSpPr>
          <p:spPr bwMode="auto">
            <a:xfrm>
              <a:off x="5943600" y="1905000"/>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4767" name="Oval 22"/>
            <p:cNvSpPr>
              <a:spLocks noChangeArrowheads="1"/>
            </p:cNvSpPr>
            <p:nvPr/>
          </p:nvSpPr>
          <p:spPr bwMode="auto">
            <a:xfrm>
              <a:off x="6300788" y="1916113"/>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4768" name="Oval 23"/>
            <p:cNvSpPr>
              <a:spLocks noChangeArrowheads="1"/>
            </p:cNvSpPr>
            <p:nvPr/>
          </p:nvSpPr>
          <p:spPr bwMode="auto">
            <a:xfrm>
              <a:off x="7086600" y="1905000"/>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21" name="Line 25"/>
            <p:cNvSpPr>
              <a:spLocks noChangeShapeType="1"/>
            </p:cNvSpPr>
            <p:nvPr/>
          </p:nvSpPr>
          <p:spPr bwMode="auto">
            <a:xfrm flipH="1">
              <a:off x="6096747" y="1295401"/>
              <a:ext cx="608232" cy="6101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2" name="Line 26"/>
            <p:cNvSpPr>
              <a:spLocks noChangeShapeType="1"/>
            </p:cNvSpPr>
            <p:nvPr/>
          </p:nvSpPr>
          <p:spPr bwMode="auto">
            <a:xfrm flipH="1">
              <a:off x="6373453" y="1371057"/>
              <a:ext cx="407229" cy="5442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3" name="Line 27"/>
            <p:cNvSpPr>
              <a:spLocks noChangeShapeType="1"/>
            </p:cNvSpPr>
            <p:nvPr/>
          </p:nvSpPr>
          <p:spPr bwMode="auto">
            <a:xfrm>
              <a:off x="6858995" y="1295401"/>
              <a:ext cx="302811" cy="6101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74772" name="Oval 28"/>
            <p:cNvSpPr>
              <a:spLocks noChangeArrowheads="1"/>
            </p:cNvSpPr>
            <p:nvPr/>
          </p:nvSpPr>
          <p:spPr bwMode="auto">
            <a:xfrm>
              <a:off x="5410200" y="2514600"/>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4773" name="Oval 29"/>
            <p:cNvSpPr>
              <a:spLocks noChangeArrowheads="1"/>
            </p:cNvSpPr>
            <p:nvPr/>
          </p:nvSpPr>
          <p:spPr bwMode="auto">
            <a:xfrm>
              <a:off x="5724525" y="2492375"/>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74774" name="Oval 30"/>
            <p:cNvSpPr>
              <a:spLocks noChangeArrowheads="1"/>
            </p:cNvSpPr>
            <p:nvPr/>
          </p:nvSpPr>
          <p:spPr bwMode="auto">
            <a:xfrm>
              <a:off x="6553200" y="2514600"/>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27" name="Line 31"/>
            <p:cNvSpPr>
              <a:spLocks noChangeShapeType="1"/>
            </p:cNvSpPr>
            <p:nvPr/>
          </p:nvSpPr>
          <p:spPr bwMode="auto">
            <a:xfrm flipH="1">
              <a:off x="5485904" y="1981199"/>
              <a:ext cx="535139" cy="5344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8" name="Line 32"/>
            <p:cNvSpPr>
              <a:spLocks noChangeShapeType="1"/>
            </p:cNvSpPr>
            <p:nvPr/>
          </p:nvSpPr>
          <p:spPr bwMode="auto">
            <a:xfrm flipH="1">
              <a:off x="5867028" y="2056858"/>
              <a:ext cx="154015" cy="4344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29" name="Line 33"/>
            <p:cNvSpPr>
              <a:spLocks noChangeShapeType="1"/>
            </p:cNvSpPr>
            <p:nvPr/>
          </p:nvSpPr>
          <p:spPr bwMode="auto">
            <a:xfrm>
              <a:off x="6096747" y="1981199"/>
              <a:ext cx="456826" cy="5344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74778" name="Oval 35"/>
            <p:cNvSpPr>
              <a:spLocks noChangeArrowheads="1"/>
            </p:cNvSpPr>
            <p:nvPr/>
          </p:nvSpPr>
          <p:spPr bwMode="auto">
            <a:xfrm>
              <a:off x="6732588" y="1916113"/>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31" name="Line 36"/>
            <p:cNvSpPr>
              <a:spLocks noChangeShapeType="1"/>
            </p:cNvSpPr>
            <p:nvPr/>
          </p:nvSpPr>
          <p:spPr bwMode="auto">
            <a:xfrm>
              <a:off x="6804175" y="1341771"/>
              <a:ext cx="0" cy="5735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sp>
          <p:nvSpPr>
            <p:cNvPr id="74780" name="Oval 37"/>
            <p:cNvSpPr>
              <a:spLocks noChangeArrowheads="1"/>
            </p:cNvSpPr>
            <p:nvPr/>
          </p:nvSpPr>
          <p:spPr bwMode="auto">
            <a:xfrm>
              <a:off x="6156325" y="2492375"/>
              <a:ext cx="152400" cy="1524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
          <p:nvSpPr>
            <p:cNvPr id="33" name="Line 38"/>
            <p:cNvSpPr>
              <a:spLocks noChangeShapeType="1"/>
            </p:cNvSpPr>
            <p:nvPr/>
          </p:nvSpPr>
          <p:spPr bwMode="auto">
            <a:xfrm>
              <a:off x="6083694" y="2061739"/>
              <a:ext cx="73092" cy="4295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sz="638"/>
            </a:p>
          </p:txBody>
        </p:sp>
      </p:grpSp>
    </p:spTree>
  </p:cSld>
  <p:clrMapOvr>
    <a:masterClrMapping/>
  </p:clrMapOvr>
  <p:transition spd="slow"/>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527050" y="333375"/>
            <a:ext cx="10321925" cy="863600"/>
          </a:xfrm>
        </p:spPr>
        <p:txBody>
          <a:bodyPr/>
          <a:lstStyle/>
          <a:p>
            <a:pPr eaLnBrk="1" hangingPunct="1"/>
            <a:r>
              <a:rPr lang="zh-CN" altLang="en-US" b="1" smtClean="0">
                <a:solidFill>
                  <a:srgbClr val="993300"/>
                </a:solidFill>
              </a:rPr>
              <a:t>整型数简单表达式求值</a:t>
            </a:r>
          </a:p>
        </p:txBody>
      </p:sp>
      <p:sp>
        <p:nvSpPr>
          <p:cNvPr id="75779" name="Rectangle 3"/>
          <p:cNvSpPr>
            <a:spLocks noGrp="1" noChangeArrowheads="1"/>
          </p:cNvSpPr>
          <p:nvPr>
            <p:ph idx="1"/>
          </p:nvPr>
        </p:nvSpPr>
        <p:spPr>
          <a:xfrm>
            <a:off x="527050" y="1773238"/>
            <a:ext cx="10321925" cy="4351337"/>
          </a:xfrm>
        </p:spPr>
        <p:txBody>
          <a:bodyPr/>
          <a:lstStyle/>
          <a:p>
            <a:pPr eaLnBrk="1" hangingPunct="1">
              <a:lnSpc>
                <a:spcPct val="80000"/>
              </a:lnSpc>
            </a:pPr>
            <a:r>
              <a:rPr lang="zh-CN" altLang="en-US" sz="2000" smtClean="0"/>
              <a:t>表达式：操作数</a:t>
            </a:r>
            <a:r>
              <a:rPr lang="en-US" altLang="zh-CN" sz="2000" smtClean="0"/>
              <a:t>(operand)</a:t>
            </a:r>
            <a:r>
              <a:rPr lang="zh-CN" altLang="en-US" sz="2000" smtClean="0"/>
              <a:t>、运算符</a:t>
            </a:r>
            <a:r>
              <a:rPr lang="en-US" altLang="zh-CN" sz="2000" smtClean="0"/>
              <a:t>(operator)</a:t>
            </a:r>
            <a:r>
              <a:rPr lang="zh-CN" altLang="en-US" sz="2000" smtClean="0"/>
              <a:t>和界限符</a:t>
            </a:r>
            <a:r>
              <a:rPr lang="en-US" altLang="zh-CN" sz="2000" smtClean="0"/>
              <a:t>(delimiter)</a:t>
            </a:r>
            <a:r>
              <a:rPr lang="zh-CN" altLang="en-US" sz="2000" smtClean="0"/>
              <a:t>组成，</a:t>
            </a:r>
          </a:p>
          <a:p>
            <a:pPr eaLnBrk="1" hangingPunct="1">
              <a:lnSpc>
                <a:spcPct val="80000"/>
              </a:lnSpc>
            </a:pPr>
            <a:r>
              <a:rPr lang="zh-CN" altLang="en-US" sz="2000" smtClean="0"/>
              <a:t>其中，操作数可以是常数也可以是被说明为变量或常量的标识符；运算符可以分为算术运算符、关系运算符和逻辑运算符等三类；基本界限符有左右括弧和表达式结束符等。我们仅限于讨论只含二元运算符的算术表达式。可将这种表达式定义为：</a:t>
            </a:r>
            <a:br>
              <a:rPr lang="zh-CN" altLang="en-US" sz="2000" smtClean="0"/>
            </a:br>
            <a:r>
              <a:rPr lang="zh-CN" altLang="en-US" sz="2000" smtClean="0"/>
              <a:t>　　　</a:t>
            </a:r>
            <a:r>
              <a:rPr lang="zh-CN" altLang="en-US" sz="2000" b="1" smtClean="0"/>
              <a:t>表达式</a:t>
            </a:r>
            <a:r>
              <a:rPr lang="en-US" altLang="zh-CN" sz="2000" b="1" smtClean="0"/>
              <a:t>::= </a:t>
            </a:r>
            <a:r>
              <a:rPr lang="zh-CN" altLang="en-US" sz="2000" b="1" smtClean="0"/>
              <a:t>操作数 运算符 操作数 </a:t>
            </a:r>
            <a:br>
              <a:rPr lang="zh-CN" altLang="en-US" sz="2000" b="1" smtClean="0"/>
            </a:br>
            <a:r>
              <a:rPr lang="zh-CN" altLang="en-US" sz="2000" b="1" smtClean="0"/>
              <a:t>　　　操作数</a:t>
            </a:r>
            <a:r>
              <a:rPr lang="en-US" altLang="zh-CN" sz="2000" b="1" smtClean="0"/>
              <a:t>::= </a:t>
            </a:r>
            <a:r>
              <a:rPr lang="zh-CN" altLang="en-US" sz="2000" b="1" smtClean="0"/>
              <a:t>简单变量 </a:t>
            </a:r>
            <a:r>
              <a:rPr lang="en-US" altLang="zh-CN" sz="2000" b="1" smtClean="0"/>
              <a:t>| </a:t>
            </a:r>
            <a:r>
              <a:rPr lang="zh-CN" altLang="en-US" sz="2000" b="1" smtClean="0"/>
              <a:t>表达式</a:t>
            </a:r>
            <a:br>
              <a:rPr lang="zh-CN" altLang="en-US" sz="2000" b="1" smtClean="0"/>
            </a:br>
            <a:r>
              <a:rPr lang="zh-CN" altLang="en-US" sz="2000" b="1" smtClean="0"/>
              <a:t>　　简单变量</a:t>
            </a:r>
            <a:r>
              <a:rPr lang="en-US" altLang="zh-CN" sz="2000" b="1" smtClean="0"/>
              <a:t>::= </a:t>
            </a:r>
            <a:r>
              <a:rPr lang="zh-CN" altLang="en-US" sz="2000" b="1" smtClean="0"/>
              <a:t>标识符 </a:t>
            </a:r>
            <a:r>
              <a:rPr lang="en-US" altLang="zh-CN" sz="2000" b="1" smtClean="0"/>
              <a:t>| </a:t>
            </a:r>
            <a:r>
              <a:rPr lang="zh-CN" altLang="en-US" sz="2000" b="1" smtClean="0"/>
              <a:t>无符号整数</a:t>
            </a:r>
            <a:br>
              <a:rPr lang="zh-CN" altLang="en-US" sz="2000" b="1" smtClean="0"/>
            </a:br>
            <a:r>
              <a:rPr lang="zh-CN" altLang="en-US" sz="2000" smtClean="0"/>
              <a:t/>
            </a:r>
            <a:br>
              <a:rPr lang="zh-CN" altLang="en-US" sz="2000" smtClean="0"/>
            </a:br>
            <a:r>
              <a:rPr lang="zh-CN" altLang="en-US" sz="2000" smtClean="0"/>
              <a:t>　　由于算术运算的规则是（</a:t>
            </a:r>
            <a:r>
              <a:rPr lang="en-US" altLang="zh-CN" sz="2000" smtClean="0"/>
              <a:t>1</a:t>
            </a:r>
            <a:r>
              <a:rPr lang="zh-CN" altLang="en-US" sz="2000" smtClean="0">
                <a:sym typeface="Wingdings" panose="05000000000000000000" pitchFamily="2" charset="2"/>
              </a:rPr>
              <a:t>）</a:t>
            </a:r>
            <a:r>
              <a:rPr lang="zh-CN" altLang="en-US" sz="2000" smtClean="0"/>
              <a:t>先乘除后加减、（</a:t>
            </a:r>
            <a:r>
              <a:rPr lang="en-US" altLang="zh-CN" sz="2000" smtClean="0"/>
              <a:t>2</a:t>
            </a:r>
            <a:r>
              <a:rPr lang="zh-CN" altLang="en-US" sz="2000" smtClean="0"/>
              <a:t>）先左后右和（</a:t>
            </a:r>
            <a:r>
              <a:rPr lang="en-US" altLang="zh-CN" sz="2000" smtClean="0"/>
              <a:t>3</a:t>
            </a:r>
            <a:r>
              <a:rPr lang="zh-CN" altLang="en-US" sz="2000" smtClean="0"/>
              <a:t>）先括弧内后括弧外，则对表达式进行运算不能按其中运算符出现的先后次序进行。那么怎么办？其中一个方法是先将它转换成另一种形式。</a:t>
            </a:r>
          </a:p>
          <a:p>
            <a:pPr eaLnBrk="1" hangingPunct="1">
              <a:lnSpc>
                <a:spcPct val="80000"/>
              </a:lnSpc>
            </a:pPr>
            <a:endParaRPr lang="zh-CN" altLang="en-US" sz="2000" smtClean="0"/>
          </a:p>
          <a:p>
            <a:pPr eaLnBrk="1" hangingPunct="1">
              <a:lnSpc>
                <a:spcPct val="80000"/>
              </a:lnSpc>
            </a:pPr>
            <a:r>
              <a:rPr lang="en-US" altLang="zh-CN" sz="2000" smtClean="0"/>
              <a:t>4+52*</a:t>
            </a:r>
            <a:r>
              <a:rPr lang="zh-CN" altLang="en-US" sz="2000" smtClean="0"/>
              <a:t>（</a:t>
            </a:r>
            <a:r>
              <a:rPr lang="en-US" altLang="zh-CN" sz="2000" smtClean="0"/>
              <a:t>26-19</a:t>
            </a:r>
            <a:r>
              <a:rPr lang="zh-CN" altLang="en-US" sz="2000" smtClean="0"/>
              <a:t>）</a:t>
            </a:r>
            <a:r>
              <a:rPr lang="en-US" altLang="zh-CN" sz="2000" smtClean="0"/>
              <a:t>/5</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527050" y="333375"/>
            <a:ext cx="10321925" cy="863600"/>
          </a:xfrm>
        </p:spPr>
        <p:txBody>
          <a:bodyPr/>
          <a:lstStyle/>
          <a:p>
            <a:pPr eaLnBrk="1" hangingPunct="1"/>
            <a:endParaRPr lang="zh-CN" altLang="en-US" smtClean="0"/>
          </a:p>
        </p:txBody>
      </p:sp>
      <p:graphicFrame>
        <p:nvGraphicFramePr>
          <p:cNvPr id="232547" name="Group 99"/>
          <p:cNvGraphicFramePr>
            <a:graphicFrameLocks noGrp="1"/>
          </p:cNvGraphicFramePr>
          <p:nvPr>
            <p:ph idx="1"/>
          </p:nvPr>
        </p:nvGraphicFramePr>
        <p:xfrm>
          <a:off x="527050" y="1773238"/>
          <a:ext cx="10321928" cy="4267200"/>
        </p:xfrm>
        <a:graphic>
          <a:graphicData uri="http://schemas.openxmlformats.org/drawingml/2006/table">
            <a:tbl>
              <a:tblPr/>
              <a:tblGrid>
                <a:gridCol w="1544193">
                  <a:extLst>
                    <a:ext uri="{9D8B030D-6E8A-4147-A177-3AD203B41FA5}">
                      <a16:colId xmlns:a16="http://schemas.microsoft.com/office/drawing/2014/main" val="3392541051"/>
                    </a:ext>
                  </a:extLst>
                </a:gridCol>
                <a:gridCol w="1036289">
                  <a:extLst>
                    <a:ext uri="{9D8B030D-6E8A-4147-A177-3AD203B41FA5}">
                      <a16:colId xmlns:a16="http://schemas.microsoft.com/office/drawing/2014/main" val="2457383828"/>
                    </a:ext>
                  </a:extLst>
                </a:gridCol>
                <a:gridCol w="1290241">
                  <a:extLst>
                    <a:ext uri="{9D8B030D-6E8A-4147-A177-3AD203B41FA5}">
                      <a16:colId xmlns:a16="http://schemas.microsoft.com/office/drawing/2014/main" val="3795293223"/>
                    </a:ext>
                  </a:extLst>
                </a:gridCol>
                <a:gridCol w="1290241">
                  <a:extLst>
                    <a:ext uri="{9D8B030D-6E8A-4147-A177-3AD203B41FA5}">
                      <a16:colId xmlns:a16="http://schemas.microsoft.com/office/drawing/2014/main" val="3342337629"/>
                    </a:ext>
                  </a:extLst>
                </a:gridCol>
                <a:gridCol w="1290241">
                  <a:extLst>
                    <a:ext uri="{9D8B030D-6E8A-4147-A177-3AD203B41FA5}">
                      <a16:colId xmlns:a16="http://schemas.microsoft.com/office/drawing/2014/main" val="2544076620"/>
                    </a:ext>
                  </a:extLst>
                </a:gridCol>
                <a:gridCol w="1290241">
                  <a:extLst>
                    <a:ext uri="{9D8B030D-6E8A-4147-A177-3AD203B41FA5}">
                      <a16:colId xmlns:a16="http://schemas.microsoft.com/office/drawing/2014/main" val="3154500029"/>
                    </a:ext>
                  </a:extLst>
                </a:gridCol>
                <a:gridCol w="1290241">
                  <a:extLst>
                    <a:ext uri="{9D8B030D-6E8A-4147-A177-3AD203B41FA5}">
                      <a16:colId xmlns:a16="http://schemas.microsoft.com/office/drawing/2014/main" val="799511318"/>
                    </a:ext>
                  </a:extLst>
                </a:gridCol>
                <a:gridCol w="1290241">
                  <a:extLst>
                    <a:ext uri="{9D8B030D-6E8A-4147-A177-3AD203B41FA5}">
                      <a16:colId xmlns:a16="http://schemas.microsoft.com/office/drawing/2014/main" val="3309864587"/>
                    </a:ext>
                  </a:extLst>
                </a:gridCol>
              </a:tblGrid>
              <a:tr h="533400">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r>
                        <a:rPr kumimoji="0" lang="en-US" altLang="zh-CN" sz="2600" b="0"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1     </a:t>
                      </a: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r>
                        <a:rPr kumimoji="0" lang="en-US" altLang="zh-CN" sz="2600" b="0" i="0" u="none" strike="noStrike" cap="none" normalizeH="0" baseline="-2500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2</a:t>
                      </a:r>
                    </a:p>
                  </a:txBody>
                  <a:tcPr marL="117965" marR="1179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9924998"/>
                  </a:ext>
                </a:extLst>
              </a:tr>
              <a:tr h="533400">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2566623"/>
                  </a:ext>
                </a:extLst>
              </a:tr>
              <a:tr h="533400">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3958742"/>
                  </a:ext>
                </a:extLst>
              </a:tr>
              <a:tr h="533400">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50677144"/>
                  </a:ext>
                </a:extLst>
              </a:tr>
              <a:tr h="533400">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48907452"/>
                  </a:ext>
                </a:extLst>
              </a:tr>
              <a:tr h="533400">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endParaRPr kumimoji="0" lang="zh-CN"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endParaRPr>
                    </a:p>
                  </a:txBody>
                  <a:tcPr marL="117965" marR="1179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201165"/>
                  </a:ext>
                </a:extLst>
              </a:tr>
              <a:tr h="533400">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endParaRPr kumimoji="0" lang="zh-CN"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endParaRP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&gt;</a:t>
                      </a:r>
                    </a:p>
                  </a:txBody>
                  <a:tcPr marL="117965" marR="1179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81776345"/>
                  </a:ext>
                </a:extLst>
              </a:tr>
              <a:tr h="533400">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&lt;</a:t>
                      </a: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endParaRPr kumimoji="0" lang="zh-CN"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endParaRPr>
                    </a:p>
                  </a:txBody>
                  <a:tcPr marL="117965" marR="1179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Verdana" panose="020B0604030504040204" pitchFamily="34" charset="0"/>
                          <a:ea typeface="宋体" panose="02010600030101010101" pitchFamily="2" charset="-122"/>
                        </a:defRPr>
                      </a:lvl1pPr>
                      <a:lvl2pPr marL="742950" indent="-285750" eaLnBrk="0" hangingPunct="0">
                        <a:defRPr sz="2200">
                          <a:solidFill>
                            <a:schemeClr val="tx1"/>
                          </a:solidFill>
                          <a:latin typeface="Verdana" panose="020B0604030504040204" pitchFamily="34" charset="0"/>
                          <a:ea typeface="宋体" panose="02010600030101010101" pitchFamily="2" charset="-122"/>
                        </a:defRPr>
                      </a:lvl2pPr>
                      <a:lvl3pPr marL="1143000" indent="-228600" eaLnBrk="0" hangingPunct="0">
                        <a:defRPr sz="2100">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sym typeface="Symbol" panose="05050102010706020507" pitchFamily="18" charset="2"/>
                        </a:rPr>
                        <a:t>=</a:t>
                      </a:r>
                    </a:p>
                  </a:txBody>
                  <a:tcPr marL="117965" marR="1179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62689023"/>
                  </a:ext>
                </a:extLst>
              </a:tr>
            </a:tbl>
          </a:graphicData>
        </a:graphic>
      </p:graphicFrame>
      <p:sp>
        <p:nvSpPr>
          <p:cNvPr id="76886" name="Line 97"/>
          <p:cNvSpPr>
            <a:spLocks noChangeShapeType="1"/>
          </p:cNvSpPr>
          <p:nvPr/>
        </p:nvSpPr>
        <p:spPr bwMode="auto">
          <a:xfrm>
            <a:off x="2063750" y="1773238"/>
            <a:ext cx="1223963" cy="5032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77827" name="Rectangle 3"/>
          <p:cNvSpPr>
            <a:spLocks noGrp="1" noChangeArrowheads="1"/>
          </p:cNvSpPr>
          <p:nvPr>
            <p:ph idx="1"/>
          </p:nvPr>
        </p:nvSpPr>
        <p:spPr>
          <a:xfrm>
            <a:off x="527050" y="1773238"/>
            <a:ext cx="10321925" cy="4351337"/>
          </a:xfrm>
        </p:spPr>
        <p:txBody>
          <a:bodyPr/>
          <a:lstStyle/>
          <a:p>
            <a:pPr eaLnBrk="1" hangingPunct="1"/>
            <a:r>
              <a:rPr lang="zh-CN" altLang="en-US" sz="2600" smtClean="0"/>
              <a:t>任意两个相继出现的算符优先级是下面三种中的一种：</a:t>
            </a:r>
          </a:p>
          <a:p>
            <a:pPr lvl="1" eaLnBrk="1" hangingPunct="1"/>
            <a:r>
              <a:rPr lang="en-US" altLang="zh-CN" sz="2200" smtClean="0"/>
              <a:t>&gt;</a:t>
            </a:r>
          </a:p>
          <a:p>
            <a:pPr lvl="1" eaLnBrk="1" hangingPunct="1"/>
            <a:r>
              <a:rPr lang="en-US" altLang="zh-CN" sz="2200" smtClean="0"/>
              <a:t>=</a:t>
            </a:r>
          </a:p>
          <a:p>
            <a:pPr lvl="1" eaLnBrk="1" hangingPunct="1"/>
            <a:r>
              <a:rPr lang="en-US" altLang="zh-CN" sz="2200" smtClean="0"/>
              <a:t>&lt;</a:t>
            </a:r>
          </a:p>
          <a:p>
            <a:pPr eaLnBrk="1" hangingPunct="1"/>
            <a:r>
              <a:rPr lang="zh-CN" altLang="en-US" sz="2600" smtClean="0"/>
              <a:t>规则</a:t>
            </a:r>
            <a:r>
              <a:rPr lang="en-US" altLang="zh-CN" sz="2600" smtClean="0"/>
              <a:t>3</a:t>
            </a:r>
            <a:r>
              <a:rPr lang="zh-CN" altLang="en-US" sz="2600" smtClean="0"/>
              <a:t>决定了</a:t>
            </a:r>
            <a:r>
              <a:rPr lang="en-US" altLang="zh-CN" sz="2600" smtClean="0"/>
              <a:t>+-*/</a:t>
            </a:r>
            <a:r>
              <a:rPr lang="zh-CN" altLang="en-US" sz="2600" smtClean="0"/>
              <a:t>在（）内部时，它们的优先级均高于</a:t>
            </a:r>
            <a:r>
              <a:rPr lang="zh-CN" altLang="en-US" sz="2600" smtClean="0">
                <a:latin typeface="Arial" panose="020B0604020202020204" pitchFamily="34" charset="0"/>
              </a:rPr>
              <a:t>‘</a:t>
            </a:r>
            <a:r>
              <a:rPr lang="en-US" altLang="zh-CN" sz="2600" smtClean="0"/>
              <a:t>(</a:t>
            </a:r>
            <a:r>
              <a:rPr lang="en-US" altLang="zh-CN" sz="2600" smtClean="0">
                <a:latin typeface="Arial" panose="020B0604020202020204" pitchFamily="34" charset="0"/>
              </a:rPr>
              <a:t>’</a:t>
            </a:r>
            <a:r>
              <a:rPr lang="en-US" altLang="zh-CN" sz="2600" smtClean="0"/>
              <a:t> </a:t>
            </a:r>
            <a:r>
              <a:rPr lang="zh-CN" altLang="en-US" sz="2600" smtClean="0"/>
              <a:t>和</a:t>
            </a:r>
            <a:r>
              <a:rPr lang="zh-CN" altLang="en-US" sz="2600" smtClean="0">
                <a:latin typeface="Arial" panose="020B0604020202020204" pitchFamily="34" charset="0"/>
              </a:rPr>
              <a:t>‘</a:t>
            </a:r>
            <a:r>
              <a:rPr lang="en-US" altLang="zh-CN" sz="2600" smtClean="0"/>
              <a:t>)</a:t>
            </a:r>
            <a:r>
              <a:rPr lang="en-US" altLang="zh-CN" sz="2600" smtClean="0">
                <a:latin typeface="Arial" panose="020B0604020202020204" pitchFamily="34" charset="0"/>
              </a:rPr>
              <a:t>’</a:t>
            </a:r>
            <a:r>
              <a:rPr lang="zh-CN" altLang="en-US" sz="2600" smtClean="0"/>
              <a:t>，若在外部时则低于</a:t>
            </a:r>
            <a:r>
              <a:rPr lang="zh-CN" altLang="en-US" sz="2600" smtClean="0">
                <a:latin typeface="Arial" panose="020B0604020202020204" pitchFamily="34" charset="0"/>
              </a:rPr>
              <a:t>‘</a:t>
            </a:r>
            <a:r>
              <a:rPr lang="en-US" altLang="zh-CN" sz="2600" smtClean="0"/>
              <a:t>(</a:t>
            </a:r>
            <a:r>
              <a:rPr lang="en-US" altLang="zh-CN" sz="2600" smtClean="0">
                <a:latin typeface="Arial" panose="020B0604020202020204" pitchFamily="34" charset="0"/>
              </a:rPr>
              <a:t>’</a:t>
            </a:r>
            <a:r>
              <a:rPr lang="en-US" altLang="zh-CN" sz="2600" smtClean="0"/>
              <a:t> </a:t>
            </a:r>
            <a:r>
              <a:rPr lang="zh-CN" altLang="en-US" sz="2600" smtClean="0"/>
              <a:t>和</a:t>
            </a:r>
            <a:r>
              <a:rPr lang="zh-CN" altLang="en-US" sz="2600" smtClean="0">
                <a:latin typeface="Arial" panose="020B0604020202020204" pitchFamily="34" charset="0"/>
              </a:rPr>
              <a:t>‘</a:t>
            </a:r>
            <a:r>
              <a:rPr lang="en-US" altLang="zh-CN" sz="2600" smtClean="0"/>
              <a:t>)</a:t>
            </a:r>
            <a:r>
              <a:rPr lang="en-US" altLang="zh-CN" sz="2600" smtClean="0">
                <a:latin typeface="Arial" panose="020B0604020202020204" pitchFamily="34" charset="0"/>
              </a:rPr>
              <a:t>’</a:t>
            </a:r>
            <a:r>
              <a:rPr lang="zh-CN" altLang="en-US" sz="2600" smtClean="0"/>
              <a:t>，</a:t>
            </a:r>
          </a:p>
          <a:p>
            <a:pPr eaLnBrk="1" hangingPunct="1"/>
            <a:r>
              <a:rPr lang="zh-CN" altLang="en-US" sz="2600" smtClean="0"/>
              <a:t>规则</a:t>
            </a:r>
            <a:r>
              <a:rPr lang="en-US" altLang="zh-CN" sz="2600" smtClean="0"/>
              <a:t>2</a:t>
            </a:r>
            <a:r>
              <a:rPr lang="zh-CN" altLang="en-US" sz="2600" smtClean="0"/>
              <a:t>决定了两个相等的算符，先出现的优先级高</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86019" name="Rectangle 2051"/>
          <p:cNvSpPr>
            <a:spLocks noGrp="1" noChangeArrowheads="1"/>
          </p:cNvSpPr>
          <p:nvPr>
            <p:ph idx="1"/>
          </p:nvPr>
        </p:nvSpPr>
        <p:spPr>
          <a:xfrm>
            <a:off x="527050" y="1552575"/>
            <a:ext cx="10321925" cy="4351338"/>
          </a:xfrm>
        </p:spPr>
        <p:txBody>
          <a:bodyPr rtlCol="0">
            <a:normAutofit fontScale="92500" lnSpcReduction="20000"/>
          </a:bodyPr>
          <a:lstStyle/>
          <a:p>
            <a:pPr eaLnBrk="1" fontAlgn="auto" hangingPunct="1">
              <a:spcAft>
                <a:spcPts val="0"/>
              </a:spcAft>
              <a:buFont typeface="Wingdings" panose="05000000000000000000" pitchFamily="2" charset="2"/>
              <a:buNone/>
              <a:defRPr/>
            </a:pPr>
            <a:endParaRPr lang="en-US" altLang="zh-CN" sz="2600" dirty="0"/>
          </a:p>
          <a:p>
            <a:pPr eaLnBrk="1" fontAlgn="auto" hangingPunct="1">
              <a:spcAft>
                <a:spcPts val="0"/>
              </a:spcAft>
              <a:buFont typeface="Wingdings" panose="05000000000000000000" pitchFamily="2" charset="2"/>
              <a:buNone/>
              <a:defRPr/>
            </a:pPr>
            <a:r>
              <a:rPr lang="en-US" altLang="zh-CN" sz="2100" b="1" dirty="0">
                <a:solidFill>
                  <a:srgbClr val="FF3300"/>
                </a:solidFill>
              </a:rPr>
              <a:t>[</a:t>
            </a:r>
            <a:r>
              <a:rPr lang="zh-CN" altLang="en-US" sz="2100" b="1" dirty="0">
                <a:solidFill>
                  <a:srgbClr val="FF3300"/>
                </a:solidFill>
              </a:rPr>
              <a:t>前提假设</a:t>
            </a:r>
            <a:r>
              <a:rPr lang="en-US" altLang="zh-CN" sz="2100" b="1" dirty="0">
                <a:solidFill>
                  <a:srgbClr val="FF3300"/>
                </a:solidFill>
              </a:rPr>
              <a:t>]</a:t>
            </a:r>
            <a:r>
              <a:rPr lang="en-US" altLang="zh-CN" sz="2100" dirty="0"/>
              <a:t> </a:t>
            </a:r>
            <a:r>
              <a:rPr lang="zh-CN" altLang="en-US" sz="1900" dirty="0"/>
              <a:t>表达式语法正确；</a:t>
            </a:r>
          </a:p>
          <a:p>
            <a:pPr eaLnBrk="1" fontAlgn="auto" hangingPunct="1">
              <a:spcAft>
                <a:spcPts val="0"/>
              </a:spcAft>
              <a:buFont typeface="Wingdings" panose="05000000000000000000" pitchFamily="2" charset="2"/>
              <a:buNone/>
              <a:defRPr/>
            </a:pPr>
            <a:r>
              <a:rPr lang="zh-CN" altLang="en-US" sz="1900" dirty="0"/>
              <a:t>                        表达式结束符为‘</a:t>
            </a:r>
            <a:r>
              <a:rPr lang="en-US" altLang="zh-CN" sz="1900" dirty="0"/>
              <a:t>#’</a:t>
            </a:r>
            <a:endParaRPr lang="en-US" altLang="zh-CN" sz="2100" dirty="0"/>
          </a:p>
          <a:p>
            <a:pPr eaLnBrk="1" fontAlgn="auto" hangingPunct="1">
              <a:spcAft>
                <a:spcPts val="0"/>
              </a:spcAft>
              <a:buFont typeface="Wingdings" panose="05000000000000000000" pitchFamily="2" charset="2"/>
              <a:buNone/>
              <a:defRPr/>
            </a:pPr>
            <a:r>
              <a:rPr lang="en-US" altLang="zh-CN" sz="2100" b="1" dirty="0">
                <a:solidFill>
                  <a:srgbClr val="FF3300"/>
                </a:solidFill>
              </a:rPr>
              <a:t>[</a:t>
            </a:r>
            <a:r>
              <a:rPr lang="zh-CN" altLang="en-US" sz="2100" b="1" dirty="0">
                <a:solidFill>
                  <a:srgbClr val="FF3300"/>
                </a:solidFill>
              </a:rPr>
              <a:t>算法思想</a:t>
            </a:r>
            <a:r>
              <a:rPr lang="en-US" altLang="zh-CN" sz="2100" b="1" dirty="0">
                <a:solidFill>
                  <a:srgbClr val="FF3300"/>
                </a:solidFill>
              </a:rPr>
              <a:t>]</a:t>
            </a:r>
            <a:endParaRPr lang="en-US" altLang="zh-CN" sz="2100" dirty="0">
              <a:solidFill>
                <a:srgbClr val="FF3300"/>
              </a:solidFill>
            </a:endParaRPr>
          </a:p>
          <a:p>
            <a:pPr eaLnBrk="1" fontAlgn="auto" hangingPunct="1">
              <a:spcAft>
                <a:spcPts val="0"/>
              </a:spcAft>
              <a:buFont typeface="Wingdings" panose="05000000000000000000" pitchFamily="2" charset="2"/>
              <a:buNone/>
              <a:defRPr/>
            </a:pPr>
            <a:r>
              <a:rPr lang="en-US" altLang="zh-CN" sz="2100" dirty="0">
                <a:solidFill>
                  <a:srgbClr val="FF0066"/>
                </a:solidFill>
              </a:rPr>
              <a:t>   </a:t>
            </a:r>
            <a:r>
              <a:rPr lang="en-US" altLang="zh-CN" sz="2600" dirty="0"/>
              <a:t> </a:t>
            </a:r>
            <a:r>
              <a:rPr lang="en-US" altLang="zh-CN" sz="1900" dirty="0">
                <a:solidFill>
                  <a:schemeClr val="accent2"/>
                </a:solidFill>
              </a:rPr>
              <a:t>OPTR</a:t>
            </a:r>
            <a:r>
              <a:rPr lang="zh-CN" altLang="en-US" sz="1900" dirty="0">
                <a:solidFill>
                  <a:schemeClr val="accent2"/>
                </a:solidFill>
              </a:rPr>
              <a:t>栈</a:t>
            </a:r>
            <a:r>
              <a:rPr lang="en-US" altLang="zh-CN" sz="1900" dirty="0">
                <a:latin typeface="Arial" panose="020B0604020202020204" pitchFamily="34" charset="0"/>
              </a:rPr>
              <a:t>—</a:t>
            </a:r>
            <a:r>
              <a:rPr lang="zh-CN" altLang="en-US" sz="1900" dirty="0"/>
              <a:t>寄存运算符  </a:t>
            </a:r>
            <a:r>
              <a:rPr lang="en-US" altLang="zh-CN" sz="1900" dirty="0">
                <a:solidFill>
                  <a:schemeClr val="accent2"/>
                </a:solidFill>
              </a:rPr>
              <a:t>OPND</a:t>
            </a:r>
            <a:r>
              <a:rPr lang="zh-CN" altLang="en-US" sz="1900" dirty="0">
                <a:solidFill>
                  <a:schemeClr val="accent2"/>
                </a:solidFill>
              </a:rPr>
              <a:t>栈</a:t>
            </a:r>
            <a:r>
              <a:rPr lang="en-US" altLang="zh-CN" sz="1900" dirty="0">
                <a:latin typeface="Arial" panose="020B0604020202020204" pitchFamily="34" charset="0"/>
              </a:rPr>
              <a:t>—</a:t>
            </a:r>
            <a:r>
              <a:rPr lang="zh-CN" altLang="en-US" sz="1900" dirty="0"/>
              <a:t>寄存操作数</a:t>
            </a:r>
          </a:p>
          <a:p>
            <a:pPr eaLnBrk="1" fontAlgn="auto" hangingPunct="1">
              <a:spcAft>
                <a:spcPts val="0"/>
              </a:spcAft>
              <a:buFont typeface="Wingdings" panose="05000000000000000000" pitchFamily="2" charset="2"/>
              <a:buNone/>
              <a:defRPr/>
            </a:pPr>
            <a:r>
              <a:rPr lang="zh-CN" altLang="en-US" sz="1900" dirty="0"/>
              <a:t>   </a:t>
            </a:r>
            <a:r>
              <a:rPr lang="en-US" altLang="zh-CN" sz="1900" dirty="0"/>
              <a:t>1)</a:t>
            </a:r>
            <a:r>
              <a:rPr lang="zh-CN" altLang="en-US" sz="1900" dirty="0"/>
              <a:t>放入起始符</a:t>
            </a:r>
            <a:r>
              <a:rPr lang="zh-CN" altLang="en-US" sz="1900" dirty="0">
                <a:latin typeface="Arial" panose="020B0604020202020204" pitchFamily="34" charset="0"/>
              </a:rPr>
              <a:t>‘</a:t>
            </a:r>
            <a:r>
              <a:rPr lang="en-US" altLang="zh-CN" sz="1900" dirty="0"/>
              <a:t>#</a:t>
            </a:r>
            <a:r>
              <a:rPr lang="en-US" altLang="zh-CN" sz="1900" dirty="0">
                <a:latin typeface="Arial" panose="020B0604020202020204" pitchFamily="34" charset="0"/>
              </a:rPr>
              <a:t>’</a:t>
            </a:r>
            <a:r>
              <a:rPr lang="zh-CN" altLang="en-US" sz="1900" dirty="0"/>
              <a:t>作为</a:t>
            </a:r>
            <a:r>
              <a:rPr lang="en-US" altLang="zh-CN" sz="1900" dirty="0"/>
              <a:t>OPTR</a:t>
            </a:r>
            <a:r>
              <a:rPr lang="zh-CN" altLang="en-US" sz="1900" dirty="0"/>
              <a:t>栈底元素</a:t>
            </a:r>
          </a:p>
          <a:p>
            <a:pPr eaLnBrk="1" fontAlgn="auto" hangingPunct="1">
              <a:spcAft>
                <a:spcPts val="0"/>
              </a:spcAft>
              <a:buFont typeface="Wingdings" panose="05000000000000000000" pitchFamily="2" charset="2"/>
              <a:buNone/>
              <a:defRPr/>
            </a:pPr>
            <a:r>
              <a:rPr lang="zh-CN" altLang="en-US" sz="1900" dirty="0"/>
              <a:t>   </a:t>
            </a:r>
            <a:r>
              <a:rPr lang="en-US" altLang="zh-CN" sz="1900" dirty="0"/>
              <a:t>2)</a:t>
            </a:r>
            <a:r>
              <a:rPr lang="zh-CN" altLang="en-US" sz="1900" dirty="0"/>
              <a:t>依次读入表达式字符，</a:t>
            </a:r>
          </a:p>
          <a:p>
            <a:pPr eaLnBrk="1" fontAlgn="auto" hangingPunct="1">
              <a:spcAft>
                <a:spcPts val="0"/>
              </a:spcAft>
              <a:buFont typeface="Wingdings" panose="05000000000000000000" pitchFamily="2" charset="2"/>
              <a:buNone/>
              <a:defRPr/>
            </a:pPr>
            <a:r>
              <a:rPr lang="zh-CN" altLang="en-US" sz="1900" dirty="0"/>
              <a:t>           操作数：进</a:t>
            </a:r>
            <a:r>
              <a:rPr lang="en-US" altLang="zh-CN" sz="1900" dirty="0"/>
              <a:t>OPND</a:t>
            </a:r>
            <a:r>
              <a:rPr lang="zh-CN" altLang="en-US" sz="1900" dirty="0"/>
              <a:t>栈；</a:t>
            </a:r>
          </a:p>
          <a:p>
            <a:pPr eaLnBrk="1" fontAlgn="auto" hangingPunct="1">
              <a:spcAft>
                <a:spcPts val="0"/>
              </a:spcAft>
              <a:buFont typeface="Wingdings" panose="05000000000000000000" pitchFamily="2" charset="2"/>
              <a:buNone/>
              <a:defRPr/>
            </a:pPr>
            <a:r>
              <a:rPr lang="zh-CN" altLang="en-US" sz="1900" dirty="0"/>
              <a:t>           运算符：与</a:t>
            </a:r>
            <a:r>
              <a:rPr lang="en-US" altLang="zh-CN" sz="1900" dirty="0" err="1"/>
              <a:t>OPTR.top</a:t>
            </a:r>
            <a:r>
              <a:rPr lang="zh-CN" altLang="en-US" sz="1900" dirty="0"/>
              <a:t>元素比较优先级后做相应操作；</a:t>
            </a:r>
          </a:p>
          <a:p>
            <a:pPr eaLnBrk="1" fontAlgn="auto" hangingPunct="1">
              <a:spcAft>
                <a:spcPts val="0"/>
              </a:spcAft>
              <a:buFont typeface="Wingdings" panose="05000000000000000000" pitchFamily="2" charset="2"/>
              <a:buNone/>
              <a:defRPr/>
            </a:pPr>
            <a:r>
              <a:rPr lang="zh-CN" altLang="en-US" sz="1900" dirty="0"/>
              <a:t>       直至读入‘</a:t>
            </a:r>
            <a:r>
              <a:rPr lang="en-US" altLang="zh-CN" sz="1900" dirty="0"/>
              <a:t>#’</a:t>
            </a:r>
            <a:r>
              <a:rPr lang="zh-CN" altLang="en-US" sz="1900" dirty="0"/>
              <a:t>且</a:t>
            </a:r>
            <a:r>
              <a:rPr lang="en-US" altLang="zh-CN" sz="1900" dirty="0"/>
              <a:t>OPTR</a:t>
            </a:r>
            <a:r>
              <a:rPr lang="zh-CN" altLang="en-US" sz="1900" dirty="0"/>
              <a:t>栈只剩</a:t>
            </a:r>
            <a:r>
              <a:rPr lang="zh-CN" altLang="en-US" sz="1900" dirty="0">
                <a:latin typeface="Arial" panose="020B0604020202020204" pitchFamily="34" charset="0"/>
              </a:rPr>
              <a:t>‘</a:t>
            </a:r>
            <a:r>
              <a:rPr lang="en-US" altLang="zh-CN" sz="1900" dirty="0"/>
              <a:t>#</a:t>
            </a:r>
            <a:r>
              <a:rPr lang="en-US" altLang="zh-CN" sz="1900" dirty="0">
                <a:latin typeface="Arial" panose="020B0604020202020204" pitchFamily="34" charset="0"/>
              </a:rPr>
              <a:t>’</a:t>
            </a:r>
            <a:endParaRPr lang="en-US" altLang="zh-CN" sz="1900" dirty="0"/>
          </a:p>
          <a:p>
            <a:pPr eaLnBrk="1" fontAlgn="auto" hangingPunct="1">
              <a:spcAft>
                <a:spcPts val="0"/>
              </a:spcAft>
              <a:buFont typeface="Wingdings" panose="05000000000000000000" pitchFamily="2" charset="2"/>
              <a:buNone/>
              <a:defRPr/>
            </a:pPr>
            <a:r>
              <a:rPr lang="en-US" altLang="zh-CN" sz="1900" dirty="0"/>
              <a:t>    3)OPND</a:t>
            </a:r>
            <a:r>
              <a:rPr lang="zh-CN" altLang="zh-CN" sz="1900" dirty="0"/>
              <a:t>栈底所留元素即为所求</a:t>
            </a:r>
            <a:endParaRPr lang="zh-CN" altLang="zh-CN" sz="2100" dirty="0"/>
          </a:p>
          <a:p>
            <a:pPr eaLnBrk="1" fontAlgn="auto" hangingPunct="1">
              <a:spcAft>
                <a:spcPts val="0"/>
              </a:spcAft>
              <a:buFont typeface="Wingdings" panose="05000000000000000000" pitchFamily="2" charset="2"/>
              <a:buNone/>
              <a:defRPr/>
            </a:pPr>
            <a:r>
              <a:rPr lang="zh-CN" altLang="zh-CN" sz="2100" b="1" dirty="0">
                <a:solidFill>
                  <a:srgbClr val="FF3300"/>
                </a:solidFill>
              </a:rPr>
              <a:t>[例]</a:t>
            </a:r>
            <a:r>
              <a:rPr lang="zh-CN" altLang="zh-CN" sz="2600" dirty="0"/>
              <a:t> 5+3*(7-2)+11#</a:t>
            </a:r>
            <a:endParaRPr lang="en-US" altLang="zh-CN" sz="2100" dirty="0"/>
          </a:p>
        </p:txBody>
      </p:sp>
      <p:sp>
        <p:nvSpPr>
          <p:cNvPr id="78852" name="Line 2052"/>
          <p:cNvSpPr>
            <a:spLocks noChangeShapeType="1"/>
          </p:cNvSpPr>
          <p:nvPr/>
        </p:nvSpPr>
        <p:spPr bwMode="auto">
          <a:xfrm>
            <a:off x="7772400" y="49530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3" name="Line 2053"/>
          <p:cNvSpPr>
            <a:spLocks noChangeShapeType="1"/>
          </p:cNvSpPr>
          <p:nvPr/>
        </p:nvSpPr>
        <p:spPr bwMode="auto">
          <a:xfrm>
            <a:off x="7772400" y="60960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4" name="Line 2054"/>
          <p:cNvSpPr>
            <a:spLocks noChangeShapeType="1"/>
          </p:cNvSpPr>
          <p:nvPr/>
        </p:nvSpPr>
        <p:spPr bwMode="auto">
          <a:xfrm>
            <a:off x="8382000" y="49530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5" name="Line 2055"/>
          <p:cNvSpPr>
            <a:spLocks noChangeShapeType="1"/>
          </p:cNvSpPr>
          <p:nvPr/>
        </p:nvSpPr>
        <p:spPr bwMode="auto">
          <a:xfrm>
            <a:off x="8839200" y="50292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6" name="Line 2056"/>
          <p:cNvSpPr>
            <a:spLocks noChangeShapeType="1"/>
          </p:cNvSpPr>
          <p:nvPr/>
        </p:nvSpPr>
        <p:spPr bwMode="auto">
          <a:xfrm>
            <a:off x="8839200" y="6096000"/>
            <a:ext cx="685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7" name="Line 2057"/>
          <p:cNvSpPr>
            <a:spLocks noChangeShapeType="1"/>
          </p:cNvSpPr>
          <p:nvPr/>
        </p:nvSpPr>
        <p:spPr bwMode="auto">
          <a:xfrm>
            <a:off x="9525000" y="50292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8" name="Text Box 2058"/>
          <p:cNvSpPr txBox="1">
            <a:spLocks noChangeArrowheads="1"/>
          </p:cNvSpPr>
          <p:nvPr/>
        </p:nvSpPr>
        <p:spPr bwMode="auto">
          <a:xfrm>
            <a:off x="7696200" y="6019800"/>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OPTR       OPND</a:t>
            </a:r>
          </a:p>
        </p:txBody>
      </p:sp>
      <p:sp>
        <p:nvSpPr>
          <p:cNvPr id="40971" name="Text Box 2059"/>
          <p:cNvSpPr txBox="1">
            <a:spLocks noChangeArrowheads="1"/>
          </p:cNvSpPr>
          <p:nvPr/>
        </p:nvSpPr>
        <p:spPr bwMode="auto">
          <a:xfrm>
            <a:off x="7924800" y="57150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t>
            </a:r>
          </a:p>
        </p:txBody>
      </p:sp>
      <p:sp>
        <p:nvSpPr>
          <p:cNvPr id="40972" name="Text Box 2060"/>
          <p:cNvSpPr txBox="1">
            <a:spLocks noChangeArrowheads="1"/>
          </p:cNvSpPr>
          <p:nvPr/>
        </p:nvSpPr>
        <p:spPr bwMode="auto">
          <a:xfrm>
            <a:off x="8991600" y="5715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5</a:t>
            </a:r>
          </a:p>
        </p:txBody>
      </p:sp>
      <p:sp>
        <p:nvSpPr>
          <p:cNvPr id="40973" name="Text Box 2061"/>
          <p:cNvSpPr txBox="1">
            <a:spLocks noChangeArrowheads="1"/>
          </p:cNvSpPr>
          <p:nvPr/>
        </p:nvSpPr>
        <p:spPr bwMode="auto">
          <a:xfrm>
            <a:off x="8991600" y="5486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3</a:t>
            </a:r>
          </a:p>
        </p:txBody>
      </p:sp>
      <p:sp>
        <p:nvSpPr>
          <p:cNvPr id="40974" name="Text Box 2062"/>
          <p:cNvSpPr txBox="1">
            <a:spLocks noChangeArrowheads="1"/>
          </p:cNvSpPr>
          <p:nvPr/>
        </p:nvSpPr>
        <p:spPr bwMode="auto">
          <a:xfrm>
            <a:off x="7924800" y="49530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t>
            </a:r>
          </a:p>
        </p:txBody>
      </p:sp>
      <p:sp>
        <p:nvSpPr>
          <p:cNvPr id="40975" name="Text Box 2063"/>
          <p:cNvSpPr txBox="1">
            <a:spLocks noChangeArrowheads="1"/>
          </p:cNvSpPr>
          <p:nvPr/>
        </p:nvSpPr>
        <p:spPr bwMode="auto">
          <a:xfrm>
            <a:off x="8915400" y="5257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 7</a:t>
            </a:r>
          </a:p>
        </p:txBody>
      </p:sp>
      <p:sp>
        <p:nvSpPr>
          <p:cNvPr id="40976" name="Text Box 2064"/>
          <p:cNvSpPr txBox="1">
            <a:spLocks noChangeArrowheads="1"/>
          </p:cNvSpPr>
          <p:nvPr/>
        </p:nvSpPr>
        <p:spPr bwMode="auto">
          <a:xfrm>
            <a:off x="7848600" y="46482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 -</a:t>
            </a:r>
          </a:p>
        </p:txBody>
      </p:sp>
      <p:sp>
        <p:nvSpPr>
          <p:cNvPr id="40978" name="Text Box 2066"/>
          <p:cNvSpPr txBox="1">
            <a:spLocks noChangeArrowheads="1"/>
          </p:cNvSpPr>
          <p:nvPr/>
        </p:nvSpPr>
        <p:spPr bwMode="auto">
          <a:xfrm>
            <a:off x="8915400" y="4953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 2</a:t>
            </a:r>
          </a:p>
        </p:txBody>
      </p:sp>
      <p:sp>
        <p:nvSpPr>
          <p:cNvPr id="40979" name="Text Box 2067"/>
          <p:cNvSpPr txBox="1">
            <a:spLocks noChangeArrowheads="1"/>
          </p:cNvSpPr>
          <p:nvPr/>
        </p:nvSpPr>
        <p:spPr bwMode="auto">
          <a:xfrm>
            <a:off x="7924800" y="5486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t>
            </a:r>
          </a:p>
        </p:txBody>
      </p:sp>
      <p:sp>
        <p:nvSpPr>
          <p:cNvPr id="40980" name="Text Box 2068"/>
          <p:cNvSpPr txBox="1">
            <a:spLocks noChangeArrowheads="1"/>
          </p:cNvSpPr>
          <p:nvPr/>
        </p:nvSpPr>
        <p:spPr bwMode="auto">
          <a:xfrm>
            <a:off x="7924800" y="5334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t>
            </a:r>
          </a:p>
        </p:txBody>
      </p:sp>
      <p:sp>
        <p:nvSpPr>
          <p:cNvPr id="40982" name="Rectangle 2070"/>
          <p:cNvSpPr>
            <a:spLocks noChangeArrowheads="1"/>
          </p:cNvSpPr>
          <p:nvPr/>
        </p:nvSpPr>
        <p:spPr bwMode="auto">
          <a:xfrm>
            <a:off x="8991600" y="5029200"/>
            <a:ext cx="381000" cy="533400"/>
          </a:xfrm>
          <a:prstGeom prst="rect">
            <a:avLst/>
          </a:prstGeom>
          <a:solidFill>
            <a:schemeClr val="bg1"/>
          </a:solidFill>
          <a:ln w="9525">
            <a:solidFill>
              <a:schemeClr val="bg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0983" name="Rectangle 2071"/>
          <p:cNvSpPr>
            <a:spLocks noChangeArrowheads="1"/>
          </p:cNvSpPr>
          <p:nvPr/>
        </p:nvSpPr>
        <p:spPr bwMode="auto">
          <a:xfrm>
            <a:off x="7924800" y="4800600"/>
            <a:ext cx="304800" cy="228600"/>
          </a:xfrm>
          <a:prstGeom prst="rect">
            <a:avLst/>
          </a:prstGeom>
          <a:solidFill>
            <a:schemeClr val="bg1"/>
          </a:solidFill>
          <a:ln w="9525">
            <a:solidFill>
              <a:schemeClr val="bg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0984" name="Text Box 2072"/>
          <p:cNvSpPr txBox="1">
            <a:spLocks noChangeArrowheads="1"/>
          </p:cNvSpPr>
          <p:nvPr/>
        </p:nvSpPr>
        <p:spPr bwMode="auto">
          <a:xfrm>
            <a:off x="8991600" y="52578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5</a:t>
            </a:r>
          </a:p>
        </p:txBody>
      </p:sp>
      <p:sp>
        <p:nvSpPr>
          <p:cNvPr id="40985" name="Rectangle 2073"/>
          <p:cNvSpPr>
            <a:spLocks noChangeArrowheads="1"/>
          </p:cNvSpPr>
          <p:nvPr/>
        </p:nvSpPr>
        <p:spPr bwMode="auto">
          <a:xfrm>
            <a:off x="7924800" y="5029200"/>
            <a:ext cx="304800" cy="304800"/>
          </a:xfrm>
          <a:prstGeom prst="rect">
            <a:avLst/>
          </a:prstGeom>
          <a:solidFill>
            <a:schemeClr val="bg1"/>
          </a:solidFill>
          <a:ln w="9525">
            <a:solidFill>
              <a:schemeClr val="bg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0986" name="Rectangle 2074"/>
          <p:cNvSpPr>
            <a:spLocks noChangeArrowheads="1"/>
          </p:cNvSpPr>
          <p:nvPr/>
        </p:nvSpPr>
        <p:spPr bwMode="auto">
          <a:xfrm>
            <a:off x="9067800" y="5334000"/>
            <a:ext cx="304800" cy="457200"/>
          </a:xfrm>
          <a:prstGeom prst="rect">
            <a:avLst/>
          </a:prstGeom>
          <a:solidFill>
            <a:schemeClr val="bg1"/>
          </a:solidFill>
          <a:ln w="9525">
            <a:solidFill>
              <a:schemeClr val="bg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0987" name="Rectangle 2075"/>
          <p:cNvSpPr>
            <a:spLocks noChangeArrowheads="1"/>
          </p:cNvSpPr>
          <p:nvPr/>
        </p:nvSpPr>
        <p:spPr bwMode="auto">
          <a:xfrm>
            <a:off x="7924800" y="5334000"/>
            <a:ext cx="381000" cy="304800"/>
          </a:xfrm>
          <a:prstGeom prst="rect">
            <a:avLst/>
          </a:prstGeom>
          <a:solidFill>
            <a:schemeClr val="bg1"/>
          </a:solidFill>
          <a:ln w="9525">
            <a:solidFill>
              <a:schemeClr val="bg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0988" name="Text Box 2076"/>
          <p:cNvSpPr txBox="1">
            <a:spLocks noChangeArrowheads="1"/>
          </p:cNvSpPr>
          <p:nvPr/>
        </p:nvSpPr>
        <p:spPr bwMode="auto">
          <a:xfrm>
            <a:off x="8915400" y="5486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15</a:t>
            </a:r>
          </a:p>
        </p:txBody>
      </p:sp>
      <p:sp>
        <p:nvSpPr>
          <p:cNvPr id="40989" name="Rectangle 2077"/>
          <p:cNvSpPr>
            <a:spLocks noChangeArrowheads="1"/>
          </p:cNvSpPr>
          <p:nvPr/>
        </p:nvSpPr>
        <p:spPr bwMode="auto">
          <a:xfrm>
            <a:off x="8915400" y="5486400"/>
            <a:ext cx="533400" cy="533400"/>
          </a:xfrm>
          <a:prstGeom prst="rect">
            <a:avLst/>
          </a:prstGeom>
          <a:solidFill>
            <a:schemeClr val="bg1"/>
          </a:solidFill>
          <a:ln w="9525">
            <a:solidFill>
              <a:schemeClr val="bg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0990" name="Rectangle 2078"/>
          <p:cNvSpPr>
            <a:spLocks noChangeArrowheads="1"/>
          </p:cNvSpPr>
          <p:nvPr/>
        </p:nvSpPr>
        <p:spPr bwMode="auto">
          <a:xfrm>
            <a:off x="7924800" y="5562600"/>
            <a:ext cx="381000" cy="228600"/>
          </a:xfrm>
          <a:prstGeom prst="rect">
            <a:avLst/>
          </a:prstGeom>
          <a:solidFill>
            <a:schemeClr val="bg1"/>
          </a:solidFill>
          <a:ln w="9525">
            <a:solidFill>
              <a:schemeClr val="bg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0991" name="Text Box 2079"/>
          <p:cNvSpPr txBox="1">
            <a:spLocks noChangeArrowheads="1"/>
          </p:cNvSpPr>
          <p:nvPr/>
        </p:nvSpPr>
        <p:spPr bwMode="auto">
          <a:xfrm>
            <a:off x="8915400" y="56388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20</a:t>
            </a:r>
          </a:p>
        </p:txBody>
      </p:sp>
      <p:sp>
        <p:nvSpPr>
          <p:cNvPr id="40992" name="Text Box 2080"/>
          <p:cNvSpPr txBox="1">
            <a:spLocks noChangeArrowheads="1"/>
          </p:cNvSpPr>
          <p:nvPr/>
        </p:nvSpPr>
        <p:spPr bwMode="auto">
          <a:xfrm>
            <a:off x="7924800" y="54102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t>
            </a:r>
          </a:p>
        </p:txBody>
      </p:sp>
      <p:sp>
        <p:nvSpPr>
          <p:cNvPr id="40993" name="Text Box 2081"/>
          <p:cNvSpPr txBox="1">
            <a:spLocks noChangeArrowheads="1"/>
          </p:cNvSpPr>
          <p:nvPr/>
        </p:nvSpPr>
        <p:spPr bwMode="auto">
          <a:xfrm>
            <a:off x="8915400" y="5334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11</a:t>
            </a:r>
          </a:p>
        </p:txBody>
      </p:sp>
      <p:sp>
        <p:nvSpPr>
          <p:cNvPr id="40994" name="Rectangle 2082"/>
          <p:cNvSpPr>
            <a:spLocks noChangeArrowheads="1"/>
          </p:cNvSpPr>
          <p:nvPr/>
        </p:nvSpPr>
        <p:spPr bwMode="auto">
          <a:xfrm>
            <a:off x="8915400" y="5410200"/>
            <a:ext cx="457200" cy="609600"/>
          </a:xfrm>
          <a:prstGeom prst="rect">
            <a:avLst/>
          </a:prstGeom>
          <a:solidFill>
            <a:schemeClr val="bg1"/>
          </a:solidFill>
          <a:ln w="9525">
            <a:solidFill>
              <a:schemeClr val="bg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0995" name="Rectangle 2083"/>
          <p:cNvSpPr>
            <a:spLocks noChangeArrowheads="1"/>
          </p:cNvSpPr>
          <p:nvPr/>
        </p:nvSpPr>
        <p:spPr bwMode="auto">
          <a:xfrm>
            <a:off x="7924800" y="5410200"/>
            <a:ext cx="381000" cy="381000"/>
          </a:xfrm>
          <a:prstGeom prst="rect">
            <a:avLst/>
          </a:prstGeom>
          <a:solidFill>
            <a:schemeClr val="bg1"/>
          </a:solidFill>
          <a:ln w="9525">
            <a:solidFill>
              <a:schemeClr val="bg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40996" name="Text Box 2084"/>
          <p:cNvSpPr txBox="1">
            <a:spLocks noChangeArrowheads="1"/>
          </p:cNvSpPr>
          <p:nvPr/>
        </p:nvSpPr>
        <p:spPr bwMode="auto">
          <a:xfrm>
            <a:off x="8915400" y="57150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31</a:t>
            </a:r>
          </a:p>
        </p:txBody>
      </p:sp>
      <p:sp>
        <p:nvSpPr>
          <p:cNvPr id="40997" name="Rectangle 2085"/>
          <p:cNvSpPr>
            <a:spLocks noChangeArrowheads="1"/>
          </p:cNvSpPr>
          <p:nvPr/>
        </p:nvSpPr>
        <p:spPr bwMode="auto">
          <a:xfrm>
            <a:off x="7848600" y="5791200"/>
            <a:ext cx="457200" cy="228600"/>
          </a:xfrm>
          <a:prstGeom prst="rect">
            <a:avLst/>
          </a:prstGeom>
          <a:solidFill>
            <a:schemeClr val="bg1"/>
          </a:solidFill>
          <a:ln w="9525">
            <a:solidFill>
              <a:schemeClr val="bg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71">
                                            <p:txEl>
                                              <p:pRg st="0" end="0"/>
                                            </p:txEl>
                                          </p:spTgt>
                                        </p:tgtEl>
                                        <p:attrNameLst>
                                          <p:attrName>style.visibility</p:attrName>
                                        </p:attrNameLst>
                                      </p:cBhvr>
                                      <p:to>
                                        <p:strVal val="visible"/>
                                      </p:to>
                                    </p:set>
                                    <p:anim calcmode="lin" valueType="num">
                                      <p:cBhvr additive="base">
                                        <p:cTn id="7" dur="500" fill="hold"/>
                                        <p:tgtEl>
                                          <p:spTgt spid="40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97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972">
                                            <p:txEl>
                                              <p:pRg st="0" end="0"/>
                                            </p:txEl>
                                          </p:spTgt>
                                        </p:tgtEl>
                                        <p:attrNameLst>
                                          <p:attrName>style.visibility</p:attrName>
                                        </p:attrNameLst>
                                      </p:cBhvr>
                                      <p:to>
                                        <p:strVal val="visible"/>
                                      </p:to>
                                    </p:set>
                                    <p:anim calcmode="lin" valueType="num">
                                      <p:cBhvr additive="base">
                                        <p:cTn id="13" dur="500" fill="hold"/>
                                        <p:tgtEl>
                                          <p:spTgt spid="40972">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7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979">
                                            <p:txEl>
                                              <p:pRg st="0" end="0"/>
                                            </p:txEl>
                                          </p:spTgt>
                                        </p:tgtEl>
                                        <p:attrNameLst>
                                          <p:attrName>style.visibility</p:attrName>
                                        </p:attrNameLst>
                                      </p:cBhvr>
                                      <p:to>
                                        <p:strVal val="visible"/>
                                      </p:to>
                                    </p:set>
                                    <p:anim calcmode="lin" valueType="num">
                                      <p:cBhvr additive="base">
                                        <p:cTn id="19" dur="500" fill="hold"/>
                                        <p:tgtEl>
                                          <p:spTgt spid="40979">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097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973">
                                            <p:txEl>
                                              <p:pRg st="0" end="0"/>
                                            </p:txEl>
                                          </p:spTgt>
                                        </p:tgtEl>
                                        <p:attrNameLst>
                                          <p:attrName>style.visibility</p:attrName>
                                        </p:attrNameLst>
                                      </p:cBhvr>
                                      <p:to>
                                        <p:strVal val="visible"/>
                                      </p:to>
                                    </p:set>
                                    <p:anim calcmode="lin" valueType="num">
                                      <p:cBhvr additive="base">
                                        <p:cTn id="25" dur="500" fill="hold"/>
                                        <p:tgtEl>
                                          <p:spTgt spid="40973">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097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980">
                                            <p:txEl>
                                              <p:pRg st="0" end="0"/>
                                            </p:txEl>
                                          </p:spTgt>
                                        </p:tgtEl>
                                        <p:attrNameLst>
                                          <p:attrName>style.visibility</p:attrName>
                                        </p:attrNameLst>
                                      </p:cBhvr>
                                      <p:to>
                                        <p:strVal val="visible"/>
                                      </p:to>
                                    </p:set>
                                    <p:anim calcmode="lin" valueType="num">
                                      <p:cBhvr additive="base">
                                        <p:cTn id="31" dur="500" fill="hold"/>
                                        <p:tgtEl>
                                          <p:spTgt spid="40980">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098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0974">
                                            <p:txEl>
                                              <p:pRg st="0" end="0"/>
                                            </p:txEl>
                                          </p:spTgt>
                                        </p:tgtEl>
                                        <p:attrNameLst>
                                          <p:attrName>style.visibility</p:attrName>
                                        </p:attrNameLst>
                                      </p:cBhvr>
                                      <p:to>
                                        <p:strVal val="visible"/>
                                      </p:to>
                                    </p:set>
                                    <p:anim calcmode="lin" valueType="num">
                                      <p:cBhvr additive="base">
                                        <p:cTn id="37" dur="500" fill="hold"/>
                                        <p:tgtEl>
                                          <p:spTgt spid="40974">
                                            <p:txEl>
                                              <p:pRg st="0" end="0"/>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097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0975">
                                            <p:txEl>
                                              <p:pRg st="0" end="0"/>
                                            </p:txEl>
                                          </p:spTgt>
                                        </p:tgtEl>
                                        <p:attrNameLst>
                                          <p:attrName>style.visibility</p:attrName>
                                        </p:attrNameLst>
                                      </p:cBhvr>
                                      <p:to>
                                        <p:strVal val="visible"/>
                                      </p:to>
                                    </p:set>
                                    <p:anim calcmode="lin" valueType="num">
                                      <p:cBhvr additive="base">
                                        <p:cTn id="43" dur="500" fill="hold"/>
                                        <p:tgtEl>
                                          <p:spTgt spid="40975">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097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0976">
                                            <p:txEl>
                                              <p:pRg st="0" end="0"/>
                                            </p:txEl>
                                          </p:spTgt>
                                        </p:tgtEl>
                                        <p:attrNameLst>
                                          <p:attrName>style.visibility</p:attrName>
                                        </p:attrNameLst>
                                      </p:cBhvr>
                                      <p:to>
                                        <p:strVal val="visible"/>
                                      </p:to>
                                    </p:set>
                                    <p:anim calcmode="lin" valueType="num">
                                      <p:cBhvr additive="base">
                                        <p:cTn id="49" dur="500" fill="hold"/>
                                        <p:tgtEl>
                                          <p:spTgt spid="40976">
                                            <p:txEl>
                                              <p:pRg st="0" end="0"/>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097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0978"/>
                                        </p:tgtEl>
                                        <p:attrNameLst>
                                          <p:attrName>style.visibility</p:attrName>
                                        </p:attrNameLst>
                                      </p:cBhvr>
                                      <p:to>
                                        <p:strVal val="visible"/>
                                      </p:to>
                                    </p:set>
                                    <p:animEffect transition="in" filter="wipe(left)">
                                      <p:cBhvr>
                                        <p:cTn id="55" dur="500"/>
                                        <p:tgtEl>
                                          <p:spTgt spid="40978"/>
                                        </p:tgtEl>
                                      </p:cBhvr>
                                    </p:animEffect>
                                  </p:childTnLst>
                                  <p:subTnLst>
                                    <p:audio>
                                      <p:cMediaNode>
                                        <p:cTn display="0" masterRel="sameClick">
                                          <p:stCondLst>
                                            <p:cond evt="begin" delay="0">
                                              <p:tn val="53"/>
                                            </p:cond>
                                          </p:stCondLst>
                                          <p:endCondLst>
                                            <p:cond evt="onStopAudio" delay="0">
                                              <p:tgtEl>
                                                <p:sldTgt/>
                                              </p:tgtEl>
                                            </p:cond>
                                          </p:endCondLst>
                                        </p:cTn>
                                        <p:tgtEl>
                                          <p:sndTgt r:embed="rId2" name="WHOOSH.WAV"/>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40982"/>
                                        </p:tgtEl>
                                        <p:attrNameLst>
                                          <p:attrName>style.visibility</p:attrName>
                                        </p:attrNameLst>
                                      </p:cBhvr>
                                      <p:to>
                                        <p:strVal val="visible"/>
                                      </p:to>
                                    </p:set>
                                    <p:anim calcmode="lin" valueType="num">
                                      <p:cBhvr additive="base">
                                        <p:cTn id="60" dur="500" fill="hold"/>
                                        <p:tgtEl>
                                          <p:spTgt spid="40982"/>
                                        </p:tgtEl>
                                        <p:attrNameLst>
                                          <p:attrName>ppt_x</p:attrName>
                                        </p:attrNameLst>
                                      </p:cBhvr>
                                      <p:tavLst>
                                        <p:tav tm="0">
                                          <p:val>
                                            <p:strVal val="0-#ppt_w/2"/>
                                          </p:val>
                                        </p:tav>
                                        <p:tav tm="100000">
                                          <p:val>
                                            <p:strVal val="#ppt_x"/>
                                          </p:val>
                                        </p:tav>
                                      </p:tavLst>
                                    </p:anim>
                                    <p:anim calcmode="lin" valueType="num">
                                      <p:cBhvr additive="base">
                                        <p:cTn id="61" dur="500" fill="hold"/>
                                        <p:tgtEl>
                                          <p:spTgt spid="4098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8"/>
                                            </p:cond>
                                          </p:stCondLst>
                                          <p:endCondLst>
                                            <p:cond evt="onStopAudio" delay="0">
                                              <p:tgtEl>
                                                <p:sldTgt/>
                                              </p:tgtEl>
                                            </p:cond>
                                          </p:endCondLst>
                                        </p:cTn>
                                        <p:tgtEl>
                                          <p:sndTgt r:embed="rId2" name="WHOOSH.WAV"/>
                                        </p:tgtEl>
                                      </p:cMediaNode>
                                    </p:audio>
                                  </p:sub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40983"/>
                                        </p:tgtEl>
                                        <p:attrNameLst>
                                          <p:attrName>style.visibility</p:attrName>
                                        </p:attrNameLst>
                                      </p:cBhvr>
                                      <p:to>
                                        <p:strVal val="visible"/>
                                      </p:to>
                                    </p:set>
                                    <p:anim calcmode="lin" valueType="num">
                                      <p:cBhvr additive="base">
                                        <p:cTn id="66" dur="500" fill="hold"/>
                                        <p:tgtEl>
                                          <p:spTgt spid="40983"/>
                                        </p:tgtEl>
                                        <p:attrNameLst>
                                          <p:attrName>ppt_x</p:attrName>
                                        </p:attrNameLst>
                                      </p:cBhvr>
                                      <p:tavLst>
                                        <p:tav tm="0">
                                          <p:val>
                                            <p:strVal val="0-#ppt_w/2"/>
                                          </p:val>
                                        </p:tav>
                                        <p:tav tm="100000">
                                          <p:val>
                                            <p:strVal val="#ppt_x"/>
                                          </p:val>
                                        </p:tav>
                                      </p:tavLst>
                                    </p:anim>
                                    <p:anim calcmode="lin" valueType="num">
                                      <p:cBhvr additive="base">
                                        <p:cTn id="67" dur="500" fill="hold"/>
                                        <p:tgtEl>
                                          <p:spTgt spid="4098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4"/>
                                            </p:cond>
                                          </p:stCondLst>
                                          <p:endCondLst>
                                            <p:cond evt="onStopAudio" delay="0">
                                              <p:tgtEl>
                                                <p:sldTgt/>
                                              </p:tgtEl>
                                            </p:cond>
                                          </p:endCondLst>
                                        </p:cTn>
                                        <p:tgtEl>
                                          <p:sndTgt r:embed="rId2" name="WHOOSH.WAV"/>
                                        </p:tgtEl>
                                      </p:cMediaNode>
                                    </p:audio>
                                  </p:sub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8" fill="hold" grpId="0" nodeType="clickEffect">
                                  <p:stCondLst>
                                    <p:cond delay="0"/>
                                  </p:stCondLst>
                                  <p:childTnLst>
                                    <p:set>
                                      <p:cBhvr>
                                        <p:cTn id="71" dur="1" fill="hold">
                                          <p:stCondLst>
                                            <p:cond delay="0"/>
                                          </p:stCondLst>
                                        </p:cTn>
                                        <p:tgtEl>
                                          <p:spTgt spid="40984">
                                            <p:txEl>
                                              <p:pRg st="0" end="0"/>
                                            </p:txEl>
                                          </p:spTgt>
                                        </p:tgtEl>
                                        <p:attrNameLst>
                                          <p:attrName>style.visibility</p:attrName>
                                        </p:attrNameLst>
                                      </p:cBhvr>
                                      <p:to>
                                        <p:strVal val="visible"/>
                                      </p:to>
                                    </p:set>
                                    <p:anim calcmode="lin" valueType="num">
                                      <p:cBhvr additive="base">
                                        <p:cTn id="72" dur="500" fill="hold"/>
                                        <p:tgtEl>
                                          <p:spTgt spid="40984">
                                            <p:txEl>
                                              <p:pRg st="0" end="0"/>
                                            </p:txEl>
                                          </p:spTgt>
                                        </p:tgtEl>
                                        <p:attrNameLst>
                                          <p:attrName>ppt_x</p:attrName>
                                        </p:attrNameLst>
                                      </p:cBhvr>
                                      <p:tavLst>
                                        <p:tav tm="0">
                                          <p:val>
                                            <p:strVal val="0-#ppt_w/2"/>
                                          </p:val>
                                        </p:tav>
                                        <p:tav tm="100000">
                                          <p:val>
                                            <p:strVal val="#ppt_x"/>
                                          </p:val>
                                        </p:tav>
                                      </p:tavLst>
                                    </p:anim>
                                    <p:anim calcmode="lin" valueType="num">
                                      <p:cBhvr additive="base">
                                        <p:cTn id="73" dur="500" fill="hold"/>
                                        <p:tgtEl>
                                          <p:spTgt spid="4098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0"/>
                                            </p:cond>
                                          </p:stCondLst>
                                          <p:endCondLst>
                                            <p:cond evt="onStopAudio" delay="0">
                                              <p:tgtEl>
                                                <p:sldTgt/>
                                              </p:tgtEl>
                                            </p:cond>
                                          </p:endCondLst>
                                        </p:cTn>
                                        <p:tgtEl>
                                          <p:sndTgt r:embed="rId2" name="WHOOSH.WAV"/>
                                        </p:tgtEl>
                                      </p:cMediaNode>
                                    </p:audio>
                                  </p:sub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8" fill="hold" grpId="0" nodeType="clickEffect">
                                  <p:stCondLst>
                                    <p:cond delay="0"/>
                                  </p:stCondLst>
                                  <p:childTnLst>
                                    <p:set>
                                      <p:cBhvr>
                                        <p:cTn id="77" dur="1" fill="hold">
                                          <p:stCondLst>
                                            <p:cond delay="0"/>
                                          </p:stCondLst>
                                        </p:cTn>
                                        <p:tgtEl>
                                          <p:spTgt spid="40985"/>
                                        </p:tgtEl>
                                        <p:attrNameLst>
                                          <p:attrName>style.visibility</p:attrName>
                                        </p:attrNameLst>
                                      </p:cBhvr>
                                      <p:to>
                                        <p:strVal val="visible"/>
                                      </p:to>
                                    </p:set>
                                    <p:anim calcmode="lin" valueType="num">
                                      <p:cBhvr additive="base">
                                        <p:cTn id="78" dur="500" fill="hold"/>
                                        <p:tgtEl>
                                          <p:spTgt spid="40985"/>
                                        </p:tgtEl>
                                        <p:attrNameLst>
                                          <p:attrName>ppt_x</p:attrName>
                                        </p:attrNameLst>
                                      </p:cBhvr>
                                      <p:tavLst>
                                        <p:tav tm="0">
                                          <p:val>
                                            <p:strVal val="0-#ppt_w/2"/>
                                          </p:val>
                                        </p:tav>
                                        <p:tav tm="100000">
                                          <p:val>
                                            <p:strVal val="#ppt_x"/>
                                          </p:val>
                                        </p:tav>
                                      </p:tavLst>
                                    </p:anim>
                                    <p:anim calcmode="lin" valueType="num">
                                      <p:cBhvr additive="base">
                                        <p:cTn id="79" dur="500" fill="hold"/>
                                        <p:tgtEl>
                                          <p:spTgt spid="4098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6"/>
                                            </p:cond>
                                          </p:stCondLst>
                                          <p:endCondLst>
                                            <p:cond evt="onStopAudio" delay="0">
                                              <p:tgtEl>
                                                <p:sldTgt/>
                                              </p:tgtEl>
                                            </p:cond>
                                          </p:endCondLst>
                                        </p:cTn>
                                        <p:tgtEl>
                                          <p:sndTgt r:embed="rId2" name="WHOOSH.WAV"/>
                                        </p:tgtEl>
                                      </p:cMediaNode>
                                    </p:audio>
                                  </p:subTnLst>
                                </p:cTn>
                              </p:par>
                            </p:childTnLst>
                          </p:cTn>
                        </p:par>
                      </p:childTnLst>
                    </p:cTn>
                  </p:par>
                  <p:par>
                    <p:cTn id="80" fill="hold" nodeType="clickPar">
                      <p:stCondLst>
                        <p:cond delay="indefinite"/>
                      </p:stCondLst>
                      <p:childTnLst>
                        <p:par>
                          <p:cTn id="81" fill="hold" nodeType="withGroup">
                            <p:stCondLst>
                              <p:cond delay="0"/>
                            </p:stCondLst>
                            <p:childTnLst>
                              <p:par>
                                <p:cTn id="82" presetID="2" presetClass="entr" presetSubtype="8" fill="hold" grpId="0" nodeType="clickEffect">
                                  <p:stCondLst>
                                    <p:cond delay="0"/>
                                  </p:stCondLst>
                                  <p:childTnLst>
                                    <p:set>
                                      <p:cBhvr>
                                        <p:cTn id="83" dur="1" fill="hold">
                                          <p:stCondLst>
                                            <p:cond delay="0"/>
                                          </p:stCondLst>
                                        </p:cTn>
                                        <p:tgtEl>
                                          <p:spTgt spid="40986"/>
                                        </p:tgtEl>
                                        <p:attrNameLst>
                                          <p:attrName>style.visibility</p:attrName>
                                        </p:attrNameLst>
                                      </p:cBhvr>
                                      <p:to>
                                        <p:strVal val="visible"/>
                                      </p:to>
                                    </p:set>
                                    <p:anim calcmode="lin" valueType="num">
                                      <p:cBhvr additive="base">
                                        <p:cTn id="84" dur="500" fill="hold"/>
                                        <p:tgtEl>
                                          <p:spTgt spid="40986"/>
                                        </p:tgtEl>
                                        <p:attrNameLst>
                                          <p:attrName>ppt_x</p:attrName>
                                        </p:attrNameLst>
                                      </p:cBhvr>
                                      <p:tavLst>
                                        <p:tav tm="0">
                                          <p:val>
                                            <p:strVal val="0-#ppt_w/2"/>
                                          </p:val>
                                        </p:tav>
                                        <p:tav tm="100000">
                                          <p:val>
                                            <p:strVal val="#ppt_x"/>
                                          </p:val>
                                        </p:tav>
                                      </p:tavLst>
                                    </p:anim>
                                    <p:anim calcmode="lin" valueType="num">
                                      <p:cBhvr additive="base">
                                        <p:cTn id="85" dur="500" fill="hold"/>
                                        <p:tgtEl>
                                          <p:spTgt spid="4098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2"/>
                                            </p:cond>
                                          </p:stCondLst>
                                          <p:endCondLst>
                                            <p:cond evt="onStopAudio" delay="0">
                                              <p:tgtEl>
                                                <p:sldTgt/>
                                              </p:tgtEl>
                                            </p:cond>
                                          </p:endCondLst>
                                        </p:cTn>
                                        <p:tgtEl>
                                          <p:sndTgt r:embed="rId2" name="WHOOSH.WAV"/>
                                        </p:tgtEl>
                                      </p:cMediaNode>
                                    </p:audio>
                                  </p:subTnLst>
                                </p:cTn>
                              </p:par>
                            </p:childTnLst>
                          </p:cTn>
                        </p:par>
                      </p:childTnLst>
                    </p:cTn>
                  </p:par>
                  <p:par>
                    <p:cTn id="86" fill="hold" nodeType="clickPar">
                      <p:stCondLst>
                        <p:cond delay="indefinite"/>
                      </p:stCondLst>
                      <p:childTnLst>
                        <p:par>
                          <p:cTn id="87" fill="hold" nodeType="withGroup">
                            <p:stCondLst>
                              <p:cond delay="0"/>
                            </p:stCondLst>
                            <p:childTnLst>
                              <p:par>
                                <p:cTn id="88" presetID="2" presetClass="entr" presetSubtype="8" fill="hold" grpId="0" nodeType="clickEffect">
                                  <p:stCondLst>
                                    <p:cond delay="0"/>
                                  </p:stCondLst>
                                  <p:childTnLst>
                                    <p:set>
                                      <p:cBhvr>
                                        <p:cTn id="89" dur="1" fill="hold">
                                          <p:stCondLst>
                                            <p:cond delay="0"/>
                                          </p:stCondLst>
                                        </p:cTn>
                                        <p:tgtEl>
                                          <p:spTgt spid="40987"/>
                                        </p:tgtEl>
                                        <p:attrNameLst>
                                          <p:attrName>style.visibility</p:attrName>
                                        </p:attrNameLst>
                                      </p:cBhvr>
                                      <p:to>
                                        <p:strVal val="visible"/>
                                      </p:to>
                                    </p:set>
                                    <p:anim calcmode="lin" valueType="num">
                                      <p:cBhvr additive="base">
                                        <p:cTn id="90" dur="500" fill="hold"/>
                                        <p:tgtEl>
                                          <p:spTgt spid="40987"/>
                                        </p:tgtEl>
                                        <p:attrNameLst>
                                          <p:attrName>ppt_x</p:attrName>
                                        </p:attrNameLst>
                                      </p:cBhvr>
                                      <p:tavLst>
                                        <p:tav tm="0">
                                          <p:val>
                                            <p:strVal val="0-#ppt_w/2"/>
                                          </p:val>
                                        </p:tav>
                                        <p:tav tm="100000">
                                          <p:val>
                                            <p:strVal val="#ppt_x"/>
                                          </p:val>
                                        </p:tav>
                                      </p:tavLst>
                                    </p:anim>
                                    <p:anim calcmode="lin" valueType="num">
                                      <p:cBhvr additive="base">
                                        <p:cTn id="91" dur="500" fill="hold"/>
                                        <p:tgtEl>
                                          <p:spTgt spid="4098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8"/>
                                            </p:cond>
                                          </p:stCondLst>
                                          <p:endCondLst>
                                            <p:cond evt="onStopAudio" delay="0">
                                              <p:tgtEl>
                                                <p:sldTgt/>
                                              </p:tgtEl>
                                            </p:cond>
                                          </p:endCondLst>
                                        </p:cTn>
                                        <p:tgtEl>
                                          <p:sndTgt r:embed="rId2" name="WHOOSH.WAV"/>
                                        </p:tgtEl>
                                      </p:cMediaNode>
                                    </p:audio>
                                  </p:subTnLst>
                                </p:cTn>
                              </p:par>
                            </p:childTnLst>
                          </p:cTn>
                        </p:par>
                      </p:childTnLst>
                    </p:cTn>
                  </p:par>
                  <p:par>
                    <p:cTn id="92" fill="hold" nodeType="clickPar">
                      <p:stCondLst>
                        <p:cond delay="indefinite"/>
                      </p:stCondLst>
                      <p:childTnLst>
                        <p:par>
                          <p:cTn id="93" fill="hold" nodeType="withGroup">
                            <p:stCondLst>
                              <p:cond delay="0"/>
                            </p:stCondLst>
                            <p:childTnLst>
                              <p:par>
                                <p:cTn id="94" presetID="2" presetClass="entr" presetSubtype="8" fill="hold" grpId="0" nodeType="clickEffect">
                                  <p:stCondLst>
                                    <p:cond delay="0"/>
                                  </p:stCondLst>
                                  <p:childTnLst>
                                    <p:set>
                                      <p:cBhvr>
                                        <p:cTn id="95" dur="1" fill="hold">
                                          <p:stCondLst>
                                            <p:cond delay="0"/>
                                          </p:stCondLst>
                                        </p:cTn>
                                        <p:tgtEl>
                                          <p:spTgt spid="40988">
                                            <p:txEl>
                                              <p:pRg st="0" end="0"/>
                                            </p:txEl>
                                          </p:spTgt>
                                        </p:tgtEl>
                                        <p:attrNameLst>
                                          <p:attrName>style.visibility</p:attrName>
                                        </p:attrNameLst>
                                      </p:cBhvr>
                                      <p:to>
                                        <p:strVal val="visible"/>
                                      </p:to>
                                    </p:set>
                                    <p:anim calcmode="lin" valueType="num">
                                      <p:cBhvr additive="base">
                                        <p:cTn id="96" dur="500" fill="hold"/>
                                        <p:tgtEl>
                                          <p:spTgt spid="40988">
                                            <p:txEl>
                                              <p:pRg st="0" end="0"/>
                                            </p:txEl>
                                          </p:spTgt>
                                        </p:tgtEl>
                                        <p:attrNameLst>
                                          <p:attrName>ppt_x</p:attrName>
                                        </p:attrNameLst>
                                      </p:cBhvr>
                                      <p:tavLst>
                                        <p:tav tm="0">
                                          <p:val>
                                            <p:strVal val="0-#ppt_w/2"/>
                                          </p:val>
                                        </p:tav>
                                        <p:tav tm="100000">
                                          <p:val>
                                            <p:strVal val="#ppt_x"/>
                                          </p:val>
                                        </p:tav>
                                      </p:tavLst>
                                    </p:anim>
                                    <p:anim calcmode="lin" valueType="num">
                                      <p:cBhvr additive="base">
                                        <p:cTn id="97" dur="500" fill="hold"/>
                                        <p:tgtEl>
                                          <p:spTgt spid="4098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4"/>
                                            </p:cond>
                                          </p:stCondLst>
                                          <p:endCondLst>
                                            <p:cond evt="onStopAudio" delay="0">
                                              <p:tgtEl>
                                                <p:sldTgt/>
                                              </p:tgtEl>
                                            </p:cond>
                                          </p:endCondLst>
                                        </p:cTn>
                                        <p:tgtEl>
                                          <p:sndTgt r:embed="rId2" name="WHOOSH.WAV"/>
                                        </p:tgtEl>
                                      </p:cMediaNode>
                                    </p:audio>
                                  </p:subTnLst>
                                </p:cTn>
                              </p:par>
                            </p:childTnLst>
                          </p:cTn>
                        </p:par>
                      </p:childTnLst>
                    </p:cTn>
                  </p:par>
                  <p:par>
                    <p:cTn id="98" fill="hold" nodeType="clickPar">
                      <p:stCondLst>
                        <p:cond delay="indefinite"/>
                      </p:stCondLst>
                      <p:childTnLst>
                        <p:par>
                          <p:cTn id="99" fill="hold" nodeType="withGroup">
                            <p:stCondLst>
                              <p:cond delay="0"/>
                            </p:stCondLst>
                            <p:childTnLst>
                              <p:par>
                                <p:cTn id="100" presetID="2" presetClass="entr" presetSubtype="8" fill="hold" grpId="0" nodeType="clickEffect">
                                  <p:stCondLst>
                                    <p:cond delay="0"/>
                                  </p:stCondLst>
                                  <p:childTnLst>
                                    <p:set>
                                      <p:cBhvr>
                                        <p:cTn id="101" dur="1" fill="hold">
                                          <p:stCondLst>
                                            <p:cond delay="0"/>
                                          </p:stCondLst>
                                        </p:cTn>
                                        <p:tgtEl>
                                          <p:spTgt spid="40989"/>
                                        </p:tgtEl>
                                        <p:attrNameLst>
                                          <p:attrName>style.visibility</p:attrName>
                                        </p:attrNameLst>
                                      </p:cBhvr>
                                      <p:to>
                                        <p:strVal val="visible"/>
                                      </p:to>
                                    </p:set>
                                    <p:anim calcmode="lin" valueType="num">
                                      <p:cBhvr additive="base">
                                        <p:cTn id="102" dur="500" fill="hold"/>
                                        <p:tgtEl>
                                          <p:spTgt spid="40989"/>
                                        </p:tgtEl>
                                        <p:attrNameLst>
                                          <p:attrName>ppt_x</p:attrName>
                                        </p:attrNameLst>
                                      </p:cBhvr>
                                      <p:tavLst>
                                        <p:tav tm="0">
                                          <p:val>
                                            <p:strVal val="0-#ppt_w/2"/>
                                          </p:val>
                                        </p:tav>
                                        <p:tav tm="100000">
                                          <p:val>
                                            <p:strVal val="#ppt_x"/>
                                          </p:val>
                                        </p:tav>
                                      </p:tavLst>
                                    </p:anim>
                                    <p:anim calcmode="lin" valueType="num">
                                      <p:cBhvr additive="base">
                                        <p:cTn id="103" dur="500" fill="hold"/>
                                        <p:tgtEl>
                                          <p:spTgt spid="4098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0"/>
                                            </p:cond>
                                          </p:stCondLst>
                                          <p:endCondLst>
                                            <p:cond evt="onStopAudio" delay="0">
                                              <p:tgtEl>
                                                <p:sldTgt/>
                                              </p:tgtEl>
                                            </p:cond>
                                          </p:endCondLst>
                                        </p:cTn>
                                        <p:tgtEl>
                                          <p:sndTgt r:embed="rId2" name="WHOOSH.WAV"/>
                                        </p:tgtEl>
                                      </p:cMediaNode>
                                    </p:audio>
                                  </p:subTnLst>
                                </p:cTn>
                              </p:par>
                            </p:childTnLst>
                          </p:cTn>
                        </p:par>
                      </p:childTnLst>
                    </p:cTn>
                  </p:par>
                  <p:par>
                    <p:cTn id="104" fill="hold" nodeType="clickPar">
                      <p:stCondLst>
                        <p:cond delay="indefinite"/>
                      </p:stCondLst>
                      <p:childTnLst>
                        <p:par>
                          <p:cTn id="105" fill="hold" nodeType="withGroup">
                            <p:stCondLst>
                              <p:cond delay="0"/>
                            </p:stCondLst>
                            <p:childTnLst>
                              <p:par>
                                <p:cTn id="106" presetID="2" presetClass="entr" presetSubtype="8" fill="hold" grpId="0" nodeType="clickEffect">
                                  <p:stCondLst>
                                    <p:cond delay="0"/>
                                  </p:stCondLst>
                                  <p:childTnLst>
                                    <p:set>
                                      <p:cBhvr>
                                        <p:cTn id="107" dur="1" fill="hold">
                                          <p:stCondLst>
                                            <p:cond delay="0"/>
                                          </p:stCondLst>
                                        </p:cTn>
                                        <p:tgtEl>
                                          <p:spTgt spid="40990"/>
                                        </p:tgtEl>
                                        <p:attrNameLst>
                                          <p:attrName>style.visibility</p:attrName>
                                        </p:attrNameLst>
                                      </p:cBhvr>
                                      <p:to>
                                        <p:strVal val="visible"/>
                                      </p:to>
                                    </p:set>
                                    <p:anim calcmode="lin" valueType="num">
                                      <p:cBhvr additive="base">
                                        <p:cTn id="108" dur="500" fill="hold"/>
                                        <p:tgtEl>
                                          <p:spTgt spid="40990"/>
                                        </p:tgtEl>
                                        <p:attrNameLst>
                                          <p:attrName>ppt_x</p:attrName>
                                        </p:attrNameLst>
                                      </p:cBhvr>
                                      <p:tavLst>
                                        <p:tav tm="0">
                                          <p:val>
                                            <p:strVal val="0-#ppt_w/2"/>
                                          </p:val>
                                        </p:tav>
                                        <p:tav tm="100000">
                                          <p:val>
                                            <p:strVal val="#ppt_x"/>
                                          </p:val>
                                        </p:tav>
                                      </p:tavLst>
                                    </p:anim>
                                    <p:anim calcmode="lin" valueType="num">
                                      <p:cBhvr additive="base">
                                        <p:cTn id="109" dur="500" fill="hold"/>
                                        <p:tgtEl>
                                          <p:spTgt spid="4099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6"/>
                                            </p:cond>
                                          </p:stCondLst>
                                          <p:endCondLst>
                                            <p:cond evt="onStopAudio" delay="0">
                                              <p:tgtEl>
                                                <p:sldTgt/>
                                              </p:tgtEl>
                                            </p:cond>
                                          </p:endCondLst>
                                        </p:cTn>
                                        <p:tgtEl>
                                          <p:sndTgt r:embed="rId2" name="WHOOSH.WAV"/>
                                        </p:tgtEl>
                                      </p:cMediaNode>
                                    </p:audio>
                                  </p:subTnLst>
                                </p:cTn>
                              </p:par>
                            </p:childTnLst>
                          </p:cTn>
                        </p:par>
                      </p:childTnLst>
                    </p:cTn>
                  </p:par>
                  <p:par>
                    <p:cTn id="110" fill="hold" nodeType="clickPar">
                      <p:stCondLst>
                        <p:cond delay="indefinite"/>
                      </p:stCondLst>
                      <p:childTnLst>
                        <p:par>
                          <p:cTn id="111" fill="hold" nodeType="withGroup">
                            <p:stCondLst>
                              <p:cond delay="0"/>
                            </p:stCondLst>
                            <p:childTnLst>
                              <p:par>
                                <p:cTn id="112" presetID="2" presetClass="entr" presetSubtype="8" fill="hold" grpId="0" nodeType="clickEffect">
                                  <p:stCondLst>
                                    <p:cond delay="0"/>
                                  </p:stCondLst>
                                  <p:childTnLst>
                                    <p:set>
                                      <p:cBhvr>
                                        <p:cTn id="113" dur="1" fill="hold">
                                          <p:stCondLst>
                                            <p:cond delay="0"/>
                                          </p:stCondLst>
                                        </p:cTn>
                                        <p:tgtEl>
                                          <p:spTgt spid="40991">
                                            <p:txEl>
                                              <p:pRg st="0" end="0"/>
                                            </p:txEl>
                                          </p:spTgt>
                                        </p:tgtEl>
                                        <p:attrNameLst>
                                          <p:attrName>style.visibility</p:attrName>
                                        </p:attrNameLst>
                                      </p:cBhvr>
                                      <p:to>
                                        <p:strVal val="visible"/>
                                      </p:to>
                                    </p:set>
                                    <p:anim calcmode="lin" valueType="num">
                                      <p:cBhvr additive="base">
                                        <p:cTn id="114" dur="500" fill="hold"/>
                                        <p:tgtEl>
                                          <p:spTgt spid="40991">
                                            <p:txEl>
                                              <p:pRg st="0" end="0"/>
                                            </p:txEl>
                                          </p:spTgt>
                                        </p:tgtEl>
                                        <p:attrNameLst>
                                          <p:attrName>ppt_x</p:attrName>
                                        </p:attrNameLst>
                                      </p:cBhvr>
                                      <p:tavLst>
                                        <p:tav tm="0">
                                          <p:val>
                                            <p:strVal val="0-#ppt_w/2"/>
                                          </p:val>
                                        </p:tav>
                                        <p:tav tm="100000">
                                          <p:val>
                                            <p:strVal val="#ppt_x"/>
                                          </p:val>
                                        </p:tav>
                                      </p:tavLst>
                                    </p:anim>
                                    <p:anim calcmode="lin" valueType="num">
                                      <p:cBhvr additive="base">
                                        <p:cTn id="115" dur="500" fill="hold"/>
                                        <p:tgtEl>
                                          <p:spTgt spid="4099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2"/>
                                            </p:cond>
                                          </p:stCondLst>
                                          <p:endCondLst>
                                            <p:cond evt="onStopAudio" delay="0">
                                              <p:tgtEl>
                                                <p:sldTgt/>
                                              </p:tgtEl>
                                            </p:cond>
                                          </p:endCondLst>
                                        </p:cTn>
                                        <p:tgtEl>
                                          <p:sndTgt r:embed="rId2" name="WHOOSH.WAV"/>
                                        </p:tgtEl>
                                      </p:cMediaNode>
                                    </p:audio>
                                  </p:subTnLst>
                                </p:cTn>
                              </p:par>
                            </p:childTnLst>
                          </p:cTn>
                        </p:par>
                      </p:childTnLst>
                    </p:cTn>
                  </p:par>
                  <p:par>
                    <p:cTn id="116" fill="hold" nodeType="clickPar">
                      <p:stCondLst>
                        <p:cond delay="indefinite"/>
                      </p:stCondLst>
                      <p:childTnLst>
                        <p:par>
                          <p:cTn id="117" fill="hold" nodeType="withGroup">
                            <p:stCondLst>
                              <p:cond delay="0"/>
                            </p:stCondLst>
                            <p:childTnLst>
                              <p:par>
                                <p:cTn id="118" presetID="2" presetClass="entr" presetSubtype="8" fill="hold" grpId="0" nodeType="clickEffect">
                                  <p:stCondLst>
                                    <p:cond delay="0"/>
                                  </p:stCondLst>
                                  <p:childTnLst>
                                    <p:set>
                                      <p:cBhvr>
                                        <p:cTn id="119" dur="1" fill="hold">
                                          <p:stCondLst>
                                            <p:cond delay="0"/>
                                          </p:stCondLst>
                                        </p:cTn>
                                        <p:tgtEl>
                                          <p:spTgt spid="40992">
                                            <p:txEl>
                                              <p:pRg st="0" end="0"/>
                                            </p:txEl>
                                          </p:spTgt>
                                        </p:tgtEl>
                                        <p:attrNameLst>
                                          <p:attrName>style.visibility</p:attrName>
                                        </p:attrNameLst>
                                      </p:cBhvr>
                                      <p:to>
                                        <p:strVal val="visible"/>
                                      </p:to>
                                    </p:set>
                                    <p:anim calcmode="lin" valueType="num">
                                      <p:cBhvr additive="base">
                                        <p:cTn id="120" dur="500" fill="hold"/>
                                        <p:tgtEl>
                                          <p:spTgt spid="40992">
                                            <p:txEl>
                                              <p:pRg st="0" end="0"/>
                                            </p:txEl>
                                          </p:spTgt>
                                        </p:tgtEl>
                                        <p:attrNameLst>
                                          <p:attrName>ppt_x</p:attrName>
                                        </p:attrNameLst>
                                      </p:cBhvr>
                                      <p:tavLst>
                                        <p:tav tm="0">
                                          <p:val>
                                            <p:strVal val="0-#ppt_w/2"/>
                                          </p:val>
                                        </p:tav>
                                        <p:tav tm="100000">
                                          <p:val>
                                            <p:strVal val="#ppt_x"/>
                                          </p:val>
                                        </p:tav>
                                      </p:tavLst>
                                    </p:anim>
                                    <p:anim calcmode="lin" valueType="num">
                                      <p:cBhvr additive="base">
                                        <p:cTn id="121" dur="500" fill="hold"/>
                                        <p:tgtEl>
                                          <p:spTgt spid="4099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8"/>
                                            </p:cond>
                                          </p:stCondLst>
                                          <p:endCondLst>
                                            <p:cond evt="onStopAudio" delay="0">
                                              <p:tgtEl>
                                                <p:sldTgt/>
                                              </p:tgtEl>
                                            </p:cond>
                                          </p:endCondLst>
                                        </p:cTn>
                                        <p:tgtEl>
                                          <p:sndTgt r:embed="rId2" name="WHOOSH.WAV"/>
                                        </p:tgtEl>
                                      </p:cMediaNode>
                                    </p:audio>
                                  </p:subTnLst>
                                </p:cTn>
                              </p:par>
                            </p:childTnLst>
                          </p:cTn>
                        </p:par>
                      </p:childTnLst>
                    </p:cTn>
                  </p:par>
                  <p:par>
                    <p:cTn id="122" fill="hold" nodeType="clickPar">
                      <p:stCondLst>
                        <p:cond delay="indefinite"/>
                      </p:stCondLst>
                      <p:childTnLst>
                        <p:par>
                          <p:cTn id="123" fill="hold" nodeType="withGroup">
                            <p:stCondLst>
                              <p:cond delay="0"/>
                            </p:stCondLst>
                            <p:childTnLst>
                              <p:par>
                                <p:cTn id="124" presetID="2" presetClass="entr" presetSubtype="8" fill="hold" grpId="0" nodeType="clickEffect">
                                  <p:stCondLst>
                                    <p:cond delay="0"/>
                                  </p:stCondLst>
                                  <p:childTnLst>
                                    <p:set>
                                      <p:cBhvr>
                                        <p:cTn id="125" dur="1" fill="hold">
                                          <p:stCondLst>
                                            <p:cond delay="0"/>
                                          </p:stCondLst>
                                        </p:cTn>
                                        <p:tgtEl>
                                          <p:spTgt spid="40993">
                                            <p:txEl>
                                              <p:pRg st="0" end="0"/>
                                            </p:txEl>
                                          </p:spTgt>
                                        </p:tgtEl>
                                        <p:attrNameLst>
                                          <p:attrName>style.visibility</p:attrName>
                                        </p:attrNameLst>
                                      </p:cBhvr>
                                      <p:to>
                                        <p:strVal val="visible"/>
                                      </p:to>
                                    </p:set>
                                    <p:anim calcmode="lin" valueType="num">
                                      <p:cBhvr additive="base">
                                        <p:cTn id="126" dur="500" fill="hold"/>
                                        <p:tgtEl>
                                          <p:spTgt spid="40993">
                                            <p:txEl>
                                              <p:pRg st="0" end="0"/>
                                            </p:txEl>
                                          </p:spTgt>
                                        </p:tgtEl>
                                        <p:attrNameLst>
                                          <p:attrName>ppt_x</p:attrName>
                                        </p:attrNameLst>
                                      </p:cBhvr>
                                      <p:tavLst>
                                        <p:tav tm="0">
                                          <p:val>
                                            <p:strVal val="0-#ppt_w/2"/>
                                          </p:val>
                                        </p:tav>
                                        <p:tav tm="100000">
                                          <p:val>
                                            <p:strVal val="#ppt_x"/>
                                          </p:val>
                                        </p:tav>
                                      </p:tavLst>
                                    </p:anim>
                                    <p:anim calcmode="lin" valueType="num">
                                      <p:cBhvr additive="base">
                                        <p:cTn id="127" dur="500" fill="hold"/>
                                        <p:tgtEl>
                                          <p:spTgt spid="4099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24"/>
                                            </p:cond>
                                          </p:stCondLst>
                                          <p:endCondLst>
                                            <p:cond evt="onStopAudio" delay="0">
                                              <p:tgtEl>
                                                <p:sldTgt/>
                                              </p:tgtEl>
                                            </p:cond>
                                          </p:endCondLst>
                                        </p:cTn>
                                        <p:tgtEl>
                                          <p:sndTgt r:embed="rId2" name="WHOOSH.WAV"/>
                                        </p:tgtEl>
                                      </p:cMediaNode>
                                    </p:audio>
                                  </p:subTnLst>
                                </p:cTn>
                              </p:par>
                            </p:childTnLst>
                          </p:cTn>
                        </p:par>
                      </p:childTnLst>
                    </p:cTn>
                  </p:par>
                  <p:par>
                    <p:cTn id="128" fill="hold" nodeType="clickPar">
                      <p:stCondLst>
                        <p:cond delay="indefinite"/>
                      </p:stCondLst>
                      <p:childTnLst>
                        <p:par>
                          <p:cTn id="129" fill="hold" nodeType="withGroup">
                            <p:stCondLst>
                              <p:cond delay="0"/>
                            </p:stCondLst>
                            <p:childTnLst>
                              <p:par>
                                <p:cTn id="130" presetID="2" presetClass="entr" presetSubtype="8" fill="hold" grpId="0" nodeType="clickEffect">
                                  <p:stCondLst>
                                    <p:cond delay="0"/>
                                  </p:stCondLst>
                                  <p:childTnLst>
                                    <p:set>
                                      <p:cBhvr>
                                        <p:cTn id="131" dur="1" fill="hold">
                                          <p:stCondLst>
                                            <p:cond delay="0"/>
                                          </p:stCondLst>
                                        </p:cTn>
                                        <p:tgtEl>
                                          <p:spTgt spid="40994"/>
                                        </p:tgtEl>
                                        <p:attrNameLst>
                                          <p:attrName>style.visibility</p:attrName>
                                        </p:attrNameLst>
                                      </p:cBhvr>
                                      <p:to>
                                        <p:strVal val="visible"/>
                                      </p:to>
                                    </p:set>
                                    <p:anim calcmode="lin" valueType="num">
                                      <p:cBhvr additive="base">
                                        <p:cTn id="132" dur="500" fill="hold"/>
                                        <p:tgtEl>
                                          <p:spTgt spid="40994"/>
                                        </p:tgtEl>
                                        <p:attrNameLst>
                                          <p:attrName>ppt_x</p:attrName>
                                        </p:attrNameLst>
                                      </p:cBhvr>
                                      <p:tavLst>
                                        <p:tav tm="0">
                                          <p:val>
                                            <p:strVal val="0-#ppt_w/2"/>
                                          </p:val>
                                        </p:tav>
                                        <p:tav tm="100000">
                                          <p:val>
                                            <p:strVal val="#ppt_x"/>
                                          </p:val>
                                        </p:tav>
                                      </p:tavLst>
                                    </p:anim>
                                    <p:anim calcmode="lin" valueType="num">
                                      <p:cBhvr additive="base">
                                        <p:cTn id="133" dur="500" fill="hold"/>
                                        <p:tgtEl>
                                          <p:spTgt spid="4099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0"/>
                                            </p:cond>
                                          </p:stCondLst>
                                          <p:endCondLst>
                                            <p:cond evt="onStopAudio" delay="0">
                                              <p:tgtEl>
                                                <p:sldTgt/>
                                              </p:tgtEl>
                                            </p:cond>
                                          </p:endCondLst>
                                        </p:cTn>
                                        <p:tgtEl>
                                          <p:sndTgt r:embed="rId2" name="WHOOSH.WAV"/>
                                        </p:tgtEl>
                                      </p:cMediaNode>
                                    </p:audio>
                                  </p:subTnLst>
                                </p:cTn>
                              </p:par>
                            </p:childTnLst>
                          </p:cTn>
                        </p:par>
                      </p:childTnLst>
                    </p:cTn>
                  </p:par>
                  <p:par>
                    <p:cTn id="134" fill="hold" nodeType="clickPar">
                      <p:stCondLst>
                        <p:cond delay="indefinite"/>
                      </p:stCondLst>
                      <p:childTnLst>
                        <p:par>
                          <p:cTn id="135" fill="hold" nodeType="withGroup">
                            <p:stCondLst>
                              <p:cond delay="0"/>
                            </p:stCondLst>
                            <p:childTnLst>
                              <p:par>
                                <p:cTn id="136" presetID="2" presetClass="entr" presetSubtype="8" fill="hold" grpId="0" nodeType="clickEffect">
                                  <p:stCondLst>
                                    <p:cond delay="0"/>
                                  </p:stCondLst>
                                  <p:childTnLst>
                                    <p:set>
                                      <p:cBhvr>
                                        <p:cTn id="137" dur="1" fill="hold">
                                          <p:stCondLst>
                                            <p:cond delay="0"/>
                                          </p:stCondLst>
                                        </p:cTn>
                                        <p:tgtEl>
                                          <p:spTgt spid="40995"/>
                                        </p:tgtEl>
                                        <p:attrNameLst>
                                          <p:attrName>style.visibility</p:attrName>
                                        </p:attrNameLst>
                                      </p:cBhvr>
                                      <p:to>
                                        <p:strVal val="visible"/>
                                      </p:to>
                                    </p:set>
                                    <p:anim calcmode="lin" valueType="num">
                                      <p:cBhvr additive="base">
                                        <p:cTn id="138" dur="500" fill="hold"/>
                                        <p:tgtEl>
                                          <p:spTgt spid="40995"/>
                                        </p:tgtEl>
                                        <p:attrNameLst>
                                          <p:attrName>ppt_x</p:attrName>
                                        </p:attrNameLst>
                                      </p:cBhvr>
                                      <p:tavLst>
                                        <p:tav tm="0">
                                          <p:val>
                                            <p:strVal val="0-#ppt_w/2"/>
                                          </p:val>
                                        </p:tav>
                                        <p:tav tm="100000">
                                          <p:val>
                                            <p:strVal val="#ppt_x"/>
                                          </p:val>
                                        </p:tav>
                                      </p:tavLst>
                                    </p:anim>
                                    <p:anim calcmode="lin" valueType="num">
                                      <p:cBhvr additive="base">
                                        <p:cTn id="139" dur="500" fill="hold"/>
                                        <p:tgtEl>
                                          <p:spTgt spid="4099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6"/>
                                            </p:cond>
                                          </p:stCondLst>
                                          <p:endCondLst>
                                            <p:cond evt="onStopAudio" delay="0">
                                              <p:tgtEl>
                                                <p:sldTgt/>
                                              </p:tgtEl>
                                            </p:cond>
                                          </p:endCondLst>
                                        </p:cTn>
                                        <p:tgtEl>
                                          <p:sndTgt r:embed="rId2" name="WHOOSH.WAV"/>
                                        </p:tgtEl>
                                      </p:cMediaNode>
                                    </p:audio>
                                  </p:subTnLst>
                                </p:cTn>
                              </p:par>
                            </p:childTnLst>
                          </p:cTn>
                        </p:par>
                      </p:childTnLst>
                    </p:cTn>
                  </p:par>
                  <p:par>
                    <p:cTn id="140" fill="hold" nodeType="clickPar">
                      <p:stCondLst>
                        <p:cond delay="indefinite"/>
                      </p:stCondLst>
                      <p:childTnLst>
                        <p:par>
                          <p:cTn id="141" fill="hold" nodeType="withGroup">
                            <p:stCondLst>
                              <p:cond delay="0"/>
                            </p:stCondLst>
                            <p:childTnLst>
                              <p:par>
                                <p:cTn id="142" presetID="2" presetClass="entr" presetSubtype="8" fill="hold" grpId="0" nodeType="clickEffect">
                                  <p:stCondLst>
                                    <p:cond delay="0"/>
                                  </p:stCondLst>
                                  <p:childTnLst>
                                    <p:set>
                                      <p:cBhvr>
                                        <p:cTn id="143" dur="1" fill="hold">
                                          <p:stCondLst>
                                            <p:cond delay="0"/>
                                          </p:stCondLst>
                                        </p:cTn>
                                        <p:tgtEl>
                                          <p:spTgt spid="40996">
                                            <p:txEl>
                                              <p:pRg st="0" end="0"/>
                                            </p:txEl>
                                          </p:spTgt>
                                        </p:tgtEl>
                                        <p:attrNameLst>
                                          <p:attrName>style.visibility</p:attrName>
                                        </p:attrNameLst>
                                      </p:cBhvr>
                                      <p:to>
                                        <p:strVal val="visible"/>
                                      </p:to>
                                    </p:set>
                                    <p:anim calcmode="lin" valueType="num">
                                      <p:cBhvr additive="base">
                                        <p:cTn id="144" dur="500" fill="hold"/>
                                        <p:tgtEl>
                                          <p:spTgt spid="40996">
                                            <p:txEl>
                                              <p:pRg st="0" end="0"/>
                                            </p:txEl>
                                          </p:spTgt>
                                        </p:tgtEl>
                                        <p:attrNameLst>
                                          <p:attrName>ppt_x</p:attrName>
                                        </p:attrNameLst>
                                      </p:cBhvr>
                                      <p:tavLst>
                                        <p:tav tm="0">
                                          <p:val>
                                            <p:strVal val="0-#ppt_w/2"/>
                                          </p:val>
                                        </p:tav>
                                        <p:tav tm="100000">
                                          <p:val>
                                            <p:strVal val="#ppt_x"/>
                                          </p:val>
                                        </p:tav>
                                      </p:tavLst>
                                    </p:anim>
                                    <p:anim calcmode="lin" valueType="num">
                                      <p:cBhvr additive="base">
                                        <p:cTn id="145" dur="500" fill="hold"/>
                                        <p:tgtEl>
                                          <p:spTgt spid="4099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2"/>
                                            </p:cond>
                                          </p:stCondLst>
                                          <p:endCondLst>
                                            <p:cond evt="onStopAudio" delay="0">
                                              <p:tgtEl>
                                                <p:sldTgt/>
                                              </p:tgtEl>
                                            </p:cond>
                                          </p:endCondLst>
                                        </p:cTn>
                                        <p:tgtEl>
                                          <p:sndTgt r:embed="rId2" name="WHOOSH.WAV"/>
                                        </p:tgtEl>
                                      </p:cMediaNode>
                                    </p:audio>
                                  </p:subTnLst>
                                </p:cTn>
                              </p:par>
                            </p:childTnLst>
                          </p:cTn>
                        </p:par>
                      </p:childTnLst>
                    </p:cTn>
                  </p:par>
                  <p:par>
                    <p:cTn id="146" fill="hold" nodeType="clickPar">
                      <p:stCondLst>
                        <p:cond delay="indefinite"/>
                      </p:stCondLst>
                      <p:childTnLst>
                        <p:par>
                          <p:cTn id="147" fill="hold" nodeType="withGroup">
                            <p:stCondLst>
                              <p:cond delay="0"/>
                            </p:stCondLst>
                            <p:childTnLst>
                              <p:par>
                                <p:cTn id="148" presetID="2" presetClass="entr" presetSubtype="8" fill="hold" grpId="0" nodeType="clickEffect">
                                  <p:stCondLst>
                                    <p:cond delay="0"/>
                                  </p:stCondLst>
                                  <p:childTnLst>
                                    <p:set>
                                      <p:cBhvr>
                                        <p:cTn id="149" dur="1" fill="hold">
                                          <p:stCondLst>
                                            <p:cond delay="0"/>
                                          </p:stCondLst>
                                        </p:cTn>
                                        <p:tgtEl>
                                          <p:spTgt spid="40997"/>
                                        </p:tgtEl>
                                        <p:attrNameLst>
                                          <p:attrName>style.visibility</p:attrName>
                                        </p:attrNameLst>
                                      </p:cBhvr>
                                      <p:to>
                                        <p:strVal val="visible"/>
                                      </p:to>
                                    </p:set>
                                    <p:anim calcmode="lin" valueType="num">
                                      <p:cBhvr additive="base">
                                        <p:cTn id="150" dur="500" fill="hold"/>
                                        <p:tgtEl>
                                          <p:spTgt spid="40997"/>
                                        </p:tgtEl>
                                        <p:attrNameLst>
                                          <p:attrName>ppt_x</p:attrName>
                                        </p:attrNameLst>
                                      </p:cBhvr>
                                      <p:tavLst>
                                        <p:tav tm="0">
                                          <p:val>
                                            <p:strVal val="0-#ppt_w/2"/>
                                          </p:val>
                                        </p:tav>
                                        <p:tav tm="100000">
                                          <p:val>
                                            <p:strVal val="#ppt_x"/>
                                          </p:val>
                                        </p:tav>
                                      </p:tavLst>
                                    </p:anim>
                                    <p:anim calcmode="lin" valueType="num">
                                      <p:cBhvr additive="base">
                                        <p:cTn id="151" dur="500" fill="hold"/>
                                        <p:tgtEl>
                                          <p:spTgt spid="409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8"/>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1" grpId="0" build="p" autoUpdateAnimBg="0"/>
      <p:bldP spid="40972" grpId="0" build="p" autoUpdateAnimBg="0"/>
      <p:bldP spid="40973" grpId="0" build="p" autoUpdateAnimBg="0"/>
      <p:bldP spid="40974" grpId="0" build="p" autoUpdateAnimBg="0"/>
      <p:bldP spid="40975" grpId="0" build="p" autoUpdateAnimBg="0"/>
      <p:bldP spid="40976" grpId="0" build="p" autoUpdateAnimBg="0"/>
      <p:bldP spid="40978" grpId="0" autoUpdateAnimBg="0"/>
      <p:bldP spid="40979" grpId="0" build="p" autoUpdateAnimBg="0"/>
      <p:bldP spid="40980" grpId="0" build="p" autoUpdateAnimBg="0"/>
      <p:bldP spid="40982" grpId="0" animBg="1"/>
      <p:bldP spid="40983" grpId="0" animBg="1"/>
      <p:bldP spid="40984" grpId="0" build="p" autoUpdateAnimBg="0"/>
      <p:bldP spid="40985" grpId="0" animBg="1"/>
      <p:bldP spid="40986" grpId="0" animBg="1"/>
      <p:bldP spid="40987" grpId="0" animBg="1"/>
      <p:bldP spid="40988" grpId="0" build="p" autoUpdateAnimBg="0"/>
      <p:bldP spid="40989" grpId="0" animBg="1"/>
      <p:bldP spid="40990" grpId="0" animBg="1"/>
      <p:bldP spid="40991" grpId="0" build="p" autoUpdateAnimBg="0"/>
      <p:bldP spid="40992" grpId="0" build="p" autoUpdateAnimBg="0"/>
      <p:bldP spid="40993" grpId="0" build="p" autoUpdateAnimBg="0"/>
      <p:bldP spid="40994" grpId="0" animBg="1"/>
      <p:bldP spid="40995" grpId="0" animBg="1"/>
      <p:bldP spid="40996" grpId="0" build="p" autoUpdateAnimBg="0"/>
      <p:bldP spid="4099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87042" name="Rectangle 3"/>
          <p:cNvSpPr>
            <a:spLocks noGrp="1" noChangeArrowheads="1"/>
          </p:cNvSpPr>
          <p:nvPr>
            <p:ph idx="1"/>
          </p:nvPr>
        </p:nvSpPr>
        <p:spPr>
          <a:xfrm>
            <a:off x="527050" y="1341438"/>
            <a:ext cx="10321925" cy="4783137"/>
          </a:xfrm>
          <a:solidFill>
            <a:schemeClr val="bg1"/>
          </a:solidFill>
        </p:spPr>
        <p:txBody>
          <a:bodyPr rtlCol="0">
            <a:normAutofit fontScale="77500" lnSpcReduction="20000"/>
          </a:bodyPr>
          <a:lstStyle/>
          <a:p>
            <a:pPr eaLnBrk="1" fontAlgn="auto" hangingPunct="1">
              <a:lnSpc>
                <a:spcPct val="80000"/>
              </a:lnSpc>
              <a:spcAft>
                <a:spcPts val="0"/>
              </a:spcAft>
              <a:buFont typeface="Wingdings" panose="05000000000000000000" pitchFamily="2" charset="2"/>
              <a:buNone/>
              <a:defRPr/>
            </a:pPr>
            <a:r>
              <a:rPr lang="en-US" altLang="zh-CN" sz="1700" dirty="0" err="1"/>
              <a:t>ElemType</a:t>
            </a:r>
            <a:r>
              <a:rPr lang="en-US" altLang="zh-CN" sz="1700" dirty="0"/>
              <a:t> compute() {</a:t>
            </a:r>
          </a:p>
          <a:p>
            <a:pPr eaLnBrk="1" fontAlgn="auto" hangingPunct="1">
              <a:lnSpc>
                <a:spcPct val="80000"/>
              </a:lnSpc>
              <a:spcAft>
                <a:spcPts val="0"/>
              </a:spcAft>
              <a:buFont typeface="Wingdings" panose="05000000000000000000" pitchFamily="2" charset="2"/>
              <a:buNone/>
              <a:defRPr/>
            </a:pPr>
            <a:r>
              <a:rPr lang="en-US" altLang="zh-CN" sz="1700" dirty="0"/>
              <a:t>   </a:t>
            </a:r>
            <a:r>
              <a:rPr lang="en-US" altLang="zh-CN" sz="1700" dirty="0" err="1"/>
              <a:t>init_stack</a:t>
            </a:r>
            <a:r>
              <a:rPr lang="en-US" altLang="zh-CN" sz="1700" dirty="0"/>
              <a:t>(OPTR);  </a:t>
            </a:r>
            <a:r>
              <a:rPr lang="en-US" altLang="zh-CN" sz="1700" dirty="0" err="1"/>
              <a:t>init_stack</a:t>
            </a:r>
            <a:r>
              <a:rPr lang="en-US" altLang="zh-CN" sz="1700" dirty="0"/>
              <a:t>(OPND);</a:t>
            </a:r>
          </a:p>
          <a:p>
            <a:pPr eaLnBrk="1" fontAlgn="auto" hangingPunct="1">
              <a:lnSpc>
                <a:spcPct val="80000"/>
              </a:lnSpc>
              <a:spcAft>
                <a:spcPts val="0"/>
              </a:spcAft>
              <a:buFont typeface="Wingdings" panose="05000000000000000000" pitchFamily="2" charset="2"/>
              <a:buNone/>
              <a:defRPr/>
            </a:pPr>
            <a:r>
              <a:rPr lang="en-US" altLang="zh-CN" sz="1700" dirty="0"/>
              <a:t>    push(OPTR,</a:t>
            </a:r>
            <a:r>
              <a:rPr lang="en-US" altLang="zh-CN" sz="1700" dirty="0">
                <a:latin typeface="Arial" panose="020B0604020202020204" pitchFamily="34" charset="0"/>
              </a:rPr>
              <a:t>’</a:t>
            </a:r>
            <a:r>
              <a:rPr lang="en-US" altLang="zh-CN" sz="1700" dirty="0"/>
              <a:t>#</a:t>
            </a:r>
            <a:r>
              <a:rPr lang="en-US" altLang="zh-CN" sz="1700" dirty="0">
                <a:latin typeface="Arial" panose="020B0604020202020204" pitchFamily="34" charset="0"/>
              </a:rPr>
              <a:t>’</a:t>
            </a:r>
            <a:r>
              <a:rPr lang="en-US" altLang="zh-CN" sz="1700" dirty="0"/>
              <a:t>);  w=</a:t>
            </a:r>
            <a:r>
              <a:rPr lang="en-US" altLang="zh-CN" sz="1700" dirty="0" err="1"/>
              <a:t>getchar</a:t>
            </a:r>
            <a:r>
              <a:rPr lang="en-US" altLang="zh-CN" sz="1700" dirty="0"/>
              <a:t>();</a:t>
            </a:r>
          </a:p>
          <a:p>
            <a:pPr eaLnBrk="1" fontAlgn="auto" hangingPunct="1">
              <a:lnSpc>
                <a:spcPct val="80000"/>
              </a:lnSpc>
              <a:spcAft>
                <a:spcPts val="0"/>
              </a:spcAft>
              <a:buFont typeface="Wingdings" panose="05000000000000000000" pitchFamily="2" charset="2"/>
              <a:buNone/>
              <a:defRPr/>
            </a:pPr>
            <a:r>
              <a:rPr lang="en-US" altLang="zh-CN" sz="1700" dirty="0"/>
              <a:t>    While (w!=</a:t>
            </a:r>
            <a:r>
              <a:rPr lang="en-US" altLang="zh-CN" sz="1700" dirty="0">
                <a:latin typeface="Arial" panose="020B0604020202020204" pitchFamily="34" charset="0"/>
              </a:rPr>
              <a:t>‘</a:t>
            </a:r>
            <a:r>
              <a:rPr lang="en-US" altLang="zh-CN" sz="1700" dirty="0"/>
              <a:t>#</a:t>
            </a:r>
            <a:r>
              <a:rPr lang="en-US" altLang="zh-CN" sz="1700" dirty="0">
                <a:latin typeface="Arial" panose="020B0604020202020204" pitchFamily="34" charset="0"/>
              </a:rPr>
              <a:t>’</a:t>
            </a:r>
            <a:r>
              <a:rPr lang="en-US" altLang="zh-CN" sz="1700" dirty="0"/>
              <a:t> || </a:t>
            </a:r>
            <a:r>
              <a:rPr lang="en-US" altLang="zh-CN" sz="1700" dirty="0" err="1"/>
              <a:t>gettop</a:t>
            </a:r>
            <a:r>
              <a:rPr lang="en-US" altLang="zh-CN" sz="1700" dirty="0"/>
              <a:t>(OPTR)!=</a:t>
            </a:r>
            <a:r>
              <a:rPr lang="en-US" altLang="zh-CN" sz="1700" dirty="0">
                <a:latin typeface="Arial" panose="020B0604020202020204" pitchFamily="34" charset="0"/>
              </a:rPr>
              <a:t>‘</a:t>
            </a:r>
            <a:r>
              <a:rPr lang="en-US" altLang="zh-CN" sz="1700" dirty="0"/>
              <a:t>#</a:t>
            </a:r>
            <a:r>
              <a:rPr lang="en-US" altLang="zh-CN" sz="1700" dirty="0">
                <a:latin typeface="Arial" panose="020B0604020202020204" pitchFamily="34" charset="0"/>
              </a:rPr>
              <a:t>’</a:t>
            </a:r>
            <a:r>
              <a:rPr lang="en-US" altLang="zh-CN" sz="1700" dirty="0"/>
              <a:t> ) {</a:t>
            </a:r>
          </a:p>
          <a:p>
            <a:pPr eaLnBrk="1" fontAlgn="auto" hangingPunct="1">
              <a:lnSpc>
                <a:spcPct val="80000"/>
              </a:lnSpc>
              <a:spcAft>
                <a:spcPts val="0"/>
              </a:spcAft>
              <a:buFont typeface="Wingdings" panose="05000000000000000000" pitchFamily="2" charset="2"/>
              <a:buNone/>
              <a:defRPr/>
            </a:pPr>
            <a:r>
              <a:rPr lang="en-US" altLang="zh-CN" sz="1700" dirty="0"/>
              <a:t>           if (w</a:t>
            </a:r>
            <a:r>
              <a:rPr lang="en-US" altLang="zh-CN" sz="1700" dirty="0">
                <a:sym typeface="Symbol" panose="05050102010706020507" pitchFamily="18" charset="2"/>
              </a:rPr>
              <a:t></a:t>
            </a:r>
            <a:r>
              <a:rPr lang="zh-CN" altLang="zh-CN" sz="1700" dirty="0">
                <a:sym typeface="Symbol" panose="05050102010706020507" pitchFamily="18" charset="2"/>
              </a:rPr>
              <a:t>整型数</a:t>
            </a:r>
            <a:r>
              <a:rPr lang="en-US" altLang="zh-CN" sz="1700" dirty="0">
                <a:sym typeface="Symbol" panose="05050102010706020507" pitchFamily="18" charset="2"/>
              </a:rPr>
              <a:t>)</a:t>
            </a:r>
            <a:r>
              <a:rPr lang="zh-CN" altLang="zh-CN" sz="1700" dirty="0">
                <a:sym typeface="Symbol" panose="05050102010706020507" pitchFamily="18" charset="2"/>
              </a:rPr>
              <a:t> </a:t>
            </a:r>
            <a:r>
              <a:rPr lang="en-US" altLang="zh-CN" sz="1700" dirty="0">
                <a:sym typeface="Symbol" panose="05050102010706020507" pitchFamily="18" charset="2"/>
              </a:rPr>
              <a:t> { push(OPND, w); w=</a:t>
            </a:r>
            <a:r>
              <a:rPr lang="en-US" altLang="zh-CN" sz="1700" dirty="0" err="1">
                <a:sym typeface="Symbol" panose="05050102010706020507" pitchFamily="18" charset="2"/>
              </a:rPr>
              <a:t>getchar</a:t>
            </a:r>
            <a:r>
              <a:rPr lang="en-US" altLang="zh-CN" sz="1700" dirty="0">
                <a:sym typeface="Symbol" panose="05050102010706020507" pitchFamily="18" charset="2"/>
              </a:rPr>
              <a:t>();}</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else {  </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switch  (precede(</a:t>
            </a:r>
            <a:r>
              <a:rPr lang="en-US" altLang="zh-CN" sz="1700" dirty="0" err="1">
                <a:sym typeface="Symbol" panose="05050102010706020507" pitchFamily="18" charset="2"/>
              </a:rPr>
              <a:t>gettop</a:t>
            </a:r>
            <a:r>
              <a:rPr lang="en-US" altLang="zh-CN" sz="1700" dirty="0">
                <a:sym typeface="Symbol" panose="05050102010706020507" pitchFamily="18" charset="2"/>
              </a:rPr>
              <a:t>(OPTR), w)) {</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case     </a:t>
            </a:r>
            <a:r>
              <a:rPr lang="en-US" altLang="zh-CN" sz="1700" dirty="0">
                <a:latin typeface="Arial" panose="020B0604020202020204" pitchFamily="34" charset="0"/>
                <a:sym typeface="Symbol" panose="05050102010706020507" pitchFamily="18" charset="2"/>
              </a:rPr>
              <a:t>‘</a:t>
            </a:r>
            <a:r>
              <a:rPr lang="en-US" altLang="zh-CN" sz="1700" dirty="0">
                <a:sym typeface="Symbol" panose="05050102010706020507" pitchFamily="18" charset="2"/>
              </a:rPr>
              <a:t>&lt;</a:t>
            </a:r>
            <a:r>
              <a:rPr lang="en-US" altLang="zh-CN" sz="1700" dirty="0">
                <a:latin typeface="Arial" panose="020B0604020202020204" pitchFamily="34" charset="0"/>
                <a:sym typeface="Symbol" panose="05050102010706020507" pitchFamily="18" charset="2"/>
              </a:rPr>
              <a:t>‘</a:t>
            </a:r>
            <a:r>
              <a:rPr lang="en-US" altLang="zh-CN" sz="1700" dirty="0">
                <a:sym typeface="Symbol" panose="05050102010706020507" pitchFamily="18" charset="2"/>
              </a:rPr>
              <a:t>: push(</a:t>
            </a:r>
            <a:r>
              <a:rPr lang="en-US" altLang="zh-CN" sz="1700" dirty="0" err="1">
                <a:sym typeface="Symbol" panose="05050102010706020507" pitchFamily="18" charset="2"/>
              </a:rPr>
              <a:t>OPTR,w</a:t>
            </a:r>
            <a:r>
              <a:rPr lang="en-US" altLang="zh-CN" sz="1700" dirty="0">
                <a:sym typeface="Symbol" panose="05050102010706020507" pitchFamily="18" charset="2"/>
              </a:rPr>
              <a:t>); w=</a:t>
            </a:r>
            <a:r>
              <a:rPr lang="en-US" altLang="zh-CN" sz="1700" dirty="0" err="1">
                <a:sym typeface="Symbol" panose="05050102010706020507" pitchFamily="18" charset="2"/>
              </a:rPr>
              <a:t>getchar</a:t>
            </a:r>
            <a:r>
              <a:rPr lang="en-US" altLang="zh-CN" sz="1700" dirty="0">
                <a:sym typeface="Symbol" panose="05050102010706020507" pitchFamily="18" charset="2"/>
              </a:rPr>
              <a:t>();</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break;</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case     </a:t>
            </a:r>
            <a:r>
              <a:rPr lang="en-US" altLang="zh-CN" sz="1700" dirty="0">
                <a:latin typeface="Arial" panose="020B0604020202020204" pitchFamily="34" charset="0"/>
                <a:sym typeface="Symbol" panose="05050102010706020507" pitchFamily="18" charset="2"/>
              </a:rPr>
              <a:t>‘</a:t>
            </a:r>
            <a:r>
              <a:rPr lang="en-US" altLang="zh-CN" sz="1700" dirty="0">
                <a:sym typeface="Symbol" panose="05050102010706020507" pitchFamily="18" charset="2"/>
              </a:rPr>
              <a:t>=</a:t>
            </a:r>
            <a:r>
              <a:rPr lang="en-US" altLang="zh-CN" sz="1700" dirty="0">
                <a:latin typeface="Arial" panose="020B0604020202020204" pitchFamily="34" charset="0"/>
                <a:sym typeface="Symbol" panose="05050102010706020507" pitchFamily="18" charset="2"/>
              </a:rPr>
              <a:t>‘</a:t>
            </a:r>
            <a:r>
              <a:rPr lang="en-US" altLang="zh-CN" sz="1700" dirty="0">
                <a:sym typeface="Symbol" panose="05050102010706020507" pitchFamily="18" charset="2"/>
              </a:rPr>
              <a:t>: pop(</a:t>
            </a:r>
            <a:r>
              <a:rPr lang="en-US" altLang="zh-CN" sz="1700" dirty="0" err="1">
                <a:sym typeface="Symbol" panose="05050102010706020507" pitchFamily="18" charset="2"/>
              </a:rPr>
              <a:t>OPTR,x</a:t>
            </a:r>
            <a:r>
              <a:rPr lang="en-US" altLang="zh-CN" sz="1700" dirty="0">
                <a:sym typeface="Symbol" panose="05050102010706020507" pitchFamily="18" charset="2"/>
              </a:rPr>
              <a:t>); w=</a:t>
            </a:r>
            <a:r>
              <a:rPr lang="en-US" altLang="zh-CN" sz="1700" dirty="0" err="1">
                <a:sym typeface="Symbol" panose="05050102010706020507" pitchFamily="18" charset="2"/>
              </a:rPr>
              <a:t>getchar</a:t>
            </a:r>
            <a:r>
              <a:rPr lang="en-US" altLang="zh-CN" sz="1700" dirty="0">
                <a:sym typeface="Symbol" panose="05050102010706020507" pitchFamily="18" charset="2"/>
              </a:rPr>
              <a:t>();</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break;</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case     </a:t>
            </a:r>
            <a:r>
              <a:rPr lang="en-US" altLang="zh-CN" sz="1700" dirty="0">
                <a:latin typeface="Arial" panose="020B0604020202020204" pitchFamily="34" charset="0"/>
                <a:sym typeface="Symbol" panose="05050102010706020507" pitchFamily="18" charset="2"/>
              </a:rPr>
              <a:t>‘</a:t>
            </a:r>
            <a:r>
              <a:rPr lang="en-US" altLang="zh-CN" sz="1700" dirty="0">
                <a:sym typeface="Symbol" panose="05050102010706020507" pitchFamily="18" charset="2"/>
              </a:rPr>
              <a:t>&gt;</a:t>
            </a:r>
            <a:r>
              <a:rPr lang="en-US" altLang="zh-CN" sz="1700" dirty="0">
                <a:latin typeface="Arial" panose="020B0604020202020204" pitchFamily="34" charset="0"/>
                <a:sym typeface="Symbol" panose="05050102010706020507" pitchFamily="18" charset="2"/>
              </a:rPr>
              <a:t>’</a:t>
            </a:r>
            <a:r>
              <a:rPr lang="en-US" altLang="zh-CN" sz="1700" dirty="0">
                <a:sym typeface="Symbol" panose="05050102010706020507" pitchFamily="18" charset="2"/>
              </a:rPr>
              <a:t>: pop(</a:t>
            </a:r>
            <a:r>
              <a:rPr lang="en-US" altLang="zh-CN" sz="1700" dirty="0" err="1">
                <a:sym typeface="Symbol" panose="05050102010706020507" pitchFamily="18" charset="2"/>
              </a:rPr>
              <a:t>OPTR,op</a:t>
            </a:r>
            <a:r>
              <a:rPr lang="en-US" altLang="zh-CN" sz="1700" dirty="0">
                <a:sym typeface="Symbol" panose="05050102010706020507" pitchFamily="18" charset="2"/>
              </a:rPr>
              <a:t>); pop(</a:t>
            </a:r>
            <a:r>
              <a:rPr lang="en-US" altLang="zh-CN" sz="1700" dirty="0" err="1">
                <a:sym typeface="Symbol" panose="05050102010706020507" pitchFamily="18" charset="2"/>
              </a:rPr>
              <a:t>OPND,b</a:t>
            </a:r>
            <a:r>
              <a:rPr lang="en-US" altLang="zh-CN" sz="1700" dirty="0">
                <a:sym typeface="Symbol" panose="05050102010706020507" pitchFamily="18" charset="2"/>
              </a:rPr>
              <a:t>); </a:t>
            </a:r>
            <a:r>
              <a:rPr lang="en-US" altLang="zh-CN" sz="1700" dirty="0" smtClean="0">
                <a:sym typeface="Symbol" panose="05050102010706020507" pitchFamily="18" charset="2"/>
              </a:rPr>
              <a:t>pop(</a:t>
            </a:r>
            <a:r>
              <a:rPr lang="en-US" altLang="zh-CN" sz="1700" dirty="0" err="1" smtClean="0">
                <a:sym typeface="Symbol" panose="05050102010706020507" pitchFamily="18" charset="2"/>
              </a:rPr>
              <a:t>OPND,a</a:t>
            </a:r>
            <a:r>
              <a:rPr lang="en-US" altLang="zh-CN" sz="1700" dirty="0">
                <a:sym typeface="Symbol" panose="05050102010706020507" pitchFamily="18" charset="2"/>
              </a:rPr>
              <a:t>);</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push(OPND, operate(a, op, b));</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break;</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}//switch</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}//else</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 while</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return(</a:t>
            </a:r>
            <a:r>
              <a:rPr lang="en-US" altLang="zh-CN" sz="1700" dirty="0" err="1">
                <a:sym typeface="Symbol" panose="05050102010706020507" pitchFamily="18" charset="2"/>
              </a:rPr>
              <a:t>gettop</a:t>
            </a:r>
            <a:r>
              <a:rPr lang="en-US" altLang="zh-CN" sz="1700" dirty="0">
                <a:sym typeface="Symbol" panose="05050102010706020507" pitchFamily="18" charset="2"/>
              </a:rPr>
              <a:t>(OPND))</a:t>
            </a:r>
          </a:p>
          <a:p>
            <a:pPr eaLnBrk="1" fontAlgn="auto" hangingPunct="1">
              <a:lnSpc>
                <a:spcPct val="80000"/>
              </a:lnSpc>
              <a:spcAft>
                <a:spcPts val="0"/>
              </a:spcAft>
              <a:buFont typeface="Wingdings" panose="05000000000000000000" pitchFamily="2" charset="2"/>
              <a:buNone/>
              <a:defRPr/>
            </a:pPr>
            <a:r>
              <a:rPr lang="en-US" altLang="zh-CN" sz="1700" dirty="0">
                <a:sym typeface="Symbol" panose="05050102010706020507" pitchFamily="18" charset="2"/>
              </a:rPr>
              <a:t>}   // </a:t>
            </a:r>
            <a:r>
              <a:rPr lang="en-US" altLang="zh-CN" sz="1700" dirty="0"/>
              <a:t>compute</a:t>
            </a:r>
            <a:endParaRPr lang="en-US" altLang="zh-CN" sz="1700"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527050" y="333375"/>
            <a:ext cx="10321925" cy="863600"/>
          </a:xfrm>
        </p:spPr>
        <p:txBody>
          <a:bodyPr/>
          <a:lstStyle/>
          <a:p>
            <a:pPr eaLnBrk="1" hangingPunct="1"/>
            <a:r>
              <a:rPr lang="zh-CN" altLang="en-US" smtClean="0"/>
              <a:t>表达式求值问题</a:t>
            </a:r>
          </a:p>
        </p:txBody>
      </p:sp>
      <p:sp>
        <p:nvSpPr>
          <p:cNvPr id="80899" name="Rectangle 3"/>
          <p:cNvSpPr>
            <a:spLocks noGrp="1" noChangeArrowheads="1"/>
          </p:cNvSpPr>
          <p:nvPr>
            <p:ph idx="1"/>
          </p:nvPr>
        </p:nvSpPr>
        <p:spPr>
          <a:xfrm>
            <a:off x="527050" y="1773238"/>
            <a:ext cx="10321925" cy="4351337"/>
          </a:xfrm>
        </p:spPr>
        <p:txBody>
          <a:bodyPr/>
          <a:lstStyle/>
          <a:p>
            <a:pPr eaLnBrk="1" hangingPunct="1">
              <a:lnSpc>
                <a:spcPct val="80000"/>
              </a:lnSpc>
            </a:pPr>
            <a:r>
              <a:rPr lang="zh-CN" altLang="en-US" sz="2100" smtClean="0"/>
              <a:t>在计算机中，对这种二元表达式可以有三种不同的标识方法。</a:t>
            </a:r>
            <a:br>
              <a:rPr lang="zh-CN" altLang="en-US" sz="2100" smtClean="0"/>
            </a:br>
            <a:r>
              <a:rPr lang="zh-CN" altLang="en-US" sz="2100" smtClean="0"/>
              <a:t>　　假设 </a:t>
            </a:r>
            <a:r>
              <a:rPr lang="en-US" altLang="zh-CN" sz="2100" smtClean="0"/>
              <a:t>Exp = S1 + </a:t>
            </a:r>
            <a:r>
              <a:rPr lang="en-US" altLang="zh-CN" sz="2100" b="1" smtClean="0"/>
              <a:t>OP</a:t>
            </a:r>
            <a:r>
              <a:rPr lang="en-US" altLang="zh-CN" sz="2100" smtClean="0"/>
              <a:t> + S2</a:t>
            </a:r>
            <a:br>
              <a:rPr lang="en-US" altLang="zh-CN" sz="2100" smtClean="0"/>
            </a:br>
            <a:r>
              <a:rPr lang="zh-CN" altLang="en-US" sz="2100" smtClean="0"/>
              <a:t>　则称 </a:t>
            </a:r>
            <a:r>
              <a:rPr lang="en-US" altLang="zh-CN" sz="2100" b="1" smtClean="0"/>
              <a:t>OP</a:t>
            </a:r>
            <a:r>
              <a:rPr lang="en-US" altLang="zh-CN" sz="2100" smtClean="0"/>
              <a:t> + S1 + S2 </a:t>
            </a:r>
            <a:r>
              <a:rPr lang="zh-CN" altLang="en-US" sz="2100" smtClean="0"/>
              <a:t>为表达式的</a:t>
            </a:r>
            <a:r>
              <a:rPr lang="zh-CN" altLang="en-US" sz="2100" b="1" smtClean="0"/>
              <a:t>前缀表示法</a:t>
            </a:r>
            <a:r>
              <a:rPr lang="zh-CN" altLang="en-US" sz="2100" smtClean="0"/>
              <a:t>（简称</a:t>
            </a:r>
            <a:r>
              <a:rPr lang="zh-CN" altLang="en-US" sz="2100" b="1" smtClean="0"/>
              <a:t>前缀式</a:t>
            </a:r>
            <a:r>
              <a:rPr lang="zh-CN" altLang="en-US" sz="2100" smtClean="0"/>
              <a:t>）</a:t>
            </a:r>
            <a:br>
              <a:rPr lang="zh-CN" altLang="en-US" sz="2100" smtClean="0"/>
            </a:br>
            <a:r>
              <a:rPr lang="zh-CN" altLang="en-US" sz="2100" smtClean="0"/>
              <a:t>　　称 </a:t>
            </a:r>
            <a:r>
              <a:rPr lang="en-US" altLang="zh-CN" sz="2100" smtClean="0"/>
              <a:t>S1 + </a:t>
            </a:r>
            <a:r>
              <a:rPr lang="en-US" altLang="zh-CN" sz="2100" b="1" smtClean="0"/>
              <a:t>OP</a:t>
            </a:r>
            <a:r>
              <a:rPr lang="en-US" altLang="zh-CN" sz="2100" smtClean="0"/>
              <a:t> + S2 </a:t>
            </a:r>
            <a:r>
              <a:rPr lang="zh-CN" altLang="en-US" sz="2100" smtClean="0"/>
              <a:t>为表达式的</a:t>
            </a:r>
            <a:r>
              <a:rPr lang="zh-CN" altLang="en-US" sz="2100" b="1" smtClean="0"/>
              <a:t>中缀表示法</a:t>
            </a:r>
            <a:r>
              <a:rPr lang="zh-CN" altLang="en-US" sz="2100" smtClean="0"/>
              <a:t>（简称</a:t>
            </a:r>
            <a:r>
              <a:rPr lang="zh-CN" altLang="en-US" sz="2100" b="1" smtClean="0"/>
              <a:t>中缀式</a:t>
            </a:r>
            <a:r>
              <a:rPr lang="zh-CN" altLang="en-US" sz="2100" smtClean="0"/>
              <a:t>）</a:t>
            </a:r>
            <a:br>
              <a:rPr lang="zh-CN" altLang="en-US" sz="2100" smtClean="0"/>
            </a:br>
            <a:r>
              <a:rPr lang="zh-CN" altLang="en-US" sz="2100" smtClean="0"/>
              <a:t>　　称 </a:t>
            </a:r>
            <a:r>
              <a:rPr lang="en-US" altLang="zh-CN" sz="2100" smtClean="0"/>
              <a:t>S1 + S2 + </a:t>
            </a:r>
            <a:r>
              <a:rPr lang="en-US" altLang="zh-CN" sz="2100" b="1" smtClean="0"/>
              <a:t>OP</a:t>
            </a:r>
            <a:r>
              <a:rPr lang="en-US" altLang="zh-CN" sz="2100" smtClean="0"/>
              <a:t> </a:t>
            </a:r>
            <a:r>
              <a:rPr lang="zh-CN" altLang="en-US" sz="2100" smtClean="0"/>
              <a:t>为表达式的</a:t>
            </a:r>
            <a:r>
              <a:rPr lang="zh-CN" altLang="en-US" sz="2100" b="1" smtClean="0"/>
              <a:t>后缀表示法</a:t>
            </a:r>
            <a:r>
              <a:rPr lang="zh-CN" altLang="en-US" sz="2100" smtClean="0"/>
              <a:t>（简称</a:t>
            </a:r>
            <a:r>
              <a:rPr lang="zh-CN" altLang="en-US" sz="2100" b="1" smtClean="0"/>
              <a:t>后缀式</a:t>
            </a:r>
            <a:r>
              <a:rPr lang="zh-CN" altLang="en-US" sz="2100" smtClean="0"/>
              <a:t>）</a:t>
            </a:r>
            <a:br>
              <a:rPr lang="zh-CN" altLang="en-US" sz="2100" smtClean="0"/>
            </a:br>
            <a:r>
              <a:rPr lang="zh-CN" altLang="en-US" sz="2100" smtClean="0"/>
              <a:t/>
            </a:r>
            <a:br>
              <a:rPr lang="zh-CN" altLang="en-US" sz="2100" smtClean="0"/>
            </a:br>
            <a:r>
              <a:rPr lang="zh-CN" altLang="en-US" sz="2100" smtClean="0"/>
              <a:t>　可见，它以运算符所在不同位置命名的。</a:t>
            </a:r>
          </a:p>
          <a:p>
            <a:pPr eaLnBrk="1" hangingPunct="1">
              <a:lnSpc>
                <a:spcPct val="80000"/>
              </a:lnSpc>
              <a:buFont typeface="Wingdings" panose="05000000000000000000" pitchFamily="2" charset="2"/>
              <a:buNone/>
            </a:pPr>
            <a:endParaRPr lang="zh-CN" altLang="en-US" sz="2100" smtClean="0"/>
          </a:p>
          <a:p>
            <a:pPr eaLnBrk="1" hangingPunct="1">
              <a:lnSpc>
                <a:spcPct val="80000"/>
              </a:lnSpc>
            </a:pPr>
            <a:r>
              <a:rPr lang="zh-CN" altLang="en-US" sz="2100" smtClean="0"/>
              <a:t>对表达式的定义可解释为：</a:t>
            </a:r>
            <a:br>
              <a:rPr lang="zh-CN" altLang="en-US" sz="2100" smtClean="0"/>
            </a:br>
            <a:r>
              <a:rPr lang="zh-CN" altLang="en-US" sz="2100" smtClean="0"/>
              <a:t>　　二元表达式是由（第一）操作数（</a:t>
            </a:r>
            <a:r>
              <a:rPr lang="en-US" altLang="zh-CN" sz="2100" smtClean="0"/>
              <a:t>S1</a:t>
            </a:r>
            <a:r>
              <a:rPr lang="zh-CN" altLang="en-US" sz="2100" smtClean="0"/>
              <a:t>）、运算符（</a:t>
            </a:r>
            <a:r>
              <a:rPr lang="en-US" altLang="zh-CN" sz="2100" smtClean="0"/>
              <a:t>OP</a:t>
            </a:r>
            <a:r>
              <a:rPr lang="zh-CN" altLang="en-US" sz="2100" smtClean="0"/>
              <a:t>）和（第二）操作数（</a:t>
            </a:r>
            <a:r>
              <a:rPr lang="en-US" altLang="zh-CN" sz="2100" smtClean="0"/>
              <a:t>S2</a:t>
            </a:r>
            <a:r>
              <a:rPr lang="zh-CN" altLang="en-US" sz="2100" smtClean="0"/>
              <a:t>）三部分依次联接而成；其中的操作数可以是简单变量，也可以是表达式；而简单变量可以是标识符，也可以是无符号整数。</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527050" y="333375"/>
            <a:ext cx="10321925" cy="863600"/>
          </a:xfrm>
        </p:spPr>
        <p:txBody>
          <a:bodyPr/>
          <a:lstStyle/>
          <a:p>
            <a:pPr eaLnBrk="1" hangingPunct="1"/>
            <a:r>
              <a:rPr lang="zh-CN" altLang="en-US" smtClean="0"/>
              <a:t>表达式求值问题</a:t>
            </a:r>
          </a:p>
        </p:txBody>
      </p:sp>
      <p:sp>
        <p:nvSpPr>
          <p:cNvPr id="81923" name="Rectangle 3"/>
          <p:cNvSpPr>
            <a:spLocks noGrp="1" noChangeArrowheads="1"/>
          </p:cNvSpPr>
          <p:nvPr>
            <p:ph idx="1"/>
          </p:nvPr>
        </p:nvSpPr>
        <p:spPr>
          <a:xfrm>
            <a:off x="527050" y="1773238"/>
            <a:ext cx="10321925" cy="4351337"/>
          </a:xfrm>
        </p:spPr>
        <p:txBody>
          <a:bodyPr/>
          <a:lstStyle/>
          <a:p>
            <a:pPr eaLnBrk="1" hangingPunct="1"/>
            <a:r>
              <a:rPr lang="zh-CN" altLang="en-US" sz="2400" smtClean="0"/>
              <a:t>例如：</a:t>
            </a:r>
            <a:br>
              <a:rPr lang="zh-CN" altLang="en-US" sz="2400" smtClean="0"/>
            </a:br>
            <a:r>
              <a:rPr lang="zh-CN" altLang="en-US" sz="2400" smtClean="0"/>
              <a:t>　　若</a:t>
            </a:r>
            <a:r>
              <a:rPr lang="en-US" altLang="zh-CN" sz="2400" smtClean="0"/>
              <a:t>exp</a:t>
            </a:r>
            <a:r>
              <a:rPr lang="zh-CN" altLang="en-US" sz="2400" smtClean="0"/>
              <a:t>＝</a:t>
            </a:r>
            <a:r>
              <a:rPr lang="en-US" altLang="zh-CN" sz="2400" smtClean="0"/>
              <a:t>a×b+(c-d/e)×f</a:t>
            </a:r>
            <a:r>
              <a:rPr lang="zh-CN" altLang="en-US" sz="2400" smtClean="0"/>
              <a:t>则它的</a:t>
            </a:r>
            <a:br>
              <a:rPr lang="zh-CN" altLang="en-US" sz="2400" smtClean="0"/>
            </a:br>
            <a:r>
              <a:rPr lang="zh-CN" altLang="en-US" sz="2400" smtClean="0"/>
              <a:t>　　前缀式为： </a:t>
            </a:r>
            <a:r>
              <a:rPr lang="en-US" altLang="zh-CN" sz="2400" smtClean="0"/>
              <a:t>+×ab×</a:t>
            </a:r>
            <a:r>
              <a:rPr lang="zh-CN" altLang="en-US" sz="2400" smtClean="0"/>
              <a:t>－</a:t>
            </a:r>
            <a:r>
              <a:rPr lang="en-US" altLang="zh-CN" sz="2400" smtClean="0"/>
              <a:t>c/def </a:t>
            </a:r>
            <a:br>
              <a:rPr lang="en-US" altLang="zh-CN" sz="2400" smtClean="0"/>
            </a:br>
            <a:r>
              <a:rPr lang="zh-CN" altLang="en-US" sz="2400" smtClean="0"/>
              <a:t>　　中缀式为：</a:t>
            </a:r>
            <a:r>
              <a:rPr lang="en-US" altLang="zh-CN" sz="2400" smtClean="0"/>
              <a:t>a×b</a:t>
            </a:r>
            <a:r>
              <a:rPr lang="zh-CN" altLang="en-US" sz="2400" smtClean="0"/>
              <a:t>＋</a:t>
            </a:r>
            <a:r>
              <a:rPr lang="en-US" altLang="zh-CN" sz="2400" smtClean="0"/>
              <a:t>c</a:t>
            </a:r>
            <a:r>
              <a:rPr lang="zh-CN" altLang="en-US" sz="2400" smtClean="0"/>
              <a:t>－</a:t>
            </a:r>
            <a:r>
              <a:rPr lang="en-US" altLang="zh-CN" sz="2400" smtClean="0"/>
              <a:t>d/e×f  </a:t>
            </a:r>
            <a:br>
              <a:rPr lang="en-US" altLang="zh-CN" sz="2400" smtClean="0"/>
            </a:br>
            <a:r>
              <a:rPr lang="zh-CN" altLang="en-US" sz="2400" smtClean="0"/>
              <a:t>　　后缀式为：</a:t>
            </a:r>
            <a:r>
              <a:rPr lang="en-US" altLang="zh-CN" sz="2400" smtClean="0"/>
              <a:t>ab×cde/</a:t>
            </a:r>
            <a:r>
              <a:rPr lang="zh-CN" altLang="en-US" sz="2400" smtClean="0"/>
              <a:t>－</a:t>
            </a:r>
            <a:r>
              <a:rPr lang="en-US" altLang="zh-CN" sz="2400" smtClean="0"/>
              <a:t>f×</a:t>
            </a:r>
            <a:r>
              <a:rPr lang="zh-CN" altLang="en-US" sz="2400" smtClean="0"/>
              <a:t>＋ </a:t>
            </a:r>
          </a:p>
          <a:p>
            <a:pPr eaLnBrk="1" hangingPunct="1"/>
            <a:r>
              <a:rPr lang="zh-CN" altLang="en-US" sz="2400" smtClean="0"/>
              <a:t>因为表达式是递归定义的，则它的转换也是递归的，如此例的后缀式的转换过程。</a:t>
            </a:r>
            <a:r>
              <a:rPr lang="zh-CN" altLang="en-US" sz="2600" smtClean="0"/>
              <a:t/>
            </a:r>
            <a:br>
              <a:rPr lang="zh-CN" altLang="en-US" sz="2600" smtClean="0"/>
            </a:br>
            <a:r>
              <a:rPr lang="zh-CN" altLang="en-US" sz="2600" smtClean="0"/>
              <a:t> </a:t>
            </a:r>
            <a:br>
              <a:rPr lang="zh-CN" altLang="en-US" sz="2600" smtClean="0"/>
            </a:br>
            <a:endParaRPr lang="zh-CN" altLang="en-US" sz="2600" smtClean="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527050" y="333375"/>
            <a:ext cx="10321925" cy="863600"/>
          </a:xfrm>
        </p:spPr>
        <p:txBody>
          <a:bodyPr/>
          <a:lstStyle/>
          <a:p>
            <a:pPr eaLnBrk="1" hangingPunct="1"/>
            <a:r>
              <a:rPr lang="zh-CN" altLang="en-US" smtClean="0"/>
              <a:t>表达式求值问题</a:t>
            </a:r>
          </a:p>
        </p:txBody>
      </p:sp>
      <p:sp>
        <p:nvSpPr>
          <p:cNvPr id="82947" name="Rectangle 3"/>
          <p:cNvSpPr>
            <a:spLocks noGrp="1" noChangeArrowheads="1"/>
          </p:cNvSpPr>
          <p:nvPr>
            <p:ph idx="1"/>
          </p:nvPr>
        </p:nvSpPr>
        <p:spPr>
          <a:xfrm>
            <a:off x="527050" y="1773238"/>
            <a:ext cx="10321925" cy="4351337"/>
          </a:xfrm>
        </p:spPr>
        <p:txBody>
          <a:bodyPr/>
          <a:lstStyle/>
          <a:p>
            <a:pPr eaLnBrk="1" hangingPunct="1">
              <a:lnSpc>
                <a:spcPct val="80000"/>
              </a:lnSpc>
            </a:pPr>
            <a:r>
              <a:rPr lang="zh-CN" altLang="en-US" sz="2100" smtClean="0"/>
              <a:t>如何由原表达式转换成后缀式？</a:t>
            </a:r>
            <a:br>
              <a:rPr lang="zh-CN" altLang="en-US" sz="2100" smtClean="0"/>
            </a:br>
            <a:r>
              <a:rPr lang="zh-CN" altLang="en-US" sz="2100" smtClean="0"/>
              <a:t>　　先分析一下</a:t>
            </a:r>
            <a:r>
              <a:rPr lang="zh-CN" altLang="en-US" sz="2100" smtClean="0">
                <a:latin typeface="Arial" panose="020B0604020202020204" pitchFamily="34" charset="0"/>
              </a:rPr>
              <a:t>“</a:t>
            </a:r>
            <a:r>
              <a:rPr lang="zh-CN" altLang="en-US" sz="2100" smtClean="0"/>
              <a:t>原表达式</a:t>
            </a:r>
            <a:r>
              <a:rPr lang="zh-CN" altLang="en-US" sz="2100" smtClean="0">
                <a:latin typeface="Arial" panose="020B0604020202020204" pitchFamily="34" charset="0"/>
              </a:rPr>
              <a:t>”</a:t>
            </a:r>
            <a:r>
              <a:rPr lang="zh-CN" altLang="en-US" sz="2100" smtClean="0"/>
              <a:t>和</a:t>
            </a:r>
            <a:r>
              <a:rPr lang="zh-CN" altLang="en-US" sz="2100" smtClean="0">
                <a:latin typeface="Arial" panose="020B0604020202020204" pitchFamily="34" charset="0"/>
              </a:rPr>
              <a:t>“</a:t>
            </a:r>
            <a:r>
              <a:rPr lang="zh-CN" altLang="en-US" sz="2100" smtClean="0"/>
              <a:t>后缀式</a:t>
            </a:r>
            <a:r>
              <a:rPr lang="zh-CN" altLang="en-US" sz="2100" smtClean="0">
                <a:latin typeface="Arial" panose="020B0604020202020204" pitchFamily="34" charset="0"/>
              </a:rPr>
              <a:t>”</a:t>
            </a:r>
            <a:r>
              <a:rPr lang="zh-CN" altLang="en-US" sz="2100" smtClean="0"/>
              <a:t>两者中运算符出现的次序有什么不同。</a:t>
            </a:r>
            <a:br>
              <a:rPr lang="zh-CN" altLang="en-US" sz="2100" smtClean="0"/>
            </a:br>
            <a:r>
              <a:rPr lang="zh-CN" altLang="en-US" sz="2100" smtClean="0"/>
              <a:t>  </a:t>
            </a:r>
            <a:r>
              <a:rPr lang="zh-CN" altLang="en-US" sz="2100" b="1" smtClean="0"/>
              <a:t>例一</a:t>
            </a:r>
            <a:r>
              <a:rPr lang="zh-CN" altLang="en-US" sz="2100" smtClean="0"/>
              <a:t/>
            </a:r>
            <a:br>
              <a:rPr lang="zh-CN" altLang="en-US" sz="2100" smtClean="0"/>
            </a:br>
            <a:r>
              <a:rPr lang="zh-CN" altLang="en-US" sz="2100" smtClean="0"/>
              <a:t>　　原表达式：</a:t>
            </a:r>
            <a:r>
              <a:rPr lang="en-US" altLang="zh-CN" sz="2100" smtClean="0"/>
              <a:t>a×b/c×d</a:t>
            </a:r>
            <a:r>
              <a:rPr lang="zh-CN" altLang="en-US" sz="2100" smtClean="0"/>
              <a:t>－</a:t>
            </a:r>
            <a:r>
              <a:rPr lang="en-US" altLang="zh-CN" sz="2100" smtClean="0"/>
              <a:t>e</a:t>
            </a:r>
            <a:r>
              <a:rPr lang="zh-CN" altLang="en-US" sz="2100" smtClean="0"/>
              <a:t>＋</a:t>
            </a:r>
            <a:r>
              <a:rPr lang="en-US" altLang="zh-CN" sz="2100" smtClean="0"/>
              <a:t>f </a:t>
            </a:r>
            <a:br>
              <a:rPr lang="en-US" altLang="zh-CN" sz="2100" smtClean="0"/>
            </a:br>
            <a:r>
              <a:rPr lang="zh-CN" altLang="en-US" sz="2100" smtClean="0"/>
              <a:t>　　　后缀式： </a:t>
            </a:r>
            <a:r>
              <a:rPr lang="en-US" altLang="zh-CN" sz="2100" smtClean="0"/>
              <a:t>ab×c/d×e</a:t>
            </a:r>
            <a:r>
              <a:rPr lang="zh-CN" altLang="en-US" sz="2100" smtClean="0"/>
              <a:t>－</a:t>
            </a:r>
            <a:r>
              <a:rPr lang="en-US" altLang="zh-CN" sz="2100" smtClean="0"/>
              <a:t>f</a:t>
            </a:r>
            <a:r>
              <a:rPr lang="zh-CN" altLang="en-US" sz="2100" smtClean="0"/>
              <a:t>＋</a:t>
            </a:r>
            <a:br>
              <a:rPr lang="zh-CN" altLang="en-US" sz="2100" smtClean="0"/>
            </a:br>
            <a:r>
              <a:rPr lang="zh-CN" altLang="en-US" sz="2100" smtClean="0"/>
              <a:t>  </a:t>
            </a:r>
            <a:r>
              <a:rPr lang="zh-CN" altLang="en-US" sz="2100" b="1" smtClean="0"/>
              <a:t>例二</a:t>
            </a:r>
            <a:r>
              <a:rPr lang="zh-CN" altLang="en-US" sz="2100" smtClean="0"/>
              <a:t/>
            </a:r>
            <a:br>
              <a:rPr lang="zh-CN" altLang="en-US" sz="2100" smtClean="0"/>
            </a:br>
            <a:r>
              <a:rPr lang="zh-CN" altLang="en-US" sz="2100" smtClean="0"/>
              <a:t>　　原表达式： </a:t>
            </a:r>
            <a:r>
              <a:rPr lang="en-US" altLang="zh-CN" sz="2100" smtClean="0"/>
              <a:t>a</a:t>
            </a:r>
            <a:r>
              <a:rPr lang="zh-CN" altLang="en-US" sz="2100" smtClean="0"/>
              <a:t>＋</a:t>
            </a:r>
            <a:r>
              <a:rPr lang="en-US" altLang="zh-CN" sz="2100" smtClean="0"/>
              <a:t>b×c</a:t>
            </a:r>
            <a:r>
              <a:rPr lang="zh-CN" altLang="en-US" sz="2100" smtClean="0"/>
              <a:t>－</a:t>
            </a:r>
            <a:r>
              <a:rPr lang="en-US" altLang="zh-CN" sz="2100" smtClean="0"/>
              <a:t>d/e×f</a:t>
            </a:r>
            <a:br>
              <a:rPr lang="en-US" altLang="zh-CN" sz="2100" smtClean="0"/>
            </a:br>
            <a:r>
              <a:rPr lang="zh-CN" altLang="en-US" sz="2100" smtClean="0"/>
              <a:t>　　　后缀式：</a:t>
            </a:r>
            <a:r>
              <a:rPr lang="en-US" altLang="zh-CN" sz="2100" smtClean="0"/>
              <a:t>abc×</a:t>
            </a:r>
            <a:r>
              <a:rPr lang="zh-CN" altLang="en-US" sz="2100" smtClean="0"/>
              <a:t>＋</a:t>
            </a:r>
            <a:r>
              <a:rPr lang="en-US" altLang="zh-CN" sz="2100" smtClean="0"/>
              <a:t>de/f×</a:t>
            </a:r>
            <a:r>
              <a:rPr lang="zh-CN" altLang="en-US" sz="2100" smtClean="0"/>
              <a:t>－ </a:t>
            </a:r>
            <a:br>
              <a:rPr lang="zh-CN" altLang="en-US" sz="2100" smtClean="0"/>
            </a:br>
            <a:r>
              <a:rPr lang="zh-CN" altLang="en-US" sz="2100" smtClean="0"/>
              <a:t>　</a:t>
            </a:r>
            <a:r>
              <a:rPr lang="zh-CN" altLang="en-US" sz="2100" smtClean="0">
                <a:latin typeface="Arial" panose="020B0604020202020204" pitchFamily="34" charset="0"/>
              </a:rPr>
              <a:t> </a:t>
            </a:r>
            <a:r>
              <a:rPr lang="zh-CN" altLang="en-US" sz="2100" smtClean="0"/>
              <a:t>　</a:t>
            </a:r>
            <a:br>
              <a:rPr lang="zh-CN" altLang="en-US" sz="2100" smtClean="0"/>
            </a:br>
            <a:r>
              <a:rPr lang="zh-CN" altLang="en-US" sz="2100" smtClean="0"/>
              <a:t/>
            </a:r>
            <a:br>
              <a:rPr lang="zh-CN" altLang="en-US" sz="2100" smtClean="0"/>
            </a:br>
            <a:r>
              <a:rPr lang="zh-CN" altLang="en-US" sz="2100" smtClean="0"/>
              <a:t>　　为什么在例一的后缀式中运算符出现的先后次序和原表达式中是相同的？而同样这几个运算，在例二的后缀式中运算符出现的次序就和原表达式中的不同呢？</a:t>
            </a:r>
            <a:r>
              <a:rPr lang="zh-CN" altLang="en-US" sz="2100" smtClean="0">
                <a:latin typeface="Arial" panose="020B0604020202020204" pitchFamily="34" charset="0"/>
              </a:rPr>
              <a:t>  </a:t>
            </a:r>
            <a:r>
              <a:rPr lang="zh-CN" altLang="en-US" sz="2100" smtClean="0"/>
              <a:t>　　</a:t>
            </a:r>
          </a:p>
        </p:txBody>
      </p:sp>
      <p:sp>
        <p:nvSpPr>
          <p:cNvPr id="179204" name="AutoShape 4"/>
          <p:cNvSpPr>
            <a:spLocks noChangeArrowheads="1"/>
          </p:cNvSpPr>
          <p:nvPr/>
        </p:nvSpPr>
        <p:spPr bwMode="auto">
          <a:xfrm>
            <a:off x="7248525" y="765175"/>
            <a:ext cx="3168650" cy="3671888"/>
          </a:xfrm>
          <a:prstGeom prst="wedgeRectCallout">
            <a:avLst>
              <a:gd name="adj1" fmla="val -76227"/>
              <a:gd name="adj2" fmla="val 41356"/>
            </a:avLst>
          </a:prstGeom>
          <a:solidFill>
            <a:schemeClr val="bg1"/>
          </a:solidFill>
          <a:ln w="9525">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latin typeface="华文楷体" panose="02010600040101010101" pitchFamily="2" charset="-122"/>
                <a:ea typeface="华文楷体" panose="02010600040101010101" pitchFamily="2" charset="-122"/>
              </a:rPr>
              <a:t>例一原表达式中运算符出现的先后次序恰为运算的顺序，自然在后缀式中它们出现的次序和原表达式相同。但例二中运算符出现的先后次序不应该是它的运算顺序。按照算术运算规则，先出现的</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加法</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应在在它之后出现的</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乘法</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完成之后进行，而应该在后面出现的</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减法</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之前进行；同理，后面一个</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乘法</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应后于在它之前出现的</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除法</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进行，而先于在它之前的</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减法</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进行。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79204"/>
                                        </p:tgtEl>
                                        <p:attrNameLst>
                                          <p:attrName>style.visibility</p:attrName>
                                        </p:attrNameLst>
                                      </p:cBhvr>
                                      <p:to>
                                        <p:strVal val="visible"/>
                                      </p:to>
                                    </p:set>
                                    <p:animEffect transition="in" filter="wedge">
                                      <p:cBhvr>
                                        <p:cTn id="7" dur="2000"/>
                                        <p:tgtEl>
                                          <p:spTgt spid="1792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xit" presetSubtype="16" fill="hold" grpId="1" nodeType="clickEffect">
                                  <p:stCondLst>
                                    <p:cond delay="0"/>
                                  </p:stCondLst>
                                  <p:childTnLst>
                                    <p:animEffect transition="out" filter="box(in)">
                                      <p:cBhvr>
                                        <p:cTn id="11" dur="500"/>
                                        <p:tgtEl>
                                          <p:spTgt spid="179204"/>
                                        </p:tgtEl>
                                      </p:cBhvr>
                                    </p:animEffect>
                                    <p:set>
                                      <p:cBhvr>
                                        <p:cTn id="12" dur="1" fill="hold">
                                          <p:stCondLst>
                                            <p:cond delay="499"/>
                                          </p:stCondLst>
                                        </p:cTn>
                                        <p:tgtEl>
                                          <p:spTgt spid="1792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animBg="1"/>
      <p:bldP spid="179204"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527050" y="333375"/>
            <a:ext cx="10321925" cy="863600"/>
          </a:xfrm>
        </p:spPr>
        <p:txBody>
          <a:bodyPr/>
          <a:lstStyle/>
          <a:p>
            <a:pPr eaLnBrk="1" hangingPunct="1"/>
            <a:r>
              <a:rPr lang="zh-CN" altLang="en-US" smtClean="0"/>
              <a:t>表达式求值问题</a:t>
            </a:r>
          </a:p>
        </p:txBody>
      </p:sp>
      <p:sp>
        <p:nvSpPr>
          <p:cNvPr id="83971" name="Rectangle 3"/>
          <p:cNvSpPr>
            <a:spLocks noGrp="1" noChangeArrowheads="1"/>
          </p:cNvSpPr>
          <p:nvPr>
            <p:ph idx="1"/>
          </p:nvPr>
        </p:nvSpPr>
        <p:spPr>
          <a:xfrm>
            <a:off x="527050" y="1773238"/>
            <a:ext cx="10321925" cy="4351337"/>
          </a:xfrm>
        </p:spPr>
        <p:txBody>
          <a:bodyPr/>
          <a:lstStyle/>
          <a:p>
            <a:pPr eaLnBrk="1" hangingPunct="1">
              <a:lnSpc>
                <a:spcPct val="80000"/>
              </a:lnSpc>
            </a:pPr>
            <a:r>
              <a:rPr lang="zh-CN" altLang="en-US" sz="1900" smtClean="0"/>
              <a:t>综合比较它们之间的关系可得下列结论：</a:t>
            </a:r>
            <a:br>
              <a:rPr lang="zh-CN" altLang="en-US" sz="1900" smtClean="0"/>
            </a:br>
            <a:r>
              <a:rPr lang="zh-CN" altLang="en-US" sz="1900" smtClean="0"/>
              <a:t>　</a:t>
            </a:r>
            <a:r>
              <a:rPr lang="en-US" altLang="zh-CN" sz="1900" smtClean="0"/>
              <a:t>1</a:t>
            </a:r>
            <a:r>
              <a:rPr lang="zh-CN" altLang="en-US" sz="1900" smtClean="0"/>
              <a:t>．三式中的 </a:t>
            </a:r>
            <a:r>
              <a:rPr lang="zh-CN" altLang="en-US" sz="1900" smtClean="0">
                <a:latin typeface="Arial" panose="020B0604020202020204" pitchFamily="34" charset="0"/>
              </a:rPr>
              <a:t>“</a:t>
            </a:r>
            <a:r>
              <a:rPr lang="zh-CN" altLang="en-US" sz="1900" smtClean="0"/>
              <a:t>操作数之间的相对次序相同</a:t>
            </a:r>
            <a:r>
              <a:rPr lang="zh-CN" altLang="en-US" sz="1900" smtClean="0">
                <a:latin typeface="Arial" panose="020B0604020202020204" pitchFamily="34" charset="0"/>
              </a:rPr>
              <a:t>”</a:t>
            </a:r>
            <a:r>
              <a:rPr lang="zh-CN" altLang="en-US" sz="1900" smtClean="0"/>
              <a:t>；</a:t>
            </a:r>
            <a:br>
              <a:rPr lang="zh-CN" altLang="en-US" sz="1900" smtClean="0"/>
            </a:br>
            <a:r>
              <a:rPr lang="zh-CN" altLang="en-US" sz="1900" smtClean="0"/>
              <a:t>　</a:t>
            </a:r>
            <a:r>
              <a:rPr lang="en-US" altLang="zh-CN" sz="1900" smtClean="0"/>
              <a:t>2</a:t>
            </a:r>
            <a:r>
              <a:rPr lang="zh-CN" altLang="en-US" sz="1900" smtClean="0"/>
              <a:t>．三式中的 </a:t>
            </a:r>
            <a:r>
              <a:rPr lang="zh-CN" altLang="en-US" sz="1900" smtClean="0">
                <a:latin typeface="Arial" panose="020B0604020202020204" pitchFamily="34" charset="0"/>
              </a:rPr>
              <a:t>“</a:t>
            </a:r>
            <a:r>
              <a:rPr lang="zh-CN" altLang="en-US" sz="1900" smtClean="0"/>
              <a:t>运算符之间的的相对次序不同</a:t>
            </a:r>
            <a:r>
              <a:rPr lang="zh-CN" altLang="en-US" sz="1900" smtClean="0">
                <a:latin typeface="Arial" panose="020B0604020202020204" pitchFamily="34" charset="0"/>
              </a:rPr>
              <a:t>”</a:t>
            </a:r>
            <a:r>
              <a:rPr lang="zh-CN" altLang="en-US" sz="1900" smtClean="0"/>
              <a:t>；</a:t>
            </a:r>
            <a:br>
              <a:rPr lang="zh-CN" altLang="en-US" sz="1900" smtClean="0"/>
            </a:br>
            <a:r>
              <a:rPr lang="zh-CN" altLang="en-US" sz="1900" smtClean="0"/>
              <a:t>　</a:t>
            </a:r>
            <a:r>
              <a:rPr lang="en-US" altLang="zh-CN" sz="1900" smtClean="0"/>
              <a:t>3</a:t>
            </a:r>
            <a:r>
              <a:rPr lang="zh-CN" altLang="en-US" sz="1900" smtClean="0"/>
              <a:t>．中缀式丢失了括弧信息，致使运算的次序不确定；</a:t>
            </a:r>
            <a:br>
              <a:rPr lang="zh-CN" altLang="en-US" sz="1900" smtClean="0"/>
            </a:br>
            <a:r>
              <a:rPr lang="zh-CN" altLang="en-US" sz="1900" smtClean="0"/>
              <a:t>　</a:t>
            </a:r>
            <a:r>
              <a:rPr lang="en-US" altLang="zh-CN" sz="1900" smtClean="0"/>
              <a:t>4</a:t>
            </a:r>
            <a:r>
              <a:rPr lang="zh-CN" altLang="en-US" sz="1900" smtClean="0"/>
              <a:t>．前缀式的运算规则为：连续出现的两个操作数和在它们之前且紧靠它们的运算符构成一个最小表达式；</a:t>
            </a:r>
            <a:br>
              <a:rPr lang="zh-CN" altLang="en-US" sz="1900" smtClean="0"/>
            </a:br>
            <a:r>
              <a:rPr lang="zh-CN" altLang="en-US" sz="1900" smtClean="0"/>
              <a:t>　</a:t>
            </a:r>
            <a:r>
              <a:rPr lang="en-US" altLang="zh-CN" sz="1900" smtClean="0"/>
              <a:t>5</a:t>
            </a:r>
            <a:r>
              <a:rPr lang="zh-CN" altLang="en-US" sz="1900" smtClean="0"/>
              <a:t>．后缀式的运算规则为：</a:t>
            </a:r>
            <a:endParaRPr lang="en-US" altLang="zh-CN" sz="1900" smtClean="0"/>
          </a:p>
          <a:p>
            <a:pPr lvl="1" eaLnBrk="1" hangingPunct="1">
              <a:lnSpc>
                <a:spcPct val="80000"/>
              </a:lnSpc>
            </a:pPr>
            <a:r>
              <a:rPr lang="zh-CN" altLang="en-US" sz="1500" smtClean="0"/>
              <a:t>运算符在式中出现的顺序恰为表达式的运算顺序；</a:t>
            </a:r>
            <a:endParaRPr lang="en-US" altLang="zh-CN" sz="1500" smtClean="0"/>
          </a:p>
          <a:p>
            <a:pPr lvl="1" eaLnBrk="1" hangingPunct="1">
              <a:lnSpc>
                <a:spcPct val="80000"/>
              </a:lnSpc>
            </a:pPr>
            <a:r>
              <a:rPr lang="zh-CN" altLang="en-US" sz="1500" smtClean="0"/>
              <a:t>每个运算符和在它之前出现且紧靠它的两个操作数构成一个最小表达式；</a:t>
            </a:r>
            <a:endParaRPr lang="en-US" altLang="zh-CN" sz="1500" smtClean="0"/>
          </a:p>
          <a:p>
            <a:pPr eaLnBrk="1" hangingPunct="1">
              <a:lnSpc>
                <a:spcPct val="80000"/>
              </a:lnSpc>
            </a:pPr>
            <a:r>
              <a:rPr lang="zh-CN" altLang="en-US" sz="1900" smtClean="0"/>
              <a:t>以下就分</a:t>
            </a:r>
            <a:r>
              <a:rPr lang="en-US" altLang="zh-CN" sz="1900" smtClean="0"/>
              <a:t>"</a:t>
            </a:r>
            <a:r>
              <a:rPr lang="zh-CN" altLang="en-US" sz="1900" smtClean="0"/>
              <a:t>如何按后缀式进行运算</a:t>
            </a:r>
            <a:r>
              <a:rPr lang="en-US" altLang="zh-CN" sz="1900" smtClean="0"/>
              <a:t>"</a:t>
            </a:r>
            <a:r>
              <a:rPr lang="zh-CN" altLang="en-US" sz="1900" smtClean="0"/>
              <a:t>和</a:t>
            </a:r>
            <a:r>
              <a:rPr lang="en-US" altLang="zh-CN" sz="1900" smtClean="0"/>
              <a:t>"</a:t>
            </a:r>
            <a:r>
              <a:rPr lang="zh-CN" altLang="en-US" sz="1900" smtClean="0"/>
              <a:t>如何将原表达式转换成后缀式</a:t>
            </a:r>
            <a:r>
              <a:rPr lang="en-US" altLang="zh-CN" sz="1900" smtClean="0"/>
              <a:t>"</a:t>
            </a:r>
            <a:r>
              <a:rPr lang="zh-CN" altLang="en-US" sz="1900" smtClean="0"/>
              <a:t>两个问题进行讨论。</a:t>
            </a:r>
            <a:br>
              <a:rPr lang="zh-CN" altLang="en-US" sz="1900" smtClean="0"/>
            </a:br>
            <a:r>
              <a:rPr lang="zh-CN" altLang="en-US" sz="1900" smtClean="0"/>
              <a:t>　</a:t>
            </a:r>
            <a:r>
              <a:rPr lang="en-US" altLang="zh-CN" sz="1900" smtClean="0"/>
              <a:t>1</a:t>
            </a:r>
            <a:r>
              <a:rPr lang="zh-CN" altLang="en-US" sz="1900" smtClean="0"/>
              <a:t>．即转换过程中不改变原表达式中操作数之间的相对次序；</a:t>
            </a:r>
            <a:br>
              <a:rPr lang="zh-CN" altLang="en-US" sz="1900" smtClean="0"/>
            </a:br>
            <a:r>
              <a:rPr lang="zh-CN" altLang="en-US" sz="1900" smtClean="0"/>
              <a:t>　</a:t>
            </a:r>
            <a:r>
              <a:rPr lang="en-US" altLang="zh-CN" sz="1900" smtClean="0"/>
              <a:t>2</a:t>
            </a:r>
            <a:r>
              <a:rPr lang="zh-CN" altLang="en-US" sz="1900" smtClean="0"/>
              <a:t>．即转换过程主要是改变原表达式中各个运算符之间的相对次序；</a:t>
            </a:r>
            <a:br>
              <a:rPr lang="zh-CN" altLang="en-US" sz="1900" smtClean="0"/>
            </a:br>
            <a:r>
              <a:rPr lang="zh-CN" altLang="en-US" sz="1900" smtClean="0"/>
              <a:t>　</a:t>
            </a:r>
            <a:r>
              <a:rPr lang="en-US" altLang="zh-CN" sz="1900" smtClean="0"/>
              <a:t>3</a:t>
            </a:r>
            <a:r>
              <a:rPr lang="zh-CN" altLang="en-US" sz="1900" smtClean="0"/>
              <a:t>．因此，中缀式没什么用；</a:t>
            </a:r>
            <a:br>
              <a:rPr lang="zh-CN" altLang="en-US" sz="1900" smtClean="0"/>
            </a:br>
            <a:r>
              <a:rPr lang="zh-CN" altLang="en-US" sz="1900" smtClean="0"/>
              <a:t>　</a:t>
            </a:r>
            <a:r>
              <a:rPr lang="en-US" altLang="zh-CN" sz="1900" smtClean="0"/>
              <a:t>4</a:t>
            </a:r>
            <a:r>
              <a:rPr lang="zh-CN" altLang="en-US" sz="1900" smtClean="0"/>
              <a:t>．虽然前缀式中已经没有原表达式中的括弧，但它已经包含了原表达式中运算的规则；</a:t>
            </a:r>
            <a:br>
              <a:rPr lang="zh-CN" altLang="en-US" sz="1900" smtClean="0"/>
            </a:br>
            <a:r>
              <a:rPr lang="zh-CN" altLang="en-US" sz="1900" smtClean="0"/>
              <a:t>　</a:t>
            </a:r>
            <a:r>
              <a:rPr lang="en-US" altLang="zh-CN" sz="1900" smtClean="0"/>
              <a:t>5</a:t>
            </a:r>
            <a:r>
              <a:rPr lang="zh-CN" altLang="en-US" sz="1900" smtClean="0"/>
              <a:t>．若将原表达式转换成它的后缀式，那么我们就可以按后缀式中运算符出现的先后次序来对表达式进行运算了。　</a:t>
            </a:r>
            <a:r>
              <a:rPr lang="zh-CN" altLang="en-US" sz="1900" smtClean="0">
                <a:latin typeface="Arial" panose="020B0604020202020204" pitchFamily="34" charset="0"/>
              </a:rPr>
              <a:t>  </a:t>
            </a:r>
            <a:r>
              <a:rPr lang="zh-CN" altLang="en-US" sz="1900" smtClean="0"/>
              <a:t>　　</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527050" y="333375"/>
            <a:ext cx="10321925" cy="863600"/>
          </a:xfrm>
        </p:spPr>
        <p:txBody>
          <a:bodyPr/>
          <a:lstStyle/>
          <a:p>
            <a:pPr eaLnBrk="1" hangingPunct="1"/>
            <a:r>
              <a:rPr lang="zh-CN" altLang="en-US" smtClean="0"/>
              <a:t>表达式求值问题</a:t>
            </a:r>
          </a:p>
        </p:txBody>
      </p:sp>
      <p:sp>
        <p:nvSpPr>
          <p:cNvPr id="84995" name="Rectangle 3"/>
          <p:cNvSpPr>
            <a:spLocks noGrp="1" noChangeArrowheads="1"/>
          </p:cNvSpPr>
          <p:nvPr>
            <p:ph idx="1"/>
          </p:nvPr>
        </p:nvSpPr>
        <p:spPr>
          <a:xfrm>
            <a:off x="527050" y="1700213"/>
            <a:ext cx="10321925" cy="4351337"/>
          </a:xfrm>
        </p:spPr>
        <p:txBody>
          <a:bodyPr/>
          <a:lstStyle/>
          <a:p>
            <a:pPr eaLnBrk="1" hangingPunct="1"/>
            <a:r>
              <a:rPr lang="zh-CN" altLang="en-US" sz="2400" smtClean="0"/>
              <a:t>如何按后缀式进行运算？</a:t>
            </a:r>
            <a:br>
              <a:rPr lang="zh-CN" altLang="en-US" sz="2400" smtClean="0"/>
            </a:br>
            <a:r>
              <a:rPr lang="zh-CN" altLang="en-US" sz="2400" smtClean="0"/>
              <a:t>可以用两句话来归纳它的求值规则：</a:t>
            </a:r>
            <a:br>
              <a:rPr lang="zh-CN" altLang="en-US" sz="2400" smtClean="0"/>
            </a:br>
            <a:r>
              <a:rPr lang="zh-CN" altLang="en-US" sz="2400" smtClean="0">
                <a:latin typeface="Arial" panose="020B0604020202020204" pitchFamily="34" charset="0"/>
              </a:rPr>
              <a:t>“</a:t>
            </a:r>
            <a:r>
              <a:rPr lang="zh-CN" altLang="en-US" sz="2400" smtClean="0"/>
              <a:t>先找运算符，后找操作数。</a:t>
            </a:r>
            <a:r>
              <a:rPr lang="zh-CN" altLang="en-US" sz="2400" smtClean="0">
                <a:latin typeface="Arial" panose="020B0604020202020204" pitchFamily="34" charset="0"/>
              </a:rPr>
              <a:t>”</a:t>
            </a:r>
            <a:endParaRPr lang="zh-CN" altLang="en-US" sz="2400" smtClean="0"/>
          </a:p>
          <a:p>
            <a:pPr eaLnBrk="1" hangingPunct="1"/>
            <a:r>
              <a:rPr lang="zh-CN" altLang="en-US" sz="2400" smtClean="0"/>
              <a:t>从这个例子的运算过程可见，运算过程为：对后缀式从左向右</a:t>
            </a:r>
            <a:r>
              <a:rPr lang="en-US" altLang="zh-CN" sz="2400" smtClean="0"/>
              <a:t>"</a:t>
            </a:r>
            <a:r>
              <a:rPr lang="zh-CN" altLang="en-US" sz="2400" smtClean="0"/>
              <a:t>扫描</a:t>
            </a:r>
            <a:r>
              <a:rPr lang="en-US" altLang="zh-CN" sz="2400" smtClean="0"/>
              <a:t>"</a:t>
            </a:r>
            <a:r>
              <a:rPr lang="zh-CN" altLang="en-US" sz="2400" smtClean="0"/>
              <a:t>，遇见操作数则暂时保存，遇见运算符即可进行运算；此时参加运算的两个操作数应该是在它之前刚刚碰到的两个操作数，并且先出现的是第一操作数，后出现的是第二操作数。由此可见，在运算过程中保存操作数的结构应该是个栈。 </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527050" y="333375"/>
            <a:ext cx="10321925" cy="863600"/>
          </a:xfrm>
        </p:spPr>
        <p:txBody>
          <a:bodyPr/>
          <a:lstStyle/>
          <a:p>
            <a:pPr eaLnBrk="1" hangingPunct="1"/>
            <a:r>
              <a:rPr lang="zh-CN" altLang="en-US" smtClean="0"/>
              <a:t>表达式求值问题</a:t>
            </a:r>
          </a:p>
        </p:txBody>
      </p:sp>
      <p:sp>
        <p:nvSpPr>
          <p:cNvPr id="93187" name="Rectangle 3"/>
          <p:cNvSpPr>
            <a:spLocks noGrp="1" noChangeArrowheads="1"/>
          </p:cNvSpPr>
          <p:nvPr>
            <p:ph idx="1"/>
          </p:nvPr>
        </p:nvSpPr>
        <p:spPr>
          <a:xfrm>
            <a:off x="527050" y="1773238"/>
            <a:ext cx="10321925" cy="4351337"/>
          </a:xfrm>
        </p:spPr>
        <p:txBody>
          <a:bodyPr rtlCol="0">
            <a:normAutofit/>
          </a:bodyPr>
          <a:lstStyle/>
          <a:p>
            <a:pPr eaLnBrk="1" fontAlgn="auto" hangingPunct="1">
              <a:lnSpc>
                <a:spcPct val="80000"/>
              </a:lnSpc>
              <a:spcAft>
                <a:spcPts val="0"/>
              </a:spcAft>
              <a:defRPr/>
            </a:pPr>
            <a:r>
              <a:rPr lang="zh-CN" altLang="en-US" sz="2100" dirty="0"/>
              <a:t>因此，从原表达式求得后缀式的规则为：</a:t>
            </a:r>
          </a:p>
          <a:p>
            <a:pPr marL="0" indent="0" eaLnBrk="1" fontAlgn="auto" hangingPunct="1">
              <a:lnSpc>
                <a:spcPct val="80000"/>
              </a:lnSpc>
              <a:spcAft>
                <a:spcPts val="0"/>
              </a:spcAft>
              <a:buFont typeface="Wingdings" panose="05000000000000000000" pitchFamily="2" charset="2"/>
              <a:buNone/>
              <a:defRPr/>
            </a:pPr>
            <a:r>
              <a:rPr lang="zh-CN" altLang="en-US" sz="2100" dirty="0"/>
              <a:t>　　</a:t>
            </a:r>
            <a:r>
              <a:rPr lang="en-US" altLang="zh-CN" sz="2100" dirty="0"/>
              <a:t>1) </a:t>
            </a:r>
            <a:r>
              <a:rPr lang="zh-CN" altLang="en-US" sz="2100" dirty="0"/>
              <a:t>设立运算符</a:t>
            </a:r>
            <a:r>
              <a:rPr lang="zh-CN" altLang="en-US" sz="2100" b="1" dirty="0"/>
              <a:t>栈</a:t>
            </a:r>
            <a:r>
              <a:rPr lang="zh-CN" altLang="en-US" sz="2100" dirty="0"/>
              <a:t>；</a:t>
            </a:r>
            <a:br>
              <a:rPr lang="zh-CN" altLang="en-US" sz="2100" dirty="0"/>
            </a:br>
            <a:r>
              <a:rPr lang="zh-CN" altLang="en-US" sz="2100" dirty="0"/>
              <a:t>　　</a:t>
            </a:r>
            <a:r>
              <a:rPr lang="en-US" altLang="zh-CN" sz="2100" dirty="0"/>
              <a:t>2) </a:t>
            </a:r>
            <a:r>
              <a:rPr lang="zh-CN" altLang="en-US" sz="2100" dirty="0"/>
              <a:t>设表达式的结束符为</a:t>
            </a:r>
            <a:r>
              <a:rPr lang="en-US" altLang="zh-CN" sz="2100" dirty="0"/>
              <a:t>"#"</a:t>
            </a:r>
            <a:r>
              <a:rPr lang="zh-CN" altLang="en-US" sz="2100" dirty="0"/>
              <a:t>，预设运算符栈的栈底为</a:t>
            </a:r>
            <a:r>
              <a:rPr lang="en-US" altLang="zh-CN" sz="2100" dirty="0"/>
              <a:t>"#"</a:t>
            </a:r>
            <a:r>
              <a:rPr lang="zh-CN" altLang="en-US" sz="2100" dirty="0"/>
              <a:t>；</a:t>
            </a:r>
            <a:br>
              <a:rPr lang="zh-CN" altLang="en-US" sz="2100" dirty="0"/>
            </a:br>
            <a:r>
              <a:rPr lang="zh-CN" altLang="en-US" sz="2100" dirty="0"/>
              <a:t>　　</a:t>
            </a:r>
            <a:r>
              <a:rPr lang="en-US" altLang="zh-CN" sz="2100" dirty="0"/>
              <a:t>3) </a:t>
            </a:r>
            <a:r>
              <a:rPr lang="zh-CN" altLang="en-US" sz="2100" dirty="0"/>
              <a:t>若当前字符是操作数，则直接发送给后缀式；</a:t>
            </a:r>
            <a:br>
              <a:rPr lang="zh-CN" altLang="en-US" sz="2100" dirty="0"/>
            </a:br>
            <a:r>
              <a:rPr lang="zh-CN" altLang="en-US" sz="2100" dirty="0"/>
              <a:t>　　</a:t>
            </a:r>
            <a:r>
              <a:rPr lang="en-US" altLang="zh-CN" sz="2100" dirty="0"/>
              <a:t>4) </a:t>
            </a:r>
            <a:r>
              <a:rPr lang="zh-CN" altLang="en-US" sz="2100" dirty="0"/>
              <a:t>若当前字符为运算符且优先数大于栈顶运算符，则进栈，否则退出栈顶运算符发送给后缀式；</a:t>
            </a:r>
            <a:br>
              <a:rPr lang="zh-CN" altLang="en-US" sz="2100" dirty="0"/>
            </a:br>
            <a:r>
              <a:rPr lang="zh-CN" altLang="en-US" sz="2100" dirty="0"/>
              <a:t>　　</a:t>
            </a:r>
            <a:r>
              <a:rPr lang="en-US" altLang="zh-CN" sz="2100" dirty="0"/>
              <a:t>5) </a:t>
            </a:r>
            <a:r>
              <a:rPr lang="zh-CN" altLang="en-US" sz="2100" dirty="0"/>
              <a:t>若当前字符是结束符，则自栈顶至栈底依次将栈中所有运算符发送给后缀式；</a:t>
            </a:r>
            <a:br>
              <a:rPr lang="zh-CN" altLang="en-US" sz="2100" dirty="0"/>
            </a:br>
            <a:r>
              <a:rPr lang="zh-CN" altLang="en-US" sz="2100" dirty="0"/>
              <a:t>　　</a:t>
            </a:r>
            <a:r>
              <a:rPr lang="en-US" altLang="zh-CN" sz="2100" dirty="0"/>
              <a:t>6) "("</a:t>
            </a:r>
            <a:r>
              <a:rPr lang="zh-CN" altLang="en-US" sz="2100" dirty="0"/>
              <a:t>对它之前后的运算符起隔离作用，则若当前运算符为</a:t>
            </a:r>
            <a:r>
              <a:rPr lang="en-US" altLang="zh-CN" sz="2100" dirty="0"/>
              <a:t>"("</a:t>
            </a:r>
            <a:r>
              <a:rPr lang="zh-CN" altLang="en-US" sz="2100" dirty="0"/>
              <a:t>时进栈；</a:t>
            </a:r>
            <a:br>
              <a:rPr lang="zh-CN" altLang="en-US" sz="2100" dirty="0"/>
            </a:br>
            <a:r>
              <a:rPr lang="zh-CN" altLang="en-US" sz="2100" dirty="0"/>
              <a:t>　　</a:t>
            </a:r>
            <a:r>
              <a:rPr lang="en-US" altLang="zh-CN" sz="2100" dirty="0"/>
              <a:t>7) ")"</a:t>
            </a:r>
            <a:r>
              <a:rPr lang="zh-CN" altLang="en-US" sz="2100" dirty="0"/>
              <a:t>可视为自相应左括弧开始的表达式的结束符，则从栈顶起，依次退出栈顶运算符发送给后缀式直至栈顶字符为</a:t>
            </a:r>
            <a:r>
              <a:rPr lang="en-US" altLang="zh-CN" sz="2100" dirty="0"/>
              <a:t>"("</a:t>
            </a:r>
            <a:r>
              <a:rPr lang="zh-CN" altLang="en-US" sz="2100" dirty="0"/>
              <a:t>止。</a:t>
            </a:r>
            <a:br>
              <a:rPr lang="zh-CN" altLang="en-US" sz="2100" dirty="0"/>
            </a:br>
            <a:endParaRPr lang="zh-CN" altLang="en-US" sz="2100"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527050" y="333375"/>
            <a:ext cx="10321925" cy="863600"/>
          </a:xfrm>
        </p:spPr>
        <p:txBody>
          <a:bodyPr/>
          <a:lstStyle/>
          <a:p>
            <a:pPr eaLnBrk="1" hangingPunct="1"/>
            <a:r>
              <a:rPr lang="zh-CN" altLang="en-US" smtClean="0"/>
              <a:t>表达式求值问题</a:t>
            </a:r>
          </a:p>
        </p:txBody>
      </p:sp>
      <p:sp>
        <p:nvSpPr>
          <p:cNvPr id="87043" name="Rectangle 3"/>
          <p:cNvSpPr>
            <a:spLocks noGrp="1" noChangeArrowheads="1"/>
          </p:cNvSpPr>
          <p:nvPr>
            <p:ph idx="1"/>
          </p:nvPr>
        </p:nvSpPr>
        <p:spPr>
          <a:xfrm>
            <a:off x="527050" y="1341438"/>
            <a:ext cx="10321925" cy="5111750"/>
          </a:xfrm>
        </p:spPr>
        <p:txBody>
          <a:bodyPr/>
          <a:lstStyle/>
          <a:p>
            <a:pPr marL="0" indent="0" eaLnBrk="1" hangingPunct="1">
              <a:lnSpc>
                <a:spcPct val="80000"/>
              </a:lnSpc>
              <a:buFont typeface="Wingdings" panose="05000000000000000000" pitchFamily="2" charset="2"/>
              <a:buNone/>
            </a:pPr>
            <a:r>
              <a:rPr lang="zh-CN" altLang="en-US" sz="1500" b="1" smtClean="0"/>
              <a:t>算法</a:t>
            </a:r>
            <a:r>
              <a:rPr lang="en-US" altLang="zh-CN" sz="1500" b="1" smtClean="0"/>
              <a:t>3.2</a:t>
            </a:r>
            <a:r>
              <a:rPr lang="en-US" altLang="zh-CN" sz="1500" smtClean="0"/>
              <a:t/>
            </a:r>
            <a:br>
              <a:rPr lang="en-US" altLang="zh-CN" sz="1500" smtClean="0"/>
            </a:br>
            <a:r>
              <a:rPr lang="zh-CN" altLang="en-US" sz="1500" smtClean="0"/>
              <a:t>　　</a:t>
            </a:r>
            <a:r>
              <a:rPr lang="en-US" altLang="zh-CN" sz="1500" b="1" smtClean="0"/>
              <a:t>void</a:t>
            </a:r>
            <a:r>
              <a:rPr lang="en-US" altLang="zh-CN" sz="1500" smtClean="0"/>
              <a:t> transform(</a:t>
            </a:r>
            <a:r>
              <a:rPr lang="en-US" altLang="zh-CN" sz="1500" b="1" smtClean="0"/>
              <a:t>char</a:t>
            </a:r>
            <a:r>
              <a:rPr lang="en-US" altLang="zh-CN" sz="1500" smtClean="0"/>
              <a:t> suffix[], </a:t>
            </a:r>
            <a:r>
              <a:rPr lang="en-US" altLang="zh-CN" sz="1500" b="1" smtClean="0"/>
              <a:t>char</a:t>
            </a:r>
            <a:r>
              <a:rPr lang="en-US" altLang="zh-CN" sz="1500" smtClean="0"/>
              <a:t> exp[] ) </a:t>
            </a:r>
            <a:r>
              <a:rPr lang="en-US" altLang="zh-CN" sz="1500" b="1" smtClean="0"/>
              <a:t>{</a:t>
            </a:r>
            <a:r>
              <a:rPr lang="en-US" altLang="zh-CN" sz="1500" smtClean="0"/>
              <a:t/>
            </a:r>
            <a:br>
              <a:rPr lang="en-US" altLang="zh-CN" sz="1500" smtClean="0"/>
            </a:br>
            <a:r>
              <a:rPr lang="zh-CN" altLang="en-US" sz="1500" smtClean="0"/>
              <a:t>　　</a:t>
            </a:r>
            <a:r>
              <a:rPr lang="en-US" altLang="zh-CN" sz="1500" b="1" smtClean="0"/>
              <a:t>// </a:t>
            </a:r>
            <a:r>
              <a:rPr lang="zh-CN" altLang="en-US" sz="1500" b="1" smtClean="0"/>
              <a:t>从合法的表达式字符串 </a:t>
            </a:r>
            <a:r>
              <a:rPr lang="en-US" altLang="zh-CN" sz="1500" b="1" smtClean="0"/>
              <a:t>exp </a:t>
            </a:r>
            <a:r>
              <a:rPr lang="zh-CN" altLang="en-US" sz="1500" b="1" smtClean="0"/>
              <a:t>求得其相应的后缀式 </a:t>
            </a:r>
            <a:r>
              <a:rPr lang="en-US" altLang="zh-CN" sz="1500" b="1" smtClean="0"/>
              <a:t>suffix</a:t>
            </a:r>
            <a:r>
              <a:rPr lang="en-US" altLang="zh-CN" sz="1500" smtClean="0"/>
              <a:t/>
            </a:r>
            <a:br>
              <a:rPr lang="en-US" altLang="zh-CN" sz="1500" smtClean="0"/>
            </a:br>
            <a:r>
              <a:rPr lang="zh-CN" altLang="en-US" sz="1500" smtClean="0"/>
              <a:t>　　</a:t>
            </a:r>
            <a:r>
              <a:rPr lang="en-US" altLang="zh-CN" sz="1500" smtClean="0"/>
              <a:t>InitStack(S); Push(S, # );</a:t>
            </a:r>
            <a:br>
              <a:rPr lang="en-US" altLang="zh-CN" sz="1500" smtClean="0"/>
            </a:br>
            <a:r>
              <a:rPr lang="zh-CN" altLang="en-US" sz="1500" smtClean="0"/>
              <a:t>　　</a:t>
            </a:r>
            <a:r>
              <a:rPr lang="en-US" altLang="zh-CN" sz="1500" smtClean="0"/>
              <a:t>p = exp; ch = *p;</a:t>
            </a:r>
            <a:br>
              <a:rPr lang="en-US" altLang="zh-CN" sz="1500" smtClean="0"/>
            </a:br>
            <a:r>
              <a:rPr lang="zh-CN" altLang="en-US" sz="1500" smtClean="0"/>
              <a:t>　　</a:t>
            </a:r>
            <a:r>
              <a:rPr lang="en-US" altLang="zh-CN" sz="1500" b="1" smtClean="0"/>
              <a:t>while</a:t>
            </a:r>
            <a:r>
              <a:rPr lang="en-US" altLang="zh-CN" sz="1500" smtClean="0"/>
              <a:t> (</a:t>
            </a:r>
            <a:r>
              <a:rPr lang="en-US" altLang="zh-CN" sz="1500" b="1" smtClean="0"/>
              <a:t>!</a:t>
            </a:r>
            <a:r>
              <a:rPr lang="en-US" altLang="zh-CN" sz="1500" smtClean="0"/>
              <a:t>StackEmpty(S)) </a:t>
            </a:r>
            <a:r>
              <a:rPr lang="en-US" altLang="zh-CN" sz="1500" b="1" smtClean="0"/>
              <a:t>{</a:t>
            </a:r>
            <a:r>
              <a:rPr lang="en-US" altLang="zh-CN" sz="1500" smtClean="0">
                <a:latin typeface="Arial" panose="020B0604020202020204" pitchFamily="34" charset="0"/>
              </a:rPr>
              <a:t>    </a:t>
            </a:r>
            <a:r>
              <a:rPr lang="zh-CN" altLang="en-US" sz="1500" smtClean="0"/>
              <a:t>　　　</a:t>
            </a:r>
          </a:p>
          <a:p>
            <a:pPr marL="0" indent="0" eaLnBrk="1" hangingPunct="1">
              <a:lnSpc>
                <a:spcPct val="80000"/>
              </a:lnSpc>
              <a:buFont typeface="Wingdings" panose="05000000000000000000" pitchFamily="2" charset="2"/>
              <a:buNone/>
            </a:pPr>
            <a:r>
              <a:rPr lang="zh-CN" altLang="en-US" sz="1500" smtClean="0"/>
              <a:t>        </a:t>
            </a:r>
            <a:r>
              <a:rPr lang="en-US" altLang="zh-CN" sz="1500" b="1" smtClean="0"/>
              <a:t>if</a:t>
            </a:r>
            <a:r>
              <a:rPr lang="en-US" altLang="zh-CN" sz="1500" smtClean="0"/>
              <a:t> (</a:t>
            </a:r>
            <a:r>
              <a:rPr lang="en-US" altLang="zh-CN" sz="1500" b="1" smtClean="0"/>
              <a:t>!</a:t>
            </a:r>
            <a:r>
              <a:rPr lang="en-US" altLang="zh-CN" sz="1500" smtClean="0"/>
              <a:t>IN(ch, OP)) Pass( suffix, ch);</a:t>
            </a:r>
            <a:r>
              <a:rPr lang="zh-CN" altLang="en-US" sz="1500" smtClean="0"/>
              <a:t>　</a:t>
            </a:r>
            <a:r>
              <a:rPr lang="en-US" altLang="zh-CN" sz="1500" smtClean="0"/>
              <a:t>// </a:t>
            </a:r>
            <a:r>
              <a:rPr lang="zh-CN" altLang="en-US" sz="1500" smtClean="0"/>
              <a:t>直接发送给后缀式</a:t>
            </a:r>
            <a:br>
              <a:rPr lang="zh-CN" altLang="en-US" sz="1500" smtClean="0"/>
            </a:br>
            <a:r>
              <a:rPr lang="zh-CN" altLang="en-US" sz="1500" smtClean="0"/>
              <a:t>　　　</a:t>
            </a:r>
            <a:r>
              <a:rPr lang="en-US" altLang="zh-CN" sz="1500" b="1" smtClean="0"/>
              <a:t>else</a:t>
            </a:r>
            <a:r>
              <a:rPr lang="en-US" altLang="zh-CN" sz="1500" smtClean="0"/>
              <a:t> </a:t>
            </a:r>
            <a:r>
              <a:rPr lang="en-US" altLang="zh-CN" sz="1500" b="1" smtClean="0"/>
              <a:t>{</a:t>
            </a:r>
            <a:r>
              <a:rPr lang="en-US" altLang="zh-CN" sz="1500" smtClean="0"/>
              <a:t/>
            </a:r>
            <a:br>
              <a:rPr lang="en-US" altLang="zh-CN" sz="1500" smtClean="0"/>
            </a:br>
            <a:r>
              <a:rPr lang="zh-CN" altLang="en-US" sz="1500" smtClean="0"/>
              <a:t>　　　　</a:t>
            </a:r>
            <a:r>
              <a:rPr lang="en-US" altLang="zh-CN" sz="1500" b="1" smtClean="0"/>
              <a:t>switch</a:t>
            </a:r>
            <a:r>
              <a:rPr lang="en-US" altLang="zh-CN" sz="1500" smtClean="0"/>
              <a:t> (ch) </a:t>
            </a:r>
            <a:r>
              <a:rPr lang="en-US" altLang="zh-CN" sz="1500" b="1" smtClean="0"/>
              <a:t>{</a:t>
            </a:r>
            <a:r>
              <a:rPr lang="en-US" altLang="zh-CN" sz="1500" smtClean="0"/>
              <a:t/>
            </a:r>
            <a:br>
              <a:rPr lang="en-US" altLang="zh-CN" sz="1500" smtClean="0"/>
            </a:br>
            <a:r>
              <a:rPr lang="zh-CN" altLang="en-US" sz="1500" smtClean="0"/>
              <a:t>　　　　　</a:t>
            </a:r>
            <a:r>
              <a:rPr lang="en-US" altLang="zh-CN" sz="1500" b="1" smtClean="0"/>
              <a:t>case</a:t>
            </a:r>
            <a:r>
              <a:rPr lang="en-US" altLang="zh-CN" sz="1500" smtClean="0"/>
              <a:t> ( </a:t>
            </a:r>
            <a:r>
              <a:rPr lang="en-US" altLang="zh-CN" sz="1500" b="1" smtClean="0"/>
              <a:t>:</a:t>
            </a:r>
            <a:r>
              <a:rPr lang="en-US" altLang="zh-CN" sz="1500" smtClean="0"/>
              <a:t> Push(S, ch); break;</a:t>
            </a:r>
            <a:br>
              <a:rPr lang="en-US" altLang="zh-CN" sz="1500" smtClean="0"/>
            </a:br>
            <a:r>
              <a:rPr lang="zh-CN" altLang="en-US" sz="1500" smtClean="0"/>
              <a:t>　　　　　</a:t>
            </a:r>
            <a:r>
              <a:rPr lang="en-US" altLang="zh-CN" sz="1500" b="1" smtClean="0"/>
              <a:t>case</a:t>
            </a:r>
            <a:r>
              <a:rPr lang="en-US" altLang="zh-CN" sz="1500" smtClean="0"/>
              <a:t> ) </a:t>
            </a:r>
            <a:r>
              <a:rPr lang="en-US" altLang="zh-CN" sz="1500" b="1" smtClean="0"/>
              <a:t>: {</a:t>
            </a:r>
            <a:r>
              <a:rPr lang="en-US" altLang="zh-CN" sz="1500" smtClean="0"/>
              <a:t/>
            </a:r>
            <a:br>
              <a:rPr lang="en-US" altLang="zh-CN" sz="1500" smtClean="0"/>
            </a:br>
            <a:r>
              <a:rPr lang="zh-CN" altLang="en-US" sz="1500" smtClean="0"/>
              <a:t>　　　　　　</a:t>
            </a:r>
            <a:r>
              <a:rPr lang="en-US" altLang="zh-CN" sz="1500" smtClean="0"/>
              <a:t>Pop(S, c);</a:t>
            </a:r>
            <a:br>
              <a:rPr lang="en-US" altLang="zh-CN" sz="1500" smtClean="0"/>
            </a:br>
            <a:r>
              <a:rPr lang="zh-CN" altLang="en-US" sz="1500" smtClean="0"/>
              <a:t>　　　　　　</a:t>
            </a:r>
            <a:r>
              <a:rPr lang="en-US" altLang="zh-CN" sz="1500" b="1" smtClean="0"/>
              <a:t>while</a:t>
            </a:r>
            <a:r>
              <a:rPr lang="en-US" altLang="zh-CN" sz="1500" smtClean="0"/>
              <a:t> (c</a:t>
            </a:r>
            <a:r>
              <a:rPr lang="en-US" altLang="zh-CN" sz="1500" b="1" smtClean="0"/>
              <a:t>!</a:t>
            </a:r>
            <a:r>
              <a:rPr lang="en-US" altLang="zh-CN" sz="1500" smtClean="0"/>
              <a:t>= ( )</a:t>
            </a:r>
            <a:br>
              <a:rPr lang="en-US" altLang="zh-CN" sz="1500" smtClean="0"/>
            </a:br>
            <a:r>
              <a:rPr lang="zh-CN" altLang="en-US" sz="1500" smtClean="0"/>
              <a:t>　　　　　　</a:t>
            </a:r>
            <a:r>
              <a:rPr lang="en-US" altLang="zh-CN" sz="1500" b="1" smtClean="0"/>
              <a:t>{</a:t>
            </a:r>
            <a:r>
              <a:rPr lang="en-US" altLang="zh-CN" sz="1500" smtClean="0"/>
              <a:t> Pass( suffix, c); Pop(S, c) </a:t>
            </a:r>
            <a:r>
              <a:rPr lang="en-US" altLang="zh-CN" sz="1500" b="1" smtClean="0"/>
              <a:t>}</a:t>
            </a:r>
            <a:r>
              <a:rPr lang="en-US" altLang="zh-CN" sz="1500" smtClean="0"/>
              <a:t/>
            </a:r>
            <a:br>
              <a:rPr lang="en-US" altLang="zh-CN" sz="1500" smtClean="0"/>
            </a:br>
            <a:r>
              <a:rPr lang="zh-CN" altLang="en-US" sz="1500" smtClean="0"/>
              <a:t>　　　　　　</a:t>
            </a:r>
            <a:r>
              <a:rPr lang="en-US" altLang="zh-CN" sz="1500" b="1" smtClean="0"/>
              <a:t>break</a:t>
            </a:r>
            <a:r>
              <a:rPr lang="en-US" altLang="zh-CN" sz="1500" smtClean="0"/>
              <a:t>; </a:t>
            </a:r>
            <a:r>
              <a:rPr lang="en-US" altLang="zh-CN" sz="1500" b="1" smtClean="0"/>
              <a:t>}</a:t>
            </a:r>
            <a:r>
              <a:rPr lang="en-US" altLang="zh-CN" sz="1500" smtClean="0"/>
              <a:t/>
            </a:r>
            <a:br>
              <a:rPr lang="en-US" altLang="zh-CN" sz="1500" smtClean="0"/>
            </a:br>
            <a:r>
              <a:rPr lang="zh-CN" altLang="en-US" sz="1500" smtClean="0"/>
              <a:t>　　　　　</a:t>
            </a:r>
            <a:r>
              <a:rPr lang="en-US" altLang="zh-CN" sz="1500" b="1" smtClean="0"/>
              <a:t>defult</a:t>
            </a:r>
            <a:r>
              <a:rPr lang="en-US" altLang="zh-CN" sz="1500" smtClean="0"/>
              <a:t> : </a:t>
            </a:r>
            <a:r>
              <a:rPr lang="en-US" altLang="zh-CN" sz="1500" b="1" smtClean="0"/>
              <a:t>{</a:t>
            </a:r>
            <a:r>
              <a:rPr lang="en-US" altLang="zh-CN" sz="1500" smtClean="0">
                <a:latin typeface="Arial" panose="020B0604020202020204" pitchFamily="34" charset="0"/>
              </a:rPr>
              <a:t> </a:t>
            </a:r>
            <a:r>
              <a:rPr lang="zh-CN" altLang="en-US" sz="1500" smtClean="0"/>
              <a:t>　　　</a:t>
            </a:r>
            <a:r>
              <a:rPr lang="zh-CN" altLang="en-US" sz="1500" smtClean="0">
                <a:latin typeface="Arial" panose="020B0604020202020204" pitchFamily="34" charset="0"/>
              </a:rPr>
              <a:t>  </a:t>
            </a:r>
            <a:r>
              <a:rPr lang="zh-CN" altLang="en-US" sz="1500" smtClean="0"/>
              <a:t>　　　　　　</a:t>
            </a:r>
          </a:p>
          <a:p>
            <a:pPr marL="0" indent="0" eaLnBrk="1" hangingPunct="1">
              <a:lnSpc>
                <a:spcPct val="80000"/>
              </a:lnSpc>
              <a:buFont typeface="Wingdings" panose="05000000000000000000" pitchFamily="2" charset="2"/>
              <a:buNone/>
            </a:pPr>
            <a:r>
              <a:rPr lang="zh-CN" altLang="en-US" sz="1500" b="1" smtClean="0"/>
              <a:t>                  </a:t>
            </a:r>
            <a:r>
              <a:rPr lang="en-US" altLang="zh-CN" sz="1500" b="1" smtClean="0"/>
              <a:t>while</a:t>
            </a:r>
            <a:r>
              <a:rPr lang="en-US" altLang="zh-CN" sz="1500" smtClean="0"/>
              <a:t>(</a:t>
            </a:r>
            <a:r>
              <a:rPr lang="en-US" altLang="zh-CN" sz="1500" b="1" smtClean="0"/>
              <a:t>!</a:t>
            </a:r>
            <a:r>
              <a:rPr lang="en-US" altLang="zh-CN" sz="1500" smtClean="0"/>
              <a:t>Gettop(S, c) </a:t>
            </a:r>
            <a:r>
              <a:rPr lang="en-US" altLang="zh-CN" sz="1500" b="1" smtClean="0"/>
              <a:t>&amp;&amp;</a:t>
            </a:r>
            <a:r>
              <a:rPr lang="en-US" altLang="zh-CN" sz="1500" smtClean="0"/>
              <a:t> ( precede(c,ch)))</a:t>
            </a:r>
            <a:br>
              <a:rPr lang="en-US" altLang="zh-CN" sz="1500" smtClean="0"/>
            </a:br>
            <a:r>
              <a:rPr lang="zh-CN" altLang="en-US" sz="1500" smtClean="0"/>
              <a:t>　　　　　　</a:t>
            </a:r>
            <a:r>
              <a:rPr lang="en-US" altLang="zh-CN" sz="1500" b="1" smtClean="0"/>
              <a:t>{</a:t>
            </a:r>
            <a:r>
              <a:rPr lang="en-US" altLang="zh-CN" sz="1500" smtClean="0"/>
              <a:t> Pass( suffix, c); Pop(S, c); </a:t>
            </a:r>
            <a:r>
              <a:rPr lang="en-US" altLang="zh-CN" sz="1500" b="1" smtClean="0"/>
              <a:t>}</a:t>
            </a:r>
            <a:r>
              <a:rPr lang="en-US" altLang="zh-CN" sz="1500" smtClean="0"/>
              <a:t/>
            </a:r>
            <a:br>
              <a:rPr lang="en-US" altLang="zh-CN" sz="1500" smtClean="0"/>
            </a:br>
            <a:r>
              <a:rPr lang="zh-CN" altLang="en-US" sz="1500" smtClean="0"/>
              <a:t>　　　　　　</a:t>
            </a:r>
            <a:r>
              <a:rPr lang="en-US" altLang="zh-CN" sz="1500" b="1" smtClean="0"/>
              <a:t>if</a:t>
            </a:r>
            <a:r>
              <a:rPr lang="en-US" altLang="zh-CN" sz="1500" smtClean="0"/>
              <a:t> ( ch</a:t>
            </a:r>
            <a:r>
              <a:rPr lang="en-US" altLang="zh-CN" sz="1500" b="1" smtClean="0"/>
              <a:t>!</a:t>
            </a:r>
            <a:r>
              <a:rPr lang="en-US" altLang="zh-CN" sz="1500" smtClean="0"/>
              <a:t>= # ) Push( S, ch); </a:t>
            </a:r>
            <a:br>
              <a:rPr lang="en-US" altLang="zh-CN" sz="1500" smtClean="0"/>
            </a:br>
            <a:r>
              <a:rPr lang="zh-CN" altLang="en-US" sz="1500" smtClean="0"/>
              <a:t>　　　　　　</a:t>
            </a:r>
            <a:r>
              <a:rPr lang="en-US" altLang="zh-CN" sz="1500" b="1" smtClean="0"/>
              <a:t>break</a:t>
            </a:r>
            <a:r>
              <a:rPr lang="en-US" altLang="zh-CN" sz="1500" smtClean="0"/>
              <a:t>;</a:t>
            </a:r>
            <a:br>
              <a:rPr lang="en-US" altLang="zh-CN" sz="1500" smtClean="0"/>
            </a:br>
            <a:r>
              <a:rPr lang="zh-CN" altLang="en-US" sz="1500" smtClean="0"/>
              <a:t>　　　　　</a:t>
            </a:r>
            <a:r>
              <a:rPr lang="en-US" altLang="zh-CN" sz="1500" b="1" smtClean="0"/>
              <a:t>}</a:t>
            </a:r>
            <a:r>
              <a:rPr lang="en-US" altLang="zh-CN" sz="1500" smtClean="0"/>
              <a:t> // defult</a:t>
            </a:r>
            <a:br>
              <a:rPr lang="en-US" altLang="zh-CN" sz="1500" smtClean="0"/>
            </a:br>
            <a:r>
              <a:rPr lang="zh-CN" altLang="en-US" sz="1500" smtClean="0"/>
              <a:t>　　　　</a:t>
            </a:r>
            <a:r>
              <a:rPr lang="en-US" altLang="zh-CN" sz="1500" b="1" smtClean="0"/>
              <a:t>}</a:t>
            </a:r>
            <a:r>
              <a:rPr lang="en-US" altLang="zh-CN" sz="1500" smtClean="0"/>
              <a:t> // switch</a:t>
            </a:r>
            <a:br>
              <a:rPr lang="en-US" altLang="zh-CN" sz="1500" smtClean="0"/>
            </a:br>
            <a:r>
              <a:rPr lang="zh-CN" altLang="en-US" sz="1500" smtClean="0"/>
              <a:t>　　　</a:t>
            </a:r>
            <a:r>
              <a:rPr lang="en-US" altLang="zh-CN" sz="1500" b="1" smtClean="0"/>
              <a:t>}</a:t>
            </a:r>
            <a:r>
              <a:rPr lang="en-US" altLang="zh-CN" sz="1500" smtClean="0"/>
              <a:t> // else</a:t>
            </a:r>
            <a:br>
              <a:rPr lang="en-US" altLang="zh-CN" sz="1500" smtClean="0"/>
            </a:br>
            <a:r>
              <a:rPr lang="zh-CN" altLang="en-US" sz="1500" smtClean="0"/>
              <a:t>　　　</a:t>
            </a:r>
            <a:r>
              <a:rPr lang="en-US" altLang="zh-CN" sz="1500" b="1" smtClean="0"/>
              <a:t>if</a:t>
            </a:r>
            <a:r>
              <a:rPr lang="en-US" altLang="zh-CN" sz="1500" smtClean="0"/>
              <a:t> ( ch</a:t>
            </a:r>
            <a:r>
              <a:rPr lang="en-US" altLang="zh-CN" sz="1500" b="1" smtClean="0"/>
              <a:t>!</a:t>
            </a:r>
            <a:r>
              <a:rPr lang="en-US" altLang="zh-CN" sz="1500" smtClean="0"/>
              <a:t>= # ) </a:t>
            </a:r>
            <a:r>
              <a:rPr lang="en-US" altLang="zh-CN" sz="1500" b="1" smtClean="0"/>
              <a:t>{</a:t>
            </a:r>
            <a:r>
              <a:rPr lang="en-US" altLang="zh-CN" sz="1500" smtClean="0"/>
              <a:t> p++; ch = *p; </a:t>
            </a:r>
            <a:r>
              <a:rPr lang="en-US" altLang="zh-CN" sz="1500" b="1" smtClean="0"/>
              <a:t>}</a:t>
            </a:r>
            <a:r>
              <a:rPr lang="en-US" altLang="zh-CN" sz="1500" smtClean="0"/>
              <a:t/>
            </a:r>
            <a:br>
              <a:rPr lang="en-US" altLang="zh-CN" sz="1500" smtClean="0"/>
            </a:br>
            <a:r>
              <a:rPr lang="zh-CN" altLang="en-US" sz="1500" smtClean="0"/>
              <a:t>　　</a:t>
            </a:r>
            <a:r>
              <a:rPr lang="en-US" altLang="zh-CN" sz="1500" b="1" smtClean="0"/>
              <a:t>}</a:t>
            </a:r>
            <a:r>
              <a:rPr lang="en-US" altLang="zh-CN" sz="1500" smtClean="0"/>
              <a:t> // while</a:t>
            </a:r>
            <a:br>
              <a:rPr lang="en-US" altLang="zh-CN" sz="1500" smtClean="0"/>
            </a:br>
            <a:r>
              <a:rPr lang="zh-CN" altLang="en-US" sz="1500" smtClean="0"/>
              <a:t>　</a:t>
            </a:r>
            <a:r>
              <a:rPr lang="en-US" altLang="zh-CN" sz="1500" b="1" smtClean="0"/>
              <a:t>}</a:t>
            </a:r>
            <a:r>
              <a:rPr lang="en-US" altLang="zh-CN" sz="1500" smtClean="0"/>
              <a:t> // transform</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527050" y="333375"/>
            <a:ext cx="10321925" cy="863600"/>
          </a:xfrm>
        </p:spPr>
        <p:txBody>
          <a:bodyPr/>
          <a:lstStyle/>
          <a:p>
            <a:pPr eaLnBrk="1" hangingPunct="1"/>
            <a:r>
              <a:rPr lang="en-US" altLang="zh-CN" b="1" smtClean="0"/>
              <a:t>3.1.4.2 </a:t>
            </a:r>
            <a:r>
              <a:rPr lang="zh-CN" altLang="en-US" b="1" smtClean="0"/>
              <a:t>栈与递归过程</a:t>
            </a:r>
            <a:endParaRPr lang="zh-CN" altLang="en-US" sz="4400" b="1" smtClean="0"/>
          </a:p>
        </p:txBody>
      </p:sp>
      <p:sp>
        <p:nvSpPr>
          <p:cNvPr id="88067"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z="2100" b="1" smtClean="0">
                <a:solidFill>
                  <a:srgbClr val="FF3300"/>
                </a:solidFill>
              </a:rPr>
              <a:t>[</a:t>
            </a:r>
            <a:r>
              <a:rPr lang="zh-CN" altLang="en-US" sz="2100" b="1" smtClean="0">
                <a:solidFill>
                  <a:srgbClr val="FF3300"/>
                </a:solidFill>
              </a:rPr>
              <a:t>递归的含义</a:t>
            </a:r>
            <a:r>
              <a:rPr lang="en-US" altLang="zh-CN" sz="2100" b="1" smtClean="0">
                <a:solidFill>
                  <a:srgbClr val="FF3300"/>
                </a:solidFill>
              </a:rPr>
              <a:t>]</a:t>
            </a:r>
            <a:r>
              <a:rPr lang="en-US" altLang="zh-CN" sz="2100" smtClean="0"/>
              <a:t> </a:t>
            </a:r>
          </a:p>
          <a:p>
            <a:pPr eaLnBrk="1" hangingPunct="1">
              <a:buFont typeface="Wingdings" panose="05000000000000000000" pitchFamily="2" charset="2"/>
              <a:buNone/>
            </a:pPr>
            <a:r>
              <a:rPr lang="en-US" altLang="zh-CN" sz="2100" smtClean="0"/>
              <a:t>            </a:t>
            </a:r>
            <a:r>
              <a:rPr lang="zh-CN" altLang="en-US" sz="2100" smtClean="0"/>
              <a:t>函数、过程或者数据结构的内部又直接或者间接地由自身定义。</a:t>
            </a:r>
          </a:p>
          <a:p>
            <a:pPr eaLnBrk="1" hangingPunct="1">
              <a:buFont typeface="Wingdings" panose="05000000000000000000" pitchFamily="2" charset="2"/>
              <a:buNone/>
            </a:pPr>
            <a:endParaRPr lang="zh-CN" altLang="en-US" sz="2100" smtClean="0"/>
          </a:p>
          <a:p>
            <a:pPr eaLnBrk="1" hangingPunct="1">
              <a:buFont typeface="Wingdings" panose="05000000000000000000" pitchFamily="2" charset="2"/>
              <a:buNone/>
            </a:pPr>
            <a:r>
              <a:rPr lang="en-US" altLang="zh-CN" sz="2100" b="1" smtClean="0">
                <a:solidFill>
                  <a:srgbClr val="FF3300"/>
                </a:solidFill>
              </a:rPr>
              <a:t>[</a:t>
            </a:r>
            <a:r>
              <a:rPr lang="zh-CN" altLang="en-US" sz="2100" b="1" smtClean="0">
                <a:solidFill>
                  <a:srgbClr val="FF3300"/>
                </a:solidFill>
              </a:rPr>
              <a:t>适合于应用递归的场合</a:t>
            </a:r>
            <a:r>
              <a:rPr lang="en-US" altLang="zh-CN" sz="2100" b="1" smtClean="0">
                <a:solidFill>
                  <a:srgbClr val="FF3300"/>
                </a:solidFill>
              </a:rPr>
              <a:t>]</a:t>
            </a:r>
            <a:endParaRPr lang="en-US" altLang="zh-CN" sz="2100" smtClean="0"/>
          </a:p>
          <a:p>
            <a:pPr lvl="1" eaLnBrk="1" hangingPunct="1"/>
            <a:r>
              <a:rPr lang="zh-CN" altLang="en-US" sz="2200" smtClean="0"/>
              <a:t>规模较大的问题可以化解为规模较小的问题，且二者处理</a:t>
            </a:r>
            <a:r>
              <a:rPr lang="en-US" altLang="zh-CN" sz="2200" smtClean="0"/>
              <a:t>(</a:t>
            </a:r>
            <a:r>
              <a:rPr lang="zh-CN" altLang="en-US" sz="2200" smtClean="0"/>
              <a:t>或定义</a:t>
            </a:r>
            <a:r>
              <a:rPr lang="en-US" altLang="zh-CN" sz="2200" smtClean="0"/>
              <a:t>)</a:t>
            </a:r>
            <a:r>
              <a:rPr lang="zh-CN" altLang="en-US" sz="2200" smtClean="0"/>
              <a:t>的方式一致；</a:t>
            </a:r>
          </a:p>
          <a:p>
            <a:pPr lvl="1" eaLnBrk="1" hangingPunct="1"/>
            <a:r>
              <a:rPr lang="zh-CN" altLang="en-US" sz="2200" smtClean="0"/>
              <a:t>当问题规模降低到一定程度时是可以直接求解的</a:t>
            </a:r>
            <a:r>
              <a:rPr lang="en-US" altLang="zh-CN" sz="2200" smtClean="0"/>
              <a:t>(</a:t>
            </a:r>
            <a:r>
              <a:rPr lang="zh-CN" altLang="en-US" sz="2200" smtClean="0"/>
              <a:t>终止条件</a:t>
            </a:r>
            <a:r>
              <a:rPr lang="en-US" altLang="zh-CN" sz="2200" smtClean="0"/>
              <a:t>)</a:t>
            </a:r>
          </a:p>
          <a:p>
            <a:pPr eaLnBrk="1" hangingPunct="1">
              <a:buFont typeface="Wingdings" panose="05000000000000000000" pitchFamily="2" charset="2"/>
              <a:buNone/>
            </a:pPr>
            <a:r>
              <a:rPr lang="en-US" altLang="zh-CN" sz="2100" smtClean="0"/>
              <a:t>     </a:t>
            </a:r>
            <a:r>
              <a:rPr lang="zh-CN" altLang="en-US" sz="2100" smtClean="0"/>
              <a:t>例</a:t>
            </a:r>
            <a:r>
              <a:rPr lang="en-US" altLang="zh-CN" sz="2100" smtClean="0"/>
              <a:t>1.    </a:t>
            </a:r>
            <a:r>
              <a:rPr lang="zh-CN" altLang="en-US" sz="2100" smtClean="0"/>
              <a:t>阶乘   </a:t>
            </a:r>
            <a:r>
              <a:rPr lang="en-US" altLang="zh-CN" sz="2100" smtClean="0"/>
              <a:t>n!=        1           n=0</a:t>
            </a:r>
          </a:p>
          <a:p>
            <a:pPr eaLnBrk="1" hangingPunct="1">
              <a:buFont typeface="Wingdings" panose="05000000000000000000" pitchFamily="2" charset="2"/>
              <a:buNone/>
            </a:pPr>
            <a:r>
              <a:rPr lang="en-US" altLang="zh-CN" sz="2100" smtClean="0"/>
              <a:t>                                     n</a:t>
            </a:r>
            <a:r>
              <a:rPr lang="en-US" altLang="zh-CN" sz="2100" smtClean="0">
                <a:latin typeface="Arial" panose="020B0604020202020204" pitchFamily="34" charset="0"/>
                <a:sym typeface="Symbol" panose="05050102010706020507" pitchFamily="18" charset="2"/>
              </a:rPr>
              <a:t>×</a:t>
            </a:r>
            <a:r>
              <a:rPr lang="en-US" altLang="zh-CN" sz="2100" smtClean="0">
                <a:sym typeface="Symbol" panose="05050102010706020507" pitchFamily="18" charset="2"/>
              </a:rPr>
              <a:t>(n-1)!     n&gt;0</a:t>
            </a:r>
            <a:endParaRPr lang="en-US" altLang="zh-CN" smtClean="0"/>
          </a:p>
        </p:txBody>
      </p:sp>
      <p:sp>
        <p:nvSpPr>
          <p:cNvPr id="88068" name="AutoShape 4"/>
          <p:cNvSpPr>
            <a:spLocks/>
          </p:cNvSpPr>
          <p:nvPr/>
        </p:nvSpPr>
        <p:spPr bwMode="auto">
          <a:xfrm>
            <a:off x="2855913" y="4292600"/>
            <a:ext cx="76200" cy="533400"/>
          </a:xfrm>
          <a:prstGeom prst="leftBrace">
            <a:avLst>
              <a:gd name="adj1" fmla="val 5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5"/>
          <p:cNvSpPr>
            <a:spLocks noChangeArrowheads="1"/>
          </p:cNvSpPr>
          <p:nvPr/>
        </p:nvSpPr>
        <p:spPr bwMode="auto">
          <a:xfrm>
            <a:off x="3429000" y="2097088"/>
            <a:ext cx="76200" cy="16764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091" name="标题 5"/>
          <p:cNvSpPr>
            <a:spLocks noGrp="1"/>
          </p:cNvSpPr>
          <p:nvPr>
            <p:ph type="title"/>
          </p:nvPr>
        </p:nvSpPr>
        <p:spPr>
          <a:xfrm>
            <a:off x="527050" y="333375"/>
            <a:ext cx="10321925" cy="863600"/>
          </a:xfrm>
        </p:spPr>
        <p:txBody>
          <a:bodyPr/>
          <a:lstStyle/>
          <a:p>
            <a:pPr eaLnBrk="1" hangingPunct="1"/>
            <a:r>
              <a:rPr lang="zh-CN" altLang="en-US" smtClean="0"/>
              <a:t>例</a:t>
            </a:r>
            <a:r>
              <a:rPr lang="en-US" altLang="zh-CN" smtClean="0"/>
              <a:t>2.n</a:t>
            </a:r>
            <a:r>
              <a:rPr lang="zh-CN" altLang="en-US" smtClean="0"/>
              <a:t>阶</a:t>
            </a:r>
            <a:r>
              <a:rPr lang="en-US" altLang="zh-CN" smtClean="0"/>
              <a:t>Hanoi</a:t>
            </a:r>
            <a:r>
              <a:rPr lang="zh-CN" altLang="en-US" smtClean="0"/>
              <a:t>塔问题 </a:t>
            </a:r>
          </a:p>
        </p:txBody>
      </p:sp>
      <p:sp>
        <p:nvSpPr>
          <p:cNvPr id="89092" name="Line 4"/>
          <p:cNvSpPr>
            <a:spLocks noChangeShapeType="1"/>
          </p:cNvSpPr>
          <p:nvPr/>
        </p:nvSpPr>
        <p:spPr bwMode="auto">
          <a:xfrm>
            <a:off x="2438400" y="3773488"/>
            <a:ext cx="3810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093" name="Rectangle 9"/>
          <p:cNvSpPr>
            <a:spLocks noChangeArrowheads="1"/>
          </p:cNvSpPr>
          <p:nvPr/>
        </p:nvSpPr>
        <p:spPr bwMode="auto">
          <a:xfrm>
            <a:off x="2590800" y="3544888"/>
            <a:ext cx="1676400" cy="228600"/>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094" name="Rectangle 10"/>
          <p:cNvSpPr>
            <a:spLocks noChangeArrowheads="1"/>
          </p:cNvSpPr>
          <p:nvPr/>
        </p:nvSpPr>
        <p:spPr bwMode="auto">
          <a:xfrm>
            <a:off x="2667000" y="3316288"/>
            <a:ext cx="1524000" cy="228600"/>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095" name="Rectangle 11"/>
          <p:cNvSpPr>
            <a:spLocks noChangeArrowheads="1"/>
          </p:cNvSpPr>
          <p:nvPr/>
        </p:nvSpPr>
        <p:spPr bwMode="auto">
          <a:xfrm>
            <a:off x="2819400" y="3087688"/>
            <a:ext cx="1219200" cy="228600"/>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096" name="Rectangle 13"/>
          <p:cNvSpPr>
            <a:spLocks noChangeArrowheads="1"/>
          </p:cNvSpPr>
          <p:nvPr/>
        </p:nvSpPr>
        <p:spPr bwMode="auto">
          <a:xfrm>
            <a:off x="2895600" y="2859088"/>
            <a:ext cx="1066800" cy="228600"/>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097" name="Rectangle 14"/>
          <p:cNvSpPr>
            <a:spLocks noChangeArrowheads="1"/>
          </p:cNvSpPr>
          <p:nvPr/>
        </p:nvSpPr>
        <p:spPr bwMode="auto">
          <a:xfrm>
            <a:off x="2971800" y="2630488"/>
            <a:ext cx="914400" cy="228600"/>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098" name="Text Box 15"/>
          <p:cNvSpPr txBox="1">
            <a:spLocks noChangeArrowheads="1"/>
          </p:cNvSpPr>
          <p:nvPr/>
        </p:nvSpPr>
        <p:spPr bwMode="auto">
          <a:xfrm>
            <a:off x="2209800" y="2554288"/>
            <a:ext cx="3048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1600">
                <a:latin typeface="Times New Roman" panose="02020603050405020304" pitchFamily="18" charset="0"/>
                <a:ea typeface="楷体_GB2312" panose="02010609030101010101" pitchFamily="49" charset="-122"/>
              </a:rPr>
              <a:t>12. .n</a:t>
            </a:r>
            <a:endParaRPr kumimoji="1" lang="en-US" altLang="zh-CN" sz="2000">
              <a:latin typeface="Times New Roman" panose="02020603050405020304" pitchFamily="18" charset="0"/>
              <a:ea typeface="楷体_GB2312" panose="02010609030101010101" pitchFamily="49" charset="-122"/>
            </a:endParaRPr>
          </a:p>
        </p:txBody>
      </p:sp>
      <p:grpSp>
        <p:nvGrpSpPr>
          <p:cNvPr id="2" name="Group 30"/>
          <p:cNvGrpSpPr>
            <a:grpSpLocks/>
          </p:cNvGrpSpPr>
          <p:nvPr/>
        </p:nvGrpSpPr>
        <p:grpSpPr bwMode="auto">
          <a:xfrm>
            <a:off x="6400800" y="4383088"/>
            <a:ext cx="3962400" cy="2228850"/>
            <a:chOff x="2928" y="2400"/>
            <a:chExt cx="2496" cy="1404"/>
          </a:xfrm>
        </p:grpSpPr>
        <p:sp>
          <p:nvSpPr>
            <p:cNvPr id="89145" name="Line 19"/>
            <p:cNvSpPr>
              <a:spLocks noChangeShapeType="1"/>
            </p:cNvSpPr>
            <p:nvPr/>
          </p:nvSpPr>
          <p:spPr bwMode="auto">
            <a:xfrm>
              <a:off x="2928" y="3744"/>
              <a:ext cx="24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46" name="Rectangle 20"/>
            <p:cNvSpPr>
              <a:spLocks noChangeArrowheads="1"/>
            </p:cNvSpPr>
            <p:nvPr/>
          </p:nvSpPr>
          <p:spPr bwMode="auto">
            <a:xfrm>
              <a:off x="4656" y="2688"/>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47" name="Rectangle 21"/>
            <p:cNvSpPr>
              <a:spLocks noChangeArrowheads="1"/>
            </p:cNvSpPr>
            <p:nvPr/>
          </p:nvSpPr>
          <p:spPr bwMode="auto">
            <a:xfrm>
              <a:off x="3984" y="2688"/>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48" name="Rectangle 22"/>
            <p:cNvSpPr>
              <a:spLocks noChangeArrowheads="1"/>
            </p:cNvSpPr>
            <p:nvPr/>
          </p:nvSpPr>
          <p:spPr bwMode="auto">
            <a:xfrm>
              <a:off x="3312" y="2688"/>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49" name="Text Box 23"/>
            <p:cNvSpPr txBox="1">
              <a:spLocks noChangeArrowheads="1"/>
            </p:cNvSpPr>
            <p:nvPr/>
          </p:nvSpPr>
          <p:spPr bwMode="auto">
            <a:xfrm>
              <a:off x="3072" y="2400"/>
              <a:ext cx="18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X                Y               Z</a:t>
              </a:r>
            </a:p>
          </p:txBody>
        </p:sp>
        <p:sp>
          <p:nvSpPr>
            <p:cNvPr id="89150" name="Rectangle 24"/>
            <p:cNvSpPr>
              <a:spLocks noChangeArrowheads="1"/>
            </p:cNvSpPr>
            <p:nvPr/>
          </p:nvSpPr>
          <p:spPr bwMode="auto">
            <a:xfrm>
              <a:off x="4176" y="3600"/>
              <a:ext cx="1056"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51" name="Rectangle 25"/>
            <p:cNvSpPr>
              <a:spLocks noChangeArrowheads="1"/>
            </p:cNvSpPr>
            <p:nvPr/>
          </p:nvSpPr>
          <p:spPr bwMode="auto">
            <a:xfrm>
              <a:off x="4224" y="3456"/>
              <a:ext cx="960"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52" name="Rectangle 26"/>
            <p:cNvSpPr>
              <a:spLocks noChangeArrowheads="1"/>
            </p:cNvSpPr>
            <p:nvPr/>
          </p:nvSpPr>
          <p:spPr bwMode="auto">
            <a:xfrm>
              <a:off x="4320" y="3312"/>
              <a:ext cx="768"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53" name="Rectangle 27"/>
            <p:cNvSpPr>
              <a:spLocks noChangeArrowheads="1"/>
            </p:cNvSpPr>
            <p:nvPr/>
          </p:nvSpPr>
          <p:spPr bwMode="auto">
            <a:xfrm>
              <a:off x="4368" y="3168"/>
              <a:ext cx="672"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54" name="Rectangle 28"/>
            <p:cNvSpPr>
              <a:spLocks noChangeArrowheads="1"/>
            </p:cNvSpPr>
            <p:nvPr/>
          </p:nvSpPr>
          <p:spPr bwMode="auto">
            <a:xfrm>
              <a:off x="4416" y="3024"/>
              <a:ext cx="576"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55" name="Text Box 29"/>
            <p:cNvSpPr txBox="1">
              <a:spLocks noChangeArrowheads="1"/>
            </p:cNvSpPr>
            <p:nvPr/>
          </p:nvSpPr>
          <p:spPr bwMode="auto">
            <a:xfrm>
              <a:off x="5232" y="2976"/>
              <a:ext cx="192"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1600">
                  <a:latin typeface="Times New Roman" panose="02020603050405020304" pitchFamily="18" charset="0"/>
                  <a:ea typeface="楷体_GB2312" panose="02010609030101010101" pitchFamily="49" charset="-122"/>
                </a:rPr>
                <a:t>12. .n</a:t>
              </a:r>
              <a:endParaRPr kumimoji="1" lang="en-US" altLang="zh-CN" sz="2000">
                <a:latin typeface="Times New Roman" panose="02020603050405020304" pitchFamily="18" charset="0"/>
                <a:ea typeface="楷体_GB2312" panose="02010609030101010101" pitchFamily="49" charset="-122"/>
              </a:endParaRPr>
            </a:p>
          </p:txBody>
        </p:sp>
      </p:grpSp>
      <p:sp>
        <p:nvSpPr>
          <p:cNvPr id="89100" name="Rectangle 6"/>
          <p:cNvSpPr>
            <a:spLocks noChangeArrowheads="1"/>
          </p:cNvSpPr>
          <p:nvPr/>
        </p:nvSpPr>
        <p:spPr bwMode="auto">
          <a:xfrm>
            <a:off x="4572000" y="2097088"/>
            <a:ext cx="76200" cy="16764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01" name="Rectangle 7"/>
          <p:cNvSpPr>
            <a:spLocks noChangeArrowheads="1"/>
          </p:cNvSpPr>
          <p:nvPr/>
        </p:nvSpPr>
        <p:spPr bwMode="auto">
          <a:xfrm>
            <a:off x="5486400" y="2097088"/>
            <a:ext cx="76200" cy="16764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02" name="Text Box 16"/>
          <p:cNvSpPr txBox="1">
            <a:spLocks noChangeArrowheads="1"/>
          </p:cNvSpPr>
          <p:nvPr/>
        </p:nvSpPr>
        <p:spPr bwMode="auto">
          <a:xfrm>
            <a:off x="3276600" y="1639888"/>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X                Y              Z</a:t>
            </a:r>
          </a:p>
        </p:txBody>
      </p:sp>
      <p:sp>
        <p:nvSpPr>
          <p:cNvPr id="98322" name="AutoShape 18"/>
          <p:cNvSpPr>
            <a:spLocks noChangeArrowheads="1"/>
          </p:cNvSpPr>
          <p:nvPr/>
        </p:nvSpPr>
        <p:spPr bwMode="auto">
          <a:xfrm rot="5400000">
            <a:off x="7029450" y="2763838"/>
            <a:ext cx="762000" cy="11049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4779 h 21600"/>
              <a:gd name="T14" fmla="*/ 20210 w 21600"/>
              <a:gd name="T15" fmla="*/ 7379 h 21600"/>
            </a:gdLst>
            <a:ahLst/>
            <a:cxnLst>
              <a:cxn ang="T8">
                <a:pos x="T0" y="T1"/>
              </a:cxn>
              <a:cxn ang="T9">
                <a:pos x="T2" y="T3"/>
              </a:cxn>
              <a:cxn ang="T10">
                <a:pos x="T4" y="T5"/>
              </a:cxn>
              <a:cxn ang="T11">
                <a:pos x="T6" y="T7"/>
              </a:cxn>
            </a:cxnLst>
            <a:rect l="T12" t="T13" r="T14" b="T15"/>
            <a:pathLst>
              <a:path w="21600" h="21600">
                <a:moveTo>
                  <a:pt x="21600" y="6079"/>
                </a:moveTo>
                <a:lnTo>
                  <a:pt x="15099" y="0"/>
                </a:lnTo>
                <a:lnTo>
                  <a:pt x="15099" y="4779"/>
                </a:lnTo>
                <a:lnTo>
                  <a:pt x="12427" y="4779"/>
                </a:lnTo>
                <a:cubicBezTo>
                  <a:pt x="5564" y="4779"/>
                  <a:pt x="0" y="8083"/>
                  <a:pt x="0" y="12158"/>
                </a:cubicBezTo>
                <a:lnTo>
                  <a:pt x="0" y="21600"/>
                </a:lnTo>
                <a:lnTo>
                  <a:pt x="2658" y="21600"/>
                </a:lnTo>
                <a:lnTo>
                  <a:pt x="2658" y="12158"/>
                </a:lnTo>
                <a:cubicBezTo>
                  <a:pt x="2658" y="9519"/>
                  <a:pt x="7032" y="7379"/>
                  <a:pt x="12427" y="7379"/>
                </a:cubicBezTo>
                <a:lnTo>
                  <a:pt x="15099" y="7379"/>
                </a:lnTo>
                <a:lnTo>
                  <a:pt x="15099" y="12158"/>
                </a:lnTo>
                <a:lnTo>
                  <a:pt x="21600" y="6079"/>
                </a:lnTo>
                <a:close/>
              </a:path>
            </a:pathLst>
          </a:custGeom>
          <a:solidFill>
            <a:schemeClr val="folHlink"/>
          </a:solidFill>
          <a:ln w="9525">
            <a:solidFill>
              <a:schemeClr val="tx1"/>
            </a:solidFill>
            <a:miter lim="800000"/>
            <a:headEnd/>
            <a:tailEnd/>
          </a:ln>
        </p:spPr>
        <p:txBody>
          <a:bodyPr wrap="none" anchor="ctr"/>
          <a:lstStyle/>
          <a:p>
            <a:endParaRPr lang="zh-CN" altLang="en-US"/>
          </a:p>
        </p:txBody>
      </p:sp>
      <p:grpSp>
        <p:nvGrpSpPr>
          <p:cNvPr id="3" name="Group 87"/>
          <p:cNvGrpSpPr>
            <a:grpSpLocks/>
          </p:cNvGrpSpPr>
          <p:nvPr/>
        </p:nvGrpSpPr>
        <p:grpSpPr bwMode="auto">
          <a:xfrm>
            <a:off x="3810000" y="3925888"/>
            <a:ext cx="6629400" cy="2743200"/>
            <a:chOff x="1104" y="2112"/>
            <a:chExt cx="4176" cy="1728"/>
          </a:xfrm>
        </p:grpSpPr>
        <p:sp>
          <p:nvSpPr>
            <p:cNvPr id="89132" name="Rectangle 88"/>
            <p:cNvSpPr>
              <a:spLocks noChangeArrowheads="1"/>
            </p:cNvSpPr>
            <p:nvPr/>
          </p:nvSpPr>
          <p:spPr bwMode="auto">
            <a:xfrm>
              <a:off x="1104" y="2112"/>
              <a:ext cx="4176" cy="172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33" name="Line 89"/>
            <p:cNvSpPr>
              <a:spLocks noChangeShapeType="1"/>
            </p:cNvSpPr>
            <p:nvPr/>
          </p:nvSpPr>
          <p:spPr bwMode="auto">
            <a:xfrm>
              <a:off x="1344" y="3696"/>
              <a:ext cx="36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34" name="Rectangle 90"/>
            <p:cNvSpPr>
              <a:spLocks noChangeArrowheads="1"/>
            </p:cNvSpPr>
            <p:nvPr/>
          </p:nvSpPr>
          <p:spPr bwMode="auto">
            <a:xfrm>
              <a:off x="4368" y="2640"/>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35" name="Rectangle 91"/>
            <p:cNvSpPr>
              <a:spLocks noChangeArrowheads="1"/>
            </p:cNvSpPr>
            <p:nvPr/>
          </p:nvSpPr>
          <p:spPr bwMode="auto">
            <a:xfrm>
              <a:off x="3216" y="2640"/>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36" name="Rectangle 92"/>
            <p:cNvSpPr>
              <a:spLocks noChangeArrowheads="1"/>
            </p:cNvSpPr>
            <p:nvPr/>
          </p:nvSpPr>
          <p:spPr bwMode="auto">
            <a:xfrm>
              <a:off x="1968" y="2640"/>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37" name="Text Box 93"/>
            <p:cNvSpPr txBox="1">
              <a:spLocks noChangeArrowheads="1"/>
            </p:cNvSpPr>
            <p:nvPr/>
          </p:nvSpPr>
          <p:spPr bwMode="auto">
            <a:xfrm>
              <a:off x="2544" y="3120"/>
              <a:ext cx="288" cy="58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1</a:t>
              </a:r>
              <a:endParaRPr kumimoji="1" lang="en-US" altLang="zh-CN" sz="1600">
                <a:latin typeface="Times New Roman" panose="02020603050405020304" pitchFamily="18" charset="0"/>
                <a:ea typeface="宋体" panose="02010600030101010101" pitchFamily="2" charset="-122"/>
              </a:endParaRP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2</a:t>
              </a: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a:t>
              </a: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a:t>
              </a: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n-1</a:t>
              </a:r>
              <a:endParaRPr kumimoji="1" lang="en-US" altLang="zh-CN" sz="1600">
                <a:latin typeface="Times New Roman" panose="02020603050405020304" pitchFamily="18" charset="0"/>
                <a:ea typeface="宋体" panose="02010600030101010101" pitchFamily="2" charset="-122"/>
              </a:endParaRPr>
            </a:p>
          </p:txBody>
        </p:sp>
        <p:sp>
          <p:nvSpPr>
            <p:cNvPr id="89138" name="Rectangle 94"/>
            <p:cNvSpPr>
              <a:spLocks noChangeArrowheads="1"/>
            </p:cNvSpPr>
            <p:nvPr/>
          </p:nvSpPr>
          <p:spPr bwMode="auto">
            <a:xfrm>
              <a:off x="2784" y="3552"/>
              <a:ext cx="960"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39" name="Rectangle 95"/>
            <p:cNvSpPr>
              <a:spLocks noChangeArrowheads="1"/>
            </p:cNvSpPr>
            <p:nvPr/>
          </p:nvSpPr>
          <p:spPr bwMode="auto">
            <a:xfrm>
              <a:off x="2880" y="3408"/>
              <a:ext cx="768"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40" name="Rectangle 96"/>
            <p:cNvSpPr>
              <a:spLocks noChangeArrowheads="1"/>
            </p:cNvSpPr>
            <p:nvPr/>
          </p:nvSpPr>
          <p:spPr bwMode="auto">
            <a:xfrm>
              <a:off x="2928" y="3264"/>
              <a:ext cx="672"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41" name="Rectangle 97"/>
            <p:cNvSpPr>
              <a:spLocks noChangeArrowheads="1"/>
            </p:cNvSpPr>
            <p:nvPr/>
          </p:nvSpPr>
          <p:spPr bwMode="auto">
            <a:xfrm>
              <a:off x="2976" y="3120"/>
              <a:ext cx="576"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42" name="Text Box 98"/>
            <p:cNvSpPr txBox="1">
              <a:spLocks noChangeArrowheads="1"/>
            </p:cNvSpPr>
            <p:nvPr/>
          </p:nvSpPr>
          <p:spPr bwMode="auto">
            <a:xfrm>
              <a:off x="1920" y="2304"/>
              <a:ext cx="2688" cy="2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X                            Y                        Z</a:t>
              </a:r>
            </a:p>
          </p:txBody>
        </p:sp>
        <p:sp>
          <p:nvSpPr>
            <p:cNvPr id="89143" name="Text Box 99"/>
            <p:cNvSpPr txBox="1">
              <a:spLocks noChangeArrowheads="1"/>
            </p:cNvSpPr>
            <p:nvPr/>
          </p:nvSpPr>
          <p:spPr bwMode="auto">
            <a:xfrm>
              <a:off x="1200" y="3504"/>
              <a:ext cx="336" cy="19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1400">
                  <a:latin typeface="Times New Roman" panose="02020603050405020304" pitchFamily="18" charset="0"/>
                  <a:ea typeface="宋体" panose="02010600030101010101" pitchFamily="2" charset="-122"/>
                </a:rPr>
                <a:t>n</a:t>
              </a:r>
            </a:p>
          </p:txBody>
        </p:sp>
        <p:sp>
          <p:nvSpPr>
            <p:cNvPr id="89144" name="Rectangle 100"/>
            <p:cNvSpPr>
              <a:spLocks noChangeArrowheads="1"/>
            </p:cNvSpPr>
            <p:nvPr/>
          </p:nvSpPr>
          <p:spPr bwMode="auto">
            <a:xfrm>
              <a:off x="1488" y="3552"/>
              <a:ext cx="1008"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grpSp>
      <p:grpSp>
        <p:nvGrpSpPr>
          <p:cNvPr id="4" name="Group 101"/>
          <p:cNvGrpSpPr>
            <a:grpSpLocks/>
          </p:cNvGrpSpPr>
          <p:nvPr/>
        </p:nvGrpSpPr>
        <p:grpSpPr bwMode="auto">
          <a:xfrm>
            <a:off x="3810000" y="3925888"/>
            <a:ext cx="6629400" cy="2743200"/>
            <a:chOff x="1104" y="2112"/>
            <a:chExt cx="4176" cy="1728"/>
          </a:xfrm>
        </p:grpSpPr>
        <p:sp>
          <p:nvSpPr>
            <p:cNvPr id="89119" name="Rectangle 102"/>
            <p:cNvSpPr>
              <a:spLocks noChangeArrowheads="1"/>
            </p:cNvSpPr>
            <p:nvPr/>
          </p:nvSpPr>
          <p:spPr bwMode="auto">
            <a:xfrm>
              <a:off x="1104" y="2112"/>
              <a:ext cx="4176" cy="172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20" name="Line 103"/>
            <p:cNvSpPr>
              <a:spLocks noChangeShapeType="1"/>
            </p:cNvSpPr>
            <p:nvPr/>
          </p:nvSpPr>
          <p:spPr bwMode="auto">
            <a:xfrm>
              <a:off x="1344" y="3696"/>
              <a:ext cx="36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21" name="Rectangle 104"/>
            <p:cNvSpPr>
              <a:spLocks noChangeArrowheads="1"/>
            </p:cNvSpPr>
            <p:nvPr/>
          </p:nvSpPr>
          <p:spPr bwMode="auto">
            <a:xfrm>
              <a:off x="4368" y="2640"/>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22" name="Rectangle 105"/>
            <p:cNvSpPr>
              <a:spLocks noChangeArrowheads="1"/>
            </p:cNvSpPr>
            <p:nvPr/>
          </p:nvSpPr>
          <p:spPr bwMode="auto">
            <a:xfrm>
              <a:off x="3216" y="2640"/>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23" name="Rectangle 106"/>
            <p:cNvSpPr>
              <a:spLocks noChangeArrowheads="1"/>
            </p:cNvSpPr>
            <p:nvPr/>
          </p:nvSpPr>
          <p:spPr bwMode="auto">
            <a:xfrm>
              <a:off x="1968" y="2640"/>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24" name="Text Box 107"/>
            <p:cNvSpPr txBox="1">
              <a:spLocks noChangeArrowheads="1"/>
            </p:cNvSpPr>
            <p:nvPr/>
          </p:nvSpPr>
          <p:spPr bwMode="auto">
            <a:xfrm>
              <a:off x="2544" y="3120"/>
              <a:ext cx="288" cy="58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1</a:t>
              </a:r>
              <a:endParaRPr kumimoji="1" lang="en-US" altLang="zh-CN" sz="1600">
                <a:latin typeface="Times New Roman" panose="02020603050405020304" pitchFamily="18" charset="0"/>
                <a:ea typeface="宋体" panose="02010600030101010101" pitchFamily="2" charset="-122"/>
              </a:endParaRP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2</a:t>
              </a: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a:t>
              </a: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a:t>
              </a: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n-1</a:t>
              </a:r>
              <a:endParaRPr kumimoji="1" lang="en-US" altLang="zh-CN" sz="1600">
                <a:latin typeface="Times New Roman" panose="02020603050405020304" pitchFamily="18" charset="0"/>
                <a:ea typeface="宋体" panose="02010600030101010101" pitchFamily="2" charset="-122"/>
              </a:endParaRPr>
            </a:p>
          </p:txBody>
        </p:sp>
        <p:sp>
          <p:nvSpPr>
            <p:cNvPr id="89125" name="Rectangle 108"/>
            <p:cNvSpPr>
              <a:spLocks noChangeArrowheads="1"/>
            </p:cNvSpPr>
            <p:nvPr/>
          </p:nvSpPr>
          <p:spPr bwMode="auto">
            <a:xfrm>
              <a:off x="2784" y="3552"/>
              <a:ext cx="960"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26" name="Rectangle 109"/>
            <p:cNvSpPr>
              <a:spLocks noChangeArrowheads="1"/>
            </p:cNvSpPr>
            <p:nvPr/>
          </p:nvSpPr>
          <p:spPr bwMode="auto">
            <a:xfrm>
              <a:off x="2880" y="3408"/>
              <a:ext cx="768"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27" name="Rectangle 110"/>
            <p:cNvSpPr>
              <a:spLocks noChangeArrowheads="1"/>
            </p:cNvSpPr>
            <p:nvPr/>
          </p:nvSpPr>
          <p:spPr bwMode="auto">
            <a:xfrm>
              <a:off x="2928" y="3264"/>
              <a:ext cx="672"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28" name="Rectangle 111"/>
            <p:cNvSpPr>
              <a:spLocks noChangeArrowheads="1"/>
            </p:cNvSpPr>
            <p:nvPr/>
          </p:nvSpPr>
          <p:spPr bwMode="auto">
            <a:xfrm>
              <a:off x="2976" y="3120"/>
              <a:ext cx="576"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29" name="Text Box 112"/>
            <p:cNvSpPr txBox="1">
              <a:spLocks noChangeArrowheads="1"/>
            </p:cNvSpPr>
            <p:nvPr/>
          </p:nvSpPr>
          <p:spPr bwMode="auto">
            <a:xfrm>
              <a:off x="1920" y="2304"/>
              <a:ext cx="2688" cy="2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X                            Y                        Z</a:t>
              </a:r>
            </a:p>
          </p:txBody>
        </p:sp>
        <p:sp>
          <p:nvSpPr>
            <p:cNvPr id="89130" name="Text Box 113"/>
            <p:cNvSpPr txBox="1">
              <a:spLocks noChangeArrowheads="1"/>
            </p:cNvSpPr>
            <p:nvPr/>
          </p:nvSpPr>
          <p:spPr bwMode="auto">
            <a:xfrm>
              <a:off x="4848" y="3456"/>
              <a:ext cx="192" cy="19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1400">
                  <a:latin typeface="Times New Roman" panose="02020603050405020304" pitchFamily="18" charset="0"/>
                  <a:ea typeface="宋体" panose="02010600030101010101" pitchFamily="2" charset="-122"/>
                </a:rPr>
                <a:t>n</a:t>
              </a:r>
            </a:p>
          </p:txBody>
        </p:sp>
        <p:sp>
          <p:nvSpPr>
            <p:cNvPr id="89131" name="Rectangle 114"/>
            <p:cNvSpPr>
              <a:spLocks noChangeArrowheads="1"/>
            </p:cNvSpPr>
            <p:nvPr/>
          </p:nvSpPr>
          <p:spPr bwMode="auto">
            <a:xfrm>
              <a:off x="3840" y="3552"/>
              <a:ext cx="1008"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grpSp>
      <p:grpSp>
        <p:nvGrpSpPr>
          <p:cNvPr id="5" name="Group 115"/>
          <p:cNvGrpSpPr>
            <a:grpSpLocks/>
          </p:cNvGrpSpPr>
          <p:nvPr/>
        </p:nvGrpSpPr>
        <p:grpSpPr bwMode="auto">
          <a:xfrm>
            <a:off x="3810000" y="3925888"/>
            <a:ext cx="6629400" cy="2743200"/>
            <a:chOff x="1104" y="2112"/>
            <a:chExt cx="4176" cy="1728"/>
          </a:xfrm>
        </p:grpSpPr>
        <p:sp>
          <p:nvSpPr>
            <p:cNvPr id="89107" name="Rectangle 116"/>
            <p:cNvSpPr>
              <a:spLocks noChangeArrowheads="1"/>
            </p:cNvSpPr>
            <p:nvPr/>
          </p:nvSpPr>
          <p:spPr bwMode="auto">
            <a:xfrm>
              <a:off x="1104" y="2112"/>
              <a:ext cx="4176" cy="172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08" name="Line 117"/>
            <p:cNvSpPr>
              <a:spLocks noChangeShapeType="1"/>
            </p:cNvSpPr>
            <p:nvPr/>
          </p:nvSpPr>
          <p:spPr bwMode="auto">
            <a:xfrm>
              <a:off x="1344" y="3696"/>
              <a:ext cx="36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09" name="Rectangle 118"/>
            <p:cNvSpPr>
              <a:spLocks noChangeArrowheads="1"/>
            </p:cNvSpPr>
            <p:nvPr/>
          </p:nvSpPr>
          <p:spPr bwMode="auto">
            <a:xfrm>
              <a:off x="4320" y="2640"/>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10" name="Rectangle 119"/>
            <p:cNvSpPr>
              <a:spLocks noChangeArrowheads="1"/>
            </p:cNvSpPr>
            <p:nvPr/>
          </p:nvSpPr>
          <p:spPr bwMode="auto">
            <a:xfrm>
              <a:off x="3216" y="2640"/>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11" name="Rectangle 120"/>
            <p:cNvSpPr>
              <a:spLocks noChangeArrowheads="1"/>
            </p:cNvSpPr>
            <p:nvPr/>
          </p:nvSpPr>
          <p:spPr bwMode="auto">
            <a:xfrm>
              <a:off x="1968" y="2640"/>
              <a:ext cx="48" cy="1056"/>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12" name="Text Box 121"/>
            <p:cNvSpPr txBox="1">
              <a:spLocks noChangeArrowheads="1"/>
            </p:cNvSpPr>
            <p:nvPr/>
          </p:nvSpPr>
          <p:spPr bwMode="auto">
            <a:xfrm>
              <a:off x="4848" y="2976"/>
              <a:ext cx="288" cy="69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1</a:t>
              </a:r>
              <a:endParaRPr kumimoji="1" lang="en-US" altLang="zh-CN" sz="1600">
                <a:latin typeface="Times New Roman" panose="02020603050405020304" pitchFamily="18" charset="0"/>
                <a:ea typeface="宋体" panose="02010600030101010101" pitchFamily="2" charset="-122"/>
              </a:endParaRP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2</a:t>
              </a: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a:t>
              </a: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a:t>
              </a: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n-1</a:t>
              </a:r>
            </a:p>
            <a:p>
              <a:pPr eaLnBrk="1" hangingPunct="1">
                <a:lnSpc>
                  <a:spcPct val="50000"/>
                </a:lnSpc>
                <a:spcBef>
                  <a:spcPct val="50000"/>
                </a:spcBef>
                <a:buFontTx/>
                <a:buNone/>
              </a:pPr>
              <a:r>
                <a:rPr kumimoji="1" lang="en-US" altLang="zh-CN" sz="1200">
                  <a:latin typeface="Times New Roman" panose="02020603050405020304" pitchFamily="18" charset="0"/>
                  <a:ea typeface="宋体" panose="02010600030101010101" pitchFamily="2" charset="-122"/>
                </a:rPr>
                <a:t>n</a:t>
              </a:r>
              <a:endParaRPr kumimoji="1" lang="en-US" altLang="zh-CN" sz="1600">
                <a:latin typeface="Times New Roman" panose="02020603050405020304" pitchFamily="18" charset="0"/>
                <a:ea typeface="宋体" panose="02010600030101010101" pitchFamily="2" charset="-122"/>
              </a:endParaRPr>
            </a:p>
          </p:txBody>
        </p:sp>
        <p:sp>
          <p:nvSpPr>
            <p:cNvPr id="89113" name="Rectangle 122"/>
            <p:cNvSpPr>
              <a:spLocks noChangeArrowheads="1"/>
            </p:cNvSpPr>
            <p:nvPr/>
          </p:nvSpPr>
          <p:spPr bwMode="auto">
            <a:xfrm>
              <a:off x="3840" y="3408"/>
              <a:ext cx="960"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14" name="Rectangle 123"/>
            <p:cNvSpPr>
              <a:spLocks noChangeArrowheads="1"/>
            </p:cNvSpPr>
            <p:nvPr/>
          </p:nvSpPr>
          <p:spPr bwMode="auto">
            <a:xfrm>
              <a:off x="3936" y="3264"/>
              <a:ext cx="768"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15" name="Rectangle 124"/>
            <p:cNvSpPr>
              <a:spLocks noChangeArrowheads="1"/>
            </p:cNvSpPr>
            <p:nvPr/>
          </p:nvSpPr>
          <p:spPr bwMode="auto">
            <a:xfrm>
              <a:off x="3984" y="3120"/>
              <a:ext cx="672"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16" name="Rectangle 125"/>
            <p:cNvSpPr>
              <a:spLocks noChangeArrowheads="1"/>
            </p:cNvSpPr>
            <p:nvPr/>
          </p:nvSpPr>
          <p:spPr bwMode="auto">
            <a:xfrm>
              <a:off x="4032" y="2976"/>
              <a:ext cx="576"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89117" name="Text Box 126"/>
            <p:cNvSpPr txBox="1">
              <a:spLocks noChangeArrowheads="1"/>
            </p:cNvSpPr>
            <p:nvPr/>
          </p:nvSpPr>
          <p:spPr bwMode="auto">
            <a:xfrm>
              <a:off x="1920" y="2304"/>
              <a:ext cx="2688" cy="2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X                            Y                        Z</a:t>
              </a:r>
            </a:p>
          </p:txBody>
        </p:sp>
        <p:sp>
          <p:nvSpPr>
            <p:cNvPr id="89118" name="Rectangle 127"/>
            <p:cNvSpPr>
              <a:spLocks noChangeArrowheads="1"/>
            </p:cNvSpPr>
            <p:nvPr/>
          </p:nvSpPr>
          <p:spPr bwMode="auto">
            <a:xfrm>
              <a:off x="3792" y="3552"/>
              <a:ext cx="1056" cy="144"/>
            </a:xfrm>
            <a:prstGeom prst="rect">
              <a:avLst/>
            </a:prstGeom>
            <a:solidFill>
              <a:schemeClr val="hlink"/>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98322"/>
                                        </p:tgtEl>
                                        <p:attrNameLst>
                                          <p:attrName>style.visibility</p:attrName>
                                        </p:attrNameLst>
                                      </p:cBhvr>
                                      <p:to>
                                        <p:strVal val="visible"/>
                                      </p:to>
                                    </p:set>
                                    <p:anim calcmode="lin" valueType="num">
                                      <p:cBhvr additive="base">
                                        <p:cTn id="7" dur="500" fill="hold"/>
                                        <p:tgtEl>
                                          <p:spTgt spid="98322"/>
                                        </p:tgtEl>
                                        <p:attrNameLst>
                                          <p:attrName>ppt_x</p:attrName>
                                        </p:attrNameLst>
                                      </p:cBhvr>
                                      <p:tavLst>
                                        <p:tav tm="0">
                                          <p:val>
                                            <p:strVal val="1+#ppt_w/2"/>
                                          </p:val>
                                        </p:tav>
                                        <p:tav tm="100000">
                                          <p:val>
                                            <p:strVal val="#ppt_x"/>
                                          </p:val>
                                        </p:tav>
                                      </p:tavLst>
                                    </p:anim>
                                    <p:anim calcmode="lin" valueType="num">
                                      <p:cBhvr additive="base">
                                        <p:cTn id="8" dur="500" fill="hold"/>
                                        <p:tgtEl>
                                          <p:spTgt spid="983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1+#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RBRAK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1+#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RBRAK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1+#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a:xfrm>
            <a:off x="527050" y="333375"/>
            <a:ext cx="10321925" cy="863600"/>
          </a:xfrm>
        </p:spPr>
        <p:txBody>
          <a:bodyPr/>
          <a:lstStyle/>
          <a:p>
            <a:pPr eaLnBrk="1" hangingPunct="1"/>
            <a:r>
              <a:rPr lang="zh-CN" altLang="en-US" smtClean="0"/>
              <a:t>递归算法</a:t>
            </a:r>
          </a:p>
        </p:txBody>
      </p:sp>
      <p:sp>
        <p:nvSpPr>
          <p:cNvPr id="91139" name="Rectangle 3"/>
          <p:cNvSpPr>
            <a:spLocks noGrp="1" noChangeArrowheads="1"/>
          </p:cNvSpPr>
          <p:nvPr>
            <p:ph idx="1"/>
          </p:nvPr>
        </p:nvSpPr>
        <p:spPr>
          <a:xfrm>
            <a:off x="527050" y="1773238"/>
            <a:ext cx="10321925" cy="4351337"/>
          </a:xfrm>
        </p:spPr>
        <p:txBody>
          <a:bodyPr/>
          <a:lstStyle/>
          <a:p>
            <a:pPr eaLnBrk="1" hangingPunct="1"/>
            <a:r>
              <a:rPr lang="zh-CN" altLang="en-US" sz="2000" smtClean="0"/>
              <a:t>递归算法本身不可以作为独立的程序运行，需在其它的程序中设置调用初值，进行调用；</a:t>
            </a:r>
          </a:p>
          <a:p>
            <a:pPr eaLnBrk="1" hangingPunct="1"/>
            <a:r>
              <a:rPr lang="zh-CN" altLang="en-US" sz="2000" smtClean="0"/>
              <a:t>递归算法应有出口</a:t>
            </a:r>
            <a:r>
              <a:rPr lang="en-US" altLang="zh-CN" sz="2000" smtClean="0"/>
              <a:t>(</a:t>
            </a:r>
            <a:r>
              <a:rPr lang="zh-CN" altLang="en-US" sz="2000" smtClean="0"/>
              <a:t>终止条件</a:t>
            </a:r>
            <a:r>
              <a:rPr lang="en-US" altLang="zh-CN" sz="2000" smtClean="0"/>
              <a:t>)</a:t>
            </a:r>
          </a:p>
          <a:p>
            <a:pPr lvl="1" eaLnBrk="1" hangingPunct="1"/>
            <a:endParaRPr lang="en-US" altLang="zh-CN" sz="1600" smtClean="0"/>
          </a:p>
          <a:p>
            <a:pPr eaLnBrk="1" hangingPunct="1">
              <a:buFontTx/>
              <a:buNone/>
            </a:pPr>
            <a:r>
              <a:rPr lang="en-US" altLang="en-US" sz="1600" smtClean="0"/>
              <a:t>    </a:t>
            </a:r>
            <a:r>
              <a:rPr lang="zh-CN" altLang="en-US" sz="2000" smtClean="0"/>
              <a:t>例</a:t>
            </a:r>
            <a:r>
              <a:rPr lang="en-US" altLang="zh-CN" sz="2000" smtClean="0"/>
              <a:t>1.  </a:t>
            </a:r>
            <a:r>
              <a:rPr lang="zh-CN" altLang="en-US" sz="2000" smtClean="0"/>
              <a:t>求</a:t>
            </a:r>
            <a:r>
              <a:rPr lang="en-US" altLang="zh-CN" sz="2000" smtClean="0"/>
              <a:t>n</a:t>
            </a:r>
            <a:r>
              <a:rPr lang="zh-CN" altLang="en-US" sz="2000" smtClean="0"/>
              <a:t>！</a:t>
            </a:r>
          </a:p>
        </p:txBody>
      </p:sp>
      <p:sp>
        <p:nvSpPr>
          <p:cNvPr id="91140" name="Text Box 7"/>
          <p:cNvSpPr txBox="1">
            <a:spLocks noChangeArrowheads="1"/>
          </p:cNvSpPr>
          <p:nvPr/>
        </p:nvSpPr>
        <p:spPr bwMode="auto">
          <a:xfrm>
            <a:off x="2566988" y="3716338"/>
            <a:ext cx="26066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1600">
                <a:latin typeface="Times New Roman" panose="02020603050405020304" pitchFamily="18" charset="0"/>
                <a:ea typeface="宋体" panose="02010600030101010101" pitchFamily="2" charset="-122"/>
              </a:rPr>
              <a:t>int </a:t>
            </a:r>
            <a:r>
              <a:rPr kumimoji="1" lang="en-US" altLang="zh-CN" sz="1600" b="1">
                <a:solidFill>
                  <a:schemeClr val="accent2"/>
                </a:solidFill>
                <a:latin typeface="Times New Roman" panose="02020603050405020304" pitchFamily="18" charset="0"/>
                <a:ea typeface="宋体" panose="02010600030101010101" pitchFamily="2" charset="-122"/>
              </a:rPr>
              <a:t>Factorial</a:t>
            </a:r>
            <a:r>
              <a:rPr kumimoji="1" lang="en-US" altLang="zh-CN" sz="1600">
                <a:latin typeface="Times New Roman" panose="02020603050405020304" pitchFamily="18" charset="0"/>
                <a:ea typeface="宋体" panose="02010600030101010101" pitchFamily="2" charset="-122"/>
              </a:rPr>
              <a:t>(int  n)</a:t>
            </a:r>
          </a:p>
          <a:p>
            <a:pPr eaLnBrk="1" hangingPunct="1">
              <a:lnSpc>
                <a:spcPct val="100000"/>
              </a:lnSpc>
              <a:spcBef>
                <a:spcPct val="0"/>
              </a:spcBef>
              <a:buFontTx/>
              <a:buNone/>
            </a:pPr>
            <a:r>
              <a:rPr kumimoji="1" lang="en-US" altLang="zh-CN" sz="16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1600">
                <a:latin typeface="Times New Roman" panose="02020603050405020304" pitchFamily="18" charset="0"/>
                <a:ea typeface="宋体" panose="02010600030101010101" pitchFamily="2" charset="-122"/>
              </a:rPr>
              <a:t>        if  (n==0)  return(1);</a:t>
            </a:r>
          </a:p>
          <a:p>
            <a:pPr eaLnBrk="1" hangingPunct="1">
              <a:lnSpc>
                <a:spcPct val="100000"/>
              </a:lnSpc>
              <a:spcBef>
                <a:spcPct val="0"/>
              </a:spcBef>
              <a:buFontTx/>
              <a:buNone/>
            </a:pPr>
            <a:r>
              <a:rPr kumimoji="1" lang="en-US" altLang="zh-CN" sz="1600">
                <a:latin typeface="Times New Roman" panose="02020603050405020304" pitchFamily="18" charset="0"/>
                <a:ea typeface="宋体" panose="02010600030101010101" pitchFamily="2" charset="-122"/>
              </a:rPr>
              <a:t>        return  n*Factorial(n-1);</a:t>
            </a:r>
          </a:p>
          <a:p>
            <a:pPr eaLnBrk="1" hangingPunct="1">
              <a:lnSpc>
                <a:spcPct val="100000"/>
              </a:lnSpc>
              <a:spcBef>
                <a:spcPct val="0"/>
              </a:spcBef>
              <a:buFontTx/>
              <a:buNone/>
            </a:pPr>
            <a:r>
              <a:rPr kumimoji="1" lang="en-US" altLang="zh-CN" sz="1600">
                <a:latin typeface="Times New Roman" panose="02020603050405020304" pitchFamily="18" charset="0"/>
                <a:ea typeface="宋体" panose="02010600030101010101" pitchFamily="2" charset="-122"/>
              </a:rPr>
              <a:t>}//Factorial</a:t>
            </a:r>
          </a:p>
        </p:txBody>
      </p:sp>
      <p:grpSp>
        <p:nvGrpSpPr>
          <p:cNvPr id="91141" name="组合 7"/>
          <p:cNvGrpSpPr>
            <a:grpSpLocks/>
          </p:cNvGrpSpPr>
          <p:nvPr/>
        </p:nvGrpSpPr>
        <p:grpSpPr bwMode="auto">
          <a:xfrm>
            <a:off x="7751763" y="2611438"/>
            <a:ext cx="1423987" cy="1077912"/>
            <a:chOff x="6732240" y="1988840"/>
            <a:chExt cx="1332148" cy="1250942"/>
          </a:xfrm>
        </p:grpSpPr>
        <p:sp>
          <p:nvSpPr>
            <p:cNvPr id="91142" name="矩形 2"/>
            <p:cNvSpPr>
              <a:spLocks noChangeArrowheads="1"/>
            </p:cNvSpPr>
            <p:nvPr/>
          </p:nvSpPr>
          <p:spPr bwMode="auto">
            <a:xfrm>
              <a:off x="6732240" y="2029108"/>
              <a:ext cx="333400" cy="858042"/>
            </a:xfrm>
            <a:prstGeom prst="rect">
              <a:avLst/>
            </a:prstGeom>
            <a:solidFill>
              <a:schemeClr val="accent1"/>
            </a:solidFill>
            <a:ln w="9525" algn="ctr">
              <a:solidFill>
                <a:schemeClr val="tx1"/>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1600">
                <a:latin typeface="Times New Roman" panose="02020603050405020304" pitchFamily="18" charset="0"/>
                <a:ea typeface="宋体" panose="02010600030101010101" pitchFamily="2" charset="-122"/>
              </a:endParaRPr>
            </a:p>
          </p:txBody>
        </p:sp>
        <p:sp>
          <p:nvSpPr>
            <p:cNvPr id="91143" name="TextBox 4"/>
            <p:cNvSpPr txBox="1">
              <a:spLocks noChangeArrowheads="1"/>
            </p:cNvSpPr>
            <p:nvPr/>
          </p:nvSpPr>
          <p:spPr bwMode="auto">
            <a:xfrm>
              <a:off x="7704348" y="1988840"/>
              <a:ext cx="360040" cy="1250942"/>
            </a:xfrm>
            <a:prstGeom prst="rect">
              <a:avLst/>
            </a:prstGeom>
            <a:solidFill>
              <a:srgbClr val="FFFF99"/>
            </a:solidFill>
            <a:ln w="9525">
              <a:solidFill>
                <a:schemeClr val="tx1"/>
              </a:solidFill>
              <a:miter lim="800000"/>
              <a:headEnd/>
              <a:tailEnd/>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1600">
                  <a:latin typeface="楷体" panose="02010609060101010101" pitchFamily="49" charset="-122"/>
                  <a:ea typeface="楷体" panose="02010609060101010101" pitchFamily="49" charset="-122"/>
                </a:rPr>
                <a:t>递</a:t>
              </a:r>
              <a:endParaRPr kumimoji="1" lang="en-US" altLang="zh-CN" sz="160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kumimoji="1" lang="zh-CN" altLang="en-US" sz="1600">
                  <a:latin typeface="楷体" panose="02010609060101010101" pitchFamily="49" charset="-122"/>
                  <a:ea typeface="楷体" panose="02010609060101010101" pitchFamily="49" charset="-122"/>
                </a:rPr>
                <a:t>归</a:t>
              </a:r>
              <a:endParaRPr kumimoji="1" lang="en-US" altLang="zh-CN" sz="160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kumimoji="1" lang="zh-CN" altLang="en-US" sz="1600">
                  <a:latin typeface="楷体" panose="02010609060101010101" pitchFamily="49" charset="-122"/>
                  <a:ea typeface="楷体" panose="02010609060101010101" pitchFamily="49" charset="-122"/>
                </a:rPr>
                <a:t>算</a:t>
              </a:r>
              <a:endParaRPr kumimoji="1" lang="en-US" altLang="zh-CN" sz="160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kumimoji="1" lang="zh-CN" altLang="en-US" sz="1600">
                  <a:latin typeface="楷体" panose="02010609060101010101" pitchFamily="49" charset="-122"/>
                  <a:ea typeface="楷体" panose="02010609060101010101" pitchFamily="49" charset="-122"/>
                </a:rPr>
                <a:t>法</a:t>
              </a:r>
            </a:p>
          </p:txBody>
        </p:sp>
        <p:cxnSp>
          <p:nvCxnSpPr>
            <p:cNvPr id="91144" name="直接箭头连接符 6"/>
            <p:cNvCxnSpPr>
              <a:cxnSpLocks noChangeShapeType="1"/>
            </p:cNvCxnSpPr>
            <p:nvPr/>
          </p:nvCxnSpPr>
          <p:spPr bwMode="auto">
            <a:xfrm flipV="1">
              <a:off x="6926413" y="2029108"/>
              <a:ext cx="777935" cy="429021"/>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2005013" y="1746250"/>
            <a:ext cx="2057400" cy="1339850"/>
          </a:xfrm>
          <a:prstGeom prst="rect">
            <a:avLst/>
          </a:prstGeom>
          <a:noFill/>
          <a:ln>
            <a:noFill/>
          </a:ln>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en-US" altLang="zh-CN" sz="1350" dirty="0" err="1"/>
              <a:t>int</a:t>
            </a:r>
            <a:r>
              <a:rPr lang="en-US" altLang="zh-CN" sz="1350" dirty="0"/>
              <a:t> </a:t>
            </a:r>
            <a:r>
              <a:rPr lang="en-US" altLang="zh-CN" sz="1350" b="1" dirty="0">
                <a:solidFill>
                  <a:schemeClr val="accent2"/>
                </a:solidFill>
              </a:rPr>
              <a:t>Factorial</a:t>
            </a:r>
            <a:r>
              <a:rPr lang="en-US" altLang="zh-CN" sz="1350" dirty="0"/>
              <a:t>(</a:t>
            </a:r>
            <a:r>
              <a:rPr lang="en-US" altLang="zh-CN" sz="1350" dirty="0" err="1"/>
              <a:t>int</a:t>
            </a:r>
            <a:r>
              <a:rPr lang="en-US" altLang="zh-CN" sz="1350" dirty="0"/>
              <a:t>  n)</a:t>
            </a:r>
          </a:p>
          <a:p>
            <a:pPr eaLnBrk="1" hangingPunct="1">
              <a:spcBef>
                <a:spcPct val="0"/>
              </a:spcBef>
              <a:buFontTx/>
              <a:buNone/>
              <a:defRPr/>
            </a:pPr>
            <a:r>
              <a:rPr lang="en-US" altLang="zh-CN" sz="1350" dirty="0"/>
              <a:t>{	</a:t>
            </a:r>
          </a:p>
          <a:p>
            <a:pPr eaLnBrk="1" hangingPunct="1">
              <a:spcBef>
                <a:spcPct val="0"/>
              </a:spcBef>
              <a:buFontTx/>
              <a:buNone/>
              <a:defRPr/>
            </a:pPr>
            <a:r>
              <a:rPr lang="en-US" altLang="zh-CN" sz="1350" dirty="0"/>
              <a:t>        if  (n==0)  return(1);</a:t>
            </a:r>
          </a:p>
          <a:p>
            <a:pPr eaLnBrk="1" hangingPunct="1">
              <a:spcBef>
                <a:spcPct val="0"/>
              </a:spcBef>
              <a:buFontTx/>
              <a:buNone/>
              <a:defRPr/>
            </a:pPr>
            <a:r>
              <a:rPr lang="en-US" altLang="zh-CN" sz="1350" dirty="0"/>
              <a:t>        return  n*Factorial(n-1);</a:t>
            </a:r>
          </a:p>
          <a:p>
            <a:pPr eaLnBrk="1" hangingPunct="1">
              <a:spcBef>
                <a:spcPct val="0"/>
              </a:spcBef>
              <a:buFontTx/>
              <a:buNone/>
              <a:defRPr/>
            </a:pPr>
            <a:r>
              <a:rPr lang="en-US" altLang="zh-CN" sz="1350" dirty="0"/>
              <a:t>}//Factorial</a:t>
            </a:r>
          </a:p>
        </p:txBody>
      </p:sp>
      <p:sp>
        <p:nvSpPr>
          <p:cNvPr id="8" name="上弧形箭头 7"/>
          <p:cNvSpPr/>
          <p:nvPr/>
        </p:nvSpPr>
        <p:spPr>
          <a:xfrm rot="2054430">
            <a:off x="4113300" y="2272382"/>
            <a:ext cx="795495" cy="276999"/>
          </a:xfrm>
          <a:prstGeom prst="curvedDownArrow">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endParaRPr lang="zh-CN" altLang="en-US" sz="1350">
              <a:solidFill>
                <a:srgbClr val="000000"/>
              </a:solidFill>
              <a:latin typeface="+mn-lt"/>
              <a:ea typeface="+mn-ea"/>
              <a:sym typeface="Calibri"/>
            </a:endParaRPr>
          </a:p>
        </p:txBody>
      </p:sp>
      <p:sp>
        <p:nvSpPr>
          <p:cNvPr id="9" name="Text Box 7"/>
          <p:cNvSpPr txBox="1">
            <a:spLocks noChangeArrowheads="1"/>
          </p:cNvSpPr>
          <p:nvPr/>
        </p:nvSpPr>
        <p:spPr bwMode="auto">
          <a:xfrm>
            <a:off x="3551238" y="2716213"/>
            <a:ext cx="2667000" cy="1130300"/>
          </a:xfrm>
          <a:prstGeom prst="rect">
            <a:avLst/>
          </a:prstGeom>
          <a:noFill/>
          <a:ln>
            <a:noFill/>
          </a:ln>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en-US" altLang="zh-CN" sz="1350" dirty="0" err="1"/>
              <a:t>int</a:t>
            </a:r>
            <a:r>
              <a:rPr lang="en-US" altLang="zh-CN" sz="1350" dirty="0"/>
              <a:t> </a:t>
            </a:r>
            <a:r>
              <a:rPr lang="en-US" altLang="zh-CN" sz="1350" b="1" dirty="0">
                <a:solidFill>
                  <a:schemeClr val="accent2"/>
                </a:solidFill>
              </a:rPr>
              <a:t>Factorial</a:t>
            </a:r>
            <a:r>
              <a:rPr lang="en-US" altLang="zh-CN" sz="1350" dirty="0"/>
              <a:t>((</a:t>
            </a:r>
            <a:r>
              <a:rPr lang="en-US" altLang="zh-CN" sz="1350" dirty="0">
                <a:solidFill>
                  <a:srgbClr val="FF0000"/>
                </a:solidFill>
              </a:rPr>
              <a:t>n-1</a:t>
            </a:r>
            <a:r>
              <a:rPr lang="en-US" altLang="zh-CN" sz="1350" dirty="0"/>
              <a:t>))</a:t>
            </a:r>
          </a:p>
          <a:p>
            <a:pPr eaLnBrk="1" hangingPunct="1">
              <a:spcBef>
                <a:spcPct val="0"/>
              </a:spcBef>
              <a:buFontTx/>
              <a:buNone/>
              <a:defRPr/>
            </a:pPr>
            <a:r>
              <a:rPr lang="en-US" altLang="zh-CN" sz="1350" dirty="0"/>
              <a:t>{	</a:t>
            </a:r>
          </a:p>
          <a:p>
            <a:pPr eaLnBrk="1" hangingPunct="1">
              <a:spcBef>
                <a:spcPct val="0"/>
              </a:spcBef>
              <a:buFontTx/>
              <a:buNone/>
              <a:defRPr/>
            </a:pPr>
            <a:r>
              <a:rPr lang="en-US" altLang="zh-CN" sz="1350" dirty="0"/>
              <a:t>        if  ((</a:t>
            </a:r>
            <a:r>
              <a:rPr lang="en-US" altLang="zh-CN" sz="1350" dirty="0">
                <a:solidFill>
                  <a:srgbClr val="FF0000"/>
                </a:solidFill>
              </a:rPr>
              <a:t>n-1</a:t>
            </a:r>
            <a:r>
              <a:rPr lang="en-US" altLang="zh-CN" sz="1350" dirty="0"/>
              <a:t>)==0)  return(1);</a:t>
            </a:r>
          </a:p>
          <a:p>
            <a:pPr eaLnBrk="1" hangingPunct="1">
              <a:spcBef>
                <a:spcPct val="0"/>
              </a:spcBef>
              <a:buFontTx/>
              <a:buNone/>
              <a:defRPr/>
            </a:pPr>
            <a:r>
              <a:rPr lang="en-US" altLang="zh-CN" sz="1350" dirty="0"/>
              <a:t>        return  (</a:t>
            </a:r>
            <a:r>
              <a:rPr lang="en-US" altLang="zh-CN" sz="1350" dirty="0">
                <a:solidFill>
                  <a:srgbClr val="FF0000"/>
                </a:solidFill>
              </a:rPr>
              <a:t>n-1</a:t>
            </a:r>
            <a:r>
              <a:rPr lang="en-US" altLang="zh-CN" sz="1350" dirty="0"/>
              <a:t>)*Factorial(</a:t>
            </a:r>
            <a:r>
              <a:rPr lang="en-US" altLang="zh-CN" sz="1350" dirty="0">
                <a:solidFill>
                  <a:srgbClr val="FF0000"/>
                </a:solidFill>
              </a:rPr>
              <a:t>n-2</a:t>
            </a:r>
            <a:r>
              <a:rPr lang="en-US" altLang="zh-CN" sz="1350" dirty="0"/>
              <a:t>);</a:t>
            </a:r>
          </a:p>
          <a:p>
            <a:pPr eaLnBrk="1" hangingPunct="1">
              <a:spcBef>
                <a:spcPct val="0"/>
              </a:spcBef>
              <a:buFontTx/>
              <a:buNone/>
              <a:defRPr/>
            </a:pPr>
            <a:r>
              <a:rPr lang="en-US" altLang="zh-CN" sz="1350" dirty="0"/>
              <a:t>}//Factorial</a:t>
            </a:r>
          </a:p>
        </p:txBody>
      </p:sp>
      <p:sp>
        <p:nvSpPr>
          <p:cNvPr id="10" name="Text Box 7"/>
          <p:cNvSpPr txBox="1">
            <a:spLocks noChangeArrowheads="1"/>
          </p:cNvSpPr>
          <p:nvPr/>
        </p:nvSpPr>
        <p:spPr bwMode="auto">
          <a:xfrm>
            <a:off x="5900738" y="4086225"/>
            <a:ext cx="2667000" cy="1130300"/>
          </a:xfrm>
          <a:prstGeom prst="rect">
            <a:avLst/>
          </a:prstGeom>
          <a:noFill/>
          <a:ln>
            <a:noFill/>
          </a:ln>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en-US" altLang="zh-CN" sz="1350" dirty="0" err="1"/>
              <a:t>int</a:t>
            </a:r>
            <a:r>
              <a:rPr lang="en-US" altLang="zh-CN" sz="1350" dirty="0"/>
              <a:t> </a:t>
            </a:r>
            <a:r>
              <a:rPr lang="en-US" altLang="zh-CN" sz="1350" b="1" dirty="0">
                <a:solidFill>
                  <a:schemeClr val="accent2"/>
                </a:solidFill>
              </a:rPr>
              <a:t>Factorial</a:t>
            </a:r>
            <a:r>
              <a:rPr lang="en-US" altLang="zh-CN" sz="1350" dirty="0"/>
              <a:t>((</a:t>
            </a:r>
            <a:r>
              <a:rPr lang="en-US" altLang="zh-CN" sz="1350" dirty="0">
                <a:solidFill>
                  <a:srgbClr val="FF0000"/>
                </a:solidFill>
              </a:rPr>
              <a:t>n-(n-1)</a:t>
            </a:r>
            <a:r>
              <a:rPr lang="en-US" altLang="zh-CN" sz="1350" dirty="0"/>
              <a:t>))</a:t>
            </a:r>
          </a:p>
          <a:p>
            <a:pPr eaLnBrk="1" hangingPunct="1">
              <a:spcBef>
                <a:spcPct val="0"/>
              </a:spcBef>
              <a:buFontTx/>
              <a:buNone/>
              <a:defRPr/>
            </a:pPr>
            <a:r>
              <a:rPr lang="en-US" altLang="zh-CN" sz="1350" dirty="0"/>
              <a:t>{	</a:t>
            </a:r>
          </a:p>
          <a:p>
            <a:pPr eaLnBrk="1" hangingPunct="1">
              <a:spcBef>
                <a:spcPct val="0"/>
              </a:spcBef>
              <a:buFontTx/>
              <a:buNone/>
              <a:defRPr/>
            </a:pPr>
            <a:r>
              <a:rPr lang="en-US" altLang="zh-CN" sz="1350" dirty="0"/>
              <a:t>        if  ((</a:t>
            </a:r>
            <a:r>
              <a:rPr lang="en-US" altLang="zh-CN" sz="1350" dirty="0">
                <a:solidFill>
                  <a:srgbClr val="FF0000"/>
                </a:solidFill>
              </a:rPr>
              <a:t>1</a:t>
            </a:r>
            <a:r>
              <a:rPr lang="en-US" altLang="zh-CN" sz="1350" dirty="0"/>
              <a:t>)==0)  return(1);</a:t>
            </a:r>
          </a:p>
          <a:p>
            <a:pPr eaLnBrk="1" hangingPunct="1">
              <a:spcBef>
                <a:spcPct val="0"/>
              </a:spcBef>
              <a:buFontTx/>
              <a:buNone/>
              <a:defRPr/>
            </a:pPr>
            <a:r>
              <a:rPr lang="en-US" altLang="zh-CN" sz="1350" dirty="0"/>
              <a:t>        return  (</a:t>
            </a:r>
            <a:r>
              <a:rPr lang="en-US" altLang="zh-CN" sz="1350" dirty="0">
                <a:solidFill>
                  <a:srgbClr val="FF0000"/>
                </a:solidFill>
              </a:rPr>
              <a:t>1</a:t>
            </a:r>
            <a:r>
              <a:rPr lang="en-US" altLang="zh-CN" sz="1350" dirty="0"/>
              <a:t>)*Factorial(</a:t>
            </a:r>
            <a:r>
              <a:rPr lang="en-US" altLang="zh-CN" sz="1350" dirty="0">
                <a:solidFill>
                  <a:srgbClr val="FF0000"/>
                </a:solidFill>
              </a:rPr>
              <a:t>0</a:t>
            </a:r>
            <a:r>
              <a:rPr lang="en-US" altLang="zh-CN" sz="1350" dirty="0"/>
              <a:t>);</a:t>
            </a:r>
          </a:p>
          <a:p>
            <a:pPr eaLnBrk="1" hangingPunct="1">
              <a:spcBef>
                <a:spcPct val="0"/>
              </a:spcBef>
              <a:buFontTx/>
              <a:buNone/>
              <a:defRPr/>
            </a:pPr>
            <a:r>
              <a:rPr lang="en-US" altLang="zh-CN" sz="1350" dirty="0"/>
              <a:t>}//Factorial</a:t>
            </a:r>
          </a:p>
        </p:txBody>
      </p:sp>
      <p:sp>
        <p:nvSpPr>
          <p:cNvPr id="12" name="Text Box 7"/>
          <p:cNvSpPr txBox="1">
            <a:spLocks noChangeArrowheads="1"/>
          </p:cNvSpPr>
          <p:nvPr/>
        </p:nvSpPr>
        <p:spPr bwMode="auto">
          <a:xfrm>
            <a:off x="7390308" y="5034226"/>
            <a:ext cx="2666132" cy="1131079"/>
          </a:xfrm>
          <a:prstGeom prst="rect">
            <a:avLst/>
          </a:prstGeom>
          <a:noFill/>
          <a:ln>
            <a:noFill/>
          </a:ln>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en-US" altLang="zh-CN" sz="1350" dirty="0" err="1"/>
              <a:t>int</a:t>
            </a:r>
            <a:r>
              <a:rPr lang="en-US" altLang="zh-CN" sz="1350" dirty="0"/>
              <a:t> </a:t>
            </a:r>
            <a:r>
              <a:rPr lang="en-US" altLang="zh-CN" sz="1350" b="1" dirty="0">
                <a:solidFill>
                  <a:schemeClr val="accent2"/>
                </a:solidFill>
              </a:rPr>
              <a:t>Factorial</a:t>
            </a:r>
            <a:r>
              <a:rPr lang="en-US" altLang="zh-CN" sz="1350" dirty="0"/>
              <a:t>((</a:t>
            </a:r>
            <a:r>
              <a:rPr lang="en-US" altLang="zh-CN" sz="1350" dirty="0">
                <a:solidFill>
                  <a:srgbClr val="FF0000"/>
                </a:solidFill>
              </a:rPr>
              <a:t>0</a:t>
            </a:r>
            <a:r>
              <a:rPr lang="en-US" altLang="zh-CN" sz="1350" dirty="0"/>
              <a:t>))</a:t>
            </a:r>
          </a:p>
          <a:p>
            <a:pPr eaLnBrk="1" hangingPunct="1">
              <a:spcBef>
                <a:spcPct val="0"/>
              </a:spcBef>
              <a:buFontTx/>
              <a:buNone/>
              <a:defRPr/>
            </a:pPr>
            <a:r>
              <a:rPr lang="en-US" altLang="zh-CN" sz="1350" dirty="0"/>
              <a:t>{	</a:t>
            </a:r>
          </a:p>
          <a:p>
            <a:pPr eaLnBrk="1" hangingPunct="1">
              <a:spcBef>
                <a:spcPct val="0"/>
              </a:spcBef>
              <a:buFontTx/>
              <a:buNone/>
              <a:defRPr/>
            </a:pPr>
            <a:r>
              <a:rPr lang="en-US" altLang="zh-CN" sz="1350" dirty="0"/>
              <a:t>        if  ((</a:t>
            </a:r>
            <a:r>
              <a:rPr lang="en-US" altLang="zh-CN" sz="1350" dirty="0">
                <a:solidFill>
                  <a:srgbClr val="FF0000"/>
                </a:solidFill>
              </a:rPr>
              <a:t>0</a:t>
            </a:r>
            <a:r>
              <a:rPr lang="en-US" altLang="zh-CN" sz="1350" dirty="0"/>
              <a:t>)==0)  return(1);</a:t>
            </a:r>
          </a:p>
          <a:p>
            <a:pPr eaLnBrk="1" hangingPunct="1">
              <a:spcBef>
                <a:spcPct val="0"/>
              </a:spcBef>
              <a:buFontTx/>
              <a:buNone/>
              <a:defRPr/>
            </a:pPr>
            <a:r>
              <a:rPr lang="en-US" altLang="zh-CN" sz="1350" strike="sngStrike" dirty="0"/>
              <a:t>        return  (n)*Factorial(n-1);</a:t>
            </a:r>
          </a:p>
          <a:p>
            <a:pPr eaLnBrk="1" hangingPunct="1">
              <a:spcBef>
                <a:spcPct val="0"/>
              </a:spcBef>
              <a:buFontTx/>
              <a:buNone/>
              <a:defRPr/>
            </a:pPr>
            <a:r>
              <a:rPr lang="en-US" altLang="zh-CN" sz="1350" dirty="0"/>
              <a:t>}//Factorial</a:t>
            </a:r>
          </a:p>
        </p:txBody>
      </p:sp>
      <p:sp>
        <p:nvSpPr>
          <p:cNvPr id="13" name="文本框 12"/>
          <p:cNvSpPr txBox="1"/>
          <p:nvPr/>
        </p:nvSpPr>
        <p:spPr>
          <a:xfrm rot="2052314">
            <a:off x="5440505" y="3551011"/>
            <a:ext cx="510409" cy="623248"/>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r>
              <a:rPr lang="en-US" altLang="zh-CN" sz="3600" dirty="0">
                <a:solidFill>
                  <a:srgbClr val="000000"/>
                </a:solidFill>
                <a:latin typeface="+mn-lt"/>
                <a:ea typeface="+mn-ea"/>
                <a:sym typeface="Calibri"/>
              </a:rPr>
              <a:t>…</a:t>
            </a:r>
            <a:endParaRPr lang="zh-CN" altLang="en-US" sz="3600" dirty="0">
              <a:solidFill>
                <a:srgbClr val="000000"/>
              </a:solidFill>
              <a:latin typeface="+mn-lt"/>
              <a:ea typeface="+mn-ea"/>
              <a:sym typeface="Calibri"/>
            </a:endParaRPr>
          </a:p>
        </p:txBody>
      </p:sp>
      <p:sp>
        <p:nvSpPr>
          <p:cNvPr id="14" name="上弧形箭头 13"/>
          <p:cNvSpPr/>
          <p:nvPr/>
        </p:nvSpPr>
        <p:spPr>
          <a:xfrm rot="2054430">
            <a:off x="8278991" y="4634940"/>
            <a:ext cx="732620" cy="276999"/>
          </a:xfrm>
          <a:prstGeom prst="curvedDownArrow">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endParaRPr lang="zh-CN" altLang="en-US" sz="1350">
              <a:solidFill>
                <a:srgbClr val="000000"/>
              </a:solidFill>
              <a:latin typeface="+mn-lt"/>
              <a:ea typeface="+mn-ea"/>
              <a:sym typeface="Calibri"/>
            </a:endParaRPr>
          </a:p>
        </p:txBody>
      </p:sp>
      <p:sp>
        <p:nvSpPr>
          <p:cNvPr id="15" name="上弧形箭头 14"/>
          <p:cNvSpPr/>
          <p:nvPr/>
        </p:nvSpPr>
        <p:spPr>
          <a:xfrm rot="13143429">
            <a:off x="6601279" y="5097791"/>
            <a:ext cx="732620" cy="276999"/>
          </a:xfrm>
          <a:prstGeom prst="curvedDownArrow">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endParaRPr lang="zh-CN" altLang="en-US" sz="1350">
              <a:solidFill>
                <a:srgbClr val="000000"/>
              </a:solidFill>
              <a:latin typeface="+mn-lt"/>
              <a:ea typeface="+mn-ea"/>
              <a:sym typeface="Calibri"/>
            </a:endParaRPr>
          </a:p>
        </p:txBody>
      </p:sp>
      <p:sp>
        <p:nvSpPr>
          <p:cNvPr id="16" name="上弧形箭头 15"/>
          <p:cNvSpPr/>
          <p:nvPr/>
        </p:nvSpPr>
        <p:spPr>
          <a:xfrm rot="13143429">
            <a:off x="2765798" y="2798427"/>
            <a:ext cx="732620" cy="276999"/>
          </a:xfrm>
          <a:prstGeom prst="curvedDownArrow">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endParaRPr lang="zh-CN" altLang="en-US" sz="1350">
              <a:solidFill>
                <a:srgbClr val="000000"/>
              </a:solidFill>
              <a:latin typeface="+mn-lt"/>
              <a:ea typeface="+mn-ea"/>
              <a:sym typeface="Calibri"/>
            </a:endParaRPr>
          </a:p>
        </p:txBody>
      </p:sp>
      <p:sp>
        <p:nvSpPr>
          <p:cNvPr id="93195"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nodeType="afterGroup">
                            <p:stCondLst>
                              <p:cond delay="500"/>
                            </p:stCondLst>
                            <p:childTnLst>
                              <p:par>
                                <p:cTn id="25" presetID="1" presetClass="entr" presetSubtype="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527050" y="333375"/>
            <a:ext cx="10321925" cy="863600"/>
          </a:xfrm>
        </p:spPr>
        <p:txBody>
          <a:bodyPr/>
          <a:lstStyle/>
          <a:p>
            <a:pPr eaLnBrk="1" hangingPunct="1"/>
            <a:r>
              <a:rPr lang="zh-CN" altLang="en-US" smtClean="0"/>
              <a:t>例</a:t>
            </a:r>
            <a:r>
              <a:rPr lang="en-US" altLang="zh-CN" smtClean="0"/>
              <a:t>2. Hanoi</a:t>
            </a:r>
            <a:r>
              <a:rPr lang="zh-CN" altLang="en-US" smtClean="0"/>
              <a:t>塔问题</a:t>
            </a:r>
          </a:p>
        </p:txBody>
      </p:sp>
      <p:sp>
        <p:nvSpPr>
          <p:cNvPr id="94211"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z="2100" smtClean="0"/>
              <a:t>  </a:t>
            </a:r>
            <a:endParaRPr lang="en-US" altLang="zh-CN" sz="2100" smtClean="0">
              <a:solidFill>
                <a:srgbClr val="FF3300"/>
              </a:solidFill>
            </a:endParaRPr>
          </a:p>
          <a:p>
            <a:pPr eaLnBrk="1" hangingPunct="1">
              <a:buFont typeface="Wingdings" panose="05000000000000000000" pitchFamily="2" charset="2"/>
              <a:buNone/>
            </a:pPr>
            <a:endParaRPr lang="en-US" altLang="zh-CN" sz="2100" smtClean="0">
              <a:solidFill>
                <a:srgbClr val="FF3300"/>
              </a:solidFill>
            </a:endParaRPr>
          </a:p>
          <a:p>
            <a:pPr eaLnBrk="1" hangingPunct="1">
              <a:buFont typeface="Wingdings" panose="05000000000000000000" pitchFamily="2" charset="2"/>
              <a:buNone/>
            </a:pPr>
            <a:endParaRPr lang="en-US" altLang="zh-CN" sz="2100" smtClean="0">
              <a:solidFill>
                <a:srgbClr val="FF3300"/>
              </a:solidFill>
            </a:endParaRPr>
          </a:p>
          <a:p>
            <a:pPr eaLnBrk="1" hangingPunct="1">
              <a:buFont typeface="Wingdings" panose="05000000000000000000" pitchFamily="2" charset="2"/>
              <a:buNone/>
            </a:pPr>
            <a:endParaRPr lang="en-US" altLang="zh-CN" sz="2100" smtClean="0">
              <a:solidFill>
                <a:srgbClr val="FF3300"/>
              </a:solidFill>
            </a:endParaRPr>
          </a:p>
          <a:p>
            <a:pPr eaLnBrk="1" hangingPunct="1">
              <a:buFont typeface="Wingdings" panose="05000000000000000000" pitchFamily="2" charset="2"/>
              <a:buNone/>
            </a:pPr>
            <a:endParaRPr lang="en-US" altLang="zh-CN" sz="2100" smtClean="0">
              <a:solidFill>
                <a:srgbClr val="FF3300"/>
              </a:solidFill>
            </a:endParaRPr>
          </a:p>
          <a:p>
            <a:pPr eaLnBrk="1" hangingPunct="1">
              <a:buFont typeface="Wingdings" panose="05000000000000000000" pitchFamily="2" charset="2"/>
              <a:buNone/>
            </a:pPr>
            <a:endParaRPr lang="en-US" altLang="zh-CN" sz="2100" b="1" smtClean="0">
              <a:solidFill>
                <a:srgbClr val="FF3300"/>
              </a:solidFill>
            </a:endParaRPr>
          </a:p>
          <a:p>
            <a:pPr eaLnBrk="1" hangingPunct="1">
              <a:buFont typeface="Wingdings" panose="05000000000000000000" pitchFamily="2" charset="2"/>
              <a:buNone/>
            </a:pPr>
            <a:endParaRPr lang="en-US" altLang="zh-CN" sz="2100" b="1" smtClean="0">
              <a:solidFill>
                <a:srgbClr val="FF3300"/>
              </a:solidFill>
            </a:endParaRPr>
          </a:p>
          <a:p>
            <a:pPr eaLnBrk="1" hangingPunct="1">
              <a:buFont typeface="Wingdings" panose="05000000000000000000" pitchFamily="2" charset="2"/>
              <a:buNone/>
            </a:pPr>
            <a:endParaRPr lang="en-US" altLang="zh-CN" sz="2600" smtClean="0"/>
          </a:p>
        </p:txBody>
      </p:sp>
      <p:sp>
        <p:nvSpPr>
          <p:cNvPr id="94212" name="Text Box 1030"/>
          <p:cNvSpPr txBox="1">
            <a:spLocks noChangeArrowheads="1"/>
          </p:cNvSpPr>
          <p:nvPr/>
        </p:nvSpPr>
        <p:spPr bwMode="auto">
          <a:xfrm>
            <a:off x="2351088" y="2205038"/>
            <a:ext cx="7183437" cy="29448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70000"/>
              </a:lnSpc>
              <a:spcBef>
                <a:spcPct val="50000"/>
              </a:spcBef>
              <a:buFontTx/>
              <a:buNone/>
            </a:pPr>
            <a:r>
              <a:rPr kumimoji="1" lang="en-US" altLang="zh-CN" sz="1800">
                <a:latin typeface="Times New Roman" panose="02020603050405020304" pitchFamily="18" charset="0"/>
                <a:ea typeface="宋体" panose="02010600030101010101" pitchFamily="2" charset="-122"/>
              </a:rPr>
              <a:t>void  </a:t>
            </a:r>
            <a:r>
              <a:rPr kumimoji="1" lang="en-US" altLang="zh-CN" sz="1800" b="1">
                <a:solidFill>
                  <a:schemeClr val="accent2"/>
                </a:solidFill>
                <a:latin typeface="Times New Roman" panose="02020603050405020304" pitchFamily="18" charset="0"/>
                <a:ea typeface="宋体" panose="02010600030101010101" pitchFamily="2" charset="-122"/>
              </a:rPr>
              <a:t>hanoi</a:t>
            </a:r>
            <a:r>
              <a:rPr kumimoji="1" lang="en-US" altLang="zh-CN" sz="1800">
                <a:latin typeface="Times New Roman" panose="02020603050405020304" pitchFamily="18" charset="0"/>
                <a:ea typeface="宋体" panose="02010600030101010101" pitchFamily="2" charset="-122"/>
              </a:rPr>
              <a:t> (int n, char x,  char y, char z )</a:t>
            </a:r>
          </a:p>
          <a:p>
            <a:pPr eaLnBrk="1" hangingPunct="1">
              <a:lnSpc>
                <a:spcPct val="70000"/>
              </a:lnSpc>
              <a:spcBef>
                <a:spcPct val="50000"/>
              </a:spcBef>
              <a:buFontTx/>
              <a:buNone/>
            </a:pPr>
            <a:r>
              <a:rPr kumimoji="1" lang="en-US" altLang="zh-CN" sz="1800">
                <a:latin typeface="Times New Roman" panose="02020603050405020304" pitchFamily="18" charset="0"/>
                <a:ea typeface="宋体" panose="02010600030101010101" pitchFamily="2" charset="-122"/>
              </a:rPr>
              <a:t>{   </a:t>
            </a:r>
          </a:p>
          <a:p>
            <a:pPr eaLnBrk="1" hangingPunct="1">
              <a:lnSpc>
                <a:spcPct val="70000"/>
              </a:lnSpc>
              <a:spcBef>
                <a:spcPct val="50000"/>
              </a:spcBef>
              <a:buFontTx/>
              <a:buNone/>
            </a:pPr>
            <a:r>
              <a:rPr kumimoji="1" lang="en-US" altLang="zh-CN" sz="1800">
                <a:latin typeface="Times New Roman" panose="02020603050405020304" pitchFamily="18" charset="0"/>
                <a:ea typeface="宋体" panose="02010600030101010101" pitchFamily="2" charset="-122"/>
              </a:rPr>
              <a:t>         if (n==1) move (x, 1, z);  //</a:t>
            </a:r>
            <a:r>
              <a:rPr kumimoji="1" lang="zh-CN" altLang="en-US" sz="1800" b="1">
                <a:latin typeface="楷体" panose="02010609060101010101" pitchFamily="49" charset="-122"/>
                <a:ea typeface="楷体" panose="02010609060101010101" pitchFamily="49" charset="-122"/>
              </a:rPr>
              <a:t>出口条件</a:t>
            </a:r>
            <a:r>
              <a:rPr kumimoji="1" lang="en-US" altLang="zh-CN" sz="1800">
                <a:latin typeface="楷体_GB2312" panose="02010609030101010101" pitchFamily="49" charset="-122"/>
                <a:ea typeface="楷体_GB2312" panose="02010609030101010101" pitchFamily="49" charset="-122"/>
              </a:rPr>
              <a:t>:</a:t>
            </a:r>
            <a:r>
              <a:rPr kumimoji="1" lang="zh-CN" altLang="zh-CN" sz="1800">
                <a:latin typeface="楷体_GB2312" panose="02010609030101010101" pitchFamily="49" charset="-122"/>
                <a:ea typeface="楷体_GB2312" panose="02010609030101010101" pitchFamily="49" charset="-122"/>
              </a:rPr>
              <a:t>将编号1的圆盘从</a:t>
            </a:r>
            <a:r>
              <a:rPr kumimoji="1" lang="en-US" altLang="zh-CN" sz="1800">
                <a:latin typeface="楷体_GB2312" panose="02010609030101010101" pitchFamily="49" charset="-122"/>
                <a:ea typeface="楷体_GB2312" panose="02010609030101010101" pitchFamily="49" charset="-122"/>
              </a:rPr>
              <a:t>x</a:t>
            </a:r>
            <a:r>
              <a:rPr kumimoji="1" lang="zh-CN" altLang="zh-CN" sz="1800">
                <a:latin typeface="楷体_GB2312" panose="02010609030101010101" pitchFamily="49" charset="-122"/>
                <a:ea typeface="楷体_GB2312" panose="02010609030101010101" pitchFamily="49" charset="-122"/>
              </a:rPr>
              <a:t>移到</a:t>
            </a:r>
            <a:r>
              <a:rPr kumimoji="1" lang="en-US" altLang="zh-CN" sz="1800">
                <a:latin typeface="楷体_GB2312" panose="02010609030101010101" pitchFamily="49" charset="-122"/>
                <a:ea typeface="楷体_GB2312" panose="02010609030101010101" pitchFamily="49" charset="-122"/>
              </a:rPr>
              <a:t>z</a:t>
            </a:r>
            <a:r>
              <a:rPr kumimoji="1" lang="en-US" altLang="zh-CN" sz="1800">
                <a:latin typeface="Times New Roman" panose="02020603050405020304" pitchFamily="18" charset="0"/>
                <a:ea typeface="宋体" panose="02010600030101010101" pitchFamily="2" charset="-122"/>
              </a:rPr>
              <a:t> </a:t>
            </a:r>
          </a:p>
          <a:p>
            <a:pPr eaLnBrk="1" hangingPunct="1">
              <a:lnSpc>
                <a:spcPct val="70000"/>
              </a:lnSpc>
              <a:spcBef>
                <a:spcPct val="50000"/>
              </a:spcBef>
              <a:buFontTx/>
              <a:buNone/>
            </a:pPr>
            <a:r>
              <a:rPr kumimoji="1" lang="en-US" altLang="zh-CN" sz="1800">
                <a:latin typeface="Times New Roman" panose="02020603050405020304" pitchFamily="18" charset="0"/>
                <a:ea typeface="宋体" panose="02010600030101010101" pitchFamily="2" charset="-122"/>
              </a:rPr>
              <a:t>         else  {</a:t>
            </a:r>
          </a:p>
          <a:p>
            <a:pPr eaLnBrk="1" hangingPunct="1">
              <a:lnSpc>
                <a:spcPct val="70000"/>
              </a:lnSpc>
              <a:spcBef>
                <a:spcPct val="50000"/>
              </a:spcBef>
              <a:buFontTx/>
              <a:buNone/>
            </a:pPr>
            <a:r>
              <a:rPr kumimoji="1" lang="en-US" altLang="zh-CN" sz="1800">
                <a:latin typeface="Times New Roman" panose="02020603050405020304" pitchFamily="18" charset="0"/>
                <a:ea typeface="宋体" panose="02010600030101010101" pitchFamily="2" charset="-122"/>
              </a:rPr>
              <a:t>                </a:t>
            </a:r>
            <a:r>
              <a:rPr kumimoji="1" lang="en-US" altLang="zh-CN" sz="1800">
                <a:solidFill>
                  <a:schemeClr val="accent2"/>
                </a:solidFill>
                <a:latin typeface="Times New Roman" panose="02020603050405020304" pitchFamily="18" charset="0"/>
                <a:ea typeface="宋体" panose="02010600030101010101" pitchFamily="2" charset="-122"/>
              </a:rPr>
              <a:t>hanoi</a:t>
            </a:r>
            <a:r>
              <a:rPr kumimoji="1" lang="en-US" altLang="zh-CN" sz="1800">
                <a:latin typeface="Times New Roman" panose="02020603050405020304" pitchFamily="18" charset="0"/>
                <a:ea typeface="宋体" panose="02010600030101010101" pitchFamily="2" charset="-122"/>
              </a:rPr>
              <a:t>(n-1, x, z, y); //</a:t>
            </a:r>
            <a:r>
              <a:rPr kumimoji="1" lang="zh-CN" altLang="en-US" sz="1800">
                <a:latin typeface="楷体_GB2312" panose="02010609030101010101" pitchFamily="49" charset="-122"/>
                <a:ea typeface="楷体_GB2312" panose="02010609030101010101" pitchFamily="49" charset="-122"/>
              </a:rPr>
              <a:t>将</a:t>
            </a:r>
            <a:r>
              <a:rPr kumimoji="1" lang="en-US" altLang="zh-CN" sz="1800">
                <a:latin typeface="楷体_GB2312" panose="02010609030101010101" pitchFamily="49" charset="-122"/>
                <a:ea typeface="楷体_GB2312" panose="02010609030101010101" pitchFamily="49" charset="-122"/>
              </a:rPr>
              <a:t>n-1</a:t>
            </a:r>
            <a:r>
              <a:rPr kumimoji="1" lang="zh-CN" altLang="en-US" sz="1800">
                <a:latin typeface="楷体_GB2312" panose="02010609030101010101" pitchFamily="49" charset="-122"/>
                <a:ea typeface="楷体_GB2312" panose="02010609030101010101" pitchFamily="49" charset="-122"/>
              </a:rPr>
              <a:t>个圆盘从</a:t>
            </a:r>
            <a:r>
              <a:rPr kumimoji="1" lang="en-US" altLang="zh-CN" sz="1800">
                <a:latin typeface="楷体_GB2312" panose="02010609030101010101" pitchFamily="49" charset="-122"/>
                <a:ea typeface="楷体_GB2312" panose="02010609030101010101" pitchFamily="49" charset="-122"/>
              </a:rPr>
              <a:t>x</a:t>
            </a:r>
            <a:r>
              <a:rPr kumimoji="1" lang="zh-CN" altLang="en-US" sz="1800">
                <a:latin typeface="楷体_GB2312" panose="02010609030101010101" pitchFamily="49" charset="-122"/>
                <a:ea typeface="楷体_GB2312" panose="02010609030101010101" pitchFamily="49" charset="-122"/>
              </a:rPr>
              <a:t>移到</a:t>
            </a:r>
            <a:r>
              <a:rPr kumimoji="1" lang="en-US" altLang="zh-CN" sz="1800">
                <a:latin typeface="楷体_GB2312" panose="02010609030101010101" pitchFamily="49" charset="-122"/>
                <a:ea typeface="楷体_GB2312" panose="02010609030101010101" pitchFamily="49" charset="-122"/>
              </a:rPr>
              <a:t>y</a:t>
            </a:r>
            <a:r>
              <a:rPr kumimoji="1" lang="zh-CN" altLang="en-US" sz="1800">
                <a:latin typeface="楷体_GB2312" panose="02010609030101010101" pitchFamily="49" charset="-122"/>
                <a:ea typeface="楷体_GB2312" panose="02010609030101010101" pitchFamily="49" charset="-122"/>
              </a:rPr>
              <a:t>上，</a:t>
            </a:r>
            <a:r>
              <a:rPr kumimoji="1" lang="en-US" altLang="zh-CN" sz="1800">
                <a:latin typeface="楷体_GB2312" panose="02010609030101010101" pitchFamily="49" charset="-122"/>
                <a:ea typeface="楷体_GB2312" panose="02010609030101010101" pitchFamily="49" charset="-122"/>
              </a:rPr>
              <a:t>z</a:t>
            </a:r>
            <a:r>
              <a:rPr kumimoji="1" lang="zh-CN" altLang="en-US" sz="1800">
                <a:latin typeface="楷体_GB2312" panose="02010609030101010101" pitchFamily="49" charset="-122"/>
                <a:ea typeface="楷体_GB2312" panose="02010609030101010101" pitchFamily="49" charset="-122"/>
              </a:rPr>
              <a:t>为辅助塔座</a:t>
            </a:r>
            <a:endParaRPr kumimoji="1" lang="zh-CN" altLang="en-US" sz="1800">
              <a:latin typeface="Times New Roman" panose="02020603050405020304" pitchFamily="18" charset="0"/>
              <a:ea typeface="宋体" panose="02010600030101010101" pitchFamily="2" charset="-122"/>
            </a:endParaRPr>
          </a:p>
          <a:p>
            <a:pPr eaLnBrk="1" hangingPunct="1">
              <a:lnSpc>
                <a:spcPct val="70000"/>
              </a:lnSpc>
              <a:spcBef>
                <a:spcPct val="50000"/>
              </a:spcBef>
              <a:buFontTx/>
              <a:buNone/>
            </a:pPr>
            <a:r>
              <a:rPr kumimoji="1" lang="zh-CN" altLang="en-US" sz="1800">
                <a:latin typeface="Times New Roman" panose="02020603050405020304" pitchFamily="18" charset="0"/>
                <a:ea typeface="宋体" panose="02010600030101010101" pitchFamily="2" charset="-122"/>
              </a:rPr>
              <a:t>	</a:t>
            </a:r>
            <a:r>
              <a:rPr kumimoji="1" lang="en-US" altLang="zh-CN" sz="1800">
                <a:latin typeface="Times New Roman" panose="02020603050405020304" pitchFamily="18" charset="0"/>
                <a:ea typeface="宋体" panose="02010600030101010101" pitchFamily="2" charset="-122"/>
              </a:rPr>
              <a:t>move (x</a:t>
            </a:r>
            <a:r>
              <a:rPr kumimoji="1" lang="zh-CN" altLang="en-US" sz="1800">
                <a:latin typeface="Times New Roman" panose="02020603050405020304" pitchFamily="18" charset="0"/>
                <a:ea typeface="宋体" panose="02010600030101010101" pitchFamily="2" charset="-122"/>
              </a:rPr>
              <a:t>，</a:t>
            </a:r>
            <a:r>
              <a:rPr kumimoji="1" lang="en-US" altLang="zh-CN" sz="1800">
                <a:latin typeface="Times New Roman" panose="02020603050405020304" pitchFamily="18" charset="0"/>
                <a:ea typeface="宋体" panose="02010600030101010101" pitchFamily="2" charset="-122"/>
              </a:rPr>
              <a:t>n</a:t>
            </a:r>
            <a:r>
              <a:rPr kumimoji="1" lang="zh-CN" altLang="en-US" sz="1800">
                <a:latin typeface="Times New Roman" panose="02020603050405020304" pitchFamily="18" charset="0"/>
                <a:ea typeface="宋体" panose="02010600030101010101" pitchFamily="2" charset="-122"/>
              </a:rPr>
              <a:t>，</a:t>
            </a:r>
            <a:r>
              <a:rPr kumimoji="1" lang="en-US" altLang="zh-CN" sz="1800">
                <a:latin typeface="Times New Roman" panose="02020603050405020304" pitchFamily="18" charset="0"/>
                <a:ea typeface="宋体" panose="02010600030101010101" pitchFamily="2" charset="-122"/>
              </a:rPr>
              <a:t>z);   //</a:t>
            </a:r>
            <a:r>
              <a:rPr kumimoji="1" lang="zh-CN" altLang="zh-CN" sz="1800">
                <a:latin typeface="楷体_GB2312" panose="02010609030101010101" pitchFamily="49" charset="-122"/>
                <a:ea typeface="楷体_GB2312" panose="02010609030101010101" pitchFamily="49" charset="-122"/>
              </a:rPr>
              <a:t>将编号</a:t>
            </a:r>
            <a:r>
              <a:rPr kumimoji="1" lang="en-US" altLang="zh-CN" sz="1800">
                <a:latin typeface="楷体_GB2312" panose="02010609030101010101" pitchFamily="49" charset="-122"/>
                <a:ea typeface="楷体_GB2312" panose="02010609030101010101" pitchFamily="49" charset="-122"/>
              </a:rPr>
              <a:t>n</a:t>
            </a:r>
            <a:r>
              <a:rPr kumimoji="1" lang="zh-CN" altLang="zh-CN" sz="1800">
                <a:latin typeface="楷体_GB2312" panose="02010609030101010101" pitchFamily="49" charset="-122"/>
                <a:ea typeface="楷体_GB2312" panose="02010609030101010101" pitchFamily="49" charset="-122"/>
              </a:rPr>
              <a:t>的圆盘从</a:t>
            </a:r>
            <a:r>
              <a:rPr kumimoji="1" lang="en-US" altLang="zh-CN" sz="1800">
                <a:latin typeface="楷体_GB2312" panose="02010609030101010101" pitchFamily="49" charset="-122"/>
                <a:ea typeface="楷体_GB2312" panose="02010609030101010101" pitchFamily="49" charset="-122"/>
              </a:rPr>
              <a:t>x</a:t>
            </a:r>
            <a:r>
              <a:rPr kumimoji="1" lang="zh-CN" altLang="zh-CN" sz="1800">
                <a:latin typeface="楷体_GB2312" panose="02010609030101010101" pitchFamily="49" charset="-122"/>
                <a:ea typeface="楷体_GB2312" panose="02010609030101010101" pitchFamily="49" charset="-122"/>
              </a:rPr>
              <a:t>移到</a:t>
            </a:r>
            <a:r>
              <a:rPr kumimoji="1" lang="en-US" altLang="zh-CN" sz="1800">
                <a:latin typeface="楷体_GB2312" panose="02010609030101010101" pitchFamily="49" charset="-122"/>
                <a:ea typeface="楷体_GB2312" panose="02010609030101010101" pitchFamily="49" charset="-122"/>
              </a:rPr>
              <a:t>z</a:t>
            </a:r>
            <a:endParaRPr kumimoji="1" lang="en-US" altLang="zh-CN" sz="1800">
              <a:latin typeface="Times New Roman" panose="02020603050405020304" pitchFamily="18" charset="0"/>
              <a:ea typeface="宋体" panose="02010600030101010101" pitchFamily="2" charset="-122"/>
            </a:endParaRPr>
          </a:p>
          <a:p>
            <a:pPr eaLnBrk="1" hangingPunct="1">
              <a:lnSpc>
                <a:spcPct val="70000"/>
              </a:lnSpc>
              <a:spcBef>
                <a:spcPct val="50000"/>
              </a:spcBef>
              <a:buFontTx/>
              <a:buNone/>
            </a:pPr>
            <a:r>
              <a:rPr kumimoji="1" lang="en-US" altLang="zh-CN" sz="1800">
                <a:latin typeface="Times New Roman" panose="02020603050405020304" pitchFamily="18" charset="0"/>
                <a:ea typeface="宋体" panose="02010600030101010101" pitchFamily="2" charset="-122"/>
              </a:rPr>
              <a:t>	</a:t>
            </a:r>
            <a:r>
              <a:rPr kumimoji="1" lang="en-US" altLang="zh-CN" sz="1800">
                <a:solidFill>
                  <a:schemeClr val="accent2"/>
                </a:solidFill>
                <a:latin typeface="Times New Roman" panose="02020603050405020304" pitchFamily="18" charset="0"/>
                <a:ea typeface="宋体" panose="02010600030101010101" pitchFamily="2" charset="-122"/>
              </a:rPr>
              <a:t>hanoi</a:t>
            </a:r>
            <a:r>
              <a:rPr kumimoji="1" lang="en-US" altLang="zh-CN" sz="1800">
                <a:latin typeface="Times New Roman" panose="02020603050405020304" pitchFamily="18" charset="0"/>
                <a:ea typeface="宋体" panose="02010600030101010101" pitchFamily="2" charset="-122"/>
              </a:rPr>
              <a:t> (n-1,  y, x, z); //</a:t>
            </a:r>
            <a:r>
              <a:rPr kumimoji="1" lang="zh-CN" altLang="en-US" sz="1800">
                <a:latin typeface="楷体_GB2312" panose="02010609030101010101" pitchFamily="49" charset="-122"/>
                <a:ea typeface="楷体_GB2312" panose="02010609030101010101" pitchFamily="49" charset="-122"/>
              </a:rPr>
              <a:t>将</a:t>
            </a:r>
            <a:r>
              <a:rPr kumimoji="1" lang="en-US" altLang="zh-CN" sz="1800">
                <a:latin typeface="楷体_GB2312" panose="02010609030101010101" pitchFamily="49" charset="-122"/>
                <a:ea typeface="楷体_GB2312" panose="02010609030101010101" pitchFamily="49" charset="-122"/>
              </a:rPr>
              <a:t>n-1</a:t>
            </a:r>
            <a:r>
              <a:rPr kumimoji="1" lang="zh-CN" altLang="en-US" sz="1800">
                <a:latin typeface="楷体_GB2312" panose="02010609030101010101" pitchFamily="49" charset="-122"/>
                <a:ea typeface="楷体_GB2312" panose="02010609030101010101" pitchFamily="49" charset="-122"/>
              </a:rPr>
              <a:t>个圆盘从</a:t>
            </a:r>
            <a:r>
              <a:rPr kumimoji="1" lang="en-US" altLang="zh-CN" sz="1800">
                <a:latin typeface="楷体_GB2312" panose="02010609030101010101" pitchFamily="49" charset="-122"/>
                <a:ea typeface="楷体_GB2312" panose="02010609030101010101" pitchFamily="49" charset="-122"/>
              </a:rPr>
              <a:t>y</a:t>
            </a:r>
            <a:r>
              <a:rPr kumimoji="1" lang="zh-CN" altLang="en-US" sz="1800">
                <a:latin typeface="楷体_GB2312" panose="02010609030101010101" pitchFamily="49" charset="-122"/>
                <a:ea typeface="楷体_GB2312" panose="02010609030101010101" pitchFamily="49" charset="-122"/>
              </a:rPr>
              <a:t>移到</a:t>
            </a:r>
            <a:r>
              <a:rPr kumimoji="1" lang="en-US" altLang="zh-CN" sz="1800">
                <a:latin typeface="楷体_GB2312" panose="02010609030101010101" pitchFamily="49" charset="-122"/>
                <a:ea typeface="楷体_GB2312" panose="02010609030101010101" pitchFamily="49" charset="-122"/>
              </a:rPr>
              <a:t>z</a:t>
            </a:r>
            <a:r>
              <a:rPr kumimoji="1" lang="zh-CN" altLang="en-US" sz="1800">
                <a:latin typeface="楷体_GB2312" panose="02010609030101010101" pitchFamily="49" charset="-122"/>
                <a:ea typeface="楷体_GB2312" panose="02010609030101010101" pitchFamily="49" charset="-122"/>
              </a:rPr>
              <a:t>上，</a:t>
            </a:r>
            <a:r>
              <a:rPr kumimoji="1" lang="en-US" altLang="zh-CN" sz="1800">
                <a:latin typeface="楷体_GB2312" panose="02010609030101010101" pitchFamily="49" charset="-122"/>
                <a:ea typeface="楷体_GB2312" panose="02010609030101010101" pitchFamily="49" charset="-122"/>
              </a:rPr>
              <a:t>x</a:t>
            </a:r>
            <a:r>
              <a:rPr kumimoji="1" lang="zh-CN" altLang="en-US" sz="1800">
                <a:latin typeface="楷体_GB2312" panose="02010609030101010101" pitchFamily="49" charset="-122"/>
                <a:ea typeface="楷体_GB2312" panose="02010609030101010101" pitchFamily="49" charset="-122"/>
              </a:rPr>
              <a:t>为辅助塔座</a:t>
            </a:r>
            <a:endParaRPr kumimoji="1" lang="zh-CN" altLang="en-US" sz="1800">
              <a:latin typeface="Times New Roman" panose="02020603050405020304" pitchFamily="18" charset="0"/>
              <a:ea typeface="宋体" panose="02010600030101010101" pitchFamily="2" charset="-122"/>
            </a:endParaRPr>
          </a:p>
          <a:p>
            <a:pPr eaLnBrk="1" hangingPunct="1">
              <a:lnSpc>
                <a:spcPct val="70000"/>
              </a:lnSpc>
              <a:spcBef>
                <a:spcPct val="50000"/>
              </a:spcBef>
              <a:buFontTx/>
              <a:buNone/>
            </a:pPr>
            <a:r>
              <a:rPr kumimoji="1" lang="zh-CN" altLang="en-US" sz="1800">
                <a:latin typeface="Times New Roman" panose="02020603050405020304" pitchFamily="18" charset="0"/>
                <a:ea typeface="宋体" panose="02010600030101010101" pitchFamily="2" charset="-122"/>
              </a:rPr>
              <a:t>          </a:t>
            </a:r>
            <a:r>
              <a:rPr kumimoji="1" lang="en-US" altLang="zh-CN" sz="1800">
                <a:latin typeface="Times New Roman" panose="02020603050405020304" pitchFamily="18" charset="0"/>
                <a:ea typeface="宋体" panose="02010600030101010101" pitchFamily="2" charset="-122"/>
              </a:rPr>
              <a:t>}</a:t>
            </a:r>
          </a:p>
          <a:p>
            <a:pPr eaLnBrk="1" hangingPunct="1">
              <a:lnSpc>
                <a:spcPct val="70000"/>
              </a:lnSpc>
              <a:spcBef>
                <a:spcPct val="50000"/>
              </a:spcBef>
              <a:buFontTx/>
              <a:buNone/>
            </a:pPr>
            <a:r>
              <a:rPr kumimoji="1" lang="en-US" altLang="zh-CN" sz="1800">
                <a:latin typeface="Times New Roman" panose="02020603050405020304" pitchFamily="18" charset="0"/>
                <a:ea typeface="宋体" panose="02010600030101010101" pitchFamily="2" charset="-122"/>
              </a:rPr>
              <a:t>}//hanoi</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95235"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z="2400" b="1" smtClean="0">
                <a:solidFill>
                  <a:srgbClr val="FF3300"/>
                </a:solidFill>
              </a:rPr>
              <a:t>[</a:t>
            </a:r>
            <a:r>
              <a:rPr lang="zh-CN" altLang="en-US" sz="2400" b="1" smtClean="0">
                <a:solidFill>
                  <a:srgbClr val="FF3300"/>
                </a:solidFill>
              </a:rPr>
              <a:t>递归算法的特点</a:t>
            </a:r>
            <a:r>
              <a:rPr lang="en-US" altLang="zh-CN" sz="2400" b="1" smtClean="0">
                <a:solidFill>
                  <a:srgbClr val="FF3300"/>
                </a:solidFill>
              </a:rPr>
              <a:t>]</a:t>
            </a:r>
            <a:endParaRPr lang="en-US" altLang="zh-CN" sz="2400" smtClean="0">
              <a:solidFill>
                <a:srgbClr val="FF3300"/>
              </a:solidFill>
            </a:endParaRPr>
          </a:p>
          <a:p>
            <a:pPr lvl="1" eaLnBrk="1" hangingPunct="1"/>
            <a:r>
              <a:rPr lang="zh-CN" altLang="en-US" smtClean="0"/>
              <a:t>递归算法简单明了，直观易懂</a:t>
            </a:r>
          </a:p>
          <a:p>
            <a:pPr lvl="1" eaLnBrk="1" hangingPunct="1"/>
            <a:r>
              <a:rPr lang="zh-CN" altLang="en-US" smtClean="0"/>
              <a:t>时间效率低，空间开销大，算法不易优化</a:t>
            </a:r>
          </a:p>
        </p:txBody>
      </p:sp>
      <p:sp>
        <p:nvSpPr>
          <p:cNvPr id="95236" name="Rectangle 4"/>
          <p:cNvSpPr>
            <a:spLocks noChangeArrowheads="1"/>
          </p:cNvSpPr>
          <p:nvPr/>
        </p:nvSpPr>
        <p:spPr bwMode="auto">
          <a:xfrm>
            <a:off x="6600825" y="3714750"/>
            <a:ext cx="2819400" cy="2209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95237" name="Line 5"/>
          <p:cNvSpPr>
            <a:spLocks noChangeShapeType="1"/>
          </p:cNvSpPr>
          <p:nvPr/>
        </p:nvSpPr>
        <p:spPr bwMode="auto">
          <a:xfrm>
            <a:off x="6905625" y="5391150"/>
            <a:ext cx="2667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38" name="Line 6"/>
          <p:cNvSpPr>
            <a:spLocks noChangeShapeType="1"/>
          </p:cNvSpPr>
          <p:nvPr/>
        </p:nvSpPr>
        <p:spPr bwMode="auto">
          <a:xfrm>
            <a:off x="7362825" y="424815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39" name="Line 7"/>
          <p:cNvSpPr>
            <a:spLocks noChangeShapeType="1"/>
          </p:cNvSpPr>
          <p:nvPr/>
        </p:nvSpPr>
        <p:spPr bwMode="auto">
          <a:xfrm>
            <a:off x="8201025" y="417195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40" name="Line 8"/>
          <p:cNvSpPr>
            <a:spLocks noChangeShapeType="1"/>
          </p:cNvSpPr>
          <p:nvPr/>
        </p:nvSpPr>
        <p:spPr bwMode="auto">
          <a:xfrm>
            <a:off x="9039225" y="424815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41" name="Text Box 9"/>
          <p:cNvSpPr txBox="1">
            <a:spLocks noChangeArrowheads="1"/>
          </p:cNvSpPr>
          <p:nvPr/>
        </p:nvSpPr>
        <p:spPr bwMode="auto">
          <a:xfrm>
            <a:off x="7210425" y="5238750"/>
            <a:ext cx="23622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b="1">
                <a:solidFill>
                  <a:schemeClr val="accent2"/>
                </a:solidFill>
                <a:latin typeface="楷体_GB2312" panose="02010609030101010101" pitchFamily="49" charset="-122"/>
                <a:ea typeface="楷体_GB2312" panose="02010609030101010101" pitchFamily="49" charset="-122"/>
              </a:rPr>
              <a:t>x     y      z</a:t>
            </a:r>
          </a:p>
          <a:p>
            <a:pPr eaLnBrk="1" hangingPunct="1">
              <a:lnSpc>
                <a:spcPct val="100000"/>
              </a:lnSpc>
              <a:spcBef>
                <a:spcPct val="50000"/>
              </a:spcBef>
              <a:buFontTx/>
              <a:buNone/>
            </a:pPr>
            <a:r>
              <a:rPr kumimoji="1" lang="zh-CN" altLang="en-US" sz="2000" b="1">
                <a:solidFill>
                  <a:schemeClr val="accent2"/>
                </a:solidFill>
                <a:latin typeface="楷体_GB2312" panose="02010609030101010101" pitchFamily="49" charset="-122"/>
                <a:ea typeface="楷体_GB2312" panose="02010609030101010101" pitchFamily="49" charset="-122"/>
              </a:rPr>
              <a:t>源   辅助   目标</a:t>
            </a:r>
            <a:endParaRPr kumimoji="1" lang="zh-CN" altLang="en-US" sz="24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a:xfrm>
            <a:off x="527050" y="333375"/>
            <a:ext cx="10321925" cy="863600"/>
          </a:xfrm>
        </p:spPr>
        <p:txBody>
          <a:bodyPr/>
          <a:lstStyle/>
          <a:p>
            <a:pPr eaLnBrk="1" hangingPunct="1"/>
            <a:r>
              <a:rPr lang="en-US" altLang="zh-CN" smtClean="0"/>
              <a:t>Hanoi</a:t>
            </a:r>
            <a:r>
              <a:rPr lang="zh-CN" altLang="en-US" smtClean="0"/>
              <a:t>塔递归算法工作过程</a:t>
            </a:r>
          </a:p>
        </p:txBody>
      </p:sp>
      <p:sp>
        <p:nvSpPr>
          <p:cNvPr id="96259" name="Text Box 21"/>
          <p:cNvSpPr txBox="1">
            <a:spLocks noChangeArrowheads="1"/>
          </p:cNvSpPr>
          <p:nvPr/>
        </p:nvSpPr>
        <p:spPr bwMode="auto">
          <a:xfrm>
            <a:off x="5000625" y="4554538"/>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         b           c</a:t>
            </a:r>
          </a:p>
        </p:txBody>
      </p:sp>
      <p:sp>
        <p:nvSpPr>
          <p:cNvPr id="96260" name="Line 22"/>
          <p:cNvSpPr>
            <a:spLocks noChangeShapeType="1"/>
          </p:cNvSpPr>
          <p:nvPr/>
        </p:nvSpPr>
        <p:spPr bwMode="auto">
          <a:xfrm>
            <a:off x="4543425" y="4630738"/>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1" name="Line 23"/>
          <p:cNvSpPr>
            <a:spLocks noChangeShapeType="1"/>
          </p:cNvSpPr>
          <p:nvPr/>
        </p:nvSpPr>
        <p:spPr bwMode="auto">
          <a:xfrm>
            <a:off x="5076825" y="3030538"/>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2" name="Line 24"/>
          <p:cNvSpPr>
            <a:spLocks noChangeShapeType="1"/>
          </p:cNvSpPr>
          <p:nvPr/>
        </p:nvSpPr>
        <p:spPr bwMode="auto">
          <a:xfrm>
            <a:off x="5915025" y="3030538"/>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3" name="Line 25"/>
          <p:cNvSpPr>
            <a:spLocks noChangeShapeType="1"/>
          </p:cNvSpPr>
          <p:nvPr/>
        </p:nvSpPr>
        <p:spPr bwMode="auto">
          <a:xfrm>
            <a:off x="6829425" y="3030538"/>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4" name="Rectangle 26"/>
          <p:cNvSpPr>
            <a:spLocks noChangeArrowheads="1"/>
          </p:cNvSpPr>
          <p:nvPr/>
        </p:nvSpPr>
        <p:spPr bwMode="auto">
          <a:xfrm>
            <a:off x="4619625" y="4325938"/>
            <a:ext cx="9144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96265" name="Rectangle 27"/>
          <p:cNvSpPr>
            <a:spLocks noChangeArrowheads="1"/>
          </p:cNvSpPr>
          <p:nvPr/>
        </p:nvSpPr>
        <p:spPr bwMode="auto">
          <a:xfrm>
            <a:off x="4772025" y="3944938"/>
            <a:ext cx="6096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96266" name="Rectangle 28"/>
          <p:cNvSpPr>
            <a:spLocks noChangeArrowheads="1"/>
          </p:cNvSpPr>
          <p:nvPr/>
        </p:nvSpPr>
        <p:spPr bwMode="auto">
          <a:xfrm>
            <a:off x="4848225" y="3563938"/>
            <a:ext cx="4572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35" name="Rectangle 29"/>
          <p:cNvSpPr>
            <a:spLocks noChangeArrowheads="1"/>
          </p:cNvSpPr>
          <p:nvPr/>
        </p:nvSpPr>
        <p:spPr bwMode="auto">
          <a:xfrm>
            <a:off x="6600825" y="3716338"/>
            <a:ext cx="4572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36" name="Rectangle 30"/>
          <p:cNvSpPr>
            <a:spLocks noChangeArrowheads="1"/>
          </p:cNvSpPr>
          <p:nvPr/>
        </p:nvSpPr>
        <p:spPr bwMode="auto">
          <a:xfrm>
            <a:off x="6524625" y="4021138"/>
            <a:ext cx="6096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59" name="Rectangle 31"/>
          <p:cNvSpPr>
            <a:spLocks noChangeArrowheads="1"/>
          </p:cNvSpPr>
          <p:nvPr/>
        </p:nvSpPr>
        <p:spPr bwMode="auto">
          <a:xfrm>
            <a:off x="6372225" y="4325938"/>
            <a:ext cx="9144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60" name="Rectangle 32"/>
          <p:cNvSpPr>
            <a:spLocks noChangeArrowheads="1"/>
          </p:cNvSpPr>
          <p:nvPr/>
        </p:nvSpPr>
        <p:spPr bwMode="auto">
          <a:xfrm>
            <a:off x="4848225" y="3563938"/>
            <a:ext cx="4572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61" name="Rectangle 33"/>
          <p:cNvSpPr>
            <a:spLocks noChangeArrowheads="1"/>
          </p:cNvSpPr>
          <p:nvPr/>
        </p:nvSpPr>
        <p:spPr bwMode="auto">
          <a:xfrm>
            <a:off x="6600825" y="4325938"/>
            <a:ext cx="4572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62" name="Rectangle 34"/>
          <p:cNvSpPr>
            <a:spLocks noChangeArrowheads="1"/>
          </p:cNvSpPr>
          <p:nvPr/>
        </p:nvSpPr>
        <p:spPr bwMode="auto">
          <a:xfrm>
            <a:off x="4772025" y="3944938"/>
            <a:ext cx="609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63" name="Rectangle 35"/>
          <p:cNvSpPr>
            <a:spLocks noChangeArrowheads="1"/>
          </p:cNvSpPr>
          <p:nvPr/>
        </p:nvSpPr>
        <p:spPr bwMode="auto">
          <a:xfrm>
            <a:off x="5610225" y="4325938"/>
            <a:ext cx="6096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64" name="Rectangle 36"/>
          <p:cNvSpPr>
            <a:spLocks noChangeArrowheads="1"/>
          </p:cNvSpPr>
          <p:nvPr/>
        </p:nvSpPr>
        <p:spPr bwMode="auto">
          <a:xfrm>
            <a:off x="6600825" y="4325938"/>
            <a:ext cx="4572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65" name="Rectangle 37"/>
          <p:cNvSpPr>
            <a:spLocks noChangeArrowheads="1"/>
          </p:cNvSpPr>
          <p:nvPr/>
        </p:nvSpPr>
        <p:spPr bwMode="auto">
          <a:xfrm>
            <a:off x="5686425" y="3944938"/>
            <a:ext cx="4572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66" name="Rectangle 38"/>
          <p:cNvSpPr>
            <a:spLocks noChangeArrowheads="1"/>
          </p:cNvSpPr>
          <p:nvPr/>
        </p:nvSpPr>
        <p:spPr bwMode="auto">
          <a:xfrm>
            <a:off x="4619625" y="4325938"/>
            <a:ext cx="9144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67" name="Rectangle 39"/>
          <p:cNvSpPr>
            <a:spLocks noChangeArrowheads="1"/>
          </p:cNvSpPr>
          <p:nvPr/>
        </p:nvSpPr>
        <p:spPr bwMode="auto">
          <a:xfrm>
            <a:off x="5686425" y="3944938"/>
            <a:ext cx="4572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68" name="Rectangle 40"/>
          <p:cNvSpPr>
            <a:spLocks noChangeArrowheads="1"/>
          </p:cNvSpPr>
          <p:nvPr/>
        </p:nvSpPr>
        <p:spPr bwMode="auto">
          <a:xfrm>
            <a:off x="4848225" y="4325938"/>
            <a:ext cx="4572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69" name="Rectangle 41"/>
          <p:cNvSpPr>
            <a:spLocks noChangeArrowheads="1"/>
          </p:cNvSpPr>
          <p:nvPr/>
        </p:nvSpPr>
        <p:spPr bwMode="auto">
          <a:xfrm>
            <a:off x="5610225" y="4325938"/>
            <a:ext cx="609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70" name="Rectangle 42"/>
          <p:cNvSpPr>
            <a:spLocks noChangeArrowheads="1"/>
          </p:cNvSpPr>
          <p:nvPr/>
        </p:nvSpPr>
        <p:spPr bwMode="auto">
          <a:xfrm>
            <a:off x="4848225" y="4325938"/>
            <a:ext cx="4572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0-#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additive="base">
                                        <p:cTn id="13" dur="500" fill="hold"/>
                                        <p:tgtEl>
                                          <p:spTgt spid="61"/>
                                        </p:tgtEl>
                                        <p:attrNameLst>
                                          <p:attrName>ppt_x</p:attrName>
                                        </p:attrNameLst>
                                      </p:cBhvr>
                                      <p:tavLst>
                                        <p:tav tm="0">
                                          <p:val>
                                            <p:strVal val="0-#ppt_w/2"/>
                                          </p:val>
                                        </p:tav>
                                        <p:tav tm="100000">
                                          <p:val>
                                            <p:strVal val="#ppt_x"/>
                                          </p:val>
                                        </p:tav>
                                      </p:tavLst>
                                    </p:anim>
                                    <p:anim calcmode="lin" valueType="num">
                                      <p:cBhvr additive="base">
                                        <p:cTn id="14" dur="500" fill="hold"/>
                                        <p:tgtEl>
                                          <p:spTgt spid="6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
                                        </p:tgtEl>
                                        <p:attrNameLst>
                                          <p:attrName>style.visibility</p:attrName>
                                        </p:attrNameLst>
                                      </p:cBhvr>
                                      <p:to>
                                        <p:strVal val="visible"/>
                                      </p:to>
                                    </p:set>
                                    <p:anim calcmode="lin" valueType="num">
                                      <p:cBhvr additive="base">
                                        <p:cTn id="19" dur="500" fill="hold"/>
                                        <p:tgtEl>
                                          <p:spTgt spid="62"/>
                                        </p:tgtEl>
                                        <p:attrNameLst>
                                          <p:attrName>ppt_x</p:attrName>
                                        </p:attrNameLst>
                                      </p:cBhvr>
                                      <p:tavLst>
                                        <p:tav tm="0">
                                          <p:val>
                                            <p:strVal val="0-#ppt_w/2"/>
                                          </p:val>
                                        </p:tav>
                                        <p:tav tm="100000">
                                          <p:val>
                                            <p:strVal val="#ppt_x"/>
                                          </p:val>
                                        </p:tav>
                                      </p:tavLst>
                                    </p:anim>
                                    <p:anim calcmode="lin" valueType="num">
                                      <p:cBhvr additive="base">
                                        <p:cTn id="20" dur="500" fill="hold"/>
                                        <p:tgtEl>
                                          <p:spTgt spid="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anim calcmode="lin" valueType="num">
                                      <p:cBhvr additive="base">
                                        <p:cTn id="25" dur="500" fill="hold"/>
                                        <p:tgtEl>
                                          <p:spTgt spid="63"/>
                                        </p:tgtEl>
                                        <p:attrNameLst>
                                          <p:attrName>ppt_x</p:attrName>
                                        </p:attrNameLst>
                                      </p:cBhvr>
                                      <p:tavLst>
                                        <p:tav tm="0">
                                          <p:val>
                                            <p:strVal val="0-#ppt_w/2"/>
                                          </p:val>
                                        </p:tav>
                                        <p:tav tm="100000">
                                          <p:val>
                                            <p:strVal val="#ppt_x"/>
                                          </p:val>
                                        </p:tav>
                                      </p:tavLst>
                                    </p:anim>
                                    <p:anim calcmode="lin" valueType="num">
                                      <p:cBhvr additive="base">
                                        <p:cTn id="26" dur="500" fill="hold"/>
                                        <p:tgtEl>
                                          <p:spTgt spid="6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4"/>
                                        </p:tgtEl>
                                        <p:attrNameLst>
                                          <p:attrName>style.visibility</p:attrName>
                                        </p:attrNameLst>
                                      </p:cBhvr>
                                      <p:to>
                                        <p:strVal val="visible"/>
                                      </p:to>
                                    </p:set>
                                    <p:anim calcmode="lin" valueType="num">
                                      <p:cBhvr additive="base">
                                        <p:cTn id="31" dur="500" fill="hold"/>
                                        <p:tgtEl>
                                          <p:spTgt spid="64"/>
                                        </p:tgtEl>
                                        <p:attrNameLst>
                                          <p:attrName>ppt_x</p:attrName>
                                        </p:attrNameLst>
                                      </p:cBhvr>
                                      <p:tavLst>
                                        <p:tav tm="0">
                                          <p:val>
                                            <p:strVal val="0-#ppt_w/2"/>
                                          </p:val>
                                        </p:tav>
                                        <p:tav tm="100000">
                                          <p:val>
                                            <p:strVal val="#ppt_x"/>
                                          </p:val>
                                        </p:tav>
                                      </p:tavLst>
                                    </p:anim>
                                    <p:anim calcmode="lin" valueType="num">
                                      <p:cBhvr additive="base">
                                        <p:cTn id="32" dur="500" fill="hold"/>
                                        <p:tgtEl>
                                          <p:spTgt spid="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5"/>
                                        </p:tgtEl>
                                        <p:attrNameLst>
                                          <p:attrName>style.visibility</p:attrName>
                                        </p:attrNameLst>
                                      </p:cBhvr>
                                      <p:to>
                                        <p:strVal val="visible"/>
                                      </p:to>
                                    </p:set>
                                    <p:anim calcmode="lin" valueType="num">
                                      <p:cBhvr additive="base">
                                        <p:cTn id="37" dur="500" fill="hold"/>
                                        <p:tgtEl>
                                          <p:spTgt spid="65"/>
                                        </p:tgtEl>
                                        <p:attrNameLst>
                                          <p:attrName>ppt_x</p:attrName>
                                        </p:attrNameLst>
                                      </p:cBhvr>
                                      <p:tavLst>
                                        <p:tav tm="0">
                                          <p:val>
                                            <p:strVal val="0-#ppt_w/2"/>
                                          </p:val>
                                        </p:tav>
                                        <p:tav tm="100000">
                                          <p:val>
                                            <p:strVal val="#ppt_x"/>
                                          </p:val>
                                        </p:tav>
                                      </p:tavLst>
                                    </p:anim>
                                    <p:anim calcmode="lin" valueType="num">
                                      <p:cBhvr additive="base">
                                        <p:cTn id="38" dur="500" fill="hold"/>
                                        <p:tgtEl>
                                          <p:spTgt spid="6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6"/>
                                        </p:tgtEl>
                                        <p:attrNameLst>
                                          <p:attrName>style.visibility</p:attrName>
                                        </p:attrNameLst>
                                      </p:cBhvr>
                                      <p:to>
                                        <p:strVal val="visible"/>
                                      </p:to>
                                    </p:set>
                                    <p:anim calcmode="lin" valueType="num">
                                      <p:cBhvr additive="base">
                                        <p:cTn id="43" dur="500" fill="hold"/>
                                        <p:tgtEl>
                                          <p:spTgt spid="66"/>
                                        </p:tgtEl>
                                        <p:attrNameLst>
                                          <p:attrName>ppt_x</p:attrName>
                                        </p:attrNameLst>
                                      </p:cBhvr>
                                      <p:tavLst>
                                        <p:tav tm="0">
                                          <p:val>
                                            <p:strVal val="0-#ppt_w/2"/>
                                          </p:val>
                                        </p:tav>
                                        <p:tav tm="100000">
                                          <p:val>
                                            <p:strVal val="#ppt_x"/>
                                          </p:val>
                                        </p:tav>
                                      </p:tavLst>
                                    </p:anim>
                                    <p:anim calcmode="lin" valueType="num">
                                      <p:cBhvr additive="base">
                                        <p:cTn id="44" dur="500" fill="hold"/>
                                        <p:tgtEl>
                                          <p:spTgt spid="6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9"/>
                                        </p:tgtEl>
                                        <p:attrNameLst>
                                          <p:attrName>style.visibility</p:attrName>
                                        </p:attrNameLst>
                                      </p:cBhvr>
                                      <p:to>
                                        <p:strVal val="visible"/>
                                      </p:to>
                                    </p:set>
                                    <p:anim calcmode="lin" valueType="num">
                                      <p:cBhvr additive="base">
                                        <p:cTn id="49" dur="500" fill="hold"/>
                                        <p:tgtEl>
                                          <p:spTgt spid="59"/>
                                        </p:tgtEl>
                                        <p:attrNameLst>
                                          <p:attrName>ppt_x</p:attrName>
                                        </p:attrNameLst>
                                      </p:cBhvr>
                                      <p:tavLst>
                                        <p:tav tm="0">
                                          <p:val>
                                            <p:strVal val="0-#ppt_w/2"/>
                                          </p:val>
                                        </p:tav>
                                        <p:tav tm="100000">
                                          <p:val>
                                            <p:strVal val="#ppt_x"/>
                                          </p:val>
                                        </p:tav>
                                      </p:tavLst>
                                    </p:anim>
                                    <p:anim calcmode="lin" valueType="num">
                                      <p:cBhvr additive="base">
                                        <p:cTn id="50" dur="500" fill="hold"/>
                                        <p:tgtEl>
                                          <p:spTgt spid="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WHOOSH.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7"/>
                                        </p:tgtEl>
                                        <p:attrNameLst>
                                          <p:attrName>style.visibility</p:attrName>
                                        </p:attrNameLst>
                                      </p:cBhvr>
                                      <p:to>
                                        <p:strVal val="visible"/>
                                      </p:to>
                                    </p:set>
                                    <p:anim calcmode="lin" valueType="num">
                                      <p:cBhvr additive="base">
                                        <p:cTn id="55" dur="500" fill="hold"/>
                                        <p:tgtEl>
                                          <p:spTgt spid="67"/>
                                        </p:tgtEl>
                                        <p:attrNameLst>
                                          <p:attrName>ppt_x</p:attrName>
                                        </p:attrNameLst>
                                      </p:cBhvr>
                                      <p:tavLst>
                                        <p:tav tm="0">
                                          <p:val>
                                            <p:strVal val="0-#ppt_w/2"/>
                                          </p:val>
                                        </p:tav>
                                        <p:tav tm="100000">
                                          <p:val>
                                            <p:strVal val="#ppt_x"/>
                                          </p:val>
                                        </p:tav>
                                      </p:tavLst>
                                    </p:anim>
                                    <p:anim calcmode="lin" valueType="num">
                                      <p:cBhvr additive="base">
                                        <p:cTn id="56" dur="500" fill="hold"/>
                                        <p:tgtEl>
                                          <p:spTgt spid="6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WHOOSH.WAV"/>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68"/>
                                        </p:tgtEl>
                                        <p:attrNameLst>
                                          <p:attrName>style.visibility</p:attrName>
                                        </p:attrNameLst>
                                      </p:cBhvr>
                                      <p:to>
                                        <p:strVal val="visible"/>
                                      </p:to>
                                    </p:set>
                                    <p:anim calcmode="lin" valueType="num">
                                      <p:cBhvr additive="base">
                                        <p:cTn id="61" dur="500" fill="hold"/>
                                        <p:tgtEl>
                                          <p:spTgt spid="68"/>
                                        </p:tgtEl>
                                        <p:attrNameLst>
                                          <p:attrName>ppt_x</p:attrName>
                                        </p:attrNameLst>
                                      </p:cBhvr>
                                      <p:tavLst>
                                        <p:tav tm="0">
                                          <p:val>
                                            <p:strVal val="0-#ppt_w/2"/>
                                          </p:val>
                                        </p:tav>
                                        <p:tav tm="100000">
                                          <p:val>
                                            <p:strVal val="#ppt_x"/>
                                          </p:val>
                                        </p:tav>
                                      </p:tavLst>
                                    </p:anim>
                                    <p:anim calcmode="lin" valueType="num">
                                      <p:cBhvr additive="base">
                                        <p:cTn id="62" dur="500" fill="hold"/>
                                        <p:tgtEl>
                                          <p:spTgt spid="6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3" name="WHOOSH.WAV"/>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69"/>
                                        </p:tgtEl>
                                        <p:attrNameLst>
                                          <p:attrName>style.visibility</p:attrName>
                                        </p:attrNameLst>
                                      </p:cBhvr>
                                      <p:to>
                                        <p:strVal val="visible"/>
                                      </p:to>
                                    </p:set>
                                    <p:anim calcmode="lin" valueType="num">
                                      <p:cBhvr additive="base">
                                        <p:cTn id="67" dur="500" fill="hold"/>
                                        <p:tgtEl>
                                          <p:spTgt spid="69"/>
                                        </p:tgtEl>
                                        <p:attrNameLst>
                                          <p:attrName>ppt_x</p:attrName>
                                        </p:attrNameLst>
                                      </p:cBhvr>
                                      <p:tavLst>
                                        <p:tav tm="0">
                                          <p:val>
                                            <p:strVal val="0-#ppt_w/2"/>
                                          </p:val>
                                        </p:tav>
                                        <p:tav tm="100000">
                                          <p:val>
                                            <p:strVal val="#ppt_x"/>
                                          </p:val>
                                        </p:tav>
                                      </p:tavLst>
                                    </p:anim>
                                    <p:anim calcmode="lin" valueType="num">
                                      <p:cBhvr additive="base">
                                        <p:cTn id="68" dur="500" fill="hold"/>
                                        <p:tgtEl>
                                          <p:spTgt spid="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3" name="WHOOSH.WAV"/>
                                        </p:tgtEl>
                                      </p:cMediaNode>
                                    </p:audio>
                                  </p:sub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0-#ppt_w/2"/>
                                          </p:val>
                                        </p:tav>
                                        <p:tav tm="100000">
                                          <p:val>
                                            <p:strVal val="#ppt_x"/>
                                          </p:val>
                                        </p:tav>
                                      </p:tavLst>
                                    </p:anim>
                                    <p:anim calcmode="lin" valueType="num">
                                      <p:cBhvr additive="base">
                                        <p:cTn id="74" dur="500" fill="hold"/>
                                        <p:tgtEl>
                                          <p:spTgt spid="3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3" name="WHOOSH.WAV"/>
                                        </p:tgtEl>
                                      </p:cMediaNode>
                                    </p:audio>
                                  </p:sub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70"/>
                                        </p:tgtEl>
                                        <p:attrNameLst>
                                          <p:attrName>style.visibility</p:attrName>
                                        </p:attrNameLst>
                                      </p:cBhvr>
                                      <p:to>
                                        <p:strVal val="visible"/>
                                      </p:to>
                                    </p:set>
                                    <p:anim calcmode="lin" valueType="num">
                                      <p:cBhvr additive="base">
                                        <p:cTn id="79" dur="500" fill="hold"/>
                                        <p:tgtEl>
                                          <p:spTgt spid="70"/>
                                        </p:tgtEl>
                                        <p:attrNameLst>
                                          <p:attrName>ppt_x</p:attrName>
                                        </p:attrNameLst>
                                      </p:cBhvr>
                                      <p:tavLst>
                                        <p:tav tm="0">
                                          <p:val>
                                            <p:strVal val="0-#ppt_w/2"/>
                                          </p:val>
                                        </p:tav>
                                        <p:tav tm="100000">
                                          <p:val>
                                            <p:strVal val="#ppt_x"/>
                                          </p:val>
                                        </p:tav>
                                      </p:tavLst>
                                    </p:anim>
                                    <p:anim calcmode="lin" valueType="num">
                                      <p:cBhvr additive="base">
                                        <p:cTn id="80" dur="500" fill="hold"/>
                                        <p:tgtEl>
                                          <p:spTgt spid="7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3" name="WHOOSH.WAV"/>
                                        </p:tgtEl>
                                      </p:cMediaNode>
                                    </p:audio>
                                  </p:sub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35"/>
                                        </p:tgtEl>
                                        <p:attrNameLst>
                                          <p:attrName>style.visibility</p:attrName>
                                        </p:attrNameLst>
                                      </p:cBhvr>
                                      <p:to>
                                        <p:strVal val="visible"/>
                                      </p:to>
                                    </p:set>
                                    <p:anim calcmode="lin" valueType="num">
                                      <p:cBhvr additive="base">
                                        <p:cTn id="85" dur="500" fill="hold"/>
                                        <p:tgtEl>
                                          <p:spTgt spid="35"/>
                                        </p:tgtEl>
                                        <p:attrNameLst>
                                          <p:attrName>ppt_x</p:attrName>
                                        </p:attrNameLst>
                                      </p:cBhvr>
                                      <p:tavLst>
                                        <p:tav tm="0">
                                          <p:val>
                                            <p:strVal val="0-#ppt_w/2"/>
                                          </p:val>
                                        </p:tav>
                                        <p:tav tm="100000">
                                          <p:val>
                                            <p:strVal val="#ppt_x"/>
                                          </p:val>
                                        </p:tav>
                                      </p:tavLst>
                                    </p:anim>
                                    <p:anim calcmode="lin" valueType="num">
                                      <p:cBhvr additive="base">
                                        <p:cTn id="86" dur="500" fill="hold"/>
                                        <p:tgtEl>
                                          <p:spTgt spid="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idx="1"/>
          </p:nvPr>
        </p:nvSpPr>
        <p:spPr>
          <a:xfrm>
            <a:off x="2825750" y="1266825"/>
            <a:ext cx="2890838" cy="2419350"/>
          </a:xfrm>
        </p:spPr>
        <p:txBody>
          <a:bodyPr rtlCol="0">
            <a:normAutofit fontScale="85000" lnSpcReduction="20000"/>
          </a:bodyPr>
          <a:lstStyle/>
          <a:p>
            <a:pPr eaLnBrk="1" fontAlgn="auto" hangingPunct="1">
              <a:spcAft>
                <a:spcPts val="0"/>
              </a:spcAft>
              <a:buFont typeface="Wingdings" panose="05000000000000000000" pitchFamily="2" charset="2"/>
              <a:buNone/>
              <a:defRPr/>
            </a:pPr>
            <a:r>
              <a:rPr lang="en-US" altLang="zh-CN" sz="1900" dirty="0" err="1">
                <a:solidFill>
                  <a:srgbClr val="FF3300"/>
                </a:solidFill>
              </a:rPr>
              <a:t>hanoi</a:t>
            </a:r>
            <a:r>
              <a:rPr lang="en-US" altLang="zh-CN" sz="1900" dirty="0">
                <a:solidFill>
                  <a:srgbClr val="FF3300"/>
                </a:solidFill>
              </a:rPr>
              <a:t>(3,a,b,c)</a:t>
            </a:r>
          </a:p>
          <a:p>
            <a:pPr eaLnBrk="1" fontAlgn="auto" hangingPunct="1">
              <a:spcAft>
                <a:spcPts val="0"/>
              </a:spcAft>
              <a:buFont typeface="Wingdings" panose="05000000000000000000" pitchFamily="2" charset="2"/>
              <a:buNone/>
              <a:defRPr/>
            </a:pPr>
            <a:r>
              <a:rPr lang="en-US" altLang="zh-CN" sz="1900" dirty="0">
                <a:sym typeface="Symbol" panose="05050102010706020507" pitchFamily="18" charset="2"/>
              </a:rPr>
              <a:t>{   if (3==1)</a:t>
            </a:r>
          </a:p>
          <a:p>
            <a:pPr eaLnBrk="1" fontAlgn="auto" hangingPunct="1">
              <a:spcAft>
                <a:spcPts val="0"/>
              </a:spcAft>
              <a:buFont typeface="Wingdings" panose="05000000000000000000" pitchFamily="2" charset="2"/>
              <a:buNone/>
              <a:defRPr/>
            </a:pPr>
            <a:r>
              <a:rPr lang="en-US" altLang="zh-CN" sz="1900" dirty="0">
                <a:sym typeface="Symbol" panose="05050102010706020507" pitchFamily="18" charset="2"/>
              </a:rPr>
              <a:t>    { move(a,1,c); } </a:t>
            </a:r>
          </a:p>
          <a:p>
            <a:pPr eaLnBrk="1" fontAlgn="auto" hangingPunct="1">
              <a:spcAft>
                <a:spcPts val="0"/>
              </a:spcAft>
              <a:buFont typeface="Wingdings" panose="05000000000000000000" pitchFamily="2" charset="2"/>
              <a:buNone/>
              <a:defRPr/>
            </a:pPr>
            <a:r>
              <a:rPr lang="en-US" altLang="zh-CN" sz="1900" dirty="0">
                <a:sym typeface="Symbol" panose="05050102010706020507" pitchFamily="18" charset="2"/>
              </a:rPr>
              <a:t>    else</a:t>
            </a:r>
          </a:p>
          <a:p>
            <a:pPr eaLnBrk="1" fontAlgn="auto" hangingPunct="1">
              <a:spcAft>
                <a:spcPts val="0"/>
              </a:spcAft>
              <a:buFont typeface="Wingdings" panose="05000000000000000000" pitchFamily="2" charset="2"/>
              <a:buNone/>
              <a:defRPr/>
            </a:pPr>
            <a:r>
              <a:rPr lang="en-US" altLang="zh-CN" sz="1900" dirty="0">
                <a:sym typeface="Symbol" panose="05050102010706020507" pitchFamily="18" charset="2"/>
              </a:rPr>
              <a:t>    {  </a:t>
            </a:r>
            <a:r>
              <a:rPr lang="en-US" altLang="zh-CN" sz="1900" dirty="0" err="1">
                <a:sym typeface="Symbol" panose="05050102010706020507" pitchFamily="18" charset="2"/>
              </a:rPr>
              <a:t>hanoi</a:t>
            </a:r>
            <a:r>
              <a:rPr lang="en-US" altLang="zh-CN" sz="1900" dirty="0">
                <a:sym typeface="Symbol" panose="05050102010706020507" pitchFamily="18" charset="2"/>
              </a:rPr>
              <a:t>(2,a,c,b);</a:t>
            </a:r>
          </a:p>
          <a:p>
            <a:pPr eaLnBrk="1" fontAlgn="auto" hangingPunct="1">
              <a:spcAft>
                <a:spcPts val="0"/>
              </a:spcAft>
              <a:buFont typeface="Wingdings" panose="05000000000000000000" pitchFamily="2" charset="2"/>
              <a:buNone/>
              <a:defRPr/>
            </a:pPr>
            <a:r>
              <a:rPr lang="en-US" altLang="zh-CN" sz="1900" dirty="0">
                <a:sym typeface="Symbol" panose="05050102010706020507" pitchFamily="18" charset="2"/>
              </a:rPr>
              <a:t>        </a:t>
            </a:r>
            <a:r>
              <a:rPr lang="en-US" altLang="zh-CN" sz="1900" dirty="0">
                <a:solidFill>
                  <a:schemeClr val="accent2"/>
                </a:solidFill>
                <a:sym typeface="Symbol" panose="05050102010706020507" pitchFamily="18" charset="2"/>
              </a:rPr>
              <a:t>move(a,3,c);</a:t>
            </a:r>
            <a:r>
              <a:rPr lang="en-US" altLang="zh-CN" sz="1900" dirty="0">
                <a:sym typeface="Symbol" panose="05050102010706020507" pitchFamily="18" charset="2"/>
              </a:rPr>
              <a:t> </a:t>
            </a:r>
          </a:p>
          <a:p>
            <a:pPr eaLnBrk="1" fontAlgn="auto" hangingPunct="1">
              <a:spcAft>
                <a:spcPts val="0"/>
              </a:spcAft>
              <a:buFont typeface="Wingdings" panose="05000000000000000000" pitchFamily="2" charset="2"/>
              <a:buNone/>
              <a:defRPr/>
            </a:pPr>
            <a:r>
              <a:rPr lang="en-US" altLang="zh-CN" sz="1900" dirty="0">
                <a:sym typeface="Symbol" panose="05050102010706020507" pitchFamily="18" charset="2"/>
              </a:rPr>
              <a:t>        </a:t>
            </a:r>
            <a:r>
              <a:rPr lang="en-US" altLang="zh-CN" sz="1900" dirty="0" err="1">
                <a:sym typeface="Symbol" panose="05050102010706020507" pitchFamily="18" charset="2"/>
              </a:rPr>
              <a:t>hanoi</a:t>
            </a:r>
            <a:r>
              <a:rPr lang="en-US" altLang="zh-CN" sz="1900" dirty="0">
                <a:sym typeface="Symbol" panose="05050102010706020507" pitchFamily="18" charset="2"/>
              </a:rPr>
              <a:t>(2,b,a,c); }</a:t>
            </a:r>
          </a:p>
          <a:p>
            <a:pPr eaLnBrk="1" fontAlgn="auto" hangingPunct="1">
              <a:spcAft>
                <a:spcPts val="0"/>
              </a:spcAft>
              <a:buFont typeface="Wingdings" panose="05000000000000000000" pitchFamily="2" charset="2"/>
              <a:buNone/>
              <a:defRPr/>
            </a:pPr>
            <a:r>
              <a:rPr lang="en-US" altLang="zh-CN" sz="1900" dirty="0">
                <a:sym typeface="Symbol" panose="05050102010706020507" pitchFamily="18" charset="2"/>
              </a:rPr>
              <a:t> }</a:t>
            </a:r>
          </a:p>
          <a:p>
            <a:pPr eaLnBrk="1" fontAlgn="auto" hangingPunct="1">
              <a:spcAft>
                <a:spcPts val="0"/>
              </a:spcAft>
              <a:buFont typeface="Wingdings" panose="05000000000000000000" pitchFamily="2" charset="2"/>
              <a:buNone/>
              <a:defRPr/>
            </a:pPr>
            <a:endParaRPr lang="en-US" altLang="zh-CN" sz="1900" dirty="0"/>
          </a:p>
          <a:p>
            <a:pPr eaLnBrk="1" fontAlgn="auto" hangingPunct="1">
              <a:spcAft>
                <a:spcPts val="0"/>
              </a:spcAft>
              <a:buFont typeface="Wingdings" panose="05000000000000000000" pitchFamily="2" charset="2"/>
              <a:buNone/>
              <a:defRPr/>
            </a:pPr>
            <a:endParaRPr lang="en-US" altLang="zh-CN" sz="1900" dirty="0"/>
          </a:p>
        </p:txBody>
      </p:sp>
      <p:sp>
        <p:nvSpPr>
          <p:cNvPr id="98307" name="Text Box 3"/>
          <p:cNvSpPr txBox="1">
            <a:spLocks noChangeArrowheads="1"/>
          </p:cNvSpPr>
          <p:nvPr/>
        </p:nvSpPr>
        <p:spPr bwMode="auto">
          <a:xfrm>
            <a:off x="4953000" y="381000"/>
            <a:ext cx="2667000" cy="25400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000">
                <a:solidFill>
                  <a:srgbClr val="FF3300"/>
                </a:solidFill>
                <a:latin typeface="Times New Roman" panose="02020603050405020304" pitchFamily="18" charset="0"/>
                <a:ea typeface="宋体" panose="02010600030101010101" pitchFamily="2" charset="-122"/>
              </a:rPr>
              <a:t>hanoi(2,a,c,b)</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if (2==1)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  move(a,1,b);}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else</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  hanoi(1,a,b,c);</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a:t>
            </a:r>
            <a:r>
              <a:rPr kumimoji="1" lang="en-US" altLang="zh-CN" sz="2000">
                <a:solidFill>
                  <a:schemeClr val="accent2"/>
                </a:solidFill>
                <a:latin typeface="Times New Roman" panose="02020603050405020304" pitchFamily="18" charset="0"/>
                <a:ea typeface="宋体" panose="02010600030101010101" pitchFamily="2" charset="-122"/>
              </a:rPr>
              <a:t>move(a,2,b);</a:t>
            </a:r>
            <a:r>
              <a:rPr kumimoji="1" lang="en-US" altLang="zh-CN" sz="20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hanoi(1,c,a,b);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a:t>
            </a:r>
          </a:p>
        </p:txBody>
      </p:sp>
      <p:sp>
        <p:nvSpPr>
          <p:cNvPr id="98308" name="Text Box 4"/>
          <p:cNvSpPr txBox="1">
            <a:spLocks noChangeArrowheads="1"/>
          </p:cNvSpPr>
          <p:nvPr/>
        </p:nvSpPr>
        <p:spPr bwMode="auto">
          <a:xfrm>
            <a:off x="7924800" y="228600"/>
            <a:ext cx="2514600" cy="132397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0"/>
              </a:spcBef>
              <a:buFontTx/>
              <a:buNone/>
            </a:pPr>
            <a:r>
              <a:rPr kumimoji="1" lang="en-US" altLang="zh-CN" sz="2000">
                <a:solidFill>
                  <a:srgbClr val="FF3300"/>
                </a:solidFill>
                <a:latin typeface="Times New Roman" panose="02020603050405020304" pitchFamily="18" charset="0"/>
                <a:ea typeface="宋体" panose="02010600030101010101" pitchFamily="2" charset="-122"/>
              </a:rPr>
              <a:t>hanoi(1,a,b,c)</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if (1==1)</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  </a:t>
            </a:r>
            <a:r>
              <a:rPr kumimoji="1" lang="en-US" altLang="zh-CN" sz="2000">
                <a:solidFill>
                  <a:schemeClr val="accent2"/>
                </a:solidFill>
                <a:latin typeface="Times New Roman" panose="02020603050405020304" pitchFamily="18" charset="0"/>
                <a:ea typeface="宋体" panose="02010600030101010101" pitchFamily="2" charset="-122"/>
              </a:rPr>
              <a:t>move(a,1,c); }</a:t>
            </a:r>
            <a:r>
              <a:rPr kumimoji="1" lang="en-US" altLang="zh-CN" sz="2000">
                <a:latin typeface="Times New Roman" panose="02020603050405020304" pitchFamily="18" charset="0"/>
                <a:ea typeface="宋体" panose="02010600030101010101" pitchFamily="2" charset="-122"/>
              </a:rPr>
              <a:t> </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else    {……} </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a:t>
            </a:r>
          </a:p>
        </p:txBody>
      </p:sp>
      <p:sp>
        <p:nvSpPr>
          <p:cNvPr id="98309" name="Line 5"/>
          <p:cNvSpPr>
            <a:spLocks noChangeShapeType="1"/>
          </p:cNvSpPr>
          <p:nvPr/>
        </p:nvSpPr>
        <p:spPr bwMode="auto">
          <a:xfrm flipV="1">
            <a:off x="4648200" y="457200"/>
            <a:ext cx="228600" cy="18288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10" name="Line 6"/>
          <p:cNvSpPr>
            <a:spLocks noChangeShapeType="1"/>
          </p:cNvSpPr>
          <p:nvPr/>
        </p:nvSpPr>
        <p:spPr bwMode="auto">
          <a:xfrm flipH="1" flipV="1">
            <a:off x="4648200" y="2438400"/>
            <a:ext cx="304800" cy="4572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11" name="Line 7"/>
          <p:cNvSpPr>
            <a:spLocks noChangeShapeType="1"/>
          </p:cNvSpPr>
          <p:nvPr/>
        </p:nvSpPr>
        <p:spPr bwMode="auto">
          <a:xfrm flipV="1">
            <a:off x="7467600" y="381000"/>
            <a:ext cx="457200" cy="14478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12" name="Line 8"/>
          <p:cNvSpPr>
            <a:spLocks noChangeShapeType="1"/>
          </p:cNvSpPr>
          <p:nvPr/>
        </p:nvSpPr>
        <p:spPr bwMode="auto">
          <a:xfrm flipH="1">
            <a:off x="7543800" y="1600200"/>
            <a:ext cx="381000" cy="3048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13" name="Text Box 9"/>
          <p:cNvSpPr txBox="1">
            <a:spLocks noChangeArrowheads="1"/>
          </p:cNvSpPr>
          <p:nvPr/>
        </p:nvSpPr>
        <p:spPr bwMode="auto">
          <a:xfrm>
            <a:off x="7924800" y="1828800"/>
            <a:ext cx="2514600" cy="132397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0"/>
              </a:spcBef>
              <a:buFontTx/>
              <a:buNone/>
            </a:pPr>
            <a:r>
              <a:rPr kumimoji="1" lang="en-US" altLang="zh-CN" sz="2000">
                <a:solidFill>
                  <a:srgbClr val="FF3300"/>
                </a:solidFill>
                <a:latin typeface="Times New Roman" panose="02020603050405020304" pitchFamily="18" charset="0"/>
                <a:ea typeface="宋体" panose="02010600030101010101" pitchFamily="2" charset="-122"/>
              </a:rPr>
              <a:t>hanoi(1,c,a,b)</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if (1==1)</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  </a:t>
            </a:r>
            <a:r>
              <a:rPr kumimoji="1" lang="en-US" altLang="zh-CN" sz="2000">
                <a:solidFill>
                  <a:schemeClr val="accent2"/>
                </a:solidFill>
                <a:latin typeface="Times New Roman" panose="02020603050405020304" pitchFamily="18" charset="0"/>
                <a:ea typeface="宋体" panose="02010600030101010101" pitchFamily="2" charset="-122"/>
              </a:rPr>
              <a:t>move(c,1,b);}</a:t>
            </a:r>
            <a:r>
              <a:rPr kumimoji="1" lang="en-US" altLang="zh-CN" sz="2000">
                <a:latin typeface="Times New Roman" panose="02020603050405020304" pitchFamily="18" charset="0"/>
                <a:ea typeface="宋体" panose="02010600030101010101" pitchFamily="2" charset="-122"/>
              </a:rPr>
              <a:t> </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else    {…… }</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a:t>
            </a:r>
          </a:p>
        </p:txBody>
      </p:sp>
      <p:sp>
        <p:nvSpPr>
          <p:cNvPr id="98314" name="Line 10"/>
          <p:cNvSpPr>
            <a:spLocks noChangeShapeType="1"/>
          </p:cNvSpPr>
          <p:nvPr/>
        </p:nvSpPr>
        <p:spPr bwMode="auto">
          <a:xfrm flipV="1">
            <a:off x="7543800" y="1828800"/>
            <a:ext cx="381000" cy="6096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15" name="Line 11"/>
          <p:cNvSpPr>
            <a:spLocks noChangeShapeType="1"/>
          </p:cNvSpPr>
          <p:nvPr/>
        </p:nvSpPr>
        <p:spPr bwMode="auto">
          <a:xfrm flipH="1" flipV="1">
            <a:off x="7467600" y="2667000"/>
            <a:ext cx="457200" cy="5334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16" name="Text Box 12"/>
          <p:cNvSpPr txBox="1">
            <a:spLocks noChangeArrowheads="1"/>
          </p:cNvSpPr>
          <p:nvPr/>
        </p:nvSpPr>
        <p:spPr bwMode="auto">
          <a:xfrm>
            <a:off x="5029200" y="3505200"/>
            <a:ext cx="2667000" cy="25400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000">
                <a:solidFill>
                  <a:srgbClr val="FF3300"/>
                </a:solidFill>
                <a:latin typeface="Times New Roman" panose="02020603050405020304" pitchFamily="18" charset="0"/>
                <a:ea typeface="宋体" panose="02010600030101010101" pitchFamily="2" charset="-122"/>
              </a:rPr>
              <a:t>hanoi(2,b,a,c)</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if (2==1)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  move(b,1,c);}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else</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  hanoi(1,b,c,a);</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a:t>
            </a:r>
            <a:r>
              <a:rPr kumimoji="1" lang="en-US" altLang="zh-CN" sz="2000">
                <a:solidFill>
                  <a:schemeClr val="accent2"/>
                </a:solidFill>
                <a:latin typeface="Times New Roman" panose="02020603050405020304" pitchFamily="18" charset="0"/>
                <a:ea typeface="宋体" panose="02010600030101010101" pitchFamily="2" charset="-122"/>
              </a:rPr>
              <a:t>move(b,2,c);</a:t>
            </a:r>
            <a:r>
              <a:rPr kumimoji="1" lang="en-US" altLang="zh-CN" sz="20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hanoi(1,a,b,c);}</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a:t>
            </a:r>
          </a:p>
        </p:txBody>
      </p:sp>
      <p:sp>
        <p:nvSpPr>
          <p:cNvPr id="98317" name="Line 13"/>
          <p:cNvSpPr>
            <a:spLocks noChangeShapeType="1"/>
          </p:cNvSpPr>
          <p:nvPr/>
        </p:nvSpPr>
        <p:spPr bwMode="auto">
          <a:xfrm>
            <a:off x="4800600" y="3200400"/>
            <a:ext cx="228600" cy="3810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18" name="Line 14"/>
          <p:cNvSpPr>
            <a:spLocks noChangeShapeType="1"/>
          </p:cNvSpPr>
          <p:nvPr/>
        </p:nvSpPr>
        <p:spPr bwMode="auto">
          <a:xfrm flipH="1" flipV="1">
            <a:off x="4495800" y="3352800"/>
            <a:ext cx="533400" cy="26670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19" name="Text Box 15"/>
          <p:cNvSpPr txBox="1">
            <a:spLocks noChangeArrowheads="1"/>
          </p:cNvSpPr>
          <p:nvPr/>
        </p:nvSpPr>
        <p:spPr bwMode="auto">
          <a:xfrm>
            <a:off x="7924800" y="3352800"/>
            <a:ext cx="2514600" cy="132397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0"/>
              </a:spcBef>
              <a:buFontTx/>
              <a:buNone/>
            </a:pPr>
            <a:r>
              <a:rPr kumimoji="1" lang="en-US" altLang="zh-CN" sz="2000">
                <a:solidFill>
                  <a:srgbClr val="FF3300"/>
                </a:solidFill>
                <a:latin typeface="Times New Roman" panose="02020603050405020304" pitchFamily="18" charset="0"/>
                <a:ea typeface="宋体" panose="02010600030101010101" pitchFamily="2" charset="-122"/>
              </a:rPr>
              <a:t>hanoi(1,b,c,a)</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if (1==1)</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  </a:t>
            </a:r>
            <a:r>
              <a:rPr kumimoji="1" lang="en-US" altLang="zh-CN" sz="2000">
                <a:solidFill>
                  <a:schemeClr val="accent2"/>
                </a:solidFill>
                <a:latin typeface="Times New Roman" panose="02020603050405020304" pitchFamily="18" charset="0"/>
                <a:ea typeface="宋体" panose="02010600030101010101" pitchFamily="2" charset="-122"/>
              </a:rPr>
              <a:t>move(b,1,a);}</a:t>
            </a:r>
            <a:r>
              <a:rPr kumimoji="1" lang="en-US" altLang="zh-CN" sz="2000">
                <a:latin typeface="Times New Roman" panose="02020603050405020304" pitchFamily="18" charset="0"/>
                <a:ea typeface="宋体" panose="02010600030101010101" pitchFamily="2" charset="-122"/>
              </a:rPr>
              <a:t> </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else    {…… }</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a:t>
            </a:r>
          </a:p>
        </p:txBody>
      </p:sp>
      <p:sp>
        <p:nvSpPr>
          <p:cNvPr id="98320" name="Line 16"/>
          <p:cNvSpPr>
            <a:spLocks noChangeShapeType="1"/>
          </p:cNvSpPr>
          <p:nvPr/>
        </p:nvSpPr>
        <p:spPr bwMode="auto">
          <a:xfrm flipV="1">
            <a:off x="7467600" y="3352800"/>
            <a:ext cx="457200" cy="15240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1" name="Line 17"/>
          <p:cNvSpPr>
            <a:spLocks noChangeShapeType="1"/>
          </p:cNvSpPr>
          <p:nvPr/>
        </p:nvSpPr>
        <p:spPr bwMode="auto">
          <a:xfrm flipH="1">
            <a:off x="7543800" y="4724400"/>
            <a:ext cx="304800" cy="2286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2" name="Text Box 18"/>
          <p:cNvSpPr txBox="1">
            <a:spLocks noChangeArrowheads="1"/>
          </p:cNvSpPr>
          <p:nvPr/>
        </p:nvSpPr>
        <p:spPr bwMode="auto">
          <a:xfrm>
            <a:off x="7924800" y="4953000"/>
            <a:ext cx="2514600" cy="132397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0"/>
              </a:spcBef>
              <a:buFontTx/>
              <a:buNone/>
            </a:pPr>
            <a:r>
              <a:rPr kumimoji="1" lang="en-US" altLang="zh-CN" sz="2000">
                <a:solidFill>
                  <a:srgbClr val="FF3300"/>
                </a:solidFill>
                <a:latin typeface="Times New Roman" panose="02020603050405020304" pitchFamily="18" charset="0"/>
                <a:ea typeface="宋体" panose="02010600030101010101" pitchFamily="2" charset="-122"/>
              </a:rPr>
              <a:t>hanoi(1,a,b,c)</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if (1==1)</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  </a:t>
            </a:r>
            <a:r>
              <a:rPr kumimoji="1" lang="en-US" altLang="zh-CN" sz="2000">
                <a:solidFill>
                  <a:schemeClr val="accent2"/>
                </a:solidFill>
                <a:latin typeface="Times New Roman" panose="02020603050405020304" pitchFamily="18" charset="0"/>
                <a:ea typeface="宋体" panose="02010600030101010101" pitchFamily="2" charset="-122"/>
              </a:rPr>
              <a:t>move(a,1,c);}</a:t>
            </a:r>
            <a:r>
              <a:rPr kumimoji="1" lang="en-US" altLang="zh-CN" sz="2000">
                <a:latin typeface="Times New Roman" panose="02020603050405020304" pitchFamily="18" charset="0"/>
                <a:ea typeface="宋体" panose="02010600030101010101" pitchFamily="2" charset="-122"/>
              </a:rPr>
              <a:t> </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    else    {…… }</a:t>
            </a:r>
          </a:p>
          <a:p>
            <a:pPr eaLnBrk="1" hangingPunct="1">
              <a:lnSpc>
                <a:spcPct val="80000"/>
              </a:lnSpc>
              <a:spcBef>
                <a:spcPct val="0"/>
              </a:spcBef>
              <a:buFontTx/>
              <a:buNone/>
            </a:pPr>
            <a:r>
              <a:rPr kumimoji="1" lang="en-US" altLang="zh-CN" sz="2000">
                <a:latin typeface="Times New Roman" panose="02020603050405020304" pitchFamily="18" charset="0"/>
                <a:ea typeface="宋体" panose="02010600030101010101" pitchFamily="2" charset="-122"/>
              </a:rPr>
              <a:t>}</a:t>
            </a:r>
          </a:p>
        </p:txBody>
      </p:sp>
      <p:sp>
        <p:nvSpPr>
          <p:cNvPr id="98323" name="Line 19"/>
          <p:cNvSpPr>
            <a:spLocks noChangeShapeType="1"/>
          </p:cNvSpPr>
          <p:nvPr/>
        </p:nvSpPr>
        <p:spPr bwMode="auto">
          <a:xfrm flipV="1">
            <a:off x="7543800" y="4953000"/>
            <a:ext cx="381000" cy="6096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4" name="Line 20"/>
          <p:cNvSpPr>
            <a:spLocks noChangeShapeType="1"/>
          </p:cNvSpPr>
          <p:nvPr/>
        </p:nvSpPr>
        <p:spPr bwMode="auto">
          <a:xfrm flipH="1" flipV="1">
            <a:off x="7620000" y="5638800"/>
            <a:ext cx="304800" cy="6858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5" name="Text Box 21"/>
          <p:cNvSpPr txBox="1">
            <a:spLocks noChangeArrowheads="1"/>
          </p:cNvSpPr>
          <p:nvPr/>
        </p:nvSpPr>
        <p:spPr bwMode="auto">
          <a:xfrm>
            <a:off x="2286000" y="57912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         b           c</a:t>
            </a:r>
          </a:p>
        </p:txBody>
      </p:sp>
      <p:sp>
        <p:nvSpPr>
          <p:cNvPr id="98326" name="Line 22"/>
          <p:cNvSpPr>
            <a:spLocks noChangeShapeType="1"/>
          </p:cNvSpPr>
          <p:nvPr/>
        </p:nvSpPr>
        <p:spPr bwMode="auto">
          <a:xfrm>
            <a:off x="1828800" y="5867400"/>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7" name="Line 23"/>
          <p:cNvSpPr>
            <a:spLocks noChangeShapeType="1"/>
          </p:cNvSpPr>
          <p:nvPr/>
        </p:nvSpPr>
        <p:spPr bwMode="auto">
          <a:xfrm>
            <a:off x="2362200" y="4267200"/>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8" name="Line 24"/>
          <p:cNvSpPr>
            <a:spLocks noChangeShapeType="1"/>
          </p:cNvSpPr>
          <p:nvPr/>
        </p:nvSpPr>
        <p:spPr bwMode="auto">
          <a:xfrm>
            <a:off x="3200400" y="4267200"/>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9" name="Line 25"/>
          <p:cNvSpPr>
            <a:spLocks noChangeShapeType="1"/>
          </p:cNvSpPr>
          <p:nvPr/>
        </p:nvSpPr>
        <p:spPr bwMode="auto">
          <a:xfrm>
            <a:off x="4114800" y="4267200"/>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30" name="Rectangle 26"/>
          <p:cNvSpPr>
            <a:spLocks noChangeArrowheads="1"/>
          </p:cNvSpPr>
          <p:nvPr/>
        </p:nvSpPr>
        <p:spPr bwMode="auto">
          <a:xfrm>
            <a:off x="1905000" y="5562600"/>
            <a:ext cx="9144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98331" name="Rectangle 27"/>
          <p:cNvSpPr>
            <a:spLocks noChangeArrowheads="1"/>
          </p:cNvSpPr>
          <p:nvPr/>
        </p:nvSpPr>
        <p:spPr bwMode="auto">
          <a:xfrm>
            <a:off x="2057400" y="5181600"/>
            <a:ext cx="6096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98332" name="Rectangle 28"/>
          <p:cNvSpPr>
            <a:spLocks noChangeArrowheads="1"/>
          </p:cNvSpPr>
          <p:nvPr/>
        </p:nvSpPr>
        <p:spPr bwMode="auto">
          <a:xfrm>
            <a:off x="2133600" y="4800600"/>
            <a:ext cx="4572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49" name="Rectangle 29"/>
          <p:cNvSpPr>
            <a:spLocks noChangeArrowheads="1"/>
          </p:cNvSpPr>
          <p:nvPr/>
        </p:nvSpPr>
        <p:spPr bwMode="auto">
          <a:xfrm>
            <a:off x="3886200" y="4953000"/>
            <a:ext cx="4572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50" name="Rectangle 30"/>
          <p:cNvSpPr>
            <a:spLocks noChangeArrowheads="1"/>
          </p:cNvSpPr>
          <p:nvPr/>
        </p:nvSpPr>
        <p:spPr bwMode="auto">
          <a:xfrm>
            <a:off x="3810000" y="5257800"/>
            <a:ext cx="6096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51" name="Rectangle 31"/>
          <p:cNvSpPr>
            <a:spLocks noChangeArrowheads="1"/>
          </p:cNvSpPr>
          <p:nvPr/>
        </p:nvSpPr>
        <p:spPr bwMode="auto">
          <a:xfrm>
            <a:off x="3657600" y="5562600"/>
            <a:ext cx="9144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52" name="Rectangle 32"/>
          <p:cNvSpPr>
            <a:spLocks noChangeArrowheads="1"/>
          </p:cNvSpPr>
          <p:nvPr/>
        </p:nvSpPr>
        <p:spPr bwMode="auto">
          <a:xfrm>
            <a:off x="2133600" y="4800600"/>
            <a:ext cx="4572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53" name="Rectangle 33"/>
          <p:cNvSpPr>
            <a:spLocks noChangeArrowheads="1"/>
          </p:cNvSpPr>
          <p:nvPr/>
        </p:nvSpPr>
        <p:spPr bwMode="auto">
          <a:xfrm>
            <a:off x="3886200" y="5562600"/>
            <a:ext cx="4572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54" name="Rectangle 34"/>
          <p:cNvSpPr>
            <a:spLocks noChangeArrowheads="1"/>
          </p:cNvSpPr>
          <p:nvPr/>
        </p:nvSpPr>
        <p:spPr bwMode="auto">
          <a:xfrm>
            <a:off x="2057400" y="5181600"/>
            <a:ext cx="609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55" name="Rectangle 35"/>
          <p:cNvSpPr>
            <a:spLocks noChangeArrowheads="1"/>
          </p:cNvSpPr>
          <p:nvPr/>
        </p:nvSpPr>
        <p:spPr bwMode="auto">
          <a:xfrm>
            <a:off x="2895600" y="5562600"/>
            <a:ext cx="6096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56" name="Rectangle 36"/>
          <p:cNvSpPr>
            <a:spLocks noChangeArrowheads="1"/>
          </p:cNvSpPr>
          <p:nvPr/>
        </p:nvSpPr>
        <p:spPr bwMode="auto">
          <a:xfrm>
            <a:off x="3886200" y="5562600"/>
            <a:ext cx="4572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57" name="Rectangle 37"/>
          <p:cNvSpPr>
            <a:spLocks noChangeArrowheads="1"/>
          </p:cNvSpPr>
          <p:nvPr/>
        </p:nvSpPr>
        <p:spPr bwMode="auto">
          <a:xfrm>
            <a:off x="2971800" y="5181600"/>
            <a:ext cx="4572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58" name="Rectangle 38"/>
          <p:cNvSpPr>
            <a:spLocks noChangeArrowheads="1"/>
          </p:cNvSpPr>
          <p:nvPr/>
        </p:nvSpPr>
        <p:spPr bwMode="auto">
          <a:xfrm>
            <a:off x="1905000" y="5562600"/>
            <a:ext cx="9144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59" name="Rectangle 39"/>
          <p:cNvSpPr>
            <a:spLocks noChangeArrowheads="1"/>
          </p:cNvSpPr>
          <p:nvPr/>
        </p:nvSpPr>
        <p:spPr bwMode="auto">
          <a:xfrm>
            <a:off x="2971800" y="5181600"/>
            <a:ext cx="4572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60" name="Rectangle 40"/>
          <p:cNvSpPr>
            <a:spLocks noChangeArrowheads="1"/>
          </p:cNvSpPr>
          <p:nvPr/>
        </p:nvSpPr>
        <p:spPr bwMode="auto">
          <a:xfrm>
            <a:off x="2133600" y="5562600"/>
            <a:ext cx="4572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61" name="Rectangle 41"/>
          <p:cNvSpPr>
            <a:spLocks noChangeArrowheads="1"/>
          </p:cNvSpPr>
          <p:nvPr/>
        </p:nvSpPr>
        <p:spPr bwMode="auto">
          <a:xfrm>
            <a:off x="2895600" y="5562600"/>
            <a:ext cx="609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62" name="Rectangle 42"/>
          <p:cNvSpPr>
            <a:spLocks noChangeArrowheads="1"/>
          </p:cNvSpPr>
          <p:nvPr/>
        </p:nvSpPr>
        <p:spPr bwMode="auto">
          <a:xfrm>
            <a:off x="2133600" y="5562600"/>
            <a:ext cx="4572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7552"/>
                                        </p:tgtEl>
                                        <p:attrNameLst>
                                          <p:attrName>style.visibility</p:attrName>
                                        </p:attrNameLst>
                                      </p:cBhvr>
                                      <p:to>
                                        <p:strVal val="visible"/>
                                      </p:to>
                                    </p:set>
                                    <p:anim calcmode="lin" valueType="num">
                                      <p:cBhvr additive="base">
                                        <p:cTn id="7" dur="500" fill="hold"/>
                                        <p:tgtEl>
                                          <p:spTgt spid="107552"/>
                                        </p:tgtEl>
                                        <p:attrNameLst>
                                          <p:attrName>ppt_x</p:attrName>
                                        </p:attrNameLst>
                                      </p:cBhvr>
                                      <p:tavLst>
                                        <p:tav tm="0">
                                          <p:val>
                                            <p:strVal val="0-#ppt_w/2"/>
                                          </p:val>
                                        </p:tav>
                                        <p:tav tm="100000">
                                          <p:val>
                                            <p:strVal val="#ppt_x"/>
                                          </p:val>
                                        </p:tav>
                                      </p:tavLst>
                                    </p:anim>
                                    <p:anim calcmode="lin" valueType="num">
                                      <p:cBhvr additive="base">
                                        <p:cTn id="8" dur="500" fill="hold"/>
                                        <p:tgtEl>
                                          <p:spTgt spid="10755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7553"/>
                                        </p:tgtEl>
                                        <p:attrNameLst>
                                          <p:attrName>style.visibility</p:attrName>
                                        </p:attrNameLst>
                                      </p:cBhvr>
                                      <p:to>
                                        <p:strVal val="visible"/>
                                      </p:to>
                                    </p:set>
                                    <p:anim calcmode="lin" valueType="num">
                                      <p:cBhvr additive="base">
                                        <p:cTn id="13" dur="500" fill="hold"/>
                                        <p:tgtEl>
                                          <p:spTgt spid="107553"/>
                                        </p:tgtEl>
                                        <p:attrNameLst>
                                          <p:attrName>ppt_x</p:attrName>
                                        </p:attrNameLst>
                                      </p:cBhvr>
                                      <p:tavLst>
                                        <p:tav tm="0">
                                          <p:val>
                                            <p:strVal val="0-#ppt_w/2"/>
                                          </p:val>
                                        </p:tav>
                                        <p:tav tm="100000">
                                          <p:val>
                                            <p:strVal val="#ppt_x"/>
                                          </p:val>
                                        </p:tav>
                                      </p:tavLst>
                                    </p:anim>
                                    <p:anim calcmode="lin" valueType="num">
                                      <p:cBhvr additive="base">
                                        <p:cTn id="14" dur="500" fill="hold"/>
                                        <p:tgtEl>
                                          <p:spTgt spid="10755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7554"/>
                                        </p:tgtEl>
                                        <p:attrNameLst>
                                          <p:attrName>style.visibility</p:attrName>
                                        </p:attrNameLst>
                                      </p:cBhvr>
                                      <p:to>
                                        <p:strVal val="visible"/>
                                      </p:to>
                                    </p:set>
                                    <p:anim calcmode="lin" valueType="num">
                                      <p:cBhvr additive="base">
                                        <p:cTn id="19" dur="500" fill="hold"/>
                                        <p:tgtEl>
                                          <p:spTgt spid="107554"/>
                                        </p:tgtEl>
                                        <p:attrNameLst>
                                          <p:attrName>ppt_x</p:attrName>
                                        </p:attrNameLst>
                                      </p:cBhvr>
                                      <p:tavLst>
                                        <p:tav tm="0">
                                          <p:val>
                                            <p:strVal val="0-#ppt_w/2"/>
                                          </p:val>
                                        </p:tav>
                                        <p:tav tm="100000">
                                          <p:val>
                                            <p:strVal val="#ppt_x"/>
                                          </p:val>
                                        </p:tav>
                                      </p:tavLst>
                                    </p:anim>
                                    <p:anim calcmode="lin" valueType="num">
                                      <p:cBhvr additive="base">
                                        <p:cTn id="20" dur="500" fill="hold"/>
                                        <p:tgtEl>
                                          <p:spTgt spid="1075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7555"/>
                                        </p:tgtEl>
                                        <p:attrNameLst>
                                          <p:attrName>style.visibility</p:attrName>
                                        </p:attrNameLst>
                                      </p:cBhvr>
                                      <p:to>
                                        <p:strVal val="visible"/>
                                      </p:to>
                                    </p:set>
                                    <p:anim calcmode="lin" valueType="num">
                                      <p:cBhvr additive="base">
                                        <p:cTn id="25" dur="500" fill="hold"/>
                                        <p:tgtEl>
                                          <p:spTgt spid="107555"/>
                                        </p:tgtEl>
                                        <p:attrNameLst>
                                          <p:attrName>ppt_x</p:attrName>
                                        </p:attrNameLst>
                                      </p:cBhvr>
                                      <p:tavLst>
                                        <p:tav tm="0">
                                          <p:val>
                                            <p:strVal val="0-#ppt_w/2"/>
                                          </p:val>
                                        </p:tav>
                                        <p:tav tm="100000">
                                          <p:val>
                                            <p:strVal val="#ppt_x"/>
                                          </p:val>
                                        </p:tav>
                                      </p:tavLst>
                                    </p:anim>
                                    <p:anim calcmode="lin" valueType="num">
                                      <p:cBhvr additive="base">
                                        <p:cTn id="26" dur="500" fill="hold"/>
                                        <p:tgtEl>
                                          <p:spTgt spid="10755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7556"/>
                                        </p:tgtEl>
                                        <p:attrNameLst>
                                          <p:attrName>style.visibility</p:attrName>
                                        </p:attrNameLst>
                                      </p:cBhvr>
                                      <p:to>
                                        <p:strVal val="visible"/>
                                      </p:to>
                                    </p:set>
                                    <p:anim calcmode="lin" valueType="num">
                                      <p:cBhvr additive="base">
                                        <p:cTn id="31" dur="500" fill="hold"/>
                                        <p:tgtEl>
                                          <p:spTgt spid="107556"/>
                                        </p:tgtEl>
                                        <p:attrNameLst>
                                          <p:attrName>ppt_x</p:attrName>
                                        </p:attrNameLst>
                                      </p:cBhvr>
                                      <p:tavLst>
                                        <p:tav tm="0">
                                          <p:val>
                                            <p:strVal val="0-#ppt_w/2"/>
                                          </p:val>
                                        </p:tav>
                                        <p:tav tm="100000">
                                          <p:val>
                                            <p:strVal val="#ppt_x"/>
                                          </p:val>
                                        </p:tav>
                                      </p:tavLst>
                                    </p:anim>
                                    <p:anim calcmode="lin" valueType="num">
                                      <p:cBhvr additive="base">
                                        <p:cTn id="32" dur="500" fill="hold"/>
                                        <p:tgtEl>
                                          <p:spTgt spid="10755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7557"/>
                                        </p:tgtEl>
                                        <p:attrNameLst>
                                          <p:attrName>style.visibility</p:attrName>
                                        </p:attrNameLst>
                                      </p:cBhvr>
                                      <p:to>
                                        <p:strVal val="visible"/>
                                      </p:to>
                                    </p:set>
                                    <p:anim calcmode="lin" valueType="num">
                                      <p:cBhvr additive="base">
                                        <p:cTn id="37" dur="500" fill="hold"/>
                                        <p:tgtEl>
                                          <p:spTgt spid="107557"/>
                                        </p:tgtEl>
                                        <p:attrNameLst>
                                          <p:attrName>ppt_x</p:attrName>
                                        </p:attrNameLst>
                                      </p:cBhvr>
                                      <p:tavLst>
                                        <p:tav tm="0">
                                          <p:val>
                                            <p:strVal val="0-#ppt_w/2"/>
                                          </p:val>
                                        </p:tav>
                                        <p:tav tm="100000">
                                          <p:val>
                                            <p:strVal val="#ppt_x"/>
                                          </p:val>
                                        </p:tav>
                                      </p:tavLst>
                                    </p:anim>
                                    <p:anim calcmode="lin" valueType="num">
                                      <p:cBhvr additive="base">
                                        <p:cTn id="38" dur="500" fill="hold"/>
                                        <p:tgtEl>
                                          <p:spTgt spid="10755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7558"/>
                                        </p:tgtEl>
                                        <p:attrNameLst>
                                          <p:attrName>style.visibility</p:attrName>
                                        </p:attrNameLst>
                                      </p:cBhvr>
                                      <p:to>
                                        <p:strVal val="visible"/>
                                      </p:to>
                                    </p:set>
                                    <p:anim calcmode="lin" valueType="num">
                                      <p:cBhvr additive="base">
                                        <p:cTn id="43" dur="500" fill="hold"/>
                                        <p:tgtEl>
                                          <p:spTgt spid="107558"/>
                                        </p:tgtEl>
                                        <p:attrNameLst>
                                          <p:attrName>ppt_x</p:attrName>
                                        </p:attrNameLst>
                                      </p:cBhvr>
                                      <p:tavLst>
                                        <p:tav tm="0">
                                          <p:val>
                                            <p:strVal val="0-#ppt_w/2"/>
                                          </p:val>
                                        </p:tav>
                                        <p:tav tm="100000">
                                          <p:val>
                                            <p:strVal val="#ppt_x"/>
                                          </p:val>
                                        </p:tav>
                                      </p:tavLst>
                                    </p:anim>
                                    <p:anim calcmode="lin" valueType="num">
                                      <p:cBhvr additive="base">
                                        <p:cTn id="44" dur="500" fill="hold"/>
                                        <p:tgtEl>
                                          <p:spTgt spid="10755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7551"/>
                                        </p:tgtEl>
                                        <p:attrNameLst>
                                          <p:attrName>style.visibility</p:attrName>
                                        </p:attrNameLst>
                                      </p:cBhvr>
                                      <p:to>
                                        <p:strVal val="visible"/>
                                      </p:to>
                                    </p:set>
                                    <p:anim calcmode="lin" valueType="num">
                                      <p:cBhvr additive="base">
                                        <p:cTn id="49" dur="500" fill="hold"/>
                                        <p:tgtEl>
                                          <p:spTgt spid="107551"/>
                                        </p:tgtEl>
                                        <p:attrNameLst>
                                          <p:attrName>ppt_x</p:attrName>
                                        </p:attrNameLst>
                                      </p:cBhvr>
                                      <p:tavLst>
                                        <p:tav tm="0">
                                          <p:val>
                                            <p:strVal val="0-#ppt_w/2"/>
                                          </p:val>
                                        </p:tav>
                                        <p:tav tm="100000">
                                          <p:val>
                                            <p:strVal val="#ppt_x"/>
                                          </p:val>
                                        </p:tav>
                                      </p:tavLst>
                                    </p:anim>
                                    <p:anim calcmode="lin" valueType="num">
                                      <p:cBhvr additive="base">
                                        <p:cTn id="50" dur="500" fill="hold"/>
                                        <p:tgtEl>
                                          <p:spTgt spid="1075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7559"/>
                                        </p:tgtEl>
                                        <p:attrNameLst>
                                          <p:attrName>style.visibility</p:attrName>
                                        </p:attrNameLst>
                                      </p:cBhvr>
                                      <p:to>
                                        <p:strVal val="visible"/>
                                      </p:to>
                                    </p:set>
                                    <p:anim calcmode="lin" valueType="num">
                                      <p:cBhvr additive="base">
                                        <p:cTn id="55" dur="500" fill="hold"/>
                                        <p:tgtEl>
                                          <p:spTgt spid="107559"/>
                                        </p:tgtEl>
                                        <p:attrNameLst>
                                          <p:attrName>ppt_x</p:attrName>
                                        </p:attrNameLst>
                                      </p:cBhvr>
                                      <p:tavLst>
                                        <p:tav tm="0">
                                          <p:val>
                                            <p:strVal val="0-#ppt_w/2"/>
                                          </p:val>
                                        </p:tav>
                                        <p:tav tm="100000">
                                          <p:val>
                                            <p:strVal val="#ppt_x"/>
                                          </p:val>
                                        </p:tav>
                                      </p:tavLst>
                                    </p:anim>
                                    <p:anim calcmode="lin" valueType="num">
                                      <p:cBhvr additive="base">
                                        <p:cTn id="56" dur="500" fill="hold"/>
                                        <p:tgtEl>
                                          <p:spTgt spid="1075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WHOOSH.WAV"/>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07560"/>
                                        </p:tgtEl>
                                        <p:attrNameLst>
                                          <p:attrName>style.visibility</p:attrName>
                                        </p:attrNameLst>
                                      </p:cBhvr>
                                      <p:to>
                                        <p:strVal val="visible"/>
                                      </p:to>
                                    </p:set>
                                    <p:anim calcmode="lin" valueType="num">
                                      <p:cBhvr additive="base">
                                        <p:cTn id="61" dur="500" fill="hold"/>
                                        <p:tgtEl>
                                          <p:spTgt spid="107560"/>
                                        </p:tgtEl>
                                        <p:attrNameLst>
                                          <p:attrName>ppt_x</p:attrName>
                                        </p:attrNameLst>
                                      </p:cBhvr>
                                      <p:tavLst>
                                        <p:tav tm="0">
                                          <p:val>
                                            <p:strVal val="0-#ppt_w/2"/>
                                          </p:val>
                                        </p:tav>
                                        <p:tav tm="100000">
                                          <p:val>
                                            <p:strVal val="#ppt_x"/>
                                          </p:val>
                                        </p:tav>
                                      </p:tavLst>
                                    </p:anim>
                                    <p:anim calcmode="lin" valueType="num">
                                      <p:cBhvr additive="base">
                                        <p:cTn id="62" dur="500" fill="hold"/>
                                        <p:tgtEl>
                                          <p:spTgt spid="10756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2" name="WHOOSH.WAV"/>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07561"/>
                                        </p:tgtEl>
                                        <p:attrNameLst>
                                          <p:attrName>style.visibility</p:attrName>
                                        </p:attrNameLst>
                                      </p:cBhvr>
                                      <p:to>
                                        <p:strVal val="visible"/>
                                      </p:to>
                                    </p:set>
                                    <p:anim calcmode="lin" valueType="num">
                                      <p:cBhvr additive="base">
                                        <p:cTn id="67" dur="500" fill="hold"/>
                                        <p:tgtEl>
                                          <p:spTgt spid="107561"/>
                                        </p:tgtEl>
                                        <p:attrNameLst>
                                          <p:attrName>ppt_x</p:attrName>
                                        </p:attrNameLst>
                                      </p:cBhvr>
                                      <p:tavLst>
                                        <p:tav tm="0">
                                          <p:val>
                                            <p:strVal val="0-#ppt_w/2"/>
                                          </p:val>
                                        </p:tav>
                                        <p:tav tm="100000">
                                          <p:val>
                                            <p:strVal val="#ppt_x"/>
                                          </p:val>
                                        </p:tav>
                                      </p:tavLst>
                                    </p:anim>
                                    <p:anim calcmode="lin" valueType="num">
                                      <p:cBhvr additive="base">
                                        <p:cTn id="68" dur="500" fill="hold"/>
                                        <p:tgtEl>
                                          <p:spTgt spid="10756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2" name="WHOOSH.WAV"/>
                                        </p:tgtEl>
                                      </p:cMediaNode>
                                    </p:audio>
                                  </p:sub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07550"/>
                                        </p:tgtEl>
                                        <p:attrNameLst>
                                          <p:attrName>style.visibility</p:attrName>
                                        </p:attrNameLst>
                                      </p:cBhvr>
                                      <p:to>
                                        <p:strVal val="visible"/>
                                      </p:to>
                                    </p:set>
                                    <p:anim calcmode="lin" valueType="num">
                                      <p:cBhvr additive="base">
                                        <p:cTn id="73" dur="500" fill="hold"/>
                                        <p:tgtEl>
                                          <p:spTgt spid="107550"/>
                                        </p:tgtEl>
                                        <p:attrNameLst>
                                          <p:attrName>ppt_x</p:attrName>
                                        </p:attrNameLst>
                                      </p:cBhvr>
                                      <p:tavLst>
                                        <p:tav tm="0">
                                          <p:val>
                                            <p:strVal val="0-#ppt_w/2"/>
                                          </p:val>
                                        </p:tav>
                                        <p:tav tm="100000">
                                          <p:val>
                                            <p:strVal val="#ppt_x"/>
                                          </p:val>
                                        </p:tav>
                                      </p:tavLst>
                                    </p:anim>
                                    <p:anim calcmode="lin" valueType="num">
                                      <p:cBhvr additive="base">
                                        <p:cTn id="74" dur="500" fill="hold"/>
                                        <p:tgtEl>
                                          <p:spTgt spid="10755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2" name="WHOOSH.WAV"/>
                                        </p:tgtEl>
                                      </p:cMediaNode>
                                    </p:audio>
                                  </p:sub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07562"/>
                                        </p:tgtEl>
                                        <p:attrNameLst>
                                          <p:attrName>style.visibility</p:attrName>
                                        </p:attrNameLst>
                                      </p:cBhvr>
                                      <p:to>
                                        <p:strVal val="visible"/>
                                      </p:to>
                                    </p:set>
                                    <p:anim calcmode="lin" valueType="num">
                                      <p:cBhvr additive="base">
                                        <p:cTn id="79" dur="500" fill="hold"/>
                                        <p:tgtEl>
                                          <p:spTgt spid="107562"/>
                                        </p:tgtEl>
                                        <p:attrNameLst>
                                          <p:attrName>ppt_x</p:attrName>
                                        </p:attrNameLst>
                                      </p:cBhvr>
                                      <p:tavLst>
                                        <p:tav tm="0">
                                          <p:val>
                                            <p:strVal val="0-#ppt_w/2"/>
                                          </p:val>
                                        </p:tav>
                                        <p:tav tm="100000">
                                          <p:val>
                                            <p:strVal val="#ppt_x"/>
                                          </p:val>
                                        </p:tav>
                                      </p:tavLst>
                                    </p:anim>
                                    <p:anim calcmode="lin" valueType="num">
                                      <p:cBhvr additive="base">
                                        <p:cTn id="80" dur="500" fill="hold"/>
                                        <p:tgtEl>
                                          <p:spTgt spid="1075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2" name="WHOOSH.WAV"/>
                                        </p:tgtEl>
                                      </p:cMediaNode>
                                    </p:audio>
                                  </p:sub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07549"/>
                                        </p:tgtEl>
                                        <p:attrNameLst>
                                          <p:attrName>style.visibility</p:attrName>
                                        </p:attrNameLst>
                                      </p:cBhvr>
                                      <p:to>
                                        <p:strVal val="visible"/>
                                      </p:to>
                                    </p:set>
                                    <p:anim calcmode="lin" valueType="num">
                                      <p:cBhvr additive="base">
                                        <p:cTn id="85" dur="500" fill="hold"/>
                                        <p:tgtEl>
                                          <p:spTgt spid="107549"/>
                                        </p:tgtEl>
                                        <p:attrNameLst>
                                          <p:attrName>ppt_x</p:attrName>
                                        </p:attrNameLst>
                                      </p:cBhvr>
                                      <p:tavLst>
                                        <p:tav tm="0">
                                          <p:val>
                                            <p:strVal val="0-#ppt_w/2"/>
                                          </p:val>
                                        </p:tav>
                                        <p:tav tm="100000">
                                          <p:val>
                                            <p:strVal val="#ppt_x"/>
                                          </p:val>
                                        </p:tav>
                                      </p:tavLst>
                                    </p:anim>
                                    <p:anim calcmode="lin" valueType="num">
                                      <p:cBhvr additive="base">
                                        <p:cTn id="86" dur="500" fill="hold"/>
                                        <p:tgtEl>
                                          <p:spTgt spid="10754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49" grpId="0" animBg="1"/>
      <p:bldP spid="107550" grpId="0" animBg="1"/>
      <p:bldP spid="107551" grpId="0" animBg="1"/>
      <p:bldP spid="107552" grpId="0" animBg="1"/>
      <p:bldP spid="107553" grpId="0" animBg="1"/>
      <p:bldP spid="107554" grpId="0" animBg="1"/>
      <p:bldP spid="107555" grpId="0" animBg="1"/>
      <p:bldP spid="107556" grpId="0" animBg="1"/>
      <p:bldP spid="107557" grpId="0" animBg="1"/>
      <p:bldP spid="107558" grpId="0" animBg="1"/>
      <p:bldP spid="107559" grpId="0" animBg="1"/>
      <p:bldP spid="107560" grpId="0" animBg="1"/>
      <p:bldP spid="107561" grpId="0" animBg="1"/>
      <p:bldP spid="10756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a:xfrm>
            <a:off x="527050" y="333375"/>
            <a:ext cx="10321925" cy="863600"/>
          </a:xfrm>
        </p:spPr>
        <p:txBody>
          <a:bodyPr/>
          <a:lstStyle/>
          <a:p>
            <a:pPr eaLnBrk="1" hangingPunct="1"/>
            <a:r>
              <a:rPr lang="zh-CN" altLang="en-US" smtClean="0"/>
              <a:t>递归算法的实现原理</a:t>
            </a:r>
          </a:p>
        </p:txBody>
      </p:sp>
      <p:grpSp>
        <p:nvGrpSpPr>
          <p:cNvPr id="99331" name="组合 5"/>
          <p:cNvGrpSpPr>
            <a:grpSpLocks/>
          </p:cNvGrpSpPr>
          <p:nvPr/>
        </p:nvGrpSpPr>
        <p:grpSpPr bwMode="auto">
          <a:xfrm>
            <a:off x="3719513" y="1989138"/>
            <a:ext cx="4608512" cy="3457575"/>
            <a:chOff x="2606125" y="2586511"/>
            <a:chExt cx="2725166" cy="1892894"/>
          </a:xfrm>
        </p:grpSpPr>
        <p:pic>
          <p:nvPicPr>
            <p:cNvPr id="99332" name="图片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06125" y="2586511"/>
              <a:ext cx="2725166" cy="18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3" name="TextBox 10"/>
            <p:cNvSpPr txBox="1">
              <a:spLocks noChangeArrowheads="1"/>
            </p:cNvSpPr>
            <p:nvPr/>
          </p:nvSpPr>
          <p:spPr bwMode="auto">
            <a:xfrm>
              <a:off x="4114800" y="4252902"/>
              <a:ext cx="336351" cy="10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600" b="1">
                  <a:solidFill>
                    <a:schemeClr val="accent2"/>
                  </a:solidFill>
                  <a:latin typeface="楷体" panose="02010609060101010101" pitchFamily="49" charset="-122"/>
                  <a:ea typeface="楷体" panose="02010609060101010101" pitchFamily="49" charset="-122"/>
                </a:rPr>
                <a:t>代码区</a:t>
              </a:r>
            </a:p>
          </p:txBody>
        </p:sp>
        <p:sp>
          <p:nvSpPr>
            <p:cNvPr id="99334" name="TextBox 44"/>
            <p:cNvSpPr txBox="1">
              <a:spLocks noChangeArrowheads="1"/>
            </p:cNvSpPr>
            <p:nvPr/>
          </p:nvSpPr>
          <p:spPr bwMode="auto">
            <a:xfrm>
              <a:off x="4114800" y="4000492"/>
              <a:ext cx="497086" cy="10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600" b="1">
                  <a:solidFill>
                    <a:schemeClr val="accent2"/>
                  </a:solidFill>
                  <a:latin typeface="楷体" panose="02010609060101010101" pitchFamily="49" charset="-122"/>
                  <a:ea typeface="楷体" panose="02010609060101010101" pitchFamily="49" charset="-122"/>
                </a:rPr>
                <a:t>静态数据区</a:t>
              </a:r>
            </a:p>
          </p:txBody>
        </p:sp>
        <p:sp>
          <p:nvSpPr>
            <p:cNvPr id="99335" name="TextBox 45"/>
            <p:cNvSpPr txBox="1">
              <a:spLocks noChangeArrowheads="1"/>
            </p:cNvSpPr>
            <p:nvPr/>
          </p:nvSpPr>
          <p:spPr bwMode="auto">
            <a:xfrm>
              <a:off x="4114800" y="3261951"/>
              <a:ext cx="497086" cy="10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600" b="1">
                  <a:solidFill>
                    <a:schemeClr val="accent2"/>
                  </a:solidFill>
                  <a:latin typeface="楷体" panose="02010609060101010101" pitchFamily="49" charset="-122"/>
                  <a:ea typeface="楷体" panose="02010609060101010101" pitchFamily="49" charset="-122"/>
                </a:rPr>
                <a:t>动态数据区</a:t>
              </a:r>
            </a:p>
          </p:txBody>
        </p:sp>
        <p:sp>
          <p:nvSpPr>
            <p:cNvPr id="3" name="右大括号 2"/>
            <p:cNvSpPr/>
            <p:nvPr/>
          </p:nvSpPr>
          <p:spPr>
            <a:xfrm>
              <a:off x="3908388" y="2820082"/>
              <a:ext cx="206412" cy="1003331"/>
            </a:xfrm>
            <a:prstGeom prst="rightBrace">
              <a:avLst>
                <a:gd name="adj1" fmla="val 8333"/>
                <a:gd name="adj2" fmla="val 48800"/>
              </a:avLst>
            </a:prstGeom>
            <a:noFill/>
            <a:ln w="50800" cap="flat">
              <a:solidFill>
                <a:schemeClr val="accent1"/>
              </a:solidFill>
              <a:prstDash val="solid"/>
              <a:round/>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txBody>
            <a:bodyPr spcFirstLastPara="1" lIns="34290" tIns="17145" rIns="34290" bIns="17145" spcCol="38100"/>
            <a:lstStyle/>
            <a:p>
              <a:pPr defTabSz="342900" fontAlgn="auto" latinLnBrk="1">
                <a:spcBef>
                  <a:spcPts val="0"/>
                </a:spcBef>
                <a:spcAft>
                  <a:spcPts val="0"/>
                </a:spcAft>
                <a:defRPr/>
              </a:pPr>
              <a:endParaRPr lang="zh-CN" altLang="en-US" sz="675">
                <a:solidFill>
                  <a:srgbClr val="000000"/>
                </a:solidFill>
              </a:endParaRPr>
            </a:p>
          </p:txBody>
        </p:sp>
        <p:sp>
          <p:nvSpPr>
            <p:cNvPr id="4" name="右大括号 3"/>
            <p:cNvSpPr/>
            <p:nvPr/>
          </p:nvSpPr>
          <p:spPr>
            <a:xfrm>
              <a:off x="3908388" y="3870203"/>
              <a:ext cx="206412" cy="337970"/>
            </a:xfrm>
            <a:prstGeom prst="rightBrace">
              <a:avLst/>
            </a:prstGeom>
            <a:noFill/>
            <a:ln w="50800" cap="flat">
              <a:solidFill>
                <a:schemeClr val="accent1"/>
              </a:solidFill>
              <a:prstDash val="solid"/>
              <a:round/>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txBody>
            <a:bodyPr spcFirstLastPara="1" lIns="34290" tIns="17145" rIns="34290" bIns="17145" spcCol="38100"/>
            <a:lstStyle/>
            <a:p>
              <a:pPr defTabSz="342900" fontAlgn="auto" latinLnBrk="1">
                <a:spcBef>
                  <a:spcPts val="0"/>
                </a:spcBef>
                <a:spcAft>
                  <a:spcPts val="0"/>
                </a:spcAft>
                <a:defRPr/>
              </a:pPr>
              <a:endParaRPr lang="zh-CN" altLang="en-US" sz="675">
                <a:solidFill>
                  <a:srgbClr val="000000"/>
                </a:solidFill>
              </a:endParaRPr>
            </a:p>
          </p:txBody>
        </p:sp>
        <p:sp>
          <p:nvSpPr>
            <p:cNvPr id="5" name="右大括号 4"/>
            <p:cNvSpPr/>
            <p:nvPr/>
          </p:nvSpPr>
          <p:spPr>
            <a:xfrm>
              <a:off x="3908388" y="4252902"/>
              <a:ext cx="206412" cy="179714"/>
            </a:xfrm>
            <a:prstGeom prst="rightBrace">
              <a:avLst/>
            </a:prstGeom>
            <a:noFill/>
            <a:ln w="50800" cap="flat">
              <a:solidFill>
                <a:schemeClr val="accent1"/>
              </a:solidFill>
              <a:prstDash val="solid"/>
              <a:round/>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txBody>
            <a:bodyPr spcFirstLastPara="1" lIns="34290" tIns="17145" rIns="34290" bIns="17145" spcCol="38100"/>
            <a:lstStyle/>
            <a:p>
              <a:pPr defTabSz="342900" fontAlgn="auto" latinLnBrk="1">
                <a:spcBef>
                  <a:spcPts val="0"/>
                </a:spcBef>
                <a:spcAft>
                  <a:spcPts val="0"/>
                </a:spcAft>
                <a:defRPr/>
              </a:pPr>
              <a:endParaRPr lang="zh-CN" altLang="en-US" sz="675">
                <a:solidFill>
                  <a:srgbClr val="000000"/>
                </a:solidFill>
              </a:endParaRPr>
            </a:p>
          </p:txBody>
        </p:sp>
      </p:grpSp>
    </p:spTree>
  </p:cSld>
  <p:clrMapOvr>
    <a:masterClrMapping/>
  </p:clrMapOvr>
  <p:transition spd="slow"/>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a:grpSpLocks/>
          </p:cNvGrpSpPr>
          <p:nvPr/>
        </p:nvGrpSpPr>
        <p:grpSpPr bwMode="auto">
          <a:xfrm>
            <a:off x="4214813" y="2628900"/>
            <a:ext cx="228600" cy="1422400"/>
            <a:chOff x="7175156" y="4722451"/>
            <a:chExt cx="609601" cy="3794531"/>
          </a:xfrm>
        </p:grpSpPr>
        <p:sp>
          <p:nvSpPr>
            <p:cNvPr id="6" name="Rectangle 4"/>
            <p:cNvSpPr>
              <a:spLocks noChangeArrowheads="1"/>
            </p:cNvSpPr>
            <p:nvPr/>
          </p:nvSpPr>
          <p:spPr bwMode="auto">
            <a:xfrm>
              <a:off x="7175156" y="4722451"/>
              <a:ext cx="609601" cy="3794531"/>
            </a:xfrm>
            <a:prstGeom prst="rect">
              <a:avLst/>
            </a:prstGeom>
            <a:solidFill>
              <a:srgbClr val="ECE106"/>
            </a:solidFill>
            <a:ln w="9525">
              <a:solidFill>
                <a:schemeClr val="tx1"/>
              </a:solidFill>
              <a:miter lim="800000"/>
              <a:headEnd/>
              <a:tailEnd/>
            </a:ln>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endParaRPr lang="zh-CN" altLang="en-US" sz="638"/>
            </a:p>
          </p:txBody>
        </p:sp>
        <p:sp>
          <p:nvSpPr>
            <p:cNvPr id="16" name="Oval 17"/>
            <p:cNvSpPr>
              <a:spLocks noChangeArrowheads="1"/>
            </p:cNvSpPr>
            <p:nvPr/>
          </p:nvSpPr>
          <p:spPr bwMode="auto">
            <a:xfrm>
              <a:off x="7255588" y="6191986"/>
              <a:ext cx="397934" cy="470080"/>
            </a:xfrm>
            <a:prstGeom prst="ellipse">
              <a:avLst/>
            </a:prstGeom>
            <a:solidFill>
              <a:srgbClr val="FFFF99"/>
            </a:solidFill>
            <a:ln w="9525">
              <a:solidFill>
                <a:schemeClr val="tx1"/>
              </a:solidFill>
              <a:round/>
              <a:headEnd/>
              <a:tailEnd/>
            </a:ln>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r>
                <a:rPr lang="en-US" altLang="zh-CN" sz="638" dirty="0"/>
                <a:t>1</a:t>
              </a:r>
              <a:endParaRPr lang="zh-CN" altLang="en-US" sz="638" dirty="0"/>
            </a:p>
          </p:txBody>
        </p:sp>
      </p:grpSp>
      <p:grpSp>
        <p:nvGrpSpPr>
          <p:cNvPr id="35" name="组合 34"/>
          <p:cNvGrpSpPr>
            <a:grpSpLocks/>
          </p:cNvGrpSpPr>
          <p:nvPr/>
        </p:nvGrpSpPr>
        <p:grpSpPr bwMode="auto">
          <a:xfrm>
            <a:off x="4864100" y="2619375"/>
            <a:ext cx="225425" cy="1098550"/>
            <a:chOff x="8906690" y="4697396"/>
            <a:chExt cx="603453" cy="2931314"/>
          </a:xfrm>
        </p:grpSpPr>
        <p:sp>
          <p:nvSpPr>
            <p:cNvPr id="22" name="Rectangle 4"/>
            <p:cNvSpPr>
              <a:spLocks noChangeArrowheads="1"/>
            </p:cNvSpPr>
            <p:nvPr/>
          </p:nvSpPr>
          <p:spPr bwMode="auto">
            <a:xfrm>
              <a:off x="8906690" y="4697396"/>
              <a:ext cx="603453" cy="2931314"/>
            </a:xfrm>
            <a:prstGeom prst="rect">
              <a:avLst/>
            </a:prstGeom>
            <a:solidFill>
              <a:srgbClr val="ECE106"/>
            </a:solidFill>
            <a:ln w="9525">
              <a:solidFill>
                <a:schemeClr val="tx1"/>
              </a:solidFill>
              <a:miter lim="800000"/>
              <a:headEnd/>
              <a:tailEnd/>
            </a:ln>
          </p:spPr>
          <p:txBody>
            <a:bodyPr wrap="none" anchor="ctr"/>
            <a:lstStyle/>
            <a:p>
              <a:pPr hangingPunct="1">
                <a:defRPr/>
              </a:pPr>
              <a:endParaRPr lang="zh-CN" altLang="en-US" sz="638"/>
            </a:p>
          </p:txBody>
        </p:sp>
        <p:sp>
          <p:nvSpPr>
            <p:cNvPr id="23" name="Oval 17"/>
            <p:cNvSpPr>
              <a:spLocks noChangeArrowheads="1"/>
            </p:cNvSpPr>
            <p:nvPr/>
          </p:nvSpPr>
          <p:spPr bwMode="auto">
            <a:xfrm>
              <a:off x="8978936" y="6167290"/>
              <a:ext cx="399469" cy="470195"/>
            </a:xfrm>
            <a:prstGeom prst="ellipse">
              <a:avLst/>
            </a:prstGeom>
            <a:solidFill>
              <a:srgbClr val="FFFF99"/>
            </a:solidFill>
            <a:ln w="9525">
              <a:solidFill>
                <a:schemeClr val="tx1"/>
              </a:solidFill>
              <a:round/>
              <a:headEnd/>
              <a:tailEnd/>
            </a:ln>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r>
                <a:rPr lang="en-US" altLang="zh-CN" sz="638" dirty="0"/>
                <a:t>2</a:t>
              </a:r>
              <a:endParaRPr lang="zh-CN" altLang="en-US" sz="638" dirty="0"/>
            </a:p>
          </p:txBody>
        </p:sp>
      </p:grpSp>
      <p:cxnSp>
        <p:nvCxnSpPr>
          <p:cNvPr id="25" name="直接箭头连接符 24"/>
          <p:cNvCxnSpPr>
            <a:stCxn id="6" idx="3"/>
          </p:cNvCxnSpPr>
          <p:nvPr/>
        </p:nvCxnSpPr>
        <p:spPr>
          <a:xfrm flipV="1">
            <a:off x="4443285" y="2628170"/>
            <a:ext cx="420725" cy="711475"/>
          </a:xfrm>
          <a:prstGeom prst="straightConnector1">
            <a:avLst/>
          </a:prstGeom>
          <a:noFill/>
          <a:ln w="50800" cap="flat">
            <a:solidFill>
              <a:srgbClr val="EC2C06"/>
            </a:solidFill>
            <a:prstDash val="solid"/>
            <a:round/>
            <a:tailEnd type="triangle"/>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27" name="直接箭头连接符 26"/>
          <p:cNvCxnSpPr/>
          <p:nvPr/>
        </p:nvCxnSpPr>
        <p:spPr>
          <a:xfrm flipH="1" flipV="1">
            <a:off x="4443285" y="3355549"/>
            <a:ext cx="420725" cy="362468"/>
          </a:xfrm>
          <a:prstGeom prst="straightConnector1">
            <a:avLst/>
          </a:prstGeom>
          <a:noFill/>
          <a:ln w="50800" cap="flat">
            <a:solidFill>
              <a:srgbClr val="067EEC"/>
            </a:solidFill>
            <a:prstDash val="solid"/>
            <a:round/>
            <a:tailEnd type="triangle"/>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grpSp>
        <p:nvGrpSpPr>
          <p:cNvPr id="36" name="组合 35"/>
          <p:cNvGrpSpPr>
            <a:grpSpLocks/>
          </p:cNvGrpSpPr>
          <p:nvPr/>
        </p:nvGrpSpPr>
        <p:grpSpPr bwMode="auto">
          <a:xfrm>
            <a:off x="5557838" y="2628900"/>
            <a:ext cx="203200" cy="1314450"/>
            <a:chOff x="10757578" y="4724986"/>
            <a:chExt cx="540702" cy="3504614"/>
          </a:xfrm>
        </p:grpSpPr>
        <p:sp>
          <p:nvSpPr>
            <p:cNvPr id="29" name="Rectangle 4"/>
            <p:cNvSpPr>
              <a:spLocks noChangeArrowheads="1"/>
            </p:cNvSpPr>
            <p:nvPr/>
          </p:nvSpPr>
          <p:spPr bwMode="auto">
            <a:xfrm>
              <a:off x="10757578" y="4724986"/>
              <a:ext cx="540702" cy="3504614"/>
            </a:xfrm>
            <a:prstGeom prst="rect">
              <a:avLst/>
            </a:prstGeom>
            <a:solidFill>
              <a:srgbClr val="ECE106"/>
            </a:solidFill>
            <a:ln w="9525">
              <a:solidFill>
                <a:schemeClr val="tx1"/>
              </a:solidFill>
              <a:miter lim="800000"/>
              <a:headEnd/>
              <a:tailEnd/>
            </a:ln>
          </p:spPr>
          <p:txBody>
            <a:bodyPr wrap="none" anchor="ctr"/>
            <a:lstStyle/>
            <a:p>
              <a:pPr hangingPunct="1">
                <a:defRPr/>
              </a:pPr>
              <a:endParaRPr lang="zh-CN" altLang="en-US" sz="638"/>
            </a:p>
          </p:txBody>
        </p:sp>
        <p:sp>
          <p:nvSpPr>
            <p:cNvPr id="30" name="Oval 17"/>
            <p:cNvSpPr>
              <a:spLocks noChangeArrowheads="1"/>
            </p:cNvSpPr>
            <p:nvPr/>
          </p:nvSpPr>
          <p:spPr bwMode="auto">
            <a:xfrm>
              <a:off x="10766026" y="6193708"/>
              <a:ext cx="401301" cy="469820"/>
            </a:xfrm>
            <a:prstGeom prst="ellipse">
              <a:avLst/>
            </a:prstGeom>
            <a:solidFill>
              <a:srgbClr val="FFFF99"/>
            </a:solidFill>
            <a:ln w="9525">
              <a:solidFill>
                <a:schemeClr val="tx1"/>
              </a:solidFill>
              <a:round/>
              <a:headEnd/>
              <a:tailEnd/>
            </a:ln>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r>
                <a:rPr lang="en-US" altLang="zh-CN" sz="638" dirty="0"/>
                <a:t>3</a:t>
              </a:r>
              <a:endParaRPr lang="zh-CN" altLang="en-US" sz="638" dirty="0"/>
            </a:p>
          </p:txBody>
        </p:sp>
      </p:grpSp>
      <p:cxnSp>
        <p:nvCxnSpPr>
          <p:cNvPr id="31" name="直接箭头连接符 30"/>
          <p:cNvCxnSpPr/>
          <p:nvPr/>
        </p:nvCxnSpPr>
        <p:spPr>
          <a:xfrm flipV="1">
            <a:off x="5113836" y="2638516"/>
            <a:ext cx="420725" cy="711475"/>
          </a:xfrm>
          <a:prstGeom prst="straightConnector1">
            <a:avLst/>
          </a:prstGeom>
          <a:noFill/>
          <a:ln w="50800" cap="flat">
            <a:solidFill>
              <a:srgbClr val="EC2C06"/>
            </a:solidFill>
            <a:prstDash val="solid"/>
            <a:round/>
            <a:tailEnd type="triangle"/>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32" name="直接箭头连接符 31"/>
          <p:cNvCxnSpPr/>
          <p:nvPr/>
        </p:nvCxnSpPr>
        <p:spPr>
          <a:xfrm flipH="1" flipV="1">
            <a:off x="5113836" y="3365896"/>
            <a:ext cx="447810" cy="577455"/>
          </a:xfrm>
          <a:prstGeom prst="straightConnector1">
            <a:avLst/>
          </a:prstGeom>
          <a:noFill/>
          <a:ln w="50800" cap="flat">
            <a:solidFill>
              <a:srgbClr val="067EEC"/>
            </a:solidFill>
            <a:prstDash val="solid"/>
            <a:round/>
            <a:tailEnd type="triangle"/>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01385" name="标题 1"/>
          <p:cNvSpPr>
            <a:spLocks noGrp="1"/>
          </p:cNvSpPr>
          <p:nvPr>
            <p:ph type="title"/>
          </p:nvPr>
        </p:nvSpPr>
        <p:spPr>
          <a:xfrm>
            <a:off x="527050" y="333375"/>
            <a:ext cx="10321925" cy="863600"/>
          </a:xfrm>
        </p:spPr>
        <p:txBody>
          <a:bodyPr/>
          <a:lstStyle/>
          <a:p>
            <a:pPr eaLnBrk="1" hangingPunct="1"/>
            <a:r>
              <a:rPr lang="zh-CN" altLang="en-US" smtClean="0"/>
              <a:t>函数调用示意图</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0"/>
                                          </p:stCondLst>
                                        </p:cTn>
                                        <p:tgtEl>
                                          <p:spTgt spid="3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par>
                          <p:cTn id="21" fill="hold" nodeType="afterGroup">
                            <p:stCondLst>
                              <p:cond delay="500"/>
                            </p:stCondLst>
                            <p:childTnLst>
                              <p:par>
                                <p:cTn id="22" presetID="1" presetClass="entr" presetSubtype="0" fill="hold" nodeType="afterEffect">
                                  <p:stCondLst>
                                    <p:cond delay="0"/>
                                  </p:stCondLst>
                                  <p:childTnLst>
                                    <p:set>
                                      <p:cBhvr>
                                        <p:cTn id="23" dur="1" fill="hold">
                                          <p:stCondLst>
                                            <p:cond delay="0"/>
                                          </p:stCondLst>
                                        </p:cTn>
                                        <p:tgtEl>
                                          <p:spTgt spid="36"/>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6"/>
          <p:cNvGrpSpPr>
            <a:grpSpLocks/>
          </p:cNvGrpSpPr>
          <p:nvPr/>
        </p:nvGrpSpPr>
        <p:grpSpPr bwMode="auto">
          <a:xfrm>
            <a:off x="7564438" y="3052763"/>
            <a:ext cx="571500" cy="771525"/>
            <a:chOff x="3120" y="528"/>
            <a:chExt cx="960" cy="1296"/>
          </a:xfrm>
        </p:grpSpPr>
        <p:sp>
          <p:nvSpPr>
            <p:cNvPr id="23" name="Line 22"/>
            <p:cNvSpPr>
              <a:spLocks noChangeShapeType="1"/>
            </p:cNvSpPr>
            <p:nvPr/>
          </p:nvSpPr>
          <p:spPr bwMode="auto">
            <a:xfrm>
              <a:off x="3312" y="624"/>
              <a:ext cx="0"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638"/>
            </a:p>
          </p:txBody>
        </p:sp>
        <p:sp>
          <p:nvSpPr>
            <p:cNvPr id="24" name="Line 23"/>
            <p:cNvSpPr>
              <a:spLocks noChangeShapeType="1"/>
            </p:cNvSpPr>
            <p:nvPr/>
          </p:nvSpPr>
          <p:spPr bwMode="auto">
            <a:xfrm>
              <a:off x="3312" y="1824"/>
              <a:ext cx="7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638"/>
            </a:p>
          </p:txBody>
        </p:sp>
        <p:sp>
          <p:nvSpPr>
            <p:cNvPr id="25" name="Line 24"/>
            <p:cNvSpPr>
              <a:spLocks noChangeShapeType="1"/>
            </p:cNvSpPr>
            <p:nvPr/>
          </p:nvSpPr>
          <p:spPr bwMode="auto">
            <a:xfrm>
              <a:off x="4080" y="624"/>
              <a:ext cx="0"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638"/>
            </a:p>
          </p:txBody>
        </p:sp>
        <p:sp>
          <p:nvSpPr>
            <p:cNvPr id="102429" name="Text Box 25"/>
            <p:cNvSpPr txBox="1">
              <a:spLocks noChangeArrowheads="1"/>
            </p:cNvSpPr>
            <p:nvPr/>
          </p:nvSpPr>
          <p:spPr bwMode="auto">
            <a:xfrm>
              <a:off x="3120" y="528"/>
              <a:ext cx="19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900">
                  <a:latin typeface="Times New Roman" panose="02020603050405020304" pitchFamily="18" charset="0"/>
                  <a:ea typeface="宋体" panose="02010600030101010101" pitchFamily="2" charset="-122"/>
                </a:rPr>
                <a:t>s</a:t>
              </a:r>
            </a:p>
          </p:txBody>
        </p:sp>
      </p:grpSp>
      <p:grpSp>
        <p:nvGrpSpPr>
          <p:cNvPr id="27" name="Group 29"/>
          <p:cNvGrpSpPr>
            <a:grpSpLocks/>
          </p:cNvGrpSpPr>
          <p:nvPr/>
        </p:nvGrpSpPr>
        <p:grpSpPr bwMode="auto">
          <a:xfrm>
            <a:off x="7835900" y="3603625"/>
            <a:ext cx="171450" cy="207963"/>
            <a:chOff x="3576" y="1549"/>
            <a:chExt cx="288" cy="349"/>
          </a:xfrm>
        </p:grpSpPr>
        <p:sp>
          <p:nvSpPr>
            <p:cNvPr id="28" name="Oval 27"/>
            <p:cNvSpPr>
              <a:spLocks noChangeArrowheads="1"/>
            </p:cNvSpPr>
            <p:nvPr/>
          </p:nvSpPr>
          <p:spPr bwMode="auto">
            <a:xfrm>
              <a:off x="3600" y="15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endParaRPr lang="zh-CN" altLang="en-US" sz="638"/>
            </a:p>
          </p:txBody>
        </p:sp>
        <p:sp>
          <p:nvSpPr>
            <p:cNvPr id="29" name="Text Box 28"/>
            <p:cNvSpPr txBox="1">
              <a:spLocks noChangeArrowheads="1"/>
            </p:cNvSpPr>
            <p:nvPr/>
          </p:nvSpPr>
          <p:spPr bwMode="auto">
            <a:xfrm>
              <a:off x="3576" y="1549"/>
              <a:ext cx="28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spcBef>
                  <a:spcPct val="50000"/>
                </a:spcBef>
                <a:defRPr/>
              </a:pPr>
              <a:r>
                <a:rPr kumimoji="1" lang="en-US" altLang="zh-CN" sz="750" dirty="0">
                  <a:latin typeface="Times New Roman" panose="02020603050405020304" pitchFamily="18" charset="0"/>
                </a:rPr>
                <a:t>1</a:t>
              </a:r>
            </a:p>
          </p:txBody>
        </p:sp>
      </p:grpSp>
      <p:grpSp>
        <p:nvGrpSpPr>
          <p:cNvPr id="30" name="Group 32"/>
          <p:cNvGrpSpPr>
            <a:grpSpLocks/>
          </p:cNvGrpSpPr>
          <p:nvPr/>
        </p:nvGrpSpPr>
        <p:grpSpPr bwMode="auto">
          <a:xfrm>
            <a:off x="7821613" y="3416300"/>
            <a:ext cx="171450" cy="207963"/>
            <a:chOff x="4464" y="1377"/>
            <a:chExt cx="288" cy="349"/>
          </a:xfrm>
        </p:grpSpPr>
        <p:sp>
          <p:nvSpPr>
            <p:cNvPr id="31" name="Oval 30"/>
            <p:cNvSpPr>
              <a:spLocks noChangeArrowheads="1"/>
            </p:cNvSpPr>
            <p:nvPr/>
          </p:nvSpPr>
          <p:spPr bwMode="auto">
            <a:xfrm>
              <a:off x="4512" y="1393"/>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endParaRPr lang="zh-CN" altLang="en-US" sz="638"/>
            </a:p>
          </p:txBody>
        </p:sp>
        <p:sp>
          <p:nvSpPr>
            <p:cNvPr id="32" name="Text Box 31"/>
            <p:cNvSpPr txBox="1">
              <a:spLocks noChangeArrowheads="1"/>
            </p:cNvSpPr>
            <p:nvPr/>
          </p:nvSpPr>
          <p:spPr bwMode="auto">
            <a:xfrm>
              <a:off x="4464" y="1377"/>
              <a:ext cx="28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spcBef>
                  <a:spcPct val="50000"/>
                </a:spcBef>
                <a:defRPr/>
              </a:pPr>
              <a:r>
                <a:rPr kumimoji="1" lang="en-US" altLang="zh-CN" sz="750" dirty="0">
                  <a:latin typeface="Times New Roman" panose="02020603050405020304" pitchFamily="18" charset="0"/>
                </a:rPr>
                <a:t>2</a:t>
              </a:r>
            </a:p>
          </p:txBody>
        </p:sp>
      </p:grpSp>
      <p:grpSp>
        <p:nvGrpSpPr>
          <p:cNvPr id="33" name="Group 35"/>
          <p:cNvGrpSpPr>
            <a:grpSpLocks/>
          </p:cNvGrpSpPr>
          <p:nvPr/>
        </p:nvGrpSpPr>
        <p:grpSpPr bwMode="auto">
          <a:xfrm>
            <a:off x="7821613" y="3224213"/>
            <a:ext cx="171450" cy="209550"/>
            <a:chOff x="4704" y="816"/>
            <a:chExt cx="288" cy="350"/>
          </a:xfrm>
        </p:grpSpPr>
        <p:sp>
          <p:nvSpPr>
            <p:cNvPr id="34" name="Oval 33"/>
            <p:cNvSpPr>
              <a:spLocks noChangeArrowheads="1"/>
            </p:cNvSpPr>
            <p:nvPr/>
          </p:nvSpPr>
          <p:spPr bwMode="auto">
            <a:xfrm>
              <a:off x="4752" y="816"/>
              <a:ext cx="240" cy="24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endParaRPr lang="zh-CN" altLang="en-US" sz="638"/>
            </a:p>
          </p:txBody>
        </p:sp>
        <p:sp>
          <p:nvSpPr>
            <p:cNvPr id="35" name="Text Box 34"/>
            <p:cNvSpPr txBox="1">
              <a:spLocks noChangeArrowheads="1"/>
            </p:cNvSpPr>
            <p:nvPr/>
          </p:nvSpPr>
          <p:spPr bwMode="auto">
            <a:xfrm>
              <a:off x="4704" y="816"/>
              <a:ext cx="28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spcBef>
                  <a:spcPct val="50000"/>
                </a:spcBef>
                <a:defRPr/>
              </a:pPr>
              <a:r>
                <a:rPr kumimoji="1" lang="en-US" altLang="zh-CN" sz="750" dirty="0">
                  <a:latin typeface="Times New Roman" panose="02020603050405020304" pitchFamily="18" charset="0"/>
                </a:rPr>
                <a:t>3</a:t>
              </a:r>
            </a:p>
          </p:txBody>
        </p:sp>
      </p:grpSp>
      <p:grpSp>
        <p:nvGrpSpPr>
          <p:cNvPr id="39" name="组合 38"/>
          <p:cNvGrpSpPr>
            <a:grpSpLocks/>
          </p:cNvGrpSpPr>
          <p:nvPr/>
        </p:nvGrpSpPr>
        <p:grpSpPr bwMode="auto">
          <a:xfrm>
            <a:off x="3870325" y="2617788"/>
            <a:ext cx="228600" cy="1422400"/>
            <a:chOff x="7175156" y="4722451"/>
            <a:chExt cx="609601" cy="3794531"/>
          </a:xfrm>
        </p:grpSpPr>
        <p:sp>
          <p:nvSpPr>
            <p:cNvPr id="40" name="Rectangle 4"/>
            <p:cNvSpPr>
              <a:spLocks noChangeArrowheads="1"/>
            </p:cNvSpPr>
            <p:nvPr/>
          </p:nvSpPr>
          <p:spPr bwMode="auto">
            <a:xfrm>
              <a:off x="7175156" y="4722451"/>
              <a:ext cx="609601" cy="3794531"/>
            </a:xfrm>
            <a:prstGeom prst="rect">
              <a:avLst/>
            </a:prstGeom>
            <a:solidFill>
              <a:srgbClr val="ECE106"/>
            </a:solidFill>
            <a:ln w="9525">
              <a:solidFill>
                <a:schemeClr val="tx1"/>
              </a:solidFill>
              <a:miter lim="800000"/>
              <a:headEnd/>
              <a:tailEnd/>
            </a:ln>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endParaRPr lang="zh-CN" altLang="en-US" sz="638"/>
            </a:p>
          </p:txBody>
        </p:sp>
        <p:sp>
          <p:nvSpPr>
            <p:cNvPr id="41" name="Oval 17"/>
            <p:cNvSpPr>
              <a:spLocks noChangeArrowheads="1"/>
            </p:cNvSpPr>
            <p:nvPr/>
          </p:nvSpPr>
          <p:spPr bwMode="auto">
            <a:xfrm>
              <a:off x="7255591" y="6191983"/>
              <a:ext cx="397934" cy="470083"/>
            </a:xfrm>
            <a:prstGeom prst="ellipse">
              <a:avLst/>
            </a:prstGeom>
            <a:solidFill>
              <a:srgbClr val="FFFF99"/>
            </a:solidFill>
            <a:ln w="9525">
              <a:solidFill>
                <a:schemeClr val="tx1"/>
              </a:solidFill>
              <a:round/>
              <a:headEnd/>
              <a:tailEnd/>
            </a:ln>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r>
                <a:rPr lang="en-US" altLang="zh-CN" sz="638" dirty="0"/>
                <a:t>1</a:t>
              </a:r>
              <a:endParaRPr lang="zh-CN" altLang="en-US" sz="638" dirty="0"/>
            </a:p>
          </p:txBody>
        </p:sp>
      </p:grpSp>
      <p:grpSp>
        <p:nvGrpSpPr>
          <p:cNvPr id="42" name="组合 41"/>
          <p:cNvGrpSpPr>
            <a:grpSpLocks/>
          </p:cNvGrpSpPr>
          <p:nvPr/>
        </p:nvGrpSpPr>
        <p:grpSpPr bwMode="auto">
          <a:xfrm>
            <a:off x="4519613" y="2608263"/>
            <a:ext cx="227012" cy="1100137"/>
            <a:chOff x="8906690" y="4697396"/>
            <a:chExt cx="603453" cy="2931314"/>
          </a:xfrm>
        </p:grpSpPr>
        <p:sp>
          <p:nvSpPr>
            <p:cNvPr id="43" name="Rectangle 4"/>
            <p:cNvSpPr>
              <a:spLocks noChangeArrowheads="1"/>
            </p:cNvSpPr>
            <p:nvPr/>
          </p:nvSpPr>
          <p:spPr bwMode="auto">
            <a:xfrm>
              <a:off x="8906690" y="4697396"/>
              <a:ext cx="603453" cy="2931314"/>
            </a:xfrm>
            <a:prstGeom prst="rect">
              <a:avLst/>
            </a:prstGeom>
            <a:solidFill>
              <a:srgbClr val="ECE106"/>
            </a:solidFill>
            <a:ln w="9525">
              <a:solidFill>
                <a:schemeClr val="tx1"/>
              </a:solidFill>
              <a:miter lim="800000"/>
              <a:headEnd/>
              <a:tailEnd/>
            </a:ln>
          </p:spPr>
          <p:txBody>
            <a:bodyPr wrap="none" anchor="ctr"/>
            <a:lstStyle/>
            <a:p>
              <a:pPr hangingPunct="1">
                <a:defRPr/>
              </a:pPr>
              <a:endParaRPr lang="zh-CN" altLang="en-US" sz="638"/>
            </a:p>
          </p:txBody>
        </p:sp>
        <p:sp>
          <p:nvSpPr>
            <p:cNvPr id="44" name="Oval 17"/>
            <p:cNvSpPr>
              <a:spLocks noChangeArrowheads="1"/>
            </p:cNvSpPr>
            <p:nvPr/>
          </p:nvSpPr>
          <p:spPr bwMode="auto">
            <a:xfrm>
              <a:off x="8978428" y="6165167"/>
              <a:ext cx="400898" cy="473748"/>
            </a:xfrm>
            <a:prstGeom prst="ellipse">
              <a:avLst/>
            </a:prstGeom>
            <a:solidFill>
              <a:srgbClr val="FFFF99"/>
            </a:solidFill>
            <a:ln w="9525">
              <a:solidFill>
                <a:schemeClr val="tx1"/>
              </a:solidFill>
              <a:round/>
              <a:headEnd/>
              <a:tailEnd/>
            </a:ln>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r>
                <a:rPr lang="en-US" altLang="zh-CN" sz="638" dirty="0"/>
                <a:t>2</a:t>
              </a:r>
              <a:endParaRPr lang="zh-CN" altLang="en-US" sz="638" dirty="0"/>
            </a:p>
          </p:txBody>
        </p:sp>
      </p:grpSp>
      <p:cxnSp>
        <p:nvCxnSpPr>
          <p:cNvPr id="45" name="直接箭头连接符 44"/>
          <p:cNvCxnSpPr>
            <a:stCxn id="40" idx="3"/>
          </p:cNvCxnSpPr>
          <p:nvPr/>
        </p:nvCxnSpPr>
        <p:spPr>
          <a:xfrm flipV="1">
            <a:off x="4099353" y="2617824"/>
            <a:ext cx="420725" cy="711475"/>
          </a:xfrm>
          <a:prstGeom prst="straightConnector1">
            <a:avLst/>
          </a:prstGeom>
          <a:noFill/>
          <a:ln w="50800" cap="flat">
            <a:solidFill>
              <a:srgbClr val="EC2C06"/>
            </a:solidFill>
            <a:prstDash val="solid"/>
            <a:round/>
            <a:tailEnd type="triangle"/>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46" name="直接箭头连接符 45"/>
          <p:cNvCxnSpPr/>
          <p:nvPr/>
        </p:nvCxnSpPr>
        <p:spPr>
          <a:xfrm flipH="1" flipV="1">
            <a:off x="4099353" y="3345202"/>
            <a:ext cx="420725" cy="362468"/>
          </a:xfrm>
          <a:prstGeom prst="straightConnector1">
            <a:avLst/>
          </a:prstGeom>
          <a:noFill/>
          <a:ln w="50800" cap="flat">
            <a:solidFill>
              <a:srgbClr val="067EEC"/>
            </a:solidFill>
            <a:prstDash val="solid"/>
            <a:round/>
            <a:tailEnd type="triangle"/>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grpSp>
        <p:nvGrpSpPr>
          <p:cNvPr id="47" name="组合 46"/>
          <p:cNvGrpSpPr>
            <a:grpSpLocks/>
          </p:cNvGrpSpPr>
          <p:nvPr/>
        </p:nvGrpSpPr>
        <p:grpSpPr bwMode="auto">
          <a:xfrm>
            <a:off x="5214938" y="2619375"/>
            <a:ext cx="201612" cy="1312863"/>
            <a:chOff x="10757578" y="4724986"/>
            <a:chExt cx="540702" cy="3504614"/>
          </a:xfrm>
        </p:grpSpPr>
        <p:sp>
          <p:nvSpPr>
            <p:cNvPr id="48" name="Rectangle 4"/>
            <p:cNvSpPr>
              <a:spLocks noChangeArrowheads="1"/>
            </p:cNvSpPr>
            <p:nvPr/>
          </p:nvSpPr>
          <p:spPr bwMode="auto">
            <a:xfrm>
              <a:off x="10757578" y="4724986"/>
              <a:ext cx="540702" cy="3504614"/>
            </a:xfrm>
            <a:prstGeom prst="rect">
              <a:avLst/>
            </a:prstGeom>
            <a:solidFill>
              <a:srgbClr val="ECE106"/>
            </a:solidFill>
            <a:ln w="9525">
              <a:solidFill>
                <a:schemeClr val="tx1"/>
              </a:solidFill>
              <a:miter lim="800000"/>
              <a:headEnd/>
              <a:tailEnd/>
            </a:ln>
          </p:spPr>
          <p:txBody>
            <a:bodyPr wrap="none" anchor="ctr"/>
            <a:lstStyle/>
            <a:p>
              <a:pPr hangingPunct="1">
                <a:defRPr/>
              </a:pPr>
              <a:endParaRPr lang="zh-CN" altLang="en-US" sz="638"/>
            </a:p>
          </p:txBody>
        </p:sp>
        <p:sp>
          <p:nvSpPr>
            <p:cNvPr id="49" name="Oval 17"/>
            <p:cNvSpPr>
              <a:spLocks noChangeArrowheads="1"/>
            </p:cNvSpPr>
            <p:nvPr/>
          </p:nvSpPr>
          <p:spPr bwMode="auto">
            <a:xfrm>
              <a:off x="10766093" y="6191245"/>
              <a:ext cx="400206" cy="474627"/>
            </a:xfrm>
            <a:prstGeom prst="ellipse">
              <a:avLst/>
            </a:prstGeom>
            <a:solidFill>
              <a:srgbClr val="FFFF99"/>
            </a:solidFill>
            <a:ln w="9525">
              <a:solidFill>
                <a:schemeClr val="tx1"/>
              </a:solidFill>
              <a:round/>
              <a:headEnd/>
              <a:tailEnd/>
            </a:ln>
          </p:spPr>
          <p:txBody>
            <a:bodyPr wrap="none" anchor="ctr"/>
            <a:lstStyle>
              <a:lvl1pPr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1pPr>
              <a:lvl2pPr marL="742950" indent="-28575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2pPr>
              <a:lvl3pPr marL="11430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3pPr>
              <a:lvl4pPr marL="16002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4pPr>
              <a:lvl5pPr marL="2057400" indent="-228600" eaLnBrk="0" hangingPunct="0">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1700">
                  <a:solidFill>
                    <a:schemeClr val="tx1"/>
                  </a:solidFill>
                  <a:latin typeface="Verdana" panose="020B0604030504040204" pitchFamily="34" charset="0"/>
                  <a:ea typeface="宋体" panose="02010600030101010101" pitchFamily="2" charset="-122"/>
                  <a:sym typeface="Symbol" panose="05050102010706020507" pitchFamily="18" charset="2"/>
                </a:defRPr>
              </a:lvl9pPr>
            </a:lstStyle>
            <a:p>
              <a:pPr eaLnBrk="1" hangingPunct="1">
                <a:defRPr/>
              </a:pPr>
              <a:r>
                <a:rPr lang="en-US" altLang="zh-CN" sz="638" dirty="0"/>
                <a:t>3</a:t>
              </a:r>
              <a:endParaRPr lang="zh-CN" altLang="en-US" sz="638" dirty="0"/>
            </a:p>
          </p:txBody>
        </p:sp>
      </p:grpSp>
      <p:cxnSp>
        <p:nvCxnSpPr>
          <p:cNvPr id="50" name="直接箭头连接符 49"/>
          <p:cNvCxnSpPr/>
          <p:nvPr/>
        </p:nvCxnSpPr>
        <p:spPr>
          <a:xfrm flipV="1">
            <a:off x="4769905" y="2628170"/>
            <a:ext cx="420725" cy="711475"/>
          </a:xfrm>
          <a:prstGeom prst="straightConnector1">
            <a:avLst/>
          </a:prstGeom>
          <a:noFill/>
          <a:ln w="50800" cap="flat">
            <a:solidFill>
              <a:srgbClr val="EC2C06"/>
            </a:solidFill>
            <a:prstDash val="solid"/>
            <a:round/>
            <a:tailEnd type="triangle"/>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51" name="直接箭头连接符 50"/>
          <p:cNvCxnSpPr/>
          <p:nvPr/>
        </p:nvCxnSpPr>
        <p:spPr>
          <a:xfrm flipH="1" flipV="1">
            <a:off x="4769904" y="3355550"/>
            <a:ext cx="447810" cy="577455"/>
          </a:xfrm>
          <a:prstGeom prst="straightConnector1">
            <a:avLst/>
          </a:prstGeom>
          <a:noFill/>
          <a:ln w="50800" cap="flat">
            <a:solidFill>
              <a:srgbClr val="067EEC"/>
            </a:solidFill>
            <a:prstDash val="solid"/>
            <a:round/>
            <a:tailEnd type="triangle"/>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02413"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par>
                          <p:cTn id="14" fill="hold" nodeType="afterGroup">
                            <p:stCondLst>
                              <p:cond delay="500"/>
                            </p:stCondLst>
                            <p:childTnLst>
                              <p:par>
                                <p:cTn id="15" presetID="2" presetClass="entr" presetSubtype="1" fill="hold" nodeType="after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ppt_x"/>
                                          </p:val>
                                        </p:tav>
                                        <p:tav tm="100000">
                                          <p:val>
                                            <p:strVal val="#ppt_x"/>
                                          </p:val>
                                        </p:tav>
                                      </p:tavLst>
                                    </p:anim>
                                    <p:anim calcmode="lin" valueType="num">
                                      <p:cBhvr additive="base">
                                        <p:cTn id="18"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500"/>
                                        <p:tgtEl>
                                          <p:spTgt spid="45"/>
                                        </p:tgtEl>
                                      </p:cBhvr>
                                    </p:animEffect>
                                  </p:childTnLst>
                                </p:cTn>
                              </p:par>
                            </p:childTnLst>
                          </p:cTn>
                        </p:par>
                        <p:par>
                          <p:cTn id="24" fill="hold" nodeType="afterGroup">
                            <p:stCondLst>
                              <p:cond delay="500"/>
                            </p:stCondLst>
                            <p:childTnLst>
                              <p:par>
                                <p:cTn id="25" presetID="2" presetClass="entr" presetSubtype="1" fill="hold" nodeType="after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500" fill="hold"/>
                                        <p:tgtEl>
                                          <p:spTgt spid="30"/>
                                        </p:tgtEl>
                                        <p:attrNameLst>
                                          <p:attrName>ppt_x</p:attrName>
                                        </p:attrNameLst>
                                      </p:cBhvr>
                                      <p:tavLst>
                                        <p:tav tm="0">
                                          <p:val>
                                            <p:strVal val="#ppt_x"/>
                                          </p:val>
                                        </p:tav>
                                        <p:tav tm="100000">
                                          <p:val>
                                            <p:strVal val="#ppt_x"/>
                                          </p:val>
                                        </p:tav>
                                      </p:tavLst>
                                    </p:anim>
                                    <p:anim calcmode="lin" valueType="num">
                                      <p:cBhvr additive="base">
                                        <p:cTn id="28" dur="500" fill="hold"/>
                                        <p:tgtEl>
                                          <p:spTgt spid="30"/>
                                        </p:tgtEl>
                                        <p:attrNameLst>
                                          <p:attrName>ppt_y</p:attrName>
                                        </p:attrNameLst>
                                      </p:cBhvr>
                                      <p:tavLst>
                                        <p:tav tm="0">
                                          <p:val>
                                            <p:strVal val="0-#ppt_h/2"/>
                                          </p:val>
                                        </p:tav>
                                        <p:tav tm="100000">
                                          <p:val>
                                            <p:strVal val="#ppt_y"/>
                                          </p:val>
                                        </p:tav>
                                      </p:tavLst>
                                    </p:anim>
                                  </p:childTnLst>
                                </p:cTn>
                              </p:par>
                            </p:childTnLst>
                          </p:cTn>
                        </p:par>
                        <p:par>
                          <p:cTn id="29" fill="hold" nodeType="afterGroup">
                            <p:stCondLst>
                              <p:cond delay="1000"/>
                            </p:stCondLst>
                            <p:childTnLst>
                              <p:par>
                                <p:cTn id="30" presetID="1" presetClass="entr" presetSubtype="0" fill="hold" nodeType="afterEffect">
                                  <p:stCondLst>
                                    <p:cond delay="0"/>
                                  </p:stCondLst>
                                  <p:childTnLst>
                                    <p:set>
                                      <p:cBhvr>
                                        <p:cTn id="31" dur="1" fill="hold">
                                          <p:stCondLst>
                                            <p:cond delay="0"/>
                                          </p:stCondLst>
                                        </p:cTn>
                                        <p:tgtEl>
                                          <p:spTgt spid="42"/>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fade">
                                      <p:cBhvr>
                                        <p:cTn id="36" dur="500"/>
                                        <p:tgtEl>
                                          <p:spTgt spid="50"/>
                                        </p:tgtEl>
                                      </p:cBhvr>
                                    </p:animEffect>
                                  </p:childTnLst>
                                </p:cTn>
                              </p:par>
                            </p:childTnLst>
                          </p:cTn>
                        </p:par>
                        <p:par>
                          <p:cTn id="37" fill="hold" nodeType="afterGroup">
                            <p:stCondLst>
                              <p:cond delay="500"/>
                            </p:stCondLst>
                            <p:childTnLst>
                              <p:par>
                                <p:cTn id="38" presetID="2" presetClass="entr" presetSubtype="1" fill="hold" nodeType="afterEffect">
                                  <p:stCondLst>
                                    <p:cond delay="0"/>
                                  </p:stCondLst>
                                  <p:childTnLst>
                                    <p:set>
                                      <p:cBhvr>
                                        <p:cTn id="39" dur="1" fill="hold">
                                          <p:stCondLst>
                                            <p:cond delay="0"/>
                                          </p:stCondLst>
                                        </p:cTn>
                                        <p:tgtEl>
                                          <p:spTgt spid="33"/>
                                        </p:tgtEl>
                                        <p:attrNameLst>
                                          <p:attrName>style.visibility</p:attrName>
                                        </p:attrNameLst>
                                      </p:cBhvr>
                                      <p:to>
                                        <p:strVal val="visible"/>
                                      </p:to>
                                    </p:set>
                                    <p:anim calcmode="lin" valueType="num">
                                      <p:cBhvr additive="base">
                                        <p:cTn id="40" dur="500" fill="hold"/>
                                        <p:tgtEl>
                                          <p:spTgt spid="33"/>
                                        </p:tgtEl>
                                        <p:attrNameLst>
                                          <p:attrName>ppt_x</p:attrName>
                                        </p:attrNameLst>
                                      </p:cBhvr>
                                      <p:tavLst>
                                        <p:tav tm="0">
                                          <p:val>
                                            <p:strVal val="#ppt_x"/>
                                          </p:val>
                                        </p:tav>
                                        <p:tav tm="100000">
                                          <p:val>
                                            <p:strVal val="#ppt_x"/>
                                          </p:val>
                                        </p:tav>
                                      </p:tavLst>
                                    </p:anim>
                                    <p:anim calcmode="lin" valueType="num">
                                      <p:cBhvr additive="base">
                                        <p:cTn id="41" dur="500" fill="hold"/>
                                        <p:tgtEl>
                                          <p:spTgt spid="33"/>
                                        </p:tgtEl>
                                        <p:attrNameLst>
                                          <p:attrName>ppt_y</p:attrName>
                                        </p:attrNameLst>
                                      </p:cBhvr>
                                      <p:tavLst>
                                        <p:tav tm="0">
                                          <p:val>
                                            <p:strVal val="0-#ppt_h/2"/>
                                          </p:val>
                                        </p:tav>
                                        <p:tav tm="100000">
                                          <p:val>
                                            <p:strVal val="#ppt_y"/>
                                          </p:val>
                                        </p:tav>
                                      </p:tavLst>
                                    </p:anim>
                                  </p:childTnLst>
                                </p:cTn>
                              </p:par>
                            </p:childTnLst>
                          </p:cTn>
                        </p:par>
                        <p:par>
                          <p:cTn id="42" fill="hold" nodeType="afterGroup">
                            <p:stCondLst>
                              <p:cond delay="1000"/>
                            </p:stCondLst>
                            <p:childTnLst>
                              <p:par>
                                <p:cTn id="43" presetID="1" presetClass="entr" presetSubtype="0" fill="hold" nodeType="after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0" presetClass="entr" presetSubtype="0" fill="hold" nodeType="click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fade">
                                      <p:cBhvr>
                                        <p:cTn id="49" dur="500"/>
                                        <p:tgtEl>
                                          <p:spTgt spid="51"/>
                                        </p:tgtEl>
                                      </p:cBhvr>
                                    </p:animEffect>
                                  </p:childTnLst>
                                </p:cTn>
                              </p:par>
                            </p:childTnLst>
                          </p:cTn>
                        </p:par>
                        <p:par>
                          <p:cTn id="50" fill="hold" nodeType="afterGroup">
                            <p:stCondLst>
                              <p:cond delay="500"/>
                            </p:stCondLst>
                            <p:childTnLst>
                              <p:par>
                                <p:cTn id="51" presetID="2" presetClass="exit" presetSubtype="1" fill="hold" nodeType="afterEffect">
                                  <p:stCondLst>
                                    <p:cond delay="0"/>
                                  </p:stCondLst>
                                  <p:childTnLst>
                                    <p:anim calcmode="lin" valueType="num">
                                      <p:cBhvr additive="base">
                                        <p:cTn id="52" dur="500"/>
                                        <p:tgtEl>
                                          <p:spTgt spid="33"/>
                                        </p:tgtEl>
                                        <p:attrNameLst>
                                          <p:attrName>ppt_x</p:attrName>
                                        </p:attrNameLst>
                                      </p:cBhvr>
                                      <p:tavLst>
                                        <p:tav tm="0">
                                          <p:val>
                                            <p:strVal val="ppt_x"/>
                                          </p:val>
                                        </p:tav>
                                        <p:tav tm="100000">
                                          <p:val>
                                            <p:strVal val="ppt_x"/>
                                          </p:val>
                                        </p:tav>
                                      </p:tavLst>
                                    </p:anim>
                                    <p:anim calcmode="lin" valueType="num">
                                      <p:cBhvr additive="base">
                                        <p:cTn id="53" dur="500"/>
                                        <p:tgtEl>
                                          <p:spTgt spid="33"/>
                                        </p:tgtEl>
                                        <p:attrNameLst>
                                          <p:attrName>ppt_y</p:attrName>
                                        </p:attrNameLst>
                                      </p:cBhvr>
                                      <p:tavLst>
                                        <p:tav tm="0">
                                          <p:val>
                                            <p:strVal val="ppt_y"/>
                                          </p:val>
                                        </p:tav>
                                        <p:tav tm="100000">
                                          <p:val>
                                            <p:strVal val="0-ppt_h/2"/>
                                          </p:val>
                                        </p:tav>
                                      </p:tavLst>
                                    </p:anim>
                                    <p:set>
                                      <p:cBhvr>
                                        <p:cTn id="54" dur="1" fill="hold">
                                          <p:stCondLst>
                                            <p:cond delay="499"/>
                                          </p:stCondLst>
                                        </p:cTn>
                                        <p:tgtEl>
                                          <p:spTgt spid="33"/>
                                        </p:tgtEl>
                                        <p:attrNameLst>
                                          <p:attrName>style.visibility</p:attrName>
                                        </p:attrNameLst>
                                      </p:cBhvr>
                                      <p:to>
                                        <p:strVal val="hidden"/>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0" presetClass="entr" presetSubtype="0" fill="hold" nodeType="click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fade">
                                      <p:cBhvr>
                                        <p:cTn id="59" dur="500"/>
                                        <p:tgtEl>
                                          <p:spTgt spid="46"/>
                                        </p:tgtEl>
                                      </p:cBhvr>
                                    </p:animEffect>
                                  </p:childTnLst>
                                </p:cTn>
                              </p:par>
                            </p:childTnLst>
                          </p:cTn>
                        </p:par>
                        <p:par>
                          <p:cTn id="60" fill="hold" nodeType="afterGroup">
                            <p:stCondLst>
                              <p:cond delay="500"/>
                            </p:stCondLst>
                            <p:childTnLst>
                              <p:par>
                                <p:cTn id="61" presetID="2" presetClass="exit" presetSubtype="1" fill="hold" nodeType="afterEffect">
                                  <p:stCondLst>
                                    <p:cond delay="0"/>
                                  </p:stCondLst>
                                  <p:childTnLst>
                                    <p:anim calcmode="lin" valueType="num">
                                      <p:cBhvr additive="base">
                                        <p:cTn id="62" dur="500"/>
                                        <p:tgtEl>
                                          <p:spTgt spid="30"/>
                                        </p:tgtEl>
                                        <p:attrNameLst>
                                          <p:attrName>ppt_x</p:attrName>
                                        </p:attrNameLst>
                                      </p:cBhvr>
                                      <p:tavLst>
                                        <p:tav tm="0">
                                          <p:val>
                                            <p:strVal val="ppt_x"/>
                                          </p:val>
                                        </p:tav>
                                        <p:tav tm="100000">
                                          <p:val>
                                            <p:strVal val="ppt_x"/>
                                          </p:val>
                                        </p:tav>
                                      </p:tavLst>
                                    </p:anim>
                                    <p:anim calcmode="lin" valueType="num">
                                      <p:cBhvr additive="base">
                                        <p:cTn id="63" dur="500"/>
                                        <p:tgtEl>
                                          <p:spTgt spid="30"/>
                                        </p:tgtEl>
                                        <p:attrNameLst>
                                          <p:attrName>ppt_y</p:attrName>
                                        </p:attrNameLst>
                                      </p:cBhvr>
                                      <p:tavLst>
                                        <p:tav tm="0">
                                          <p:val>
                                            <p:strVal val="ppt_y"/>
                                          </p:val>
                                        </p:tav>
                                        <p:tav tm="100000">
                                          <p:val>
                                            <p:strVal val="0-ppt_h/2"/>
                                          </p:val>
                                        </p:tav>
                                      </p:tavLst>
                                    </p:anim>
                                    <p:set>
                                      <p:cBhvr>
                                        <p:cTn id="64" dur="1" fill="hold">
                                          <p:stCondLst>
                                            <p:cond delay="499"/>
                                          </p:stCondLst>
                                        </p:cTn>
                                        <p:tgtEl>
                                          <p:spTgt spid="30"/>
                                        </p:tgtEl>
                                        <p:attrNameLst>
                                          <p:attrName>style.visibility</p:attrName>
                                        </p:attrNameLst>
                                      </p:cBhvr>
                                      <p:to>
                                        <p:strVal val="hidden"/>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xit" presetSubtype="1" fill="hold" nodeType="clickEffect">
                                  <p:stCondLst>
                                    <p:cond delay="0"/>
                                  </p:stCondLst>
                                  <p:childTnLst>
                                    <p:anim calcmode="lin" valueType="num">
                                      <p:cBhvr additive="base">
                                        <p:cTn id="68" dur="500"/>
                                        <p:tgtEl>
                                          <p:spTgt spid="27"/>
                                        </p:tgtEl>
                                        <p:attrNameLst>
                                          <p:attrName>ppt_x</p:attrName>
                                        </p:attrNameLst>
                                      </p:cBhvr>
                                      <p:tavLst>
                                        <p:tav tm="0">
                                          <p:val>
                                            <p:strVal val="ppt_x"/>
                                          </p:val>
                                        </p:tav>
                                        <p:tav tm="100000">
                                          <p:val>
                                            <p:strVal val="ppt_x"/>
                                          </p:val>
                                        </p:tav>
                                      </p:tavLst>
                                    </p:anim>
                                    <p:anim calcmode="lin" valueType="num">
                                      <p:cBhvr additive="base">
                                        <p:cTn id="69" dur="500"/>
                                        <p:tgtEl>
                                          <p:spTgt spid="27"/>
                                        </p:tgtEl>
                                        <p:attrNameLst>
                                          <p:attrName>ppt_y</p:attrName>
                                        </p:attrNameLst>
                                      </p:cBhvr>
                                      <p:tavLst>
                                        <p:tav tm="0">
                                          <p:val>
                                            <p:strVal val="ppt_y"/>
                                          </p:val>
                                        </p:tav>
                                        <p:tav tm="100000">
                                          <p:val>
                                            <p:strVal val="0-ppt_h/2"/>
                                          </p:val>
                                        </p:tav>
                                      </p:tavLst>
                                    </p:anim>
                                    <p:set>
                                      <p:cBhvr>
                                        <p:cTn id="70"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3" name="内容占位符 2"/>
          <p:cNvSpPr>
            <a:spLocks noGrp="1"/>
          </p:cNvSpPr>
          <p:nvPr>
            <p:ph idx="1"/>
          </p:nvPr>
        </p:nvSpPr>
        <p:spPr>
          <a:xfrm>
            <a:off x="527050" y="1773238"/>
            <a:ext cx="10321925" cy="4351337"/>
          </a:xfrm>
        </p:spPr>
        <p:txBody>
          <a:bodyPr rtlCol="0">
            <a:normAutofit/>
          </a:bodyPr>
          <a:lstStyle/>
          <a:p>
            <a:pPr eaLnBrk="1" fontAlgn="auto" hangingPunct="1">
              <a:spcAft>
                <a:spcPts val="0"/>
              </a:spcAft>
              <a:defRPr/>
            </a:pPr>
            <a:r>
              <a:rPr lang="zh-CN" altLang="en-US" dirty="0" smtClean="0"/>
              <a:t>利用</a:t>
            </a:r>
            <a:r>
              <a:rPr lang="zh-CN" altLang="en-US" dirty="0"/>
              <a:t>栈，栈中每个元素称为工作记录，分成三个部分：</a:t>
            </a:r>
          </a:p>
          <a:p>
            <a:pPr marL="0" indent="0" eaLnBrk="1" fontAlgn="auto" hangingPunct="1">
              <a:spcAft>
                <a:spcPts val="0"/>
              </a:spcAft>
              <a:buFont typeface="Wingdings" panose="05000000000000000000" pitchFamily="2" charset="2"/>
              <a:buNone/>
              <a:defRPr/>
            </a:pPr>
            <a:r>
              <a:rPr lang="zh-CN" altLang="en-US" dirty="0"/>
              <a:t>   返回地址  参数表</a:t>
            </a:r>
            <a:r>
              <a:rPr lang="en-US" altLang="zh-CN" dirty="0"/>
              <a:t>(</a:t>
            </a:r>
            <a:r>
              <a:rPr lang="zh-CN" altLang="en-US" dirty="0"/>
              <a:t>变参和值参</a:t>
            </a:r>
            <a:r>
              <a:rPr lang="en-US" altLang="zh-CN" dirty="0"/>
              <a:t>)   </a:t>
            </a:r>
            <a:r>
              <a:rPr lang="zh-CN" altLang="en-US" dirty="0"/>
              <a:t>局部变量</a:t>
            </a:r>
          </a:p>
          <a:p>
            <a:pPr eaLnBrk="1" fontAlgn="auto" hangingPunct="1">
              <a:spcAft>
                <a:spcPts val="0"/>
              </a:spcAft>
              <a:defRPr/>
            </a:pPr>
            <a:r>
              <a:rPr lang="zh-CN" altLang="en-US" dirty="0" smtClean="0"/>
              <a:t>发生</a:t>
            </a:r>
            <a:r>
              <a:rPr lang="zh-CN" altLang="en-US" dirty="0"/>
              <a:t>调用时，保护现场，将被调用函数的工作记录入栈，</a:t>
            </a:r>
            <a:r>
              <a:rPr lang="zh-CN" altLang="en-US" dirty="0" smtClean="0"/>
              <a:t>然后</a:t>
            </a:r>
          </a:p>
          <a:p>
            <a:pPr marL="0" indent="0" eaLnBrk="1" fontAlgn="auto" hangingPunct="1">
              <a:spcAft>
                <a:spcPts val="0"/>
              </a:spcAft>
              <a:buFont typeface="Wingdings" panose="05000000000000000000" pitchFamily="2" charset="2"/>
              <a:buNone/>
              <a:defRPr/>
            </a:pPr>
            <a:r>
              <a:rPr lang="zh-CN" altLang="en-US" dirty="0" smtClean="0"/>
              <a:t>   转入被调用的函数</a:t>
            </a:r>
          </a:p>
          <a:p>
            <a:pPr eaLnBrk="1" fontAlgn="auto" hangingPunct="1">
              <a:spcAft>
                <a:spcPts val="0"/>
              </a:spcAft>
              <a:defRPr/>
            </a:pPr>
            <a:r>
              <a:rPr lang="zh-CN" altLang="en-US" dirty="0" smtClean="0"/>
              <a:t>一</a:t>
            </a:r>
            <a:r>
              <a:rPr lang="zh-CN" altLang="en-US" dirty="0"/>
              <a:t>个调用结束时，恢复现场，即若栈不空，则退栈，</a:t>
            </a:r>
            <a:r>
              <a:rPr lang="zh-CN" altLang="en-US" dirty="0" smtClean="0"/>
              <a:t>从退出</a:t>
            </a:r>
            <a:r>
              <a:rPr lang="zh-CN" altLang="en-US" dirty="0"/>
              <a:t>的返回地址处继续执行</a:t>
            </a:r>
            <a:r>
              <a:rPr lang="zh-CN" altLang="en-US" dirty="0" smtClean="0"/>
              <a:t>下去。</a:t>
            </a:r>
            <a:endParaRPr lang="zh-CN" altLang="en-US" dirty="0"/>
          </a:p>
          <a:p>
            <a:pPr eaLnBrk="1" fontAlgn="auto" hangingPunct="1">
              <a:spcAft>
                <a:spcPts val="0"/>
              </a:spcAft>
              <a:defRPr/>
            </a:pPr>
            <a:endParaRPr lang="zh-CN" altLang="en-US" dirty="0"/>
          </a:p>
        </p:txBody>
      </p:sp>
    </p:spTree>
  </p:cSld>
  <p:clrMapOvr>
    <a:masterClrMapping/>
  </p:clrMapOvr>
  <p:transition spd="slow"/>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a:xfrm>
            <a:off x="527050" y="333375"/>
            <a:ext cx="10321925" cy="863600"/>
          </a:xfrm>
        </p:spPr>
        <p:txBody>
          <a:bodyPr/>
          <a:lstStyle/>
          <a:p>
            <a:pPr eaLnBrk="1" hangingPunct="1"/>
            <a:r>
              <a:rPr lang="zh-CN" altLang="en-US" smtClean="0"/>
              <a:t>递归时系统工作原理示例</a:t>
            </a:r>
          </a:p>
        </p:txBody>
      </p:sp>
      <p:sp>
        <p:nvSpPr>
          <p:cNvPr id="45" name="Rectangle 25"/>
          <p:cNvSpPr>
            <a:spLocks noGrp="1" noChangeArrowheads="1"/>
          </p:cNvSpPr>
          <p:nvPr>
            <p:ph type="body" idx="4294967295"/>
          </p:nvPr>
        </p:nvSpPr>
        <p:spPr>
          <a:xfrm>
            <a:off x="2139950" y="1905000"/>
            <a:ext cx="4306888" cy="3616325"/>
          </a:xfrm>
        </p:spPr>
        <p:txBody>
          <a:bodyPr rtlCol="0">
            <a:normAutofit/>
          </a:bodyPr>
          <a:lstStyle/>
          <a:p>
            <a:pPr eaLnBrk="1" fontAlgn="auto" hangingPunct="1">
              <a:spcBef>
                <a:spcPts val="450"/>
              </a:spcBef>
              <a:spcAft>
                <a:spcPts val="0"/>
              </a:spcAft>
              <a:buFont typeface="Arial" panose="020B0604020202020204" pitchFamily="34" charset="0"/>
              <a:buNone/>
              <a:defRPr/>
            </a:pPr>
            <a:r>
              <a:rPr lang="en-US" altLang="zh-CN" sz="1350" dirty="0" err="1">
                <a:latin typeface="Times New Roman" panose="02020603050405020304" pitchFamily="18" charset="0"/>
                <a:cs typeface="Times New Roman" panose="02020603050405020304" pitchFamily="18" charset="0"/>
              </a:rPr>
              <a:t>int</a:t>
            </a:r>
            <a:r>
              <a:rPr lang="en-US" altLang="zh-CN" sz="1350" dirty="0">
                <a:latin typeface="Times New Roman" panose="02020603050405020304" pitchFamily="18" charset="0"/>
                <a:cs typeface="Times New Roman" panose="02020603050405020304" pitchFamily="18" charset="0"/>
              </a:rPr>
              <a:t>  </a:t>
            </a:r>
            <a:r>
              <a:rPr lang="en-US" altLang="zh-CN" sz="1350" b="1" dirty="0">
                <a:solidFill>
                  <a:schemeClr val="accent2"/>
                </a:solidFill>
                <a:latin typeface="Times New Roman" panose="02020603050405020304" pitchFamily="18" charset="0"/>
                <a:cs typeface="Times New Roman" panose="02020603050405020304" pitchFamily="18" charset="0"/>
              </a:rPr>
              <a:t>Factorial</a:t>
            </a:r>
            <a:r>
              <a:rPr lang="en-US" altLang="zh-CN" sz="1350" dirty="0">
                <a:latin typeface="Times New Roman" panose="02020603050405020304" pitchFamily="18" charset="0"/>
                <a:cs typeface="Times New Roman" panose="02020603050405020304" pitchFamily="18" charset="0"/>
              </a:rPr>
              <a:t>( </a:t>
            </a:r>
            <a:r>
              <a:rPr lang="en-US" altLang="zh-CN" sz="1350" dirty="0" err="1">
                <a:latin typeface="Times New Roman" panose="02020603050405020304" pitchFamily="18" charset="0"/>
                <a:cs typeface="Times New Roman" panose="02020603050405020304" pitchFamily="18" charset="0"/>
              </a:rPr>
              <a:t>int</a:t>
            </a:r>
            <a:r>
              <a:rPr lang="en-US" altLang="zh-CN" sz="1350" dirty="0">
                <a:latin typeface="Times New Roman" panose="02020603050405020304" pitchFamily="18" charset="0"/>
                <a:cs typeface="Times New Roman" panose="02020603050405020304" pitchFamily="18" charset="0"/>
              </a:rPr>
              <a:t>  n)</a:t>
            </a:r>
          </a:p>
          <a:p>
            <a:pPr eaLnBrk="1" fontAlgn="auto" hangingPunct="1">
              <a:spcBef>
                <a:spcPts val="450"/>
              </a:spcBef>
              <a:spcAft>
                <a:spcPts val="0"/>
              </a:spcAft>
              <a:buFont typeface="Arial" panose="020B0604020202020204" pitchFamily="34" charset="0"/>
              <a:buNone/>
              <a:defRPr/>
            </a:pPr>
            <a:r>
              <a:rPr lang="en-US" altLang="zh-CN" sz="1350" dirty="0">
                <a:latin typeface="Times New Roman" panose="02020603050405020304" pitchFamily="18" charset="0"/>
                <a:cs typeface="Times New Roman" panose="02020603050405020304" pitchFamily="18" charset="0"/>
              </a:rPr>
              <a:t>{           </a:t>
            </a:r>
          </a:p>
          <a:p>
            <a:pPr eaLnBrk="1" fontAlgn="auto" hangingPunct="1">
              <a:spcBef>
                <a:spcPts val="450"/>
              </a:spcBef>
              <a:spcAft>
                <a:spcPts val="0"/>
              </a:spcAft>
              <a:buFont typeface="Arial" panose="020B0604020202020204" pitchFamily="34" charset="0"/>
              <a:buNone/>
              <a:defRPr/>
            </a:pPr>
            <a:r>
              <a:rPr lang="en-US" altLang="zh-CN" sz="1350" dirty="0">
                <a:solidFill>
                  <a:schemeClr val="accent2"/>
                </a:solidFill>
                <a:latin typeface="Times New Roman" panose="02020603050405020304" pitchFamily="18" charset="0"/>
                <a:cs typeface="Times New Roman" panose="02020603050405020304" pitchFamily="18" charset="0"/>
              </a:rPr>
              <a:t>L1:</a:t>
            </a:r>
            <a:r>
              <a:rPr lang="en-US" altLang="zh-CN" sz="1350" dirty="0">
                <a:latin typeface="Times New Roman" panose="02020603050405020304" pitchFamily="18" charset="0"/>
                <a:cs typeface="Times New Roman" panose="02020603050405020304" pitchFamily="18" charset="0"/>
              </a:rPr>
              <a:t>     if ( n==0 )</a:t>
            </a:r>
          </a:p>
          <a:p>
            <a:pPr eaLnBrk="1" fontAlgn="auto" hangingPunct="1">
              <a:spcBef>
                <a:spcPts val="450"/>
              </a:spcBef>
              <a:spcAft>
                <a:spcPts val="0"/>
              </a:spcAft>
              <a:buFont typeface="Arial" panose="020B0604020202020204" pitchFamily="34" charset="0"/>
              <a:buNone/>
              <a:defRPr/>
            </a:pPr>
            <a:r>
              <a:rPr lang="en-US" altLang="zh-CN" sz="1350" dirty="0">
                <a:solidFill>
                  <a:schemeClr val="accent2"/>
                </a:solidFill>
                <a:latin typeface="Times New Roman" panose="02020603050405020304" pitchFamily="18" charset="0"/>
                <a:cs typeface="Times New Roman" panose="02020603050405020304" pitchFamily="18" charset="0"/>
              </a:rPr>
              <a:t>L2:</a:t>
            </a:r>
            <a:r>
              <a:rPr lang="en-US" altLang="zh-CN" sz="1350" dirty="0">
                <a:latin typeface="Times New Roman" panose="02020603050405020304" pitchFamily="18" charset="0"/>
                <a:cs typeface="Times New Roman" panose="02020603050405020304" pitchFamily="18" charset="0"/>
              </a:rPr>
              <a:t>             return  1;</a:t>
            </a:r>
          </a:p>
          <a:p>
            <a:pPr eaLnBrk="1" fontAlgn="auto" hangingPunct="1">
              <a:spcBef>
                <a:spcPts val="450"/>
              </a:spcBef>
              <a:spcAft>
                <a:spcPts val="0"/>
              </a:spcAft>
              <a:buFont typeface="Arial" panose="020B0604020202020204" pitchFamily="34" charset="0"/>
              <a:buNone/>
              <a:defRPr/>
            </a:pPr>
            <a:r>
              <a:rPr lang="en-US" altLang="zh-CN" sz="1350" dirty="0">
                <a:solidFill>
                  <a:schemeClr val="accent2"/>
                </a:solidFill>
                <a:latin typeface="Times New Roman" panose="02020603050405020304" pitchFamily="18" charset="0"/>
                <a:cs typeface="Times New Roman" panose="02020603050405020304" pitchFamily="18" charset="0"/>
              </a:rPr>
              <a:t>L3:</a:t>
            </a:r>
            <a:r>
              <a:rPr lang="en-US" altLang="zh-CN" sz="1350" dirty="0">
                <a:latin typeface="Times New Roman" panose="02020603050405020304" pitchFamily="18" charset="0"/>
                <a:cs typeface="Times New Roman" panose="02020603050405020304" pitchFamily="18" charset="0"/>
              </a:rPr>
              <a:t>     else     return  n*</a:t>
            </a:r>
            <a:r>
              <a:rPr lang="en-US" altLang="zh-CN" sz="1350" dirty="0">
                <a:solidFill>
                  <a:schemeClr val="accent2"/>
                </a:solidFill>
                <a:latin typeface="Times New Roman" panose="02020603050405020304" pitchFamily="18" charset="0"/>
                <a:cs typeface="Times New Roman" panose="02020603050405020304" pitchFamily="18" charset="0"/>
              </a:rPr>
              <a:t>Factorial</a:t>
            </a:r>
            <a:r>
              <a:rPr lang="en-US" altLang="zh-CN" sz="1350" dirty="0">
                <a:latin typeface="Times New Roman" panose="02020603050405020304" pitchFamily="18" charset="0"/>
                <a:cs typeface="Times New Roman" panose="02020603050405020304" pitchFamily="18" charset="0"/>
              </a:rPr>
              <a:t>(n-1);</a:t>
            </a:r>
          </a:p>
          <a:p>
            <a:pPr eaLnBrk="1" fontAlgn="auto" hangingPunct="1">
              <a:spcBef>
                <a:spcPts val="450"/>
              </a:spcBef>
              <a:spcAft>
                <a:spcPts val="0"/>
              </a:spcAft>
              <a:buFont typeface="Arial" panose="020B0604020202020204" pitchFamily="34" charset="0"/>
              <a:buNone/>
              <a:defRPr/>
            </a:pPr>
            <a:r>
              <a:rPr lang="en-US" altLang="zh-CN" sz="1350" dirty="0">
                <a:solidFill>
                  <a:schemeClr val="accent2"/>
                </a:solidFill>
                <a:latin typeface="Times New Roman" panose="02020603050405020304" pitchFamily="18" charset="0"/>
                <a:cs typeface="Times New Roman" panose="02020603050405020304" pitchFamily="18" charset="0"/>
              </a:rPr>
              <a:t>L4:</a:t>
            </a:r>
            <a:r>
              <a:rPr lang="en-US" altLang="zh-CN" sz="1350" dirty="0">
                <a:latin typeface="Times New Roman" panose="02020603050405020304" pitchFamily="18" charset="0"/>
                <a:cs typeface="Times New Roman" panose="02020603050405020304" pitchFamily="18" charset="0"/>
              </a:rPr>
              <a:t>  } //Factorial</a:t>
            </a:r>
          </a:p>
          <a:p>
            <a:pPr eaLnBrk="1" fontAlgn="auto" hangingPunct="1">
              <a:spcBef>
                <a:spcPts val="450"/>
              </a:spcBef>
              <a:spcAft>
                <a:spcPts val="0"/>
              </a:spcAft>
              <a:buFont typeface="Arial" panose="020B0604020202020204" pitchFamily="34" charset="0"/>
              <a:buNone/>
              <a:defRPr/>
            </a:pPr>
            <a:endParaRPr lang="en-US" altLang="zh-CN" sz="1350" dirty="0">
              <a:latin typeface="Times New Roman" panose="02020603050405020304" pitchFamily="18" charset="0"/>
              <a:cs typeface="Times New Roman" panose="02020603050405020304" pitchFamily="18" charset="0"/>
            </a:endParaRPr>
          </a:p>
          <a:p>
            <a:pPr eaLnBrk="1" fontAlgn="auto" hangingPunct="1">
              <a:spcBef>
                <a:spcPts val="450"/>
              </a:spcBef>
              <a:spcAft>
                <a:spcPts val="0"/>
              </a:spcAft>
              <a:buFont typeface="Arial" panose="020B0604020202020204" pitchFamily="34" charset="0"/>
              <a:buNone/>
              <a:defRPr/>
            </a:pPr>
            <a:r>
              <a:rPr lang="en-US" altLang="zh-CN" sz="1350" dirty="0">
                <a:latin typeface="Times New Roman" panose="02020603050405020304" pitchFamily="18" charset="0"/>
                <a:cs typeface="Times New Roman" panose="02020603050405020304" pitchFamily="18" charset="0"/>
              </a:rPr>
              <a:t>void main(void)</a:t>
            </a:r>
          </a:p>
          <a:p>
            <a:pPr eaLnBrk="1" fontAlgn="auto" hangingPunct="1">
              <a:lnSpc>
                <a:spcPct val="80000"/>
              </a:lnSpc>
              <a:spcBef>
                <a:spcPts val="450"/>
              </a:spcBef>
              <a:spcAft>
                <a:spcPts val="0"/>
              </a:spcAft>
              <a:buFont typeface="Arial" panose="020B0604020202020204" pitchFamily="34" charset="0"/>
              <a:buNone/>
              <a:defRPr/>
            </a:pPr>
            <a:r>
              <a:rPr lang="en-US" altLang="zh-CN" sz="1350" dirty="0">
                <a:latin typeface="Times New Roman" panose="02020603050405020304" pitchFamily="18" charset="0"/>
                <a:cs typeface="Times New Roman" panose="02020603050405020304" pitchFamily="18" charset="0"/>
              </a:rPr>
              <a:t>{    </a:t>
            </a:r>
          </a:p>
          <a:p>
            <a:pPr eaLnBrk="1" fontAlgn="auto" hangingPunct="1">
              <a:lnSpc>
                <a:spcPct val="80000"/>
              </a:lnSpc>
              <a:spcBef>
                <a:spcPts val="450"/>
              </a:spcBef>
              <a:spcAft>
                <a:spcPts val="0"/>
              </a:spcAft>
              <a:buFont typeface="Arial" panose="020B0604020202020204" pitchFamily="34" charset="0"/>
              <a:buNone/>
              <a:defRPr/>
            </a:pPr>
            <a:r>
              <a:rPr lang="en-US" altLang="zh-CN" sz="1350" dirty="0">
                <a:latin typeface="Times New Roman" panose="02020603050405020304" pitchFamily="18" charset="0"/>
                <a:cs typeface="Times New Roman" panose="02020603050405020304" pitchFamily="18" charset="0"/>
              </a:rPr>
              <a:t>      ……</a:t>
            </a:r>
          </a:p>
          <a:p>
            <a:pPr eaLnBrk="1" fontAlgn="auto" hangingPunct="1">
              <a:lnSpc>
                <a:spcPct val="80000"/>
              </a:lnSpc>
              <a:spcBef>
                <a:spcPts val="450"/>
              </a:spcBef>
              <a:spcAft>
                <a:spcPts val="0"/>
              </a:spcAft>
              <a:buFont typeface="Arial" panose="020B0604020202020204" pitchFamily="34" charset="0"/>
              <a:buNone/>
              <a:defRPr/>
            </a:pPr>
            <a:r>
              <a:rPr lang="en-US" altLang="zh-CN" sz="1350" dirty="0">
                <a:solidFill>
                  <a:schemeClr val="accent2"/>
                </a:solidFill>
                <a:latin typeface="Times New Roman" panose="02020603050405020304" pitchFamily="18" charset="0"/>
                <a:cs typeface="Times New Roman" panose="02020603050405020304" pitchFamily="18" charset="0"/>
              </a:rPr>
              <a:t>L0:</a:t>
            </a:r>
            <a:r>
              <a:rPr lang="en-US" altLang="zh-CN" sz="1350" dirty="0">
                <a:latin typeface="Times New Roman" panose="02020603050405020304" pitchFamily="18" charset="0"/>
                <a:cs typeface="Times New Roman" panose="02020603050405020304" pitchFamily="18" charset="0"/>
              </a:rPr>
              <a:t>     N=Factorial(3);</a:t>
            </a:r>
          </a:p>
          <a:p>
            <a:pPr eaLnBrk="1" fontAlgn="auto" hangingPunct="1">
              <a:lnSpc>
                <a:spcPct val="80000"/>
              </a:lnSpc>
              <a:spcBef>
                <a:spcPts val="450"/>
              </a:spcBef>
              <a:spcAft>
                <a:spcPts val="0"/>
              </a:spcAft>
              <a:buFont typeface="Arial" panose="020B0604020202020204" pitchFamily="34" charset="0"/>
              <a:buNone/>
              <a:defRPr/>
            </a:pPr>
            <a:r>
              <a:rPr lang="en-US" altLang="zh-CN" sz="1350" dirty="0">
                <a:latin typeface="Times New Roman" panose="02020603050405020304" pitchFamily="18" charset="0"/>
                <a:cs typeface="Times New Roman" panose="02020603050405020304" pitchFamily="18" charset="0"/>
              </a:rPr>
              <a:t>      ……</a:t>
            </a:r>
          </a:p>
          <a:p>
            <a:pPr eaLnBrk="1" fontAlgn="auto" hangingPunct="1">
              <a:lnSpc>
                <a:spcPct val="80000"/>
              </a:lnSpc>
              <a:spcBef>
                <a:spcPts val="450"/>
              </a:spcBef>
              <a:spcAft>
                <a:spcPts val="0"/>
              </a:spcAft>
              <a:buFont typeface="Arial" panose="020B0604020202020204" pitchFamily="34" charset="0"/>
              <a:buNone/>
              <a:defRPr/>
            </a:pPr>
            <a:r>
              <a:rPr lang="en-US" altLang="zh-CN" sz="1350" dirty="0">
                <a:latin typeface="Times New Roman" panose="02020603050405020304" pitchFamily="18" charset="0"/>
                <a:cs typeface="Times New Roman" panose="02020603050405020304" pitchFamily="18" charset="0"/>
              </a:rPr>
              <a:t>} //main</a:t>
            </a:r>
          </a:p>
        </p:txBody>
      </p:sp>
      <p:sp>
        <p:nvSpPr>
          <p:cNvPr id="48" name="Line 28"/>
          <p:cNvSpPr>
            <a:spLocks noChangeShapeType="1"/>
          </p:cNvSpPr>
          <p:nvPr/>
        </p:nvSpPr>
        <p:spPr bwMode="auto">
          <a:xfrm>
            <a:off x="6870700" y="3387725"/>
            <a:ext cx="0" cy="960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050">
              <a:latin typeface="Times New Roman" panose="02020603050405020304" pitchFamily="18" charset="0"/>
              <a:cs typeface="Times New Roman" panose="02020603050405020304" pitchFamily="18" charset="0"/>
            </a:endParaRPr>
          </a:p>
        </p:txBody>
      </p:sp>
      <p:sp>
        <p:nvSpPr>
          <p:cNvPr id="49" name="Line 29"/>
          <p:cNvSpPr>
            <a:spLocks noChangeShapeType="1"/>
          </p:cNvSpPr>
          <p:nvPr/>
        </p:nvSpPr>
        <p:spPr bwMode="auto">
          <a:xfrm flipV="1">
            <a:off x="6870700" y="4325938"/>
            <a:ext cx="20685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050">
              <a:latin typeface="Times New Roman" panose="02020603050405020304" pitchFamily="18" charset="0"/>
              <a:cs typeface="Times New Roman" panose="02020603050405020304" pitchFamily="18" charset="0"/>
            </a:endParaRPr>
          </a:p>
        </p:txBody>
      </p:sp>
      <p:sp>
        <p:nvSpPr>
          <p:cNvPr id="50" name="Line 30"/>
          <p:cNvSpPr>
            <a:spLocks noChangeShapeType="1"/>
          </p:cNvSpPr>
          <p:nvPr/>
        </p:nvSpPr>
        <p:spPr bwMode="auto">
          <a:xfrm flipH="1">
            <a:off x="8924925" y="3387725"/>
            <a:ext cx="0" cy="938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050">
              <a:latin typeface="Times New Roman" panose="02020603050405020304" pitchFamily="18" charset="0"/>
              <a:cs typeface="Times New Roman" panose="02020603050405020304" pitchFamily="18" charset="0"/>
            </a:endParaRPr>
          </a:p>
        </p:txBody>
      </p:sp>
      <p:sp>
        <p:nvSpPr>
          <p:cNvPr id="51" name="Text Box 31"/>
          <p:cNvSpPr txBox="1">
            <a:spLocks noChangeArrowheads="1"/>
          </p:cNvSpPr>
          <p:nvPr/>
        </p:nvSpPr>
        <p:spPr bwMode="auto">
          <a:xfrm>
            <a:off x="6900863" y="3990975"/>
            <a:ext cx="21066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1050" dirty="0">
                <a:cs typeface="Times New Roman" panose="02020603050405020304" pitchFamily="18" charset="0"/>
              </a:rPr>
              <a:t>         L0          3             /            </a:t>
            </a:r>
          </a:p>
        </p:txBody>
      </p:sp>
      <p:sp>
        <p:nvSpPr>
          <p:cNvPr id="52" name="Text Box 32"/>
          <p:cNvSpPr txBox="1">
            <a:spLocks noChangeArrowheads="1"/>
          </p:cNvSpPr>
          <p:nvPr/>
        </p:nvSpPr>
        <p:spPr bwMode="auto">
          <a:xfrm>
            <a:off x="6900863" y="3802063"/>
            <a:ext cx="202406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1050" dirty="0">
                <a:cs typeface="Times New Roman" panose="02020603050405020304" pitchFamily="18" charset="0"/>
              </a:rPr>
              <a:t>         L3          2             /</a:t>
            </a:r>
          </a:p>
        </p:txBody>
      </p:sp>
      <p:sp>
        <p:nvSpPr>
          <p:cNvPr id="53" name="Text Box 33"/>
          <p:cNvSpPr txBox="1">
            <a:spLocks noChangeArrowheads="1"/>
          </p:cNvSpPr>
          <p:nvPr/>
        </p:nvSpPr>
        <p:spPr bwMode="auto">
          <a:xfrm>
            <a:off x="6900863" y="3633788"/>
            <a:ext cx="15700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1050" dirty="0">
                <a:cs typeface="Times New Roman" panose="02020603050405020304" pitchFamily="18" charset="0"/>
              </a:rPr>
              <a:t>         L3          1             /</a:t>
            </a:r>
          </a:p>
        </p:txBody>
      </p:sp>
      <p:sp>
        <p:nvSpPr>
          <p:cNvPr id="54" name="Text Box 34"/>
          <p:cNvSpPr txBox="1">
            <a:spLocks noChangeArrowheads="1"/>
          </p:cNvSpPr>
          <p:nvPr/>
        </p:nvSpPr>
        <p:spPr bwMode="auto">
          <a:xfrm>
            <a:off x="6900863" y="3459163"/>
            <a:ext cx="15128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1050" dirty="0">
                <a:cs typeface="Times New Roman" panose="02020603050405020304" pitchFamily="18" charset="0"/>
              </a:rPr>
              <a:t>         L3          0             /</a:t>
            </a:r>
          </a:p>
        </p:txBody>
      </p:sp>
      <p:sp>
        <p:nvSpPr>
          <p:cNvPr id="55" name="Text Box 35"/>
          <p:cNvSpPr txBox="1">
            <a:spLocks noChangeArrowheads="1"/>
          </p:cNvSpPr>
          <p:nvPr/>
        </p:nvSpPr>
        <p:spPr bwMode="auto">
          <a:xfrm>
            <a:off x="8169275" y="3621088"/>
            <a:ext cx="123825" cy="254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1050" dirty="0">
                <a:cs typeface="Times New Roman" panose="02020603050405020304" pitchFamily="18" charset="0"/>
              </a:rPr>
              <a:t>1</a:t>
            </a:r>
          </a:p>
        </p:txBody>
      </p:sp>
      <p:sp>
        <p:nvSpPr>
          <p:cNvPr id="57" name="Text Box 37"/>
          <p:cNvSpPr txBox="1">
            <a:spLocks noChangeArrowheads="1"/>
          </p:cNvSpPr>
          <p:nvPr/>
        </p:nvSpPr>
        <p:spPr bwMode="auto">
          <a:xfrm>
            <a:off x="8167688" y="3816350"/>
            <a:ext cx="171450" cy="254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1050" dirty="0">
                <a:cs typeface="Times New Roman" panose="02020603050405020304" pitchFamily="18" charset="0"/>
              </a:rPr>
              <a:t>1</a:t>
            </a:r>
          </a:p>
        </p:txBody>
      </p:sp>
      <p:sp>
        <p:nvSpPr>
          <p:cNvPr id="59" name="Text Box 39"/>
          <p:cNvSpPr txBox="1">
            <a:spLocks noChangeArrowheads="1"/>
          </p:cNvSpPr>
          <p:nvPr/>
        </p:nvSpPr>
        <p:spPr bwMode="auto">
          <a:xfrm>
            <a:off x="8167688" y="3990975"/>
            <a:ext cx="200025" cy="254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1050" dirty="0">
                <a:cs typeface="Times New Roman" panose="02020603050405020304" pitchFamily="18" charset="0"/>
              </a:rPr>
              <a:t>2</a:t>
            </a:r>
          </a:p>
        </p:txBody>
      </p:sp>
      <p:sp>
        <p:nvSpPr>
          <p:cNvPr id="3" name="矩形 2"/>
          <p:cNvSpPr/>
          <p:nvPr/>
        </p:nvSpPr>
        <p:spPr>
          <a:xfrm>
            <a:off x="7032625" y="4413250"/>
            <a:ext cx="2105025" cy="220663"/>
          </a:xfrm>
          <a:prstGeom prst="rect">
            <a:avLst/>
          </a:prstGeom>
        </p:spPr>
        <p:txBody>
          <a:bodyPr>
            <a:spAutoFit/>
          </a:bodyPr>
          <a:lstStyle/>
          <a:p>
            <a:pPr hangingPunct="1">
              <a:lnSpc>
                <a:spcPct val="80000"/>
              </a:lnSpc>
              <a:defRPr/>
            </a:pPr>
            <a:r>
              <a:rPr lang="zh-CN" altLang="en-US" sz="1050" dirty="0">
                <a:solidFill>
                  <a:schemeClr val="accent2"/>
                </a:solidFill>
                <a:latin typeface="Times New Roman" panose="02020603050405020304" pitchFamily="18" charset="0"/>
                <a:cs typeface="Times New Roman" panose="02020603050405020304" pitchFamily="18" charset="0"/>
              </a:rPr>
              <a:t>返回地址  </a:t>
            </a:r>
            <a:r>
              <a:rPr lang="en-US" altLang="zh-CN" sz="1050" dirty="0">
                <a:solidFill>
                  <a:schemeClr val="accent2"/>
                </a:solidFill>
                <a:latin typeface="Times New Roman" panose="02020603050405020304" pitchFamily="18" charset="0"/>
                <a:cs typeface="Times New Roman" panose="02020603050405020304" pitchFamily="18" charset="0"/>
              </a:rPr>
              <a:t>n    Factorial  </a:t>
            </a:r>
            <a:r>
              <a:rPr lang="en-US" altLang="zh-CN" sz="1050" dirty="0">
                <a:solidFill>
                  <a:schemeClr val="accent1"/>
                </a:solidFill>
                <a:latin typeface="Times New Roman" panose="02020603050405020304" pitchFamily="18" charset="0"/>
                <a:cs typeface="Times New Roman" panose="02020603050405020304" pitchFamily="18" charset="0"/>
              </a:rPr>
              <a:t>N</a:t>
            </a:r>
            <a:endParaRPr lang="en-US" altLang="zh-CN" sz="1050" dirty="0">
              <a:latin typeface="Times New Roman" panose="02020603050405020304" pitchFamily="18" charset="0"/>
              <a:cs typeface="Times New Roman" panose="02020603050405020304" pitchFamily="18" charset="0"/>
            </a:endParaRPr>
          </a:p>
        </p:txBody>
      </p:sp>
      <p:sp>
        <p:nvSpPr>
          <p:cNvPr id="23" name="Text Box 31"/>
          <p:cNvSpPr txBox="1">
            <a:spLocks noChangeArrowheads="1"/>
          </p:cNvSpPr>
          <p:nvPr/>
        </p:nvSpPr>
        <p:spPr bwMode="auto">
          <a:xfrm>
            <a:off x="6884988" y="4151313"/>
            <a:ext cx="21082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1050" dirty="0">
                <a:cs typeface="Times New Roman" panose="02020603050405020304" pitchFamily="18" charset="0"/>
              </a:rPr>
              <a:t>         …           /              /            /</a:t>
            </a:r>
          </a:p>
        </p:txBody>
      </p:sp>
      <p:sp>
        <p:nvSpPr>
          <p:cNvPr id="24" name="Text Box 41"/>
          <p:cNvSpPr txBox="1">
            <a:spLocks noChangeArrowheads="1"/>
          </p:cNvSpPr>
          <p:nvPr/>
        </p:nvSpPr>
        <p:spPr bwMode="auto">
          <a:xfrm>
            <a:off x="8596313" y="4116388"/>
            <a:ext cx="171450" cy="254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1050" dirty="0">
                <a:cs typeface="Times New Roman" panose="02020603050405020304" pitchFamily="18" charset="0"/>
              </a:rPr>
              <a:t>6</a:t>
            </a:r>
          </a:p>
        </p:txBody>
      </p:sp>
      <p:sp>
        <p:nvSpPr>
          <p:cNvPr id="61" name="Text Box 41"/>
          <p:cNvSpPr txBox="1">
            <a:spLocks noChangeArrowheads="1"/>
          </p:cNvSpPr>
          <p:nvPr/>
        </p:nvSpPr>
        <p:spPr bwMode="auto">
          <a:xfrm>
            <a:off x="8164513" y="4124325"/>
            <a:ext cx="171450" cy="254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1050" dirty="0">
                <a:cs typeface="Times New Roman" panose="02020603050405020304" pitchFamily="18" charset="0"/>
              </a:rPr>
              <a:t>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 calcmode="lin" valueType="num">
                                      <p:cBhvr additive="base">
                                        <p:cTn id="7"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51">
                                            <p:txEl>
                                              <p:pRg st="0" end="0"/>
                                            </p:txEl>
                                          </p:spTgt>
                                        </p:tgtEl>
                                        <p:attrNameLst>
                                          <p:attrName>style.visibility</p:attrName>
                                        </p:attrNameLst>
                                      </p:cBhvr>
                                      <p:to>
                                        <p:strVal val="visible"/>
                                      </p:to>
                                    </p:set>
                                    <p:anim calcmode="lin" valueType="num">
                                      <p:cBhvr additive="base">
                                        <p:cTn id="13"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52">
                                            <p:txEl>
                                              <p:pRg st="0" end="0"/>
                                            </p:txEl>
                                          </p:spTgt>
                                        </p:tgtEl>
                                        <p:attrNameLst>
                                          <p:attrName>style.visibility</p:attrName>
                                        </p:attrNameLst>
                                      </p:cBhvr>
                                      <p:to>
                                        <p:strVal val="visible"/>
                                      </p:to>
                                    </p:set>
                                    <p:anim calcmode="lin" valueType="num">
                                      <p:cBhvr additive="base">
                                        <p:cTn id="19"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53">
                                            <p:txEl>
                                              <p:pRg st="0" end="0"/>
                                            </p:txEl>
                                          </p:spTgt>
                                        </p:tgtEl>
                                        <p:attrNameLst>
                                          <p:attrName>style.visibility</p:attrName>
                                        </p:attrNameLst>
                                      </p:cBhvr>
                                      <p:to>
                                        <p:strVal val="visible"/>
                                      </p:to>
                                    </p:set>
                                    <p:anim calcmode="lin" valueType="num">
                                      <p:cBhvr additive="base">
                                        <p:cTn id="25"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54">
                                            <p:txEl>
                                              <p:pRg st="0" end="0"/>
                                            </p:txEl>
                                          </p:spTgt>
                                        </p:tgtEl>
                                        <p:attrNameLst>
                                          <p:attrName>style.visibility</p:attrName>
                                        </p:attrNameLst>
                                      </p:cBhvr>
                                      <p:to>
                                        <p:strVal val="visible"/>
                                      </p:to>
                                    </p:set>
                                    <p:anim calcmode="lin" valueType="num">
                                      <p:cBhvr additive="base">
                                        <p:cTn id="31"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xit" presetSubtype="1" fill="hold" grpId="1" nodeType="clickEffect">
                                  <p:stCondLst>
                                    <p:cond delay="0"/>
                                  </p:stCondLst>
                                  <p:childTnLst>
                                    <p:anim calcmode="lin" valueType="num">
                                      <p:cBhvr additive="base">
                                        <p:cTn id="36" dur="500"/>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37" dur="500"/>
                                        <p:tgtEl>
                                          <p:spTgt spid="54">
                                            <p:txEl>
                                              <p:pRg st="0" end="0"/>
                                            </p:txEl>
                                          </p:spTgt>
                                        </p:tgtEl>
                                        <p:attrNameLst>
                                          <p:attrName>ppt_y</p:attrName>
                                        </p:attrNameLst>
                                      </p:cBhvr>
                                      <p:tavLst>
                                        <p:tav tm="0">
                                          <p:val>
                                            <p:strVal val="ppt_y"/>
                                          </p:val>
                                        </p:tav>
                                        <p:tav tm="100000">
                                          <p:val>
                                            <p:strVal val="0-ppt_h/2"/>
                                          </p:val>
                                        </p:tav>
                                      </p:tavLst>
                                    </p:anim>
                                    <p:set>
                                      <p:cBhvr>
                                        <p:cTn id="38" dur="1" fill="hold">
                                          <p:stCondLst>
                                            <p:cond delay="499"/>
                                          </p:stCondLst>
                                        </p:cTn>
                                        <p:tgtEl>
                                          <p:spTgt spid="54">
                                            <p:txEl>
                                              <p:pRg st="0" end="0"/>
                                            </p:txEl>
                                          </p:spTgt>
                                        </p:tgtEl>
                                        <p:attrNameLst>
                                          <p:attrName>style.visibility</p:attrName>
                                        </p:attrNameLst>
                                      </p:cBhvr>
                                      <p:to>
                                        <p:strVal val="hidden"/>
                                      </p:to>
                                    </p:set>
                                  </p:childTnLst>
                                </p:cTn>
                              </p:par>
                            </p:childTnLst>
                          </p:cTn>
                        </p:par>
                        <p:par>
                          <p:cTn id="39" fill="hold" nodeType="afterGroup">
                            <p:stCondLst>
                              <p:cond delay="500"/>
                            </p:stCondLst>
                            <p:childTnLst>
                              <p:par>
                                <p:cTn id="40" presetID="2" presetClass="entr" presetSubtype="8" fill="hold" grpId="0" nodeType="afterEffect">
                                  <p:stCondLst>
                                    <p:cond delay="0"/>
                                  </p:stCondLst>
                                  <p:childTnLst>
                                    <p:set>
                                      <p:cBhvr>
                                        <p:cTn id="41" dur="1" fill="hold">
                                          <p:stCondLst>
                                            <p:cond delay="0"/>
                                          </p:stCondLst>
                                        </p:cTn>
                                        <p:tgtEl>
                                          <p:spTgt spid="55"/>
                                        </p:tgtEl>
                                        <p:attrNameLst>
                                          <p:attrName>style.visibility</p:attrName>
                                        </p:attrNameLst>
                                      </p:cBhvr>
                                      <p:to>
                                        <p:strVal val="visible"/>
                                      </p:to>
                                    </p:set>
                                    <p:anim calcmode="lin" valueType="num">
                                      <p:cBhvr additive="base">
                                        <p:cTn id="42" dur="500" fill="hold"/>
                                        <p:tgtEl>
                                          <p:spTgt spid="55"/>
                                        </p:tgtEl>
                                        <p:attrNameLst>
                                          <p:attrName>ppt_x</p:attrName>
                                        </p:attrNameLst>
                                      </p:cBhvr>
                                      <p:tavLst>
                                        <p:tav tm="0">
                                          <p:val>
                                            <p:strVal val="0-#ppt_w/2"/>
                                          </p:val>
                                        </p:tav>
                                        <p:tav tm="100000">
                                          <p:val>
                                            <p:strVal val="#ppt_x"/>
                                          </p:val>
                                        </p:tav>
                                      </p:tavLst>
                                    </p:anim>
                                    <p:anim calcmode="lin" valueType="num">
                                      <p:cBhvr additive="base">
                                        <p:cTn id="43"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xit" presetSubtype="1" fill="hold" grpId="1" nodeType="clickEffect">
                                  <p:stCondLst>
                                    <p:cond delay="0"/>
                                  </p:stCondLst>
                                  <p:childTnLst>
                                    <p:anim calcmode="lin" valueType="num">
                                      <p:cBhvr additive="base">
                                        <p:cTn id="47" dur="500"/>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48" dur="500"/>
                                        <p:tgtEl>
                                          <p:spTgt spid="53">
                                            <p:txEl>
                                              <p:pRg st="0" end="0"/>
                                            </p:txEl>
                                          </p:spTgt>
                                        </p:tgtEl>
                                        <p:attrNameLst>
                                          <p:attrName>ppt_y</p:attrName>
                                        </p:attrNameLst>
                                      </p:cBhvr>
                                      <p:tavLst>
                                        <p:tav tm="0">
                                          <p:val>
                                            <p:strVal val="ppt_y"/>
                                          </p:val>
                                        </p:tav>
                                        <p:tav tm="100000">
                                          <p:val>
                                            <p:strVal val="0-ppt_h/2"/>
                                          </p:val>
                                        </p:tav>
                                      </p:tavLst>
                                    </p:anim>
                                    <p:set>
                                      <p:cBhvr>
                                        <p:cTn id="49" dur="1" fill="hold">
                                          <p:stCondLst>
                                            <p:cond delay="499"/>
                                          </p:stCondLst>
                                        </p:cTn>
                                        <p:tgtEl>
                                          <p:spTgt spid="53">
                                            <p:txEl>
                                              <p:pRg st="0" end="0"/>
                                            </p:txEl>
                                          </p:spTgt>
                                        </p:tgtEl>
                                        <p:attrNameLst>
                                          <p:attrName>style.visibility</p:attrName>
                                        </p:attrNameLst>
                                      </p:cBhvr>
                                      <p:to>
                                        <p:strVal val="hidden"/>
                                      </p:to>
                                    </p:set>
                                  </p:childTnLst>
                                </p:cTn>
                              </p:par>
                              <p:par>
                                <p:cTn id="50" presetID="2" presetClass="exit" presetSubtype="1" fill="hold" grpId="1" nodeType="withEffect">
                                  <p:stCondLst>
                                    <p:cond delay="0"/>
                                  </p:stCondLst>
                                  <p:childTnLst>
                                    <p:anim calcmode="lin" valueType="num">
                                      <p:cBhvr additive="base">
                                        <p:cTn id="51" dur="500"/>
                                        <p:tgtEl>
                                          <p:spTgt spid="55"/>
                                        </p:tgtEl>
                                        <p:attrNameLst>
                                          <p:attrName>ppt_x</p:attrName>
                                        </p:attrNameLst>
                                      </p:cBhvr>
                                      <p:tavLst>
                                        <p:tav tm="0">
                                          <p:val>
                                            <p:strVal val="ppt_x"/>
                                          </p:val>
                                        </p:tav>
                                        <p:tav tm="100000">
                                          <p:val>
                                            <p:strVal val="ppt_x"/>
                                          </p:val>
                                        </p:tav>
                                      </p:tavLst>
                                    </p:anim>
                                    <p:anim calcmode="lin" valueType="num">
                                      <p:cBhvr additive="base">
                                        <p:cTn id="52" dur="500"/>
                                        <p:tgtEl>
                                          <p:spTgt spid="55"/>
                                        </p:tgtEl>
                                        <p:attrNameLst>
                                          <p:attrName>ppt_y</p:attrName>
                                        </p:attrNameLst>
                                      </p:cBhvr>
                                      <p:tavLst>
                                        <p:tav tm="0">
                                          <p:val>
                                            <p:strVal val="ppt_y"/>
                                          </p:val>
                                        </p:tav>
                                        <p:tav tm="100000">
                                          <p:val>
                                            <p:strVal val="0-ppt_h/2"/>
                                          </p:val>
                                        </p:tav>
                                      </p:tavLst>
                                    </p:anim>
                                    <p:set>
                                      <p:cBhvr>
                                        <p:cTn id="53" dur="1" fill="hold">
                                          <p:stCondLst>
                                            <p:cond delay="499"/>
                                          </p:stCondLst>
                                        </p:cTn>
                                        <p:tgtEl>
                                          <p:spTgt spid="55"/>
                                        </p:tgtEl>
                                        <p:attrNameLst>
                                          <p:attrName>style.visibility</p:attrName>
                                        </p:attrNameLst>
                                      </p:cBhvr>
                                      <p:to>
                                        <p:strVal val="hidden"/>
                                      </p:to>
                                    </p:set>
                                  </p:childTnLst>
                                </p:cTn>
                              </p:par>
                            </p:childTnLst>
                          </p:cTn>
                        </p:par>
                        <p:par>
                          <p:cTn id="54" fill="hold" nodeType="afterGroup">
                            <p:stCondLst>
                              <p:cond delay="500"/>
                            </p:stCondLst>
                            <p:childTnLst>
                              <p:par>
                                <p:cTn id="55" presetID="2" presetClass="entr" presetSubtype="8" fill="hold" grpId="0" nodeType="afterEffect">
                                  <p:stCondLst>
                                    <p:cond delay="0"/>
                                  </p:stCondLst>
                                  <p:childTnLst>
                                    <p:set>
                                      <p:cBhvr>
                                        <p:cTn id="56" dur="1" fill="hold">
                                          <p:stCondLst>
                                            <p:cond delay="0"/>
                                          </p:stCondLst>
                                        </p:cTn>
                                        <p:tgtEl>
                                          <p:spTgt spid="57"/>
                                        </p:tgtEl>
                                        <p:attrNameLst>
                                          <p:attrName>style.visibility</p:attrName>
                                        </p:attrNameLst>
                                      </p:cBhvr>
                                      <p:to>
                                        <p:strVal val="visible"/>
                                      </p:to>
                                    </p:set>
                                    <p:anim calcmode="lin" valueType="num">
                                      <p:cBhvr additive="base">
                                        <p:cTn id="57" dur="500" fill="hold"/>
                                        <p:tgtEl>
                                          <p:spTgt spid="57"/>
                                        </p:tgtEl>
                                        <p:attrNameLst>
                                          <p:attrName>ppt_x</p:attrName>
                                        </p:attrNameLst>
                                      </p:cBhvr>
                                      <p:tavLst>
                                        <p:tav tm="0">
                                          <p:val>
                                            <p:strVal val="0-#ppt_w/2"/>
                                          </p:val>
                                        </p:tav>
                                        <p:tav tm="100000">
                                          <p:val>
                                            <p:strVal val="#ppt_x"/>
                                          </p:val>
                                        </p:tav>
                                      </p:tavLst>
                                    </p:anim>
                                    <p:anim calcmode="lin" valueType="num">
                                      <p:cBhvr additive="base">
                                        <p:cTn id="58"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xit" presetSubtype="1" fill="hold" grpId="1" nodeType="clickEffect">
                                  <p:stCondLst>
                                    <p:cond delay="0"/>
                                  </p:stCondLst>
                                  <p:childTnLst>
                                    <p:anim calcmode="lin" valueType="num">
                                      <p:cBhvr additive="base">
                                        <p:cTn id="62" dur="500"/>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63" dur="500"/>
                                        <p:tgtEl>
                                          <p:spTgt spid="52">
                                            <p:txEl>
                                              <p:pRg st="0" end="0"/>
                                            </p:txEl>
                                          </p:spTgt>
                                        </p:tgtEl>
                                        <p:attrNameLst>
                                          <p:attrName>ppt_y</p:attrName>
                                        </p:attrNameLst>
                                      </p:cBhvr>
                                      <p:tavLst>
                                        <p:tav tm="0">
                                          <p:val>
                                            <p:strVal val="ppt_y"/>
                                          </p:val>
                                        </p:tav>
                                        <p:tav tm="100000">
                                          <p:val>
                                            <p:strVal val="0-ppt_h/2"/>
                                          </p:val>
                                        </p:tav>
                                      </p:tavLst>
                                    </p:anim>
                                    <p:set>
                                      <p:cBhvr>
                                        <p:cTn id="64" dur="1" fill="hold">
                                          <p:stCondLst>
                                            <p:cond delay="499"/>
                                          </p:stCondLst>
                                        </p:cTn>
                                        <p:tgtEl>
                                          <p:spTgt spid="52">
                                            <p:txEl>
                                              <p:pRg st="0" end="0"/>
                                            </p:txEl>
                                          </p:spTgt>
                                        </p:tgtEl>
                                        <p:attrNameLst>
                                          <p:attrName>style.visibility</p:attrName>
                                        </p:attrNameLst>
                                      </p:cBhvr>
                                      <p:to>
                                        <p:strVal val="hidden"/>
                                      </p:to>
                                    </p:set>
                                  </p:childTnLst>
                                </p:cTn>
                              </p:par>
                              <p:par>
                                <p:cTn id="65" presetID="2" presetClass="exit" presetSubtype="1" fill="hold" grpId="1" nodeType="withEffect">
                                  <p:stCondLst>
                                    <p:cond delay="0"/>
                                  </p:stCondLst>
                                  <p:childTnLst>
                                    <p:anim calcmode="lin" valueType="num">
                                      <p:cBhvr additive="base">
                                        <p:cTn id="66" dur="500"/>
                                        <p:tgtEl>
                                          <p:spTgt spid="57"/>
                                        </p:tgtEl>
                                        <p:attrNameLst>
                                          <p:attrName>ppt_x</p:attrName>
                                        </p:attrNameLst>
                                      </p:cBhvr>
                                      <p:tavLst>
                                        <p:tav tm="0">
                                          <p:val>
                                            <p:strVal val="ppt_x"/>
                                          </p:val>
                                        </p:tav>
                                        <p:tav tm="100000">
                                          <p:val>
                                            <p:strVal val="ppt_x"/>
                                          </p:val>
                                        </p:tav>
                                      </p:tavLst>
                                    </p:anim>
                                    <p:anim calcmode="lin" valueType="num">
                                      <p:cBhvr additive="base">
                                        <p:cTn id="67" dur="500"/>
                                        <p:tgtEl>
                                          <p:spTgt spid="57"/>
                                        </p:tgtEl>
                                        <p:attrNameLst>
                                          <p:attrName>ppt_y</p:attrName>
                                        </p:attrNameLst>
                                      </p:cBhvr>
                                      <p:tavLst>
                                        <p:tav tm="0">
                                          <p:val>
                                            <p:strVal val="ppt_y"/>
                                          </p:val>
                                        </p:tav>
                                        <p:tav tm="100000">
                                          <p:val>
                                            <p:strVal val="0-ppt_h/2"/>
                                          </p:val>
                                        </p:tav>
                                      </p:tavLst>
                                    </p:anim>
                                    <p:set>
                                      <p:cBhvr>
                                        <p:cTn id="68" dur="1" fill="hold">
                                          <p:stCondLst>
                                            <p:cond delay="499"/>
                                          </p:stCondLst>
                                        </p:cTn>
                                        <p:tgtEl>
                                          <p:spTgt spid="57"/>
                                        </p:tgtEl>
                                        <p:attrNameLst>
                                          <p:attrName>style.visibility</p:attrName>
                                        </p:attrNameLst>
                                      </p:cBhvr>
                                      <p:to>
                                        <p:strVal val="hidden"/>
                                      </p:to>
                                    </p:set>
                                  </p:childTnLst>
                                </p:cTn>
                              </p:par>
                            </p:childTnLst>
                          </p:cTn>
                        </p:par>
                        <p:par>
                          <p:cTn id="69" fill="hold" nodeType="afterGroup">
                            <p:stCondLst>
                              <p:cond delay="500"/>
                            </p:stCondLst>
                            <p:childTnLst>
                              <p:par>
                                <p:cTn id="70" presetID="2" presetClass="entr" presetSubtype="8" fill="hold" grpId="0" nodeType="afterEffect">
                                  <p:stCondLst>
                                    <p:cond delay="0"/>
                                  </p:stCondLst>
                                  <p:childTnLst>
                                    <p:set>
                                      <p:cBhvr>
                                        <p:cTn id="71" dur="1" fill="hold">
                                          <p:stCondLst>
                                            <p:cond delay="0"/>
                                          </p:stCondLst>
                                        </p:cTn>
                                        <p:tgtEl>
                                          <p:spTgt spid="59"/>
                                        </p:tgtEl>
                                        <p:attrNameLst>
                                          <p:attrName>style.visibility</p:attrName>
                                        </p:attrNameLst>
                                      </p:cBhvr>
                                      <p:to>
                                        <p:strVal val="visible"/>
                                      </p:to>
                                    </p:set>
                                    <p:anim calcmode="lin" valueType="num">
                                      <p:cBhvr additive="base">
                                        <p:cTn id="72" dur="500" fill="hold"/>
                                        <p:tgtEl>
                                          <p:spTgt spid="59"/>
                                        </p:tgtEl>
                                        <p:attrNameLst>
                                          <p:attrName>ppt_x</p:attrName>
                                        </p:attrNameLst>
                                      </p:cBhvr>
                                      <p:tavLst>
                                        <p:tav tm="0">
                                          <p:val>
                                            <p:strVal val="0-#ppt_w/2"/>
                                          </p:val>
                                        </p:tav>
                                        <p:tav tm="100000">
                                          <p:val>
                                            <p:strVal val="#ppt_x"/>
                                          </p:val>
                                        </p:tav>
                                      </p:tavLst>
                                    </p:anim>
                                    <p:anim calcmode="lin" valueType="num">
                                      <p:cBhvr additive="base">
                                        <p:cTn id="73" dur="5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xit" presetSubtype="1" fill="hold" grpId="1" nodeType="clickEffect">
                                  <p:stCondLst>
                                    <p:cond delay="0"/>
                                  </p:stCondLst>
                                  <p:childTnLst>
                                    <p:anim calcmode="lin" valueType="num">
                                      <p:cBhvr additive="base">
                                        <p:cTn id="77" dur="500"/>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78" dur="500"/>
                                        <p:tgtEl>
                                          <p:spTgt spid="51">
                                            <p:txEl>
                                              <p:pRg st="0" end="0"/>
                                            </p:txEl>
                                          </p:spTgt>
                                        </p:tgtEl>
                                        <p:attrNameLst>
                                          <p:attrName>ppt_y</p:attrName>
                                        </p:attrNameLst>
                                      </p:cBhvr>
                                      <p:tavLst>
                                        <p:tav tm="0">
                                          <p:val>
                                            <p:strVal val="ppt_y"/>
                                          </p:val>
                                        </p:tav>
                                        <p:tav tm="100000">
                                          <p:val>
                                            <p:strVal val="0-ppt_h/2"/>
                                          </p:val>
                                        </p:tav>
                                      </p:tavLst>
                                    </p:anim>
                                    <p:set>
                                      <p:cBhvr>
                                        <p:cTn id="79" dur="1" fill="hold">
                                          <p:stCondLst>
                                            <p:cond delay="499"/>
                                          </p:stCondLst>
                                        </p:cTn>
                                        <p:tgtEl>
                                          <p:spTgt spid="51">
                                            <p:txEl>
                                              <p:pRg st="0" end="0"/>
                                            </p:txEl>
                                          </p:spTgt>
                                        </p:tgtEl>
                                        <p:attrNameLst>
                                          <p:attrName>style.visibility</p:attrName>
                                        </p:attrNameLst>
                                      </p:cBhvr>
                                      <p:to>
                                        <p:strVal val="hidden"/>
                                      </p:to>
                                    </p:set>
                                  </p:childTnLst>
                                </p:cTn>
                              </p:par>
                              <p:par>
                                <p:cTn id="80" presetID="2" presetClass="exit" presetSubtype="1" fill="hold" grpId="1" nodeType="withEffect">
                                  <p:stCondLst>
                                    <p:cond delay="0"/>
                                  </p:stCondLst>
                                  <p:childTnLst>
                                    <p:anim calcmode="lin" valueType="num">
                                      <p:cBhvr additive="base">
                                        <p:cTn id="81" dur="500"/>
                                        <p:tgtEl>
                                          <p:spTgt spid="59"/>
                                        </p:tgtEl>
                                        <p:attrNameLst>
                                          <p:attrName>ppt_x</p:attrName>
                                        </p:attrNameLst>
                                      </p:cBhvr>
                                      <p:tavLst>
                                        <p:tav tm="0">
                                          <p:val>
                                            <p:strVal val="ppt_x"/>
                                          </p:val>
                                        </p:tav>
                                        <p:tav tm="100000">
                                          <p:val>
                                            <p:strVal val="ppt_x"/>
                                          </p:val>
                                        </p:tav>
                                      </p:tavLst>
                                    </p:anim>
                                    <p:anim calcmode="lin" valueType="num">
                                      <p:cBhvr additive="base">
                                        <p:cTn id="82" dur="500"/>
                                        <p:tgtEl>
                                          <p:spTgt spid="59"/>
                                        </p:tgtEl>
                                        <p:attrNameLst>
                                          <p:attrName>ppt_y</p:attrName>
                                        </p:attrNameLst>
                                      </p:cBhvr>
                                      <p:tavLst>
                                        <p:tav tm="0">
                                          <p:val>
                                            <p:strVal val="ppt_y"/>
                                          </p:val>
                                        </p:tav>
                                        <p:tav tm="100000">
                                          <p:val>
                                            <p:strVal val="0-ppt_h/2"/>
                                          </p:val>
                                        </p:tav>
                                      </p:tavLst>
                                    </p:anim>
                                    <p:set>
                                      <p:cBhvr>
                                        <p:cTn id="83" dur="1" fill="hold">
                                          <p:stCondLst>
                                            <p:cond delay="499"/>
                                          </p:stCondLst>
                                        </p:cTn>
                                        <p:tgtEl>
                                          <p:spTgt spid="59"/>
                                        </p:tgtEl>
                                        <p:attrNameLst>
                                          <p:attrName>style.visibility</p:attrName>
                                        </p:attrNameLst>
                                      </p:cBhvr>
                                      <p:to>
                                        <p:strVal val="hidden"/>
                                      </p:to>
                                    </p:set>
                                  </p:childTnLst>
                                </p:cTn>
                              </p:par>
                            </p:childTnLst>
                          </p:cTn>
                        </p:par>
                        <p:par>
                          <p:cTn id="84" fill="hold" nodeType="afterGroup">
                            <p:stCondLst>
                              <p:cond delay="500"/>
                            </p:stCondLst>
                            <p:childTnLst>
                              <p:par>
                                <p:cTn id="85" presetID="2" presetClass="entr" presetSubtype="8" fill="hold" grpId="0" nodeType="afterEffect">
                                  <p:stCondLst>
                                    <p:cond delay="0"/>
                                  </p:stCondLst>
                                  <p:childTnLst>
                                    <p:set>
                                      <p:cBhvr>
                                        <p:cTn id="86" dur="1" fill="hold">
                                          <p:stCondLst>
                                            <p:cond delay="0"/>
                                          </p:stCondLst>
                                        </p:cTn>
                                        <p:tgtEl>
                                          <p:spTgt spid="61"/>
                                        </p:tgtEl>
                                        <p:attrNameLst>
                                          <p:attrName>style.visibility</p:attrName>
                                        </p:attrNameLst>
                                      </p:cBhvr>
                                      <p:to>
                                        <p:strVal val="visible"/>
                                      </p:to>
                                    </p:set>
                                    <p:anim calcmode="lin" valueType="num">
                                      <p:cBhvr additive="base">
                                        <p:cTn id="87" dur="500" fill="hold"/>
                                        <p:tgtEl>
                                          <p:spTgt spid="61"/>
                                        </p:tgtEl>
                                        <p:attrNameLst>
                                          <p:attrName>ppt_x</p:attrName>
                                        </p:attrNameLst>
                                      </p:cBhvr>
                                      <p:tavLst>
                                        <p:tav tm="0">
                                          <p:val>
                                            <p:strVal val="0-#ppt_w/2"/>
                                          </p:val>
                                        </p:tav>
                                        <p:tav tm="100000">
                                          <p:val>
                                            <p:strVal val="#ppt_x"/>
                                          </p:val>
                                        </p:tav>
                                      </p:tavLst>
                                    </p:anim>
                                    <p:anim calcmode="lin" valueType="num">
                                      <p:cBhvr additive="base">
                                        <p:cTn id="88" dur="500" fill="hold"/>
                                        <p:tgtEl>
                                          <p:spTgt spid="61"/>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500" fill="hold"/>
                                        <p:tgtEl>
                                          <p:spTgt spid="24"/>
                                        </p:tgtEl>
                                        <p:attrNameLst>
                                          <p:attrName>ppt_x</p:attrName>
                                        </p:attrNameLst>
                                      </p:cBhvr>
                                      <p:tavLst>
                                        <p:tav tm="0">
                                          <p:val>
                                            <p:strVal val="0-#ppt_w/2"/>
                                          </p:val>
                                        </p:tav>
                                        <p:tav tm="100000">
                                          <p:val>
                                            <p:strVal val="#ppt_x"/>
                                          </p:val>
                                        </p:tav>
                                      </p:tavLst>
                                    </p:anim>
                                    <p:anim calcmode="lin" valueType="num">
                                      <p:cBhvr additive="base">
                                        <p:cTn id="9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autoUpdateAnimBg="0"/>
      <p:bldP spid="51" grpId="1" build="allAtOnce"/>
      <p:bldP spid="52" grpId="0" build="p" autoUpdateAnimBg="0"/>
      <p:bldP spid="52" grpId="1" build="allAtOnce"/>
      <p:bldP spid="53" grpId="0" build="p" autoUpdateAnimBg="0"/>
      <p:bldP spid="53" grpId="1" build="allAtOnce"/>
      <p:bldP spid="54" grpId="0" build="p" autoUpdateAnimBg="0"/>
      <p:bldP spid="54" grpId="1" build="allAtOnce"/>
      <p:bldP spid="55" grpId="0" animBg="1" autoUpdateAnimBg="0"/>
      <p:bldP spid="55" grpId="1" animBg="1"/>
      <p:bldP spid="57" grpId="0" animBg="1" autoUpdateAnimBg="0"/>
      <p:bldP spid="57" grpId="1" animBg="1"/>
      <p:bldP spid="59" grpId="0" animBg="1" autoUpdateAnimBg="0"/>
      <p:bldP spid="59" grpId="1" animBg="1"/>
      <p:bldP spid="23" grpId="0" build="p" autoUpdateAnimBg="0"/>
      <p:bldP spid="24" grpId="0" animBg="1" autoUpdateAnimBg="0"/>
      <p:bldP spid="61"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4"/>
          <p:cNvSpPr>
            <a:spLocks noChangeArrowheads="1"/>
          </p:cNvSpPr>
          <p:nvPr/>
        </p:nvSpPr>
        <p:spPr bwMode="auto">
          <a:xfrm>
            <a:off x="3792538" y="3716338"/>
            <a:ext cx="5903912" cy="21605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6499" name="Rectangle 2"/>
          <p:cNvSpPr>
            <a:spLocks noGrp="1" noChangeArrowheads="1"/>
          </p:cNvSpPr>
          <p:nvPr>
            <p:ph type="title"/>
          </p:nvPr>
        </p:nvSpPr>
        <p:spPr>
          <a:xfrm>
            <a:off x="527050" y="333375"/>
            <a:ext cx="10321925" cy="863600"/>
          </a:xfrm>
        </p:spPr>
        <p:txBody>
          <a:bodyPr/>
          <a:lstStyle/>
          <a:p>
            <a:pPr eaLnBrk="1" hangingPunct="1"/>
            <a:r>
              <a:rPr lang="zh-CN" altLang="en-US" smtClean="0"/>
              <a:t>递归算法的用途</a:t>
            </a:r>
            <a:endParaRPr lang="en-US" altLang="zh-CN" smtClean="0"/>
          </a:p>
        </p:txBody>
      </p:sp>
      <p:sp>
        <p:nvSpPr>
          <p:cNvPr id="113668" name="Rectangle 3"/>
          <p:cNvSpPr>
            <a:spLocks noGrp="1" noChangeArrowheads="1"/>
          </p:cNvSpPr>
          <p:nvPr>
            <p:ph idx="1"/>
          </p:nvPr>
        </p:nvSpPr>
        <p:spPr>
          <a:xfrm>
            <a:off x="527050" y="1773238"/>
            <a:ext cx="10321925" cy="4351337"/>
          </a:xfrm>
        </p:spPr>
        <p:txBody>
          <a:bodyPr rtlCol="0">
            <a:normAutofit fontScale="92500" lnSpcReduction="10000"/>
          </a:bodyPr>
          <a:lstStyle/>
          <a:p>
            <a:pPr eaLnBrk="1" fontAlgn="auto" hangingPunct="1">
              <a:lnSpc>
                <a:spcPct val="80000"/>
              </a:lnSpc>
              <a:spcAft>
                <a:spcPts val="0"/>
              </a:spcAft>
              <a:defRPr/>
            </a:pPr>
            <a:r>
              <a:rPr lang="zh-CN" altLang="en-US" sz="2200" dirty="0"/>
              <a:t>求解递归定义的数学函数</a:t>
            </a:r>
          </a:p>
          <a:p>
            <a:pPr eaLnBrk="1" fontAlgn="auto" hangingPunct="1">
              <a:lnSpc>
                <a:spcPct val="80000"/>
              </a:lnSpc>
              <a:spcAft>
                <a:spcPts val="0"/>
              </a:spcAft>
              <a:defRPr/>
            </a:pPr>
            <a:r>
              <a:rPr lang="zh-CN" altLang="en-US" sz="2200" dirty="0"/>
              <a:t>在以递归方式定义的数据结构上的运算</a:t>
            </a:r>
            <a:r>
              <a:rPr lang="en-US" altLang="zh-CN" sz="2200" dirty="0"/>
              <a:t>/</a:t>
            </a:r>
            <a:r>
              <a:rPr lang="zh-CN" altLang="en-US" sz="2200" dirty="0"/>
              <a:t>操作</a:t>
            </a:r>
          </a:p>
          <a:p>
            <a:pPr eaLnBrk="1" fontAlgn="auto" hangingPunct="1">
              <a:lnSpc>
                <a:spcPct val="80000"/>
              </a:lnSpc>
              <a:spcAft>
                <a:spcPts val="0"/>
              </a:spcAft>
              <a:defRPr/>
            </a:pPr>
            <a:r>
              <a:rPr lang="zh-CN" altLang="en-US" sz="2200" dirty="0"/>
              <a:t>可用递归方式描述的解决过程</a:t>
            </a:r>
          </a:p>
          <a:p>
            <a:pPr lvl="1" eaLnBrk="1" fontAlgn="auto" hangingPunct="1">
              <a:lnSpc>
                <a:spcPct val="80000"/>
              </a:lnSpc>
              <a:spcAft>
                <a:spcPts val="0"/>
              </a:spcAft>
              <a:defRPr/>
            </a:pPr>
            <a:endParaRPr lang="zh-CN" altLang="en-US" sz="2200" dirty="0"/>
          </a:p>
          <a:p>
            <a:pPr eaLnBrk="1" fontAlgn="auto" hangingPunct="1">
              <a:lnSpc>
                <a:spcPct val="80000"/>
              </a:lnSpc>
              <a:spcAft>
                <a:spcPts val="0"/>
              </a:spcAft>
              <a:buFont typeface="Wingdings" panose="05000000000000000000" pitchFamily="2" charset="2"/>
              <a:buNone/>
              <a:defRPr/>
            </a:pPr>
            <a:r>
              <a:rPr lang="en-US" altLang="zh-CN" sz="2600" b="1" dirty="0">
                <a:solidFill>
                  <a:srgbClr val="FF3300"/>
                </a:solidFill>
              </a:rPr>
              <a:t>[</a:t>
            </a:r>
            <a:r>
              <a:rPr lang="zh-CN" altLang="en-US" sz="2600" b="1" dirty="0">
                <a:solidFill>
                  <a:srgbClr val="FF3300"/>
                </a:solidFill>
              </a:rPr>
              <a:t>递归转换为非递归的方法</a:t>
            </a:r>
            <a:r>
              <a:rPr lang="en-US" altLang="zh-CN" sz="2600" b="1" dirty="0">
                <a:solidFill>
                  <a:srgbClr val="FF3300"/>
                </a:solidFill>
              </a:rPr>
              <a:t>]</a:t>
            </a:r>
            <a:endParaRPr lang="en-US" altLang="zh-CN" sz="2600" dirty="0">
              <a:solidFill>
                <a:srgbClr val="FF3300"/>
              </a:solidFill>
            </a:endParaRPr>
          </a:p>
          <a:p>
            <a:pPr eaLnBrk="1" fontAlgn="auto" hangingPunct="1">
              <a:lnSpc>
                <a:spcPct val="80000"/>
              </a:lnSpc>
              <a:spcAft>
                <a:spcPts val="0"/>
              </a:spcAft>
              <a:buFont typeface="Wingdings" panose="05000000000000000000" pitchFamily="2" charset="2"/>
              <a:buNone/>
              <a:defRPr/>
            </a:pPr>
            <a:r>
              <a:rPr lang="en-US" altLang="zh-CN" sz="2600" b="1" dirty="0">
                <a:solidFill>
                  <a:srgbClr val="FF6600"/>
                </a:solidFill>
              </a:rPr>
              <a:t>1</a:t>
            </a:r>
            <a:r>
              <a:rPr lang="zh-CN" altLang="en-US" sz="2600" b="1" dirty="0">
                <a:solidFill>
                  <a:srgbClr val="FF6600"/>
                </a:solidFill>
              </a:rPr>
              <a:t>）采用迭代算法</a:t>
            </a:r>
            <a:r>
              <a:rPr lang="zh-CN" altLang="en-US" sz="2600" dirty="0">
                <a:solidFill>
                  <a:srgbClr val="FF0066"/>
                </a:solidFill>
              </a:rPr>
              <a:t>    </a:t>
            </a:r>
            <a:r>
              <a:rPr lang="zh-CN" altLang="en-US" sz="2200" dirty="0"/>
              <a:t>递归</a:t>
            </a:r>
            <a:r>
              <a:rPr lang="en-US" altLang="zh-CN" sz="2200" dirty="0">
                <a:latin typeface="Arial" panose="020B0604020202020204" pitchFamily="34" charset="0"/>
              </a:rPr>
              <a:t>—</a:t>
            </a:r>
            <a:r>
              <a:rPr lang="zh-CN" altLang="en-US" sz="2200" dirty="0"/>
              <a:t>从顶到底    迭代</a:t>
            </a:r>
            <a:r>
              <a:rPr lang="en-US" altLang="zh-CN" sz="2200" dirty="0">
                <a:latin typeface="Arial" panose="020B0604020202020204" pitchFamily="34" charset="0"/>
              </a:rPr>
              <a:t>—</a:t>
            </a:r>
            <a:r>
              <a:rPr lang="zh-CN" altLang="en-US" sz="2200" dirty="0"/>
              <a:t>从底到顶</a:t>
            </a:r>
            <a:endParaRPr lang="zh-CN" altLang="en-US" sz="2600" dirty="0">
              <a:solidFill>
                <a:srgbClr val="FF3300"/>
              </a:solidFill>
            </a:endParaRPr>
          </a:p>
          <a:p>
            <a:pPr eaLnBrk="1" fontAlgn="auto" hangingPunct="1">
              <a:lnSpc>
                <a:spcPct val="80000"/>
              </a:lnSpc>
              <a:spcAft>
                <a:spcPts val="0"/>
              </a:spcAft>
              <a:buFont typeface="Wingdings" panose="05000000000000000000" pitchFamily="2" charset="2"/>
              <a:buNone/>
              <a:defRPr/>
            </a:pPr>
            <a:r>
              <a:rPr lang="zh-CN" altLang="en-US" sz="2600" dirty="0">
                <a:solidFill>
                  <a:srgbClr val="FF3300"/>
                </a:solidFill>
              </a:rPr>
              <a:t>       </a:t>
            </a:r>
            <a:r>
              <a:rPr lang="zh-CN" altLang="en-US" sz="2600" dirty="0"/>
              <a:t>例：求</a:t>
            </a:r>
            <a:r>
              <a:rPr lang="en-US" altLang="zh-CN" sz="2600" dirty="0"/>
              <a:t>n</a:t>
            </a:r>
            <a:r>
              <a:rPr lang="zh-CN" altLang="en-US" sz="2600" dirty="0"/>
              <a:t>！</a:t>
            </a:r>
          </a:p>
          <a:p>
            <a:pPr eaLnBrk="1" fontAlgn="auto" hangingPunct="1">
              <a:lnSpc>
                <a:spcPct val="80000"/>
              </a:lnSpc>
              <a:spcAft>
                <a:spcPts val="0"/>
              </a:spcAft>
              <a:buFont typeface="Wingdings" panose="05000000000000000000" pitchFamily="2" charset="2"/>
              <a:buNone/>
              <a:defRPr/>
            </a:pPr>
            <a:r>
              <a:rPr lang="zh-CN" altLang="en-US" sz="2600" dirty="0"/>
              <a:t>               </a:t>
            </a:r>
            <a:r>
              <a:rPr lang="en-US" altLang="zh-CN" sz="2600" dirty="0" err="1"/>
              <a:t>int</a:t>
            </a:r>
            <a:r>
              <a:rPr lang="en-US" altLang="zh-CN" sz="2600" dirty="0"/>
              <a:t>  </a:t>
            </a:r>
            <a:r>
              <a:rPr lang="en-US" altLang="zh-CN" sz="2600" b="1" dirty="0">
                <a:solidFill>
                  <a:schemeClr val="accent2"/>
                </a:solidFill>
              </a:rPr>
              <a:t>fact</a:t>
            </a:r>
            <a:r>
              <a:rPr lang="en-US" altLang="zh-CN" sz="2600" dirty="0"/>
              <a:t>(</a:t>
            </a:r>
            <a:r>
              <a:rPr lang="en-US" altLang="zh-CN" sz="2600" dirty="0" err="1"/>
              <a:t>int</a:t>
            </a:r>
            <a:r>
              <a:rPr lang="en-US" altLang="zh-CN" sz="2600" dirty="0"/>
              <a:t> n){</a:t>
            </a:r>
          </a:p>
          <a:p>
            <a:pPr eaLnBrk="1" fontAlgn="auto" hangingPunct="1">
              <a:lnSpc>
                <a:spcPct val="80000"/>
              </a:lnSpc>
              <a:spcAft>
                <a:spcPts val="0"/>
              </a:spcAft>
              <a:buFont typeface="Wingdings" panose="05000000000000000000" pitchFamily="2" charset="2"/>
              <a:buNone/>
              <a:defRPr/>
            </a:pPr>
            <a:r>
              <a:rPr lang="en-US" altLang="zh-CN" sz="2600" dirty="0"/>
              <a:t>                     m=1;</a:t>
            </a:r>
          </a:p>
          <a:p>
            <a:pPr eaLnBrk="1" fontAlgn="auto" hangingPunct="1">
              <a:lnSpc>
                <a:spcPct val="80000"/>
              </a:lnSpc>
              <a:spcAft>
                <a:spcPts val="0"/>
              </a:spcAft>
              <a:buFont typeface="Wingdings" panose="05000000000000000000" pitchFamily="2" charset="2"/>
              <a:buNone/>
              <a:defRPr/>
            </a:pPr>
            <a:r>
              <a:rPr lang="en-US" altLang="zh-CN" sz="2600" dirty="0"/>
              <a:t>                     for( </a:t>
            </a:r>
            <a:r>
              <a:rPr lang="en-US" altLang="zh-CN" sz="2600" dirty="0" err="1"/>
              <a:t>i</a:t>
            </a:r>
            <a:r>
              <a:rPr lang="en-US" altLang="zh-CN" sz="2600" dirty="0"/>
              <a:t>=1;i&lt;=</a:t>
            </a:r>
            <a:r>
              <a:rPr lang="en-US" altLang="zh-CN" sz="2600" dirty="0" err="1"/>
              <a:t>n;i</a:t>
            </a:r>
            <a:r>
              <a:rPr lang="en-US" altLang="zh-CN" sz="2600" dirty="0"/>
              <a:t>++){m=m*</a:t>
            </a:r>
            <a:r>
              <a:rPr lang="en-US" altLang="zh-CN" sz="2600" dirty="0" err="1"/>
              <a:t>i</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                     return(m);</a:t>
            </a:r>
          </a:p>
          <a:p>
            <a:pPr eaLnBrk="1" fontAlgn="auto" hangingPunct="1">
              <a:lnSpc>
                <a:spcPct val="80000"/>
              </a:lnSpc>
              <a:spcAft>
                <a:spcPts val="0"/>
              </a:spcAft>
              <a:buFont typeface="Wingdings" panose="05000000000000000000" pitchFamily="2" charset="2"/>
              <a:buNone/>
              <a:defRPr/>
            </a:pPr>
            <a:r>
              <a:rPr lang="en-US" altLang="zh-CN" sz="2600" dirty="0"/>
              <a:t>               }</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ChangeArrowheads="1"/>
          </p:cNvSpPr>
          <p:nvPr/>
        </p:nvSpPr>
        <p:spPr bwMode="auto">
          <a:xfrm>
            <a:off x="381000" y="2606675"/>
            <a:ext cx="3810000" cy="228600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23" name="Rectangle 2"/>
          <p:cNvSpPr>
            <a:spLocks noGrp="1" noChangeArrowheads="1"/>
          </p:cNvSpPr>
          <p:nvPr>
            <p:ph type="title"/>
          </p:nvPr>
        </p:nvSpPr>
        <p:spPr>
          <a:xfrm>
            <a:off x="527050" y="333375"/>
            <a:ext cx="10321925" cy="863600"/>
          </a:xfrm>
        </p:spPr>
        <p:txBody>
          <a:bodyPr/>
          <a:lstStyle/>
          <a:p>
            <a:pPr eaLnBrk="1" hangingPunct="1"/>
            <a:r>
              <a:rPr lang="en-US" altLang="zh-CN" sz="1900" b="1" smtClean="0">
                <a:solidFill>
                  <a:srgbClr val="FF6600"/>
                </a:solidFill>
              </a:rPr>
              <a:t>2</a:t>
            </a:r>
            <a:r>
              <a:rPr lang="zh-CN" altLang="en-US" sz="1900" b="1" smtClean="0">
                <a:solidFill>
                  <a:srgbClr val="FF6600"/>
                </a:solidFill>
              </a:rPr>
              <a:t>）消除尾递归</a:t>
            </a:r>
            <a:endParaRPr lang="zh-CN" altLang="en-US" sz="1900" smtClean="0"/>
          </a:p>
        </p:txBody>
      </p:sp>
      <p:sp>
        <p:nvSpPr>
          <p:cNvPr id="107524"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zh-CN" altLang="en-US" sz="2100" smtClean="0"/>
              <a:t>例：顺序输出单链表中的结点数据</a:t>
            </a:r>
          </a:p>
          <a:p>
            <a:pPr eaLnBrk="1" hangingPunct="1">
              <a:buFont typeface="Wingdings" panose="05000000000000000000" pitchFamily="2" charset="2"/>
              <a:buNone/>
            </a:pPr>
            <a:endParaRPr lang="zh-CN" altLang="en-US" sz="2100" smtClean="0"/>
          </a:p>
          <a:p>
            <a:pPr eaLnBrk="1" hangingPunct="1">
              <a:buFont typeface="Wingdings" panose="05000000000000000000" pitchFamily="2" charset="2"/>
              <a:buNone/>
            </a:pPr>
            <a:r>
              <a:rPr lang="en-US" altLang="zh-CN" sz="1900" b="1" smtClean="0">
                <a:solidFill>
                  <a:schemeClr val="accent2"/>
                </a:solidFill>
              </a:rPr>
              <a:t>linklist_output</a:t>
            </a:r>
            <a:r>
              <a:rPr lang="en-US" altLang="zh-CN" sz="1900" smtClean="0"/>
              <a:t>(pointer p){</a:t>
            </a:r>
          </a:p>
          <a:p>
            <a:pPr eaLnBrk="1" hangingPunct="1">
              <a:buFont typeface="Wingdings" panose="05000000000000000000" pitchFamily="2" charset="2"/>
              <a:buNone/>
            </a:pPr>
            <a:r>
              <a:rPr lang="en-US" altLang="zh-CN" sz="1900" smtClean="0"/>
              <a:t>      if (p!=null) {</a:t>
            </a:r>
          </a:p>
          <a:p>
            <a:pPr eaLnBrk="1" hangingPunct="1">
              <a:buFont typeface="Wingdings" panose="05000000000000000000" pitchFamily="2" charset="2"/>
              <a:buNone/>
            </a:pPr>
            <a:r>
              <a:rPr lang="en-US" altLang="zh-CN" sz="1900" smtClean="0"/>
              <a:t>          write(p-&gt;data);</a:t>
            </a:r>
          </a:p>
          <a:p>
            <a:pPr eaLnBrk="1" hangingPunct="1">
              <a:buFont typeface="Wingdings" panose="05000000000000000000" pitchFamily="2" charset="2"/>
              <a:buNone/>
            </a:pPr>
            <a:r>
              <a:rPr lang="en-US" altLang="zh-CN" sz="1900" smtClean="0"/>
              <a:t>          </a:t>
            </a:r>
            <a:r>
              <a:rPr lang="en-US" altLang="zh-CN" sz="1900" smtClean="0">
                <a:solidFill>
                  <a:schemeClr val="accent2"/>
                </a:solidFill>
              </a:rPr>
              <a:t>linklist_output</a:t>
            </a:r>
            <a:r>
              <a:rPr lang="en-US" altLang="zh-CN" sz="1900" smtClean="0"/>
              <a:t>(p-&gt;next);</a:t>
            </a:r>
          </a:p>
          <a:p>
            <a:pPr eaLnBrk="1" hangingPunct="1">
              <a:buFont typeface="Wingdings" panose="05000000000000000000" pitchFamily="2" charset="2"/>
              <a:buNone/>
            </a:pPr>
            <a:r>
              <a:rPr lang="en-US" altLang="zh-CN" sz="1900" smtClean="0"/>
              <a:t>      }</a:t>
            </a:r>
          </a:p>
          <a:p>
            <a:pPr eaLnBrk="1" hangingPunct="1">
              <a:buFont typeface="Wingdings" panose="05000000000000000000" pitchFamily="2" charset="2"/>
              <a:buNone/>
            </a:pPr>
            <a:r>
              <a:rPr lang="en-US" altLang="zh-CN" sz="1900" smtClean="0"/>
              <a:t>}</a:t>
            </a:r>
          </a:p>
        </p:txBody>
      </p:sp>
      <p:sp>
        <p:nvSpPr>
          <p:cNvPr id="102405" name="Text Box 5"/>
          <p:cNvSpPr txBox="1">
            <a:spLocks noChangeArrowheads="1"/>
          </p:cNvSpPr>
          <p:nvPr/>
        </p:nvSpPr>
        <p:spPr bwMode="auto">
          <a:xfrm>
            <a:off x="5181600" y="2481263"/>
            <a:ext cx="4191000" cy="2540000"/>
          </a:xfrm>
          <a:prstGeom prst="rect">
            <a:avLst/>
          </a:prstGeom>
          <a:solidFill>
            <a:schemeClr val="bg1"/>
          </a:solidFill>
          <a:ln w="9525">
            <a:solidFill>
              <a:schemeClr val="tx1"/>
            </a:solidFill>
            <a:miter lim="800000"/>
            <a:headEnd/>
            <a:tailEnd/>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zh-CN" sz="2000">
                <a:latin typeface="Times New Roman" panose="02020603050405020304" pitchFamily="18" charset="0"/>
                <a:ea typeface="宋体" panose="02010600030101010101" pitchFamily="2" charset="-122"/>
              </a:rPr>
              <a:t>使用跳转语句：</a:t>
            </a:r>
            <a:endParaRPr kumimoji="1" lang="zh-CN" altLang="en-US" sz="20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000" b="1">
                <a:solidFill>
                  <a:schemeClr val="accent2"/>
                </a:solidFill>
                <a:latin typeface="Times New Roman" panose="02020603050405020304" pitchFamily="18" charset="0"/>
                <a:ea typeface="宋体" panose="02010600030101010101" pitchFamily="2" charset="-122"/>
              </a:rPr>
              <a:t>linklist_output1</a:t>
            </a:r>
            <a:r>
              <a:rPr kumimoji="1" lang="en-US" altLang="zh-CN" sz="2000">
                <a:latin typeface="Times New Roman" panose="02020603050405020304" pitchFamily="18" charset="0"/>
                <a:ea typeface="宋体" panose="02010600030101010101" pitchFamily="2" charset="-122"/>
              </a:rPr>
              <a:t>(pointer p){</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a:t>
            </a:r>
            <a:r>
              <a:rPr kumimoji="1" lang="en-US" altLang="zh-CN" sz="2000">
                <a:solidFill>
                  <a:schemeClr val="accent2"/>
                </a:solidFill>
                <a:latin typeface="Times New Roman" panose="02020603050405020304" pitchFamily="18" charset="0"/>
                <a:ea typeface="宋体" panose="02010600030101010101" pitchFamily="2" charset="-122"/>
              </a:rPr>
              <a:t>1</a:t>
            </a:r>
            <a:r>
              <a:rPr kumimoji="1" lang="en-US" altLang="zh-CN" sz="2000">
                <a:latin typeface="Times New Roman" panose="02020603050405020304" pitchFamily="18" charset="0"/>
                <a:ea typeface="宋体" panose="02010600030101010101" pitchFamily="2" charset="-122"/>
              </a:rPr>
              <a:t>: if (p!=null)</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    write(p-&gt;data);</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p=p-&gt;next;</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goto 1</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000">
                <a:latin typeface="Times New Roman" panose="02020603050405020304" pitchFamily="18" charset="0"/>
                <a:ea typeface="宋体" panose="02010600030101010101" pitchFamily="2" charset="-122"/>
              </a:rPr>
              <a:t>}</a:t>
            </a:r>
          </a:p>
        </p:txBody>
      </p:sp>
      <p:sp>
        <p:nvSpPr>
          <p:cNvPr id="102406" name="Text Box 6"/>
          <p:cNvSpPr txBox="1">
            <a:spLocks noChangeArrowheads="1"/>
          </p:cNvSpPr>
          <p:nvPr/>
        </p:nvSpPr>
        <p:spPr bwMode="auto">
          <a:xfrm>
            <a:off x="6248400" y="3200400"/>
            <a:ext cx="4114800" cy="2657475"/>
          </a:xfrm>
          <a:prstGeom prst="rect">
            <a:avLst/>
          </a:prstGeom>
          <a:solidFill>
            <a:schemeClr val="bg1"/>
          </a:solidFill>
          <a:ln w="9525">
            <a:solidFill>
              <a:schemeClr val="tx1"/>
            </a:solidFill>
            <a:miter lim="800000"/>
            <a:headEnd/>
            <a:tailEnd/>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20000"/>
              </a:lnSpc>
              <a:spcBef>
                <a:spcPct val="0"/>
              </a:spcBef>
              <a:buFontTx/>
              <a:buNone/>
            </a:pPr>
            <a:r>
              <a:rPr kumimoji="1" lang="zh-CN" altLang="zh-CN" sz="2000">
                <a:latin typeface="Times New Roman" panose="02020603050405020304" pitchFamily="18" charset="0"/>
                <a:ea typeface="宋体" panose="02010600030101010101" pitchFamily="2" charset="-122"/>
              </a:rPr>
              <a:t>使用循环语句：</a:t>
            </a:r>
            <a:endParaRPr kumimoji="1" lang="zh-CN" altLang="en-US" sz="2000">
              <a:latin typeface="Times New Roman" panose="02020603050405020304" pitchFamily="18" charset="0"/>
              <a:ea typeface="宋体" panose="02010600030101010101" pitchFamily="2" charset="-122"/>
            </a:endParaRPr>
          </a:p>
          <a:p>
            <a:pPr eaLnBrk="1" hangingPunct="1">
              <a:lnSpc>
                <a:spcPct val="120000"/>
              </a:lnSpc>
              <a:spcBef>
                <a:spcPct val="0"/>
              </a:spcBef>
              <a:buFontTx/>
              <a:buNone/>
            </a:pPr>
            <a:r>
              <a:rPr kumimoji="1" lang="en-US" altLang="zh-CN" sz="2000" b="1">
                <a:solidFill>
                  <a:schemeClr val="accent2"/>
                </a:solidFill>
                <a:latin typeface="Times New Roman" panose="02020603050405020304" pitchFamily="18" charset="0"/>
                <a:ea typeface="宋体" panose="02010600030101010101" pitchFamily="2" charset="-122"/>
              </a:rPr>
              <a:t>linklist_output2</a:t>
            </a:r>
            <a:r>
              <a:rPr kumimoji="1" lang="en-US" altLang="zh-CN" sz="2000">
                <a:latin typeface="Times New Roman" panose="02020603050405020304" pitchFamily="18" charset="0"/>
                <a:ea typeface="宋体" panose="02010600030101010101" pitchFamily="2" charset="-122"/>
              </a:rPr>
              <a:t>(pointer p){</a:t>
            </a:r>
          </a:p>
          <a:p>
            <a:pPr eaLnBrk="1" hangingPunct="1">
              <a:lnSpc>
                <a:spcPct val="120000"/>
              </a:lnSpc>
              <a:spcBef>
                <a:spcPct val="0"/>
              </a:spcBef>
              <a:buFontTx/>
              <a:buNone/>
            </a:pPr>
            <a:r>
              <a:rPr kumimoji="1" lang="en-US" altLang="zh-CN" sz="2000">
                <a:latin typeface="Times New Roman" panose="02020603050405020304" pitchFamily="18" charset="0"/>
                <a:ea typeface="宋体" panose="02010600030101010101" pitchFamily="2" charset="-122"/>
              </a:rPr>
              <a:t>     while ( p!=null)</a:t>
            </a:r>
          </a:p>
          <a:p>
            <a:pPr eaLnBrk="1" hangingPunct="1">
              <a:lnSpc>
                <a:spcPct val="120000"/>
              </a:lnSpc>
              <a:spcBef>
                <a:spcPct val="0"/>
              </a:spcBef>
              <a:buFontTx/>
              <a:buNone/>
            </a:pPr>
            <a:r>
              <a:rPr kumimoji="1" lang="en-US" altLang="zh-CN" sz="2000">
                <a:latin typeface="Times New Roman" panose="02020603050405020304" pitchFamily="18" charset="0"/>
                <a:ea typeface="宋体" panose="02010600030101010101" pitchFamily="2" charset="-122"/>
              </a:rPr>
              <a:t>      {    write(p-&gt;data);</a:t>
            </a:r>
          </a:p>
          <a:p>
            <a:pPr eaLnBrk="1" hangingPunct="1">
              <a:lnSpc>
                <a:spcPct val="120000"/>
              </a:lnSpc>
              <a:spcBef>
                <a:spcPct val="0"/>
              </a:spcBef>
              <a:buFontTx/>
              <a:buNone/>
            </a:pPr>
            <a:r>
              <a:rPr kumimoji="1" lang="en-US" altLang="zh-CN" sz="2000">
                <a:latin typeface="Times New Roman" panose="02020603050405020304" pitchFamily="18" charset="0"/>
                <a:ea typeface="宋体" panose="02010600030101010101" pitchFamily="2" charset="-122"/>
              </a:rPr>
              <a:t>            p=p-&gt;next;</a:t>
            </a:r>
          </a:p>
          <a:p>
            <a:pPr eaLnBrk="1" hangingPunct="1">
              <a:lnSpc>
                <a:spcPct val="120000"/>
              </a:lnSpc>
              <a:spcBef>
                <a:spcPct val="0"/>
              </a:spcBef>
              <a:buFontTx/>
              <a:buNone/>
            </a:pPr>
            <a:r>
              <a:rPr kumimoji="1" lang="en-US" altLang="zh-CN" sz="2000">
                <a:latin typeface="Times New Roman" panose="02020603050405020304" pitchFamily="18" charset="0"/>
                <a:ea typeface="宋体" panose="02010600030101010101" pitchFamily="2" charset="-122"/>
              </a:rPr>
              <a:t>       }</a:t>
            </a:r>
          </a:p>
          <a:p>
            <a:pPr eaLnBrk="1" hangingPunct="1">
              <a:lnSpc>
                <a:spcPct val="120000"/>
              </a:lnSpc>
              <a:spcBef>
                <a:spcPct val="0"/>
              </a:spcBef>
              <a:buFontTx/>
              <a:buNone/>
            </a:pPr>
            <a:r>
              <a:rPr kumimoji="1" lang="en-US" altLang="zh-CN" sz="2000">
                <a:latin typeface="Times New Roman" panose="02020603050405020304" pitchFamily="18" charset="0"/>
                <a:ea typeface="宋体" panose="02010600030101010101" pitchFamily="2" charset="-122"/>
              </a:rPr>
              <a:t>}</a:t>
            </a:r>
          </a:p>
        </p:txBody>
      </p:sp>
      <p:sp>
        <p:nvSpPr>
          <p:cNvPr id="107527" name="Rectangle 9"/>
          <p:cNvSpPr>
            <a:spLocks noChangeArrowheads="1"/>
          </p:cNvSpPr>
          <p:nvPr/>
        </p:nvSpPr>
        <p:spPr bwMode="auto">
          <a:xfrm>
            <a:off x="2362200" y="5410200"/>
            <a:ext cx="8382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28" name="Line 10"/>
          <p:cNvSpPr>
            <a:spLocks noChangeShapeType="1"/>
          </p:cNvSpPr>
          <p:nvPr/>
        </p:nvSpPr>
        <p:spPr bwMode="auto">
          <a:xfrm>
            <a:off x="2895600" y="5410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9" name="Rectangle 11"/>
          <p:cNvSpPr>
            <a:spLocks noChangeArrowheads="1"/>
          </p:cNvSpPr>
          <p:nvPr/>
        </p:nvSpPr>
        <p:spPr bwMode="auto">
          <a:xfrm>
            <a:off x="3505200" y="5410200"/>
            <a:ext cx="8382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30" name="Line 12"/>
          <p:cNvSpPr>
            <a:spLocks noChangeShapeType="1"/>
          </p:cNvSpPr>
          <p:nvPr/>
        </p:nvSpPr>
        <p:spPr bwMode="auto">
          <a:xfrm>
            <a:off x="4038600" y="5410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1" name="Line 13"/>
          <p:cNvSpPr>
            <a:spLocks noChangeShapeType="1"/>
          </p:cNvSpPr>
          <p:nvPr/>
        </p:nvSpPr>
        <p:spPr bwMode="auto">
          <a:xfrm flipV="1">
            <a:off x="3124200" y="55626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2" name="Rectangle 14"/>
          <p:cNvSpPr>
            <a:spLocks noChangeArrowheads="1"/>
          </p:cNvSpPr>
          <p:nvPr/>
        </p:nvSpPr>
        <p:spPr bwMode="auto">
          <a:xfrm>
            <a:off x="5105400" y="5410200"/>
            <a:ext cx="8382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07533" name="Line 15"/>
          <p:cNvSpPr>
            <a:spLocks noChangeShapeType="1"/>
          </p:cNvSpPr>
          <p:nvPr/>
        </p:nvSpPr>
        <p:spPr bwMode="auto">
          <a:xfrm>
            <a:off x="5638800" y="5410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4" name="Line 18"/>
          <p:cNvSpPr>
            <a:spLocks noChangeShapeType="1"/>
          </p:cNvSpPr>
          <p:nvPr/>
        </p:nvSpPr>
        <p:spPr bwMode="auto">
          <a:xfrm flipV="1">
            <a:off x="4267200" y="5562600"/>
            <a:ext cx="838200" cy="0"/>
          </a:xfrm>
          <a:prstGeom prst="line">
            <a:avLst/>
          </a:prstGeom>
          <a:noFill/>
          <a:ln w="9525">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5" name="Line 19"/>
          <p:cNvSpPr>
            <a:spLocks noChangeShapeType="1"/>
          </p:cNvSpPr>
          <p:nvPr/>
        </p:nvSpPr>
        <p:spPr bwMode="auto">
          <a:xfrm>
            <a:off x="1905000" y="55626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6" name="Line 20"/>
          <p:cNvSpPr>
            <a:spLocks noChangeShapeType="1"/>
          </p:cNvSpPr>
          <p:nvPr/>
        </p:nvSpPr>
        <p:spPr bwMode="auto">
          <a:xfrm>
            <a:off x="1905000" y="55626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7" name="Text Box 21"/>
          <p:cNvSpPr txBox="1">
            <a:spLocks noChangeArrowheads="1"/>
          </p:cNvSpPr>
          <p:nvPr/>
        </p:nvSpPr>
        <p:spPr bwMode="auto">
          <a:xfrm>
            <a:off x="1752600" y="55626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p</a:t>
            </a:r>
          </a:p>
        </p:txBody>
      </p:sp>
      <p:sp>
        <p:nvSpPr>
          <p:cNvPr id="107538" name="Text Box 22"/>
          <p:cNvSpPr txBox="1">
            <a:spLocks noChangeArrowheads="1"/>
          </p:cNvSpPr>
          <p:nvPr/>
        </p:nvSpPr>
        <p:spPr bwMode="auto">
          <a:xfrm>
            <a:off x="5562600" y="5410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07539" name="Text Box 23"/>
          <p:cNvSpPr txBox="1">
            <a:spLocks noChangeArrowheads="1"/>
          </p:cNvSpPr>
          <p:nvPr/>
        </p:nvSpPr>
        <p:spPr bwMode="auto">
          <a:xfrm>
            <a:off x="5181600" y="54102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a</a:t>
            </a:r>
            <a:r>
              <a:rPr kumimoji="1" lang="en-US" altLang="zh-CN" sz="2000" baseline="-25000">
                <a:latin typeface="Times New Roman" panose="02020603050405020304" pitchFamily="18" charset="0"/>
                <a:ea typeface="宋体" panose="02010600030101010101" pitchFamily="2" charset="-122"/>
              </a:rPr>
              <a:t>n</a:t>
            </a:r>
            <a:endParaRPr kumimoji="1" lang="en-US" altLang="zh-CN" sz="2000">
              <a:latin typeface="Times New Roman" panose="02020603050405020304" pitchFamily="18" charset="0"/>
              <a:ea typeface="宋体" panose="02010600030101010101" pitchFamily="2" charset="-122"/>
            </a:endParaRPr>
          </a:p>
        </p:txBody>
      </p:sp>
      <p:sp>
        <p:nvSpPr>
          <p:cNvPr id="107540" name="Text Box 24"/>
          <p:cNvSpPr txBox="1">
            <a:spLocks noChangeArrowheads="1"/>
          </p:cNvSpPr>
          <p:nvPr/>
        </p:nvSpPr>
        <p:spPr bwMode="auto">
          <a:xfrm>
            <a:off x="3505200" y="5410200"/>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000">
                <a:latin typeface="Times New Roman" panose="02020603050405020304" pitchFamily="18" charset="0"/>
                <a:ea typeface="宋体" panose="02010600030101010101" pitchFamily="2" charset="-122"/>
              </a:rPr>
              <a:t>a </a:t>
            </a:r>
            <a:r>
              <a:rPr kumimoji="1" lang="en-US" altLang="zh-CN" sz="2000" baseline="-25000">
                <a:latin typeface="Times New Roman" panose="02020603050405020304" pitchFamily="18" charset="0"/>
                <a:ea typeface="宋体" panose="02010600030101010101" pitchFamily="2" charset="-122"/>
              </a:rPr>
              <a:t>2</a:t>
            </a:r>
          </a:p>
        </p:txBody>
      </p:sp>
      <p:sp>
        <p:nvSpPr>
          <p:cNvPr id="107541" name="Text Box 25"/>
          <p:cNvSpPr txBox="1">
            <a:spLocks noChangeArrowheads="1"/>
          </p:cNvSpPr>
          <p:nvPr/>
        </p:nvSpPr>
        <p:spPr bwMode="auto">
          <a:xfrm>
            <a:off x="2438400" y="5334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2405"/>
                                        </p:tgtEl>
                                        <p:attrNameLst>
                                          <p:attrName>style.visibility</p:attrName>
                                        </p:attrNameLst>
                                      </p:cBhvr>
                                      <p:to>
                                        <p:strVal val="visible"/>
                                      </p:to>
                                    </p:set>
                                    <p:anim calcmode="lin" valueType="num">
                                      <p:cBhvr additive="base">
                                        <p:cTn id="7" dur="500" fill="hold"/>
                                        <p:tgtEl>
                                          <p:spTgt spid="102405"/>
                                        </p:tgtEl>
                                        <p:attrNameLst>
                                          <p:attrName>ppt_x</p:attrName>
                                        </p:attrNameLst>
                                      </p:cBhvr>
                                      <p:tavLst>
                                        <p:tav tm="0">
                                          <p:val>
                                            <p:strVal val="1+#ppt_w/2"/>
                                          </p:val>
                                        </p:tav>
                                        <p:tav tm="100000">
                                          <p:val>
                                            <p:strVal val="#ppt_x"/>
                                          </p:val>
                                        </p:tav>
                                      </p:tavLst>
                                    </p:anim>
                                    <p:anim calcmode="lin" valueType="num">
                                      <p:cBhvr additive="base">
                                        <p:cTn id="8" dur="500" fill="hold"/>
                                        <p:tgtEl>
                                          <p:spTgt spid="10240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2406"/>
                                        </p:tgtEl>
                                        <p:attrNameLst>
                                          <p:attrName>style.visibility</p:attrName>
                                        </p:attrNameLst>
                                      </p:cBhvr>
                                      <p:to>
                                        <p:strVal val="visible"/>
                                      </p:to>
                                    </p:set>
                                    <p:anim calcmode="lin" valueType="num">
                                      <p:cBhvr additive="base">
                                        <p:cTn id="13" dur="500" fill="hold"/>
                                        <p:tgtEl>
                                          <p:spTgt spid="102406"/>
                                        </p:tgtEl>
                                        <p:attrNameLst>
                                          <p:attrName>ppt_x</p:attrName>
                                        </p:attrNameLst>
                                      </p:cBhvr>
                                      <p:tavLst>
                                        <p:tav tm="0">
                                          <p:val>
                                            <p:strVal val="1+#ppt_w/2"/>
                                          </p:val>
                                        </p:tav>
                                        <p:tav tm="100000">
                                          <p:val>
                                            <p:strVal val="#ppt_x"/>
                                          </p:val>
                                        </p:tav>
                                      </p:tavLst>
                                    </p:anim>
                                    <p:anim calcmode="lin" valueType="num">
                                      <p:cBhvr additive="base">
                                        <p:cTn id="14" dur="500" fill="hold"/>
                                        <p:tgtEl>
                                          <p:spTgt spid="1024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5" grpId="0" animBg="1" autoUpdateAnimBg="0"/>
      <p:bldP spid="102406" grpId="0" animBg="1"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1631950" y="1981200"/>
            <a:ext cx="2479675" cy="1296988"/>
          </a:xfrm>
          <a:prstGeom prst="rect">
            <a:avLst/>
          </a:prstGeom>
          <a:noFill/>
          <a:ln>
            <a:noFill/>
          </a:ln>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defRPr/>
            </a:pPr>
            <a:r>
              <a:rPr lang="en-US" altLang="zh-CN" sz="1350" dirty="0"/>
              <a:t>void </a:t>
            </a:r>
            <a:r>
              <a:rPr lang="en-US" altLang="zh-CN" sz="1350" b="1" dirty="0" err="1">
                <a:solidFill>
                  <a:schemeClr val="accent2"/>
                </a:solidFill>
              </a:rPr>
              <a:t>linklist_output</a:t>
            </a:r>
            <a:r>
              <a:rPr lang="en-US" altLang="zh-CN" sz="1350" dirty="0"/>
              <a:t>(</a:t>
            </a:r>
            <a:r>
              <a:rPr lang="en-US" altLang="zh-CN" sz="1350" dirty="0" err="1"/>
              <a:t>LNode</a:t>
            </a:r>
            <a:r>
              <a:rPr lang="en-US" altLang="zh-CN" sz="1350" dirty="0"/>
              <a:t> *p);</a:t>
            </a:r>
          </a:p>
          <a:p>
            <a:pPr eaLnBrk="1" hangingPunct="1">
              <a:buFontTx/>
              <a:buNone/>
              <a:defRPr/>
            </a:pPr>
            <a:r>
              <a:rPr lang="en-US" altLang="zh-CN" sz="1350" dirty="0"/>
              <a:t>{    if (p)</a:t>
            </a:r>
          </a:p>
          <a:p>
            <a:pPr eaLnBrk="1" hangingPunct="1">
              <a:buFontTx/>
              <a:buNone/>
              <a:defRPr/>
            </a:pPr>
            <a:r>
              <a:rPr lang="en-US" altLang="zh-CN" sz="1350" dirty="0"/>
              <a:t>      {   </a:t>
            </a:r>
            <a:r>
              <a:rPr lang="en-US" altLang="zh-CN" sz="1350" dirty="0" err="1"/>
              <a:t>printf</a:t>
            </a:r>
            <a:r>
              <a:rPr lang="en-US" altLang="zh-CN" sz="1350" dirty="0"/>
              <a:t>(p-&gt;data);</a:t>
            </a:r>
          </a:p>
          <a:p>
            <a:pPr eaLnBrk="1" hangingPunct="1">
              <a:buFontTx/>
              <a:buNone/>
              <a:defRPr/>
            </a:pPr>
            <a:r>
              <a:rPr lang="en-US" altLang="zh-CN" sz="1350" dirty="0"/>
              <a:t>           </a:t>
            </a:r>
            <a:r>
              <a:rPr lang="en-US" altLang="zh-CN" sz="1350" dirty="0" err="1">
                <a:solidFill>
                  <a:schemeClr val="accent2"/>
                </a:solidFill>
              </a:rPr>
              <a:t>linklist_output</a:t>
            </a:r>
            <a:r>
              <a:rPr lang="en-US" altLang="zh-CN" sz="1350" dirty="0"/>
              <a:t>(p-&gt;next)}</a:t>
            </a:r>
          </a:p>
          <a:p>
            <a:pPr eaLnBrk="1" hangingPunct="1">
              <a:buFontTx/>
              <a:buNone/>
              <a:defRPr/>
            </a:pPr>
            <a:r>
              <a:rPr lang="en-US" altLang="zh-CN" sz="1350" dirty="0"/>
              <a:t>}//</a:t>
            </a:r>
            <a:r>
              <a:rPr lang="en-US" altLang="zh-CN" sz="1350" dirty="0" err="1"/>
              <a:t>linklist_output</a:t>
            </a:r>
            <a:endParaRPr lang="en-US" altLang="zh-CN" sz="1350" dirty="0"/>
          </a:p>
        </p:txBody>
      </p:sp>
      <p:sp>
        <p:nvSpPr>
          <p:cNvPr id="8" name="上弧形箭头 7"/>
          <p:cNvSpPr/>
          <p:nvPr/>
        </p:nvSpPr>
        <p:spPr>
          <a:xfrm rot="2054430">
            <a:off x="3968871" y="2632264"/>
            <a:ext cx="795495" cy="276999"/>
          </a:xfrm>
          <a:prstGeom prst="curvedDownArrow">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endParaRPr lang="zh-CN" altLang="en-US" sz="1350">
              <a:solidFill>
                <a:srgbClr val="000000"/>
              </a:solidFill>
              <a:latin typeface="+mn-lt"/>
              <a:ea typeface="+mn-ea"/>
              <a:sym typeface="Calibri"/>
            </a:endParaRPr>
          </a:p>
        </p:txBody>
      </p:sp>
      <p:sp>
        <p:nvSpPr>
          <p:cNvPr id="9" name="Text Box 7"/>
          <p:cNvSpPr txBox="1">
            <a:spLocks noChangeArrowheads="1"/>
          </p:cNvSpPr>
          <p:nvPr/>
        </p:nvSpPr>
        <p:spPr bwMode="auto">
          <a:xfrm>
            <a:off x="3719513" y="3068638"/>
            <a:ext cx="3468687" cy="1296987"/>
          </a:xfrm>
          <a:prstGeom prst="rect">
            <a:avLst/>
          </a:prstGeom>
          <a:noFill/>
          <a:ln>
            <a:noFill/>
          </a:ln>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defRPr/>
            </a:pPr>
            <a:r>
              <a:rPr lang="en-US" altLang="zh-CN" sz="1350" dirty="0"/>
              <a:t>void </a:t>
            </a:r>
            <a:r>
              <a:rPr lang="en-US" altLang="zh-CN" sz="1350" b="1" dirty="0" err="1">
                <a:solidFill>
                  <a:schemeClr val="accent2"/>
                </a:solidFill>
              </a:rPr>
              <a:t>linklist_output</a:t>
            </a:r>
            <a:r>
              <a:rPr lang="en-US" altLang="zh-CN" sz="1350" dirty="0"/>
              <a:t>(</a:t>
            </a:r>
            <a:r>
              <a:rPr lang="en-US" altLang="zh-CN" sz="1350" dirty="0" err="1"/>
              <a:t>LNode</a:t>
            </a:r>
            <a:r>
              <a:rPr lang="en-US" altLang="zh-CN" sz="1350" dirty="0"/>
              <a:t> *p);</a:t>
            </a:r>
          </a:p>
          <a:p>
            <a:pPr eaLnBrk="1" hangingPunct="1">
              <a:buFontTx/>
              <a:buNone/>
              <a:defRPr/>
            </a:pPr>
            <a:r>
              <a:rPr lang="en-US" altLang="zh-CN" sz="1350" dirty="0"/>
              <a:t>{    if (p)</a:t>
            </a:r>
          </a:p>
          <a:p>
            <a:pPr eaLnBrk="1" hangingPunct="1">
              <a:buFontTx/>
              <a:buNone/>
              <a:defRPr/>
            </a:pPr>
            <a:r>
              <a:rPr lang="en-US" altLang="zh-CN" sz="1350" dirty="0"/>
              <a:t>      {   </a:t>
            </a:r>
            <a:r>
              <a:rPr lang="en-US" altLang="zh-CN" sz="1350" dirty="0" err="1"/>
              <a:t>printf</a:t>
            </a:r>
            <a:r>
              <a:rPr lang="en-US" altLang="zh-CN" sz="1350" dirty="0"/>
              <a:t>(p-&gt;data);</a:t>
            </a:r>
          </a:p>
          <a:p>
            <a:pPr eaLnBrk="1" hangingPunct="1">
              <a:buFontTx/>
              <a:buNone/>
              <a:defRPr/>
            </a:pPr>
            <a:r>
              <a:rPr lang="en-US" altLang="zh-CN" sz="1350" dirty="0"/>
              <a:t>           </a:t>
            </a:r>
            <a:r>
              <a:rPr lang="en-US" altLang="zh-CN" sz="1350" dirty="0" err="1">
                <a:solidFill>
                  <a:schemeClr val="accent2"/>
                </a:solidFill>
              </a:rPr>
              <a:t>linklist_output</a:t>
            </a:r>
            <a:r>
              <a:rPr lang="en-US" altLang="zh-CN" sz="1350" dirty="0"/>
              <a:t>(p-&gt;next)}</a:t>
            </a:r>
          </a:p>
          <a:p>
            <a:pPr eaLnBrk="1" hangingPunct="1">
              <a:buFontTx/>
              <a:buNone/>
              <a:defRPr/>
            </a:pPr>
            <a:r>
              <a:rPr lang="en-US" altLang="zh-CN" sz="1350" dirty="0"/>
              <a:t>}//</a:t>
            </a:r>
            <a:r>
              <a:rPr lang="en-US" altLang="zh-CN" sz="1350" dirty="0" err="1"/>
              <a:t>linklist_output</a:t>
            </a:r>
            <a:endParaRPr lang="en-US" altLang="zh-CN" sz="1350" dirty="0"/>
          </a:p>
        </p:txBody>
      </p:sp>
      <p:sp>
        <p:nvSpPr>
          <p:cNvPr id="10" name="Text Box 7"/>
          <p:cNvSpPr txBox="1">
            <a:spLocks noChangeArrowheads="1"/>
          </p:cNvSpPr>
          <p:nvPr/>
        </p:nvSpPr>
        <p:spPr bwMode="auto">
          <a:xfrm>
            <a:off x="5949950" y="4224338"/>
            <a:ext cx="3494088" cy="1296987"/>
          </a:xfrm>
          <a:prstGeom prst="rect">
            <a:avLst/>
          </a:prstGeom>
          <a:noFill/>
          <a:ln>
            <a:noFill/>
          </a:ln>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defRPr/>
            </a:pPr>
            <a:r>
              <a:rPr lang="en-US" altLang="zh-CN" sz="1350" dirty="0"/>
              <a:t>void </a:t>
            </a:r>
            <a:r>
              <a:rPr lang="en-US" altLang="zh-CN" sz="1350" b="1" dirty="0" err="1">
                <a:solidFill>
                  <a:schemeClr val="accent2"/>
                </a:solidFill>
              </a:rPr>
              <a:t>linklist_output</a:t>
            </a:r>
            <a:r>
              <a:rPr lang="en-US" altLang="zh-CN" sz="1350" dirty="0"/>
              <a:t>(</a:t>
            </a:r>
            <a:r>
              <a:rPr lang="en-US" altLang="zh-CN" sz="1350" dirty="0" err="1"/>
              <a:t>LNode</a:t>
            </a:r>
            <a:r>
              <a:rPr lang="en-US" altLang="zh-CN" sz="1350" dirty="0"/>
              <a:t> *p);</a:t>
            </a:r>
          </a:p>
          <a:p>
            <a:pPr eaLnBrk="1" hangingPunct="1">
              <a:buFontTx/>
              <a:buNone/>
              <a:defRPr/>
            </a:pPr>
            <a:r>
              <a:rPr lang="en-US" altLang="zh-CN" sz="1350" dirty="0"/>
              <a:t>{    if (p)</a:t>
            </a:r>
          </a:p>
          <a:p>
            <a:pPr eaLnBrk="1" hangingPunct="1">
              <a:buFontTx/>
              <a:buNone/>
              <a:defRPr/>
            </a:pPr>
            <a:r>
              <a:rPr lang="en-US" altLang="zh-CN" sz="1350" dirty="0"/>
              <a:t>      {   </a:t>
            </a:r>
            <a:r>
              <a:rPr lang="en-US" altLang="zh-CN" sz="1350" dirty="0" err="1"/>
              <a:t>printf</a:t>
            </a:r>
            <a:r>
              <a:rPr lang="en-US" altLang="zh-CN" sz="1350" dirty="0"/>
              <a:t>(p-&gt;data);</a:t>
            </a:r>
          </a:p>
          <a:p>
            <a:pPr eaLnBrk="1" hangingPunct="1">
              <a:buFontTx/>
              <a:buNone/>
              <a:defRPr/>
            </a:pPr>
            <a:r>
              <a:rPr lang="en-US" altLang="zh-CN" sz="1350" dirty="0"/>
              <a:t>           </a:t>
            </a:r>
            <a:r>
              <a:rPr lang="en-US" altLang="zh-CN" sz="1350" dirty="0" err="1">
                <a:solidFill>
                  <a:schemeClr val="accent2"/>
                </a:solidFill>
              </a:rPr>
              <a:t>linklist_output</a:t>
            </a:r>
            <a:r>
              <a:rPr lang="en-US" altLang="zh-CN" sz="1350" dirty="0"/>
              <a:t>(p-&gt;next)}</a:t>
            </a:r>
          </a:p>
          <a:p>
            <a:pPr eaLnBrk="1" hangingPunct="1">
              <a:buFontTx/>
              <a:buNone/>
              <a:defRPr/>
            </a:pPr>
            <a:r>
              <a:rPr lang="en-US" altLang="zh-CN" sz="1350" dirty="0"/>
              <a:t>}//</a:t>
            </a:r>
            <a:r>
              <a:rPr lang="en-US" altLang="zh-CN" sz="1350" dirty="0" err="1"/>
              <a:t>linklist_output</a:t>
            </a:r>
            <a:endParaRPr lang="en-US" altLang="zh-CN" sz="1350" dirty="0"/>
          </a:p>
        </p:txBody>
      </p:sp>
      <p:sp>
        <p:nvSpPr>
          <p:cNvPr id="12" name="Text Box 7"/>
          <p:cNvSpPr txBox="1">
            <a:spLocks noChangeArrowheads="1"/>
          </p:cNvSpPr>
          <p:nvPr/>
        </p:nvSpPr>
        <p:spPr bwMode="auto">
          <a:xfrm>
            <a:off x="7697788" y="5310188"/>
            <a:ext cx="3124200" cy="1296987"/>
          </a:xfrm>
          <a:prstGeom prst="rect">
            <a:avLst/>
          </a:prstGeom>
          <a:noFill/>
          <a:ln>
            <a:noFill/>
          </a:ln>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defRPr/>
            </a:pPr>
            <a:r>
              <a:rPr lang="en-US" altLang="zh-CN" sz="1350" dirty="0"/>
              <a:t>void </a:t>
            </a:r>
            <a:r>
              <a:rPr lang="en-US" altLang="zh-CN" sz="1350" b="1" dirty="0" err="1">
                <a:solidFill>
                  <a:schemeClr val="accent2"/>
                </a:solidFill>
              </a:rPr>
              <a:t>linklist_output</a:t>
            </a:r>
            <a:r>
              <a:rPr lang="en-US" altLang="zh-CN" sz="1350" dirty="0"/>
              <a:t>( NULL );</a:t>
            </a:r>
          </a:p>
          <a:p>
            <a:pPr eaLnBrk="1" hangingPunct="1">
              <a:buFontTx/>
              <a:buNone/>
              <a:defRPr/>
            </a:pPr>
            <a:r>
              <a:rPr lang="en-US" altLang="zh-CN" sz="1350" dirty="0"/>
              <a:t>{    if (p)</a:t>
            </a:r>
          </a:p>
          <a:p>
            <a:pPr eaLnBrk="1" hangingPunct="1">
              <a:buFontTx/>
              <a:buNone/>
              <a:defRPr/>
            </a:pPr>
            <a:r>
              <a:rPr lang="en-US" altLang="zh-CN" sz="1350" dirty="0"/>
              <a:t>      {   </a:t>
            </a:r>
            <a:r>
              <a:rPr lang="en-US" altLang="zh-CN" sz="1350" dirty="0" err="1"/>
              <a:t>printf</a:t>
            </a:r>
            <a:r>
              <a:rPr lang="en-US" altLang="zh-CN" sz="1350" dirty="0"/>
              <a:t>(p-&gt;data);</a:t>
            </a:r>
          </a:p>
          <a:p>
            <a:pPr eaLnBrk="1" hangingPunct="1">
              <a:buFontTx/>
              <a:buNone/>
              <a:defRPr/>
            </a:pPr>
            <a:r>
              <a:rPr lang="en-US" altLang="zh-CN" sz="1350" dirty="0"/>
              <a:t>           </a:t>
            </a:r>
            <a:r>
              <a:rPr lang="en-US" altLang="zh-CN" sz="1350" dirty="0" err="1">
                <a:solidFill>
                  <a:schemeClr val="accent2"/>
                </a:solidFill>
              </a:rPr>
              <a:t>linklist_output</a:t>
            </a:r>
            <a:r>
              <a:rPr lang="en-US" altLang="zh-CN" sz="1350" dirty="0"/>
              <a:t>(p-&gt;next)}</a:t>
            </a:r>
          </a:p>
          <a:p>
            <a:pPr eaLnBrk="1" hangingPunct="1">
              <a:buFontTx/>
              <a:buNone/>
              <a:defRPr/>
            </a:pPr>
            <a:r>
              <a:rPr lang="en-US" altLang="zh-CN" sz="1350" dirty="0"/>
              <a:t>}//</a:t>
            </a:r>
            <a:r>
              <a:rPr lang="en-US" altLang="zh-CN" sz="1350" dirty="0" err="1"/>
              <a:t>linklist_output</a:t>
            </a:r>
            <a:endParaRPr lang="en-US" altLang="zh-CN" sz="1350" dirty="0"/>
          </a:p>
        </p:txBody>
      </p:sp>
      <p:sp>
        <p:nvSpPr>
          <p:cNvPr id="13" name="文本框 12"/>
          <p:cNvSpPr txBox="1"/>
          <p:nvPr/>
        </p:nvSpPr>
        <p:spPr>
          <a:xfrm rot="2052314">
            <a:off x="5585286" y="3912153"/>
            <a:ext cx="510409" cy="623248"/>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r>
              <a:rPr lang="en-US" altLang="zh-CN" sz="3600" dirty="0">
                <a:solidFill>
                  <a:srgbClr val="000000"/>
                </a:solidFill>
                <a:latin typeface="+mn-lt"/>
                <a:ea typeface="+mn-ea"/>
                <a:sym typeface="Calibri"/>
              </a:rPr>
              <a:t>…</a:t>
            </a:r>
            <a:endParaRPr lang="zh-CN" altLang="en-US" sz="3600" dirty="0">
              <a:solidFill>
                <a:srgbClr val="000000"/>
              </a:solidFill>
              <a:latin typeface="+mn-lt"/>
              <a:ea typeface="+mn-ea"/>
              <a:sym typeface="Calibri"/>
            </a:endParaRPr>
          </a:p>
        </p:txBody>
      </p:sp>
      <p:sp>
        <p:nvSpPr>
          <p:cNvPr id="14" name="上弧形箭头 13"/>
          <p:cNvSpPr/>
          <p:nvPr/>
        </p:nvSpPr>
        <p:spPr>
          <a:xfrm rot="2054430">
            <a:off x="8232863" y="4935354"/>
            <a:ext cx="732620" cy="276999"/>
          </a:xfrm>
          <a:prstGeom prst="curvedDownArrow">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endParaRPr lang="zh-CN" altLang="en-US" sz="1350">
              <a:solidFill>
                <a:srgbClr val="000000"/>
              </a:solidFill>
              <a:latin typeface="+mn-lt"/>
              <a:ea typeface="+mn-ea"/>
              <a:sym typeface="Calibri"/>
            </a:endParaRPr>
          </a:p>
        </p:txBody>
      </p:sp>
      <p:sp>
        <p:nvSpPr>
          <p:cNvPr id="15" name="上弧形箭头 14"/>
          <p:cNvSpPr/>
          <p:nvPr/>
        </p:nvSpPr>
        <p:spPr>
          <a:xfrm rot="13143429">
            <a:off x="6968791" y="5394890"/>
            <a:ext cx="732620" cy="276999"/>
          </a:xfrm>
          <a:prstGeom prst="curvedDownArrow">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endParaRPr lang="zh-CN" altLang="en-US" sz="1350">
              <a:solidFill>
                <a:srgbClr val="000000"/>
              </a:solidFill>
              <a:latin typeface="+mn-lt"/>
              <a:ea typeface="+mn-ea"/>
              <a:sym typeface="Calibri"/>
            </a:endParaRPr>
          </a:p>
        </p:txBody>
      </p:sp>
      <p:sp>
        <p:nvSpPr>
          <p:cNvPr id="16" name="上弧形箭头 15"/>
          <p:cNvSpPr/>
          <p:nvPr/>
        </p:nvSpPr>
        <p:spPr>
          <a:xfrm rot="13143429">
            <a:off x="2973041" y="3198913"/>
            <a:ext cx="732620" cy="276999"/>
          </a:xfrm>
          <a:prstGeom prst="curvedDownArrow">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endParaRPr lang="zh-CN" altLang="en-US" sz="1350">
              <a:solidFill>
                <a:srgbClr val="000000"/>
              </a:solidFill>
              <a:latin typeface="+mn-lt"/>
              <a:ea typeface="+mn-ea"/>
              <a:sym typeface="Calibri"/>
            </a:endParaRPr>
          </a:p>
        </p:txBody>
      </p:sp>
      <p:sp>
        <p:nvSpPr>
          <p:cNvPr id="3" name="矩形 2"/>
          <p:cNvSpPr/>
          <p:nvPr/>
        </p:nvSpPr>
        <p:spPr>
          <a:xfrm>
            <a:off x="6056560" y="2132856"/>
            <a:ext cx="444366" cy="284693"/>
          </a:xfrm>
          <a:prstGeom prst="rect">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algn="ctr" defTabSz="685800" fontAlgn="auto">
              <a:spcBef>
                <a:spcPts val="0"/>
              </a:spcBef>
              <a:spcAft>
                <a:spcPts val="0"/>
              </a:spcAft>
              <a:defRPr/>
            </a:pPr>
            <a:r>
              <a:rPr lang="en-US" altLang="zh-CN" sz="1400" dirty="0">
                <a:solidFill>
                  <a:srgbClr val="000000"/>
                </a:solidFill>
                <a:latin typeface="+mn-lt"/>
                <a:ea typeface="+mn-ea"/>
                <a:sym typeface="Calibri"/>
              </a:rPr>
              <a:t>a</a:t>
            </a:r>
            <a:r>
              <a:rPr lang="en-US" altLang="zh-CN" sz="1400" baseline="-25000" dirty="0">
                <a:solidFill>
                  <a:srgbClr val="000000"/>
                </a:solidFill>
                <a:latin typeface="+mn-lt"/>
                <a:ea typeface="+mn-ea"/>
                <a:sym typeface="Calibri"/>
              </a:rPr>
              <a:t>1</a:t>
            </a:r>
            <a:endParaRPr lang="zh-CN" altLang="en-US" sz="1400" baseline="-25000" dirty="0">
              <a:solidFill>
                <a:srgbClr val="000000"/>
              </a:solidFill>
              <a:latin typeface="+mn-lt"/>
              <a:ea typeface="+mn-ea"/>
              <a:sym typeface="Calibri"/>
            </a:endParaRPr>
          </a:p>
        </p:txBody>
      </p:sp>
      <p:sp>
        <p:nvSpPr>
          <p:cNvPr id="7" name="矩形 6"/>
          <p:cNvSpPr/>
          <p:nvPr/>
        </p:nvSpPr>
        <p:spPr>
          <a:xfrm>
            <a:off x="6500927" y="2132856"/>
            <a:ext cx="194516" cy="284693"/>
          </a:xfrm>
          <a:prstGeom prst="rect">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lstStyle/>
          <a:p>
            <a:pPr defTabSz="685800" fontAlgn="auto">
              <a:spcBef>
                <a:spcPts val="0"/>
              </a:spcBef>
              <a:spcAft>
                <a:spcPts val="0"/>
              </a:spcAft>
              <a:defRPr/>
            </a:pPr>
            <a:r>
              <a:rPr lang="en-US" altLang="zh-CN" sz="1350" dirty="0">
                <a:solidFill>
                  <a:srgbClr val="000000"/>
                </a:solidFill>
                <a:latin typeface="+mn-lt"/>
                <a:ea typeface="+mn-ea"/>
                <a:sym typeface="Calibri"/>
              </a:rPr>
              <a:t> </a:t>
            </a:r>
            <a:endParaRPr lang="zh-CN" altLang="en-US" sz="1350" dirty="0">
              <a:solidFill>
                <a:srgbClr val="000000"/>
              </a:solidFill>
              <a:latin typeface="+mn-lt"/>
              <a:ea typeface="+mn-ea"/>
              <a:sym typeface="Calibri"/>
            </a:endParaRPr>
          </a:p>
        </p:txBody>
      </p:sp>
      <p:cxnSp>
        <p:nvCxnSpPr>
          <p:cNvPr id="32" name="直接箭头连接符 31"/>
          <p:cNvCxnSpPr/>
          <p:nvPr/>
        </p:nvCxnSpPr>
        <p:spPr>
          <a:xfrm>
            <a:off x="5454246" y="2276918"/>
            <a:ext cx="544769" cy="0"/>
          </a:xfrm>
          <a:prstGeom prst="straightConnector1">
            <a:avLst/>
          </a:prstGeom>
          <a:noFill/>
          <a:ln w="50800" cap="flat">
            <a:solidFill>
              <a:schemeClr val="accent1"/>
            </a:solidFill>
            <a:prstDash val="solid"/>
            <a:round/>
            <a:tailEnd type="stealth" w="lg" len="lg"/>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34" name="矩形 33"/>
          <p:cNvSpPr/>
          <p:nvPr/>
        </p:nvSpPr>
        <p:spPr>
          <a:xfrm>
            <a:off x="7207714" y="2132856"/>
            <a:ext cx="444366" cy="284693"/>
          </a:xfrm>
          <a:prstGeom prst="rect">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algn="ctr" defTabSz="685800" fontAlgn="auto">
              <a:spcBef>
                <a:spcPts val="0"/>
              </a:spcBef>
              <a:spcAft>
                <a:spcPts val="0"/>
              </a:spcAft>
              <a:defRPr/>
            </a:pPr>
            <a:r>
              <a:rPr lang="en-US" altLang="zh-CN" sz="1400" dirty="0">
                <a:solidFill>
                  <a:srgbClr val="000000"/>
                </a:solidFill>
                <a:latin typeface="+mn-lt"/>
                <a:ea typeface="+mn-ea"/>
                <a:sym typeface="Calibri"/>
              </a:rPr>
              <a:t>a</a:t>
            </a:r>
            <a:r>
              <a:rPr lang="en-US" altLang="zh-CN" sz="1400" baseline="-25000" dirty="0">
                <a:solidFill>
                  <a:srgbClr val="000000"/>
                </a:solidFill>
                <a:latin typeface="+mn-lt"/>
                <a:ea typeface="+mn-ea"/>
                <a:sym typeface="Calibri"/>
              </a:rPr>
              <a:t>1</a:t>
            </a:r>
            <a:endParaRPr lang="zh-CN" altLang="en-US" sz="1400" baseline="-25000" dirty="0">
              <a:solidFill>
                <a:srgbClr val="000000"/>
              </a:solidFill>
              <a:latin typeface="+mn-lt"/>
              <a:ea typeface="+mn-ea"/>
              <a:sym typeface="Calibri"/>
            </a:endParaRPr>
          </a:p>
        </p:txBody>
      </p:sp>
      <p:sp>
        <p:nvSpPr>
          <p:cNvPr id="35" name="矩形 34"/>
          <p:cNvSpPr/>
          <p:nvPr/>
        </p:nvSpPr>
        <p:spPr>
          <a:xfrm>
            <a:off x="7646149" y="2132856"/>
            <a:ext cx="198822" cy="284693"/>
          </a:xfrm>
          <a:prstGeom prst="rect">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lstStyle/>
          <a:p>
            <a:pPr defTabSz="685800" fontAlgn="auto">
              <a:spcBef>
                <a:spcPts val="0"/>
              </a:spcBef>
              <a:spcAft>
                <a:spcPts val="0"/>
              </a:spcAft>
              <a:defRPr/>
            </a:pPr>
            <a:r>
              <a:rPr lang="en-US" altLang="zh-CN" sz="1350" dirty="0">
                <a:solidFill>
                  <a:srgbClr val="000000"/>
                </a:solidFill>
                <a:latin typeface="+mn-lt"/>
                <a:ea typeface="+mn-ea"/>
                <a:sym typeface="Calibri"/>
              </a:rPr>
              <a:t> </a:t>
            </a:r>
            <a:endParaRPr lang="zh-CN" altLang="en-US" sz="1350" dirty="0">
              <a:solidFill>
                <a:srgbClr val="000000"/>
              </a:solidFill>
              <a:latin typeface="+mn-lt"/>
              <a:ea typeface="+mn-ea"/>
              <a:sym typeface="Calibri"/>
            </a:endParaRPr>
          </a:p>
        </p:txBody>
      </p:sp>
      <p:cxnSp>
        <p:nvCxnSpPr>
          <p:cNvPr id="36" name="直接箭头连接符 35"/>
          <p:cNvCxnSpPr/>
          <p:nvPr/>
        </p:nvCxnSpPr>
        <p:spPr>
          <a:xfrm>
            <a:off x="6695443" y="2276918"/>
            <a:ext cx="512271" cy="0"/>
          </a:xfrm>
          <a:prstGeom prst="straightConnector1">
            <a:avLst/>
          </a:prstGeom>
          <a:noFill/>
          <a:ln w="50800" cap="flat">
            <a:solidFill>
              <a:schemeClr val="accent1"/>
            </a:solidFill>
            <a:prstDash val="solid"/>
            <a:round/>
            <a:tailEnd type="stealth" w="lg" len="lg"/>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40" name="直接箭头连接符 39"/>
          <p:cNvCxnSpPr/>
          <p:nvPr/>
        </p:nvCxnSpPr>
        <p:spPr>
          <a:xfrm>
            <a:off x="7879818" y="2281490"/>
            <a:ext cx="448430" cy="12891"/>
          </a:xfrm>
          <a:prstGeom prst="straightConnector1">
            <a:avLst/>
          </a:prstGeom>
          <a:noFill/>
          <a:ln w="50800" cap="flat">
            <a:solidFill>
              <a:schemeClr val="accent1"/>
            </a:solidFill>
            <a:prstDash val="solid"/>
            <a:round/>
            <a:tailEnd type="stealth" w="lg" len="lg"/>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42" name="矩形 41"/>
          <p:cNvSpPr/>
          <p:nvPr/>
        </p:nvSpPr>
        <p:spPr>
          <a:xfrm>
            <a:off x="9183928" y="2162098"/>
            <a:ext cx="444366" cy="284693"/>
          </a:xfrm>
          <a:prstGeom prst="rect">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algn="ctr" defTabSz="685800" fontAlgn="auto">
              <a:spcBef>
                <a:spcPts val="0"/>
              </a:spcBef>
              <a:spcAft>
                <a:spcPts val="0"/>
              </a:spcAft>
              <a:defRPr/>
            </a:pPr>
            <a:r>
              <a:rPr lang="en-US" altLang="zh-CN" sz="1400" dirty="0">
                <a:solidFill>
                  <a:srgbClr val="000000"/>
                </a:solidFill>
                <a:latin typeface="+mn-lt"/>
                <a:ea typeface="+mn-ea"/>
                <a:sym typeface="Calibri"/>
              </a:rPr>
              <a:t>a</a:t>
            </a:r>
            <a:r>
              <a:rPr lang="en-US" altLang="zh-CN" sz="1400" baseline="-25000" dirty="0">
                <a:solidFill>
                  <a:srgbClr val="000000"/>
                </a:solidFill>
                <a:latin typeface="+mn-lt"/>
                <a:ea typeface="+mn-ea"/>
                <a:sym typeface="Calibri"/>
              </a:rPr>
              <a:t>n</a:t>
            </a:r>
            <a:endParaRPr lang="zh-CN" altLang="en-US" sz="1400" baseline="-25000" dirty="0">
              <a:solidFill>
                <a:srgbClr val="000000"/>
              </a:solidFill>
              <a:latin typeface="+mn-lt"/>
              <a:ea typeface="+mn-ea"/>
              <a:sym typeface="Calibri"/>
            </a:endParaRPr>
          </a:p>
        </p:txBody>
      </p:sp>
      <p:sp>
        <p:nvSpPr>
          <p:cNvPr id="43" name="矩形 42"/>
          <p:cNvSpPr/>
          <p:nvPr/>
        </p:nvSpPr>
        <p:spPr>
          <a:xfrm>
            <a:off x="9628294" y="2162098"/>
            <a:ext cx="171450" cy="284693"/>
          </a:xfrm>
          <a:prstGeom prst="rect">
            <a:avLst/>
          </a:prstGeom>
          <a:solidFill>
            <a:srgbClr val="FFFFFF"/>
          </a:solid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r>
              <a:rPr lang="en-US" altLang="zh-CN" sz="1400" dirty="0">
                <a:solidFill>
                  <a:srgbClr val="000000"/>
                </a:solidFill>
                <a:latin typeface="+mn-lt"/>
                <a:ea typeface="+mn-ea"/>
                <a:sym typeface="Calibri"/>
              </a:rPr>
              <a:t>^</a:t>
            </a:r>
            <a:endParaRPr lang="zh-CN" altLang="en-US" sz="1400" dirty="0">
              <a:solidFill>
                <a:srgbClr val="000000"/>
              </a:solidFill>
              <a:latin typeface="+mn-lt"/>
              <a:ea typeface="+mn-ea"/>
              <a:sym typeface="Calibri"/>
            </a:endParaRPr>
          </a:p>
        </p:txBody>
      </p:sp>
      <p:cxnSp>
        <p:nvCxnSpPr>
          <p:cNvPr id="44" name="直接箭头连接符 43"/>
          <p:cNvCxnSpPr/>
          <p:nvPr/>
        </p:nvCxnSpPr>
        <p:spPr>
          <a:xfrm>
            <a:off x="8728575" y="2294381"/>
            <a:ext cx="455353" cy="0"/>
          </a:xfrm>
          <a:prstGeom prst="straightConnector1">
            <a:avLst/>
          </a:prstGeom>
          <a:noFill/>
          <a:ln w="50800" cap="flat">
            <a:solidFill>
              <a:schemeClr val="accent1"/>
            </a:solidFill>
            <a:prstDash val="solid"/>
            <a:round/>
            <a:tailEnd type="stealth" w="lg" len="lg"/>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46" name="文本框 45"/>
          <p:cNvSpPr txBox="1"/>
          <p:nvPr/>
        </p:nvSpPr>
        <p:spPr>
          <a:xfrm>
            <a:off x="8380486" y="1975615"/>
            <a:ext cx="320906" cy="484748"/>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r>
              <a:rPr lang="en-US" altLang="zh-CN" sz="2700" dirty="0">
                <a:solidFill>
                  <a:srgbClr val="000000"/>
                </a:solidFill>
                <a:latin typeface="+mn-lt"/>
                <a:ea typeface="+mn-ea"/>
                <a:sym typeface="Calibri"/>
              </a:rPr>
              <a:t>…</a:t>
            </a:r>
            <a:endParaRPr lang="zh-CN" altLang="en-US" sz="2700" dirty="0">
              <a:solidFill>
                <a:srgbClr val="000000"/>
              </a:solidFill>
              <a:latin typeface="+mn-lt"/>
              <a:ea typeface="+mn-ea"/>
              <a:sym typeface="Calibri"/>
            </a:endParaRPr>
          </a:p>
        </p:txBody>
      </p:sp>
      <p:grpSp>
        <p:nvGrpSpPr>
          <p:cNvPr id="57" name="组合 56"/>
          <p:cNvGrpSpPr>
            <a:grpSpLocks/>
          </p:cNvGrpSpPr>
          <p:nvPr/>
        </p:nvGrpSpPr>
        <p:grpSpPr bwMode="auto">
          <a:xfrm>
            <a:off x="7418336" y="2478088"/>
            <a:ext cx="65053" cy="496887"/>
            <a:chOff x="3466667" y="3076327"/>
            <a:chExt cx="14254888" cy="1323094"/>
          </a:xfrm>
        </p:grpSpPr>
        <p:sp>
          <p:nvSpPr>
            <p:cNvPr id="37" name="文本框 36"/>
            <p:cNvSpPr txBox="1"/>
            <p:nvPr/>
          </p:nvSpPr>
          <p:spPr>
            <a:xfrm>
              <a:off x="16123509" y="3660758"/>
              <a:ext cx="1598046" cy="738663"/>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r>
                <a:rPr lang="en-US" altLang="zh-CN" sz="1350" dirty="0">
                  <a:ln w="0"/>
                  <a:solidFill>
                    <a:schemeClr val="accent1"/>
                  </a:solidFill>
                  <a:effectLst>
                    <a:outerShdw blurRad="38100" dist="25400" dir="5400000" algn="ctr" rotWithShape="0">
                      <a:srgbClr val="6E747A">
                        <a:alpha val="43000"/>
                      </a:srgbClr>
                    </a:outerShdw>
                  </a:effectLst>
                  <a:latin typeface="+mn-lt"/>
                  <a:ea typeface="+mn-ea"/>
                  <a:sym typeface="Calibri"/>
                </a:rPr>
                <a:t>P</a:t>
              </a:r>
            </a:p>
          </p:txBody>
        </p:sp>
        <p:cxnSp>
          <p:nvCxnSpPr>
            <p:cNvPr id="47" name="直接箭头连接符 46"/>
            <p:cNvCxnSpPr/>
            <p:nvPr/>
          </p:nvCxnSpPr>
          <p:spPr>
            <a:xfrm flipV="1">
              <a:off x="-30844756" y="3076327"/>
              <a:ext cx="0" cy="953762"/>
            </a:xfrm>
            <a:prstGeom prst="straightConnector1">
              <a:avLst/>
            </a:prstGeom>
            <a:noFill/>
            <a:ln w="50800" cap="flat">
              <a:solidFill>
                <a:schemeClr val="accent1"/>
              </a:solidFill>
              <a:prstDash val="solid"/>
              <a:round/>
              <a:tailEnd type="stealth" w="lg" len="lg"/>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grpSp>
      <p:grpSp>
        <p:nvGrpSpPr>
          <p:cNvPr id="58" name="组合 57"/>
          <p:cNvGrpSpPr>
            <a:grpSpLocks/>
          </p:cNvGrpSpPr>
          <p:nvPr/>
        </p:nvGrpSpPr>
        <p:grpSpPr bwMode="auto">
          <a:xfrm>
            <a:off x="8682501" y="2491713"/>
            <a:ext cx="76870" cy="496888"/>
            <a:chOff x="1130363" y="3076327"/>
            <a:chExt cx="21866821" cy="1323094"/>
          </a:xfrm>
        </p:grpSpPr>
        <p:sp>
          <p:nvSpPr>
            <p:cNvPr id="50" name="文本框 49"/>
            <p:cNvSpPr txBox="1"/>
            <p:nvPr/>
          </p:nvSpPr>
          <p:spPr>
            <a:xfrm>
              <a:off x="20047383" y="3660758"/>
              <a:ext cx="2949801" cy="738663"/>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p>
              <a:pPr defTabSz="685800" fontAlgn="auto">
                <a:spcBef>
                  <a:spcPts val="0"/>
                </a:spcBef>
                <a:spcAft>
                  <a:spcPts val="0"/>
                </a:spcAft>
                <a:defRPr/>
              </a:pPr>
              <a:r>
                <a:rPr lang="en-US" altLang="zh-CN" sz="1350" dirty="0">
                  <a:ln w="0"/>
                  <a:solidFill>
                    <a:schemeClr val="accent1"/>
                  </a:solidFill>
                  <a:effectLst>
                    <a:outerShdw blurRad="38100" dist="25400" dir="5400000" algn="ctr" rotWithShape="0">
                      <a:srgbClr val="6E747A">
                        <a:alpha val="43000"/>
                      </a:srgbClr>
                    </a:outerShdw>
                  </a:effectLst>
                  <a:latin typeface="+mn-lt"/>
                  <a:ea typeface="+mn-ea"/>
                  <a:sym typeface="Calibri"/>
                </a:rPr>
                <a:t>P</a:t>
              </a:r>
            </a:p>
          </p:txBody>
        </p:sp>
        <p:cxnSp>
          <p:nvCxnSpPr>
            <p:cNvPr id="51" name="直接箭头连接符 50"/>
            <p:cNvCxnSpPr/>
            <p:nvPr/>
          </p:nvCxnSpPr>
          <p:spPr>
            <a:xfrm flipV="1">
              <a:off x="-45983223" y="3076327"/>
              <a:ext cx="0" cy="953762"/>
            </a:xfrm>
            <a:prstGeom prst="straightConnector1">
              <a:avLst/>
            </a:prstGeom>
            <a:noFill/>
            <a:ln w="50800" cap="flat">
              <a:solidFill>
                <a:schemeClr val="accent1"/>
              </a:solidFill>
              <a:prstDash val="solid"/>
              <a:round/>
              <a:tailEnd type="stealth" w="lg" len="lg"/>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grpSp>
      <p:grpSp>
        <p:nvGrpSpPr>
          <p:cNvPr id="59" name="组合 58"/>
          <p:cNvGrpSpPr>
            <a:grpSpLocks/>
          </p:cNvGrpSpPr>
          <p:nvPr/>
        </p:nvGrpSpPr>
        <p:grpSpPr bwMode="auto">
          <a:xfrm>
            <a:off x="9202817" y="2507311"/>
            <a:ext cx="229974" cy="496887"/>
            <a:chOff x="-76547924" y="3132118"/>
            <a:chExt cx="107681079" cy="1323717"/>
          </a:xfrm>
        </p:grpSpPr>
        <p:sp>
          <p:nvSpPr>
            <p:cNvPr id="52" name="文本框 51"/>
            <p:cNvSpPr txBox="1"/>
            <p:nvPr/>
          </p:nvSpPr>
          <p:spPr>
            <a:xfrm flipH="1">
              <a:off x="23877736" y="3717171"/>
              <a:ext cx="7255419" cy="738664"/>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spcFirstLastPara="1" wrap="square" lIns="34290" tIns="34290" rIns="34290" bIns="34290" spcCol="38100">
              <a:spAutoFit/>
            </a:bodyPr>
            <a:lstStyle/>
            <a:p>
              <a:pPr defTabSz="685800" fontAlgn="auto">
                <a:spcBef>
                  <a:spcPts val="0"/>
                </a:spcBef>
                <a:spcAft>
                  <a:spcPts val="0"/>
                </a:spcAft>
                <a:defRPr/>
              </a:pPr>
              <a:r>
                <a:rPr lang="en-US" altLang="zh-CN" sz="1350" dirty="0">
                  <a:ln w="0"/>
                  <a:solidFill>
                    <a:schemeClr val="accent1"/>
                  </a:solidFill>
                  <a:effectLst>
                    <a:outerShdw blurRad="38100" dist="25400" dir="5400000" algn="ctr" rotWithShape="0">
                      <a:srgbClr val="6E747A">
                        <a:alpha val="43000"/>
                      </a:srgbClr>
                    </a:outerShdw>
                  </a:effectLst>
                  <a:latin typeface="+mn-lt"/>
                  <a:ea typeface="+mn-ea"/>
                  <a:sym typeface="Calibri"/>
                </a:rPr>
                <a:t>P</a:t>
              </a:r>
            </a:p>
          </p:txBody>
        </p:sp>
        <p:cxnSp>
          <p:nvCxnSpPr>
            <p:cNvPr id="53" name="直接箭头连接符 52"/>
            <p:cNvCxnSpPr/>
            <p:nvPr/>
          </p:nvCxnSpPr>
          <p:spPr>
            <a:xfrm flipV="1">
              <a:off x="-76547924" y="3132118"/>
              <a:ext cx="0" cy="953762"/>
            </a:xfrm>
            <a:prstGeom prst="straightConnector1">
              <a:avLst/>
            </a:prstGeom>
            <a:noFill/>
            <a:ln w="50800" cap="flat">
              <a:solidFill>
                <a:schemeClr val="accent1"/>
              </a:solidFill>
              <a:prstDash val="solid"/>
              <a:round/>
              <a:tailEnd type="stealth" w="lg" len="lg"/>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grpSp>
      <p:grpSp>
        <p:nvGrpSpPr>
          <p:cNvPr id="56" name="组合 55"/>
          <p:cNvGrpSpPr>
            <a:grpSpLocks/>
          </p:cNvGrpSpPr>
          <p:nvPr/>
        </p:nvGrpSpPr>
        <p:grpSpPr bwMode="auto">
          <a:xfrm>
            <a:off x="6174106" y="2500313"/>
            <a:ext cx="52629" cy="495300"/>
            <a:chOff x="-484942" y="3061306"/>
            <a:chExt cx="15574343" cy="1323096"/>
          </a:xfrm>
        </p:grpSpPr>
        <p:sp>
          <p:nvSpPr>
            <p:cNvPr id="54" name="文本框 53"/>
            <p:cNvSpPr txBox="1"/>
            <p:nvPr/>
          </p:nvSpPr>
          <p:spPr>
            <a:xfrm>
              <a:off x="13219544" y="3645739"/>
              <a:ext cx="1869857" cy="738663"/>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spcFirstLastPara="1" lIns="34290" tIns="34290" rIns="34290" bIns="34290" spcCol="38100">
              <a:spAutoFit/>
            </a:bodyPr>
            <a:lstStyle>
              <a:defPPr>
                <a:defRPr lang="zh-CN"/>
              </a:defPPr>
              <a:lvl1pPr defTabSz="685800" fontAlgn="auto">
                <a:spcBef>
                  <a:spcPts val="0"/>
                </a:spcBef>
                <a:spcAft>
                  <a:spcPts val="0"/>
                </a:spcAft>
                <a:defRPr sz="1350">
                  <a:ln w="0"/>
                  <a:solidFill>
                    <a:schemeClr val="accent1"/>
                  </a:solidFill>
                  <a:effectLst>
                    <a:outerShdw blurRad="38100" dist="25400" dir="5400000" algn="ctr" rotWithShape="0">
                      <a:srgbClr val="6E747A">
                        <a:alpha val="43000"/>
                      </a:srgbClr>
                    </a:outerShdw>
                  </a:effectLst>
                  <a:latin typeface="+mn-lt"/>
                  <a:ea typeface="+mn-ea"/>
                </a:defRPr>
              </a:lvl1pPr>
            </a:lstStyle>
            <a:p>
              <a:pPr>
                <a:defRPr/>
              </a:pPr>
              <a:r>
                <a:rPr lang="en-US" altLang="zh-CN" dirty="0"/>
                <a:t>P</a:t>
              </a:r>
            </a:p>
          </p:txBody>
        </p:sp>
        <p:cxnSp>
          <p:nvCxnSpPr>
            <p:cNvPr id="55" name="直接箭头连接符 54"/>
            <p:cNvCxnSpPr/>
            <p:nvPr/>
          </p:nvCxnSpPr>
          <p:spPr>
            <a:xfrm flipV="1">
              <a:off x="-36108069" y="3061306"/>
              <a:ext cx="0" cy="953763"/>
            </a:xfrm>
            <a:prstGeom prst="straightConnector1">
              <a:avLst/>
            </a:prstGeom>
            <a:noFill/>
            <a:ln w="50800" cap="flat">
              <a:solidFill>
                <a:schemeClr val="accent1"/>
              </a:solidFill>
              <a:prstDash val="solid"/>
              <a:round/>
              <a:tailEnd type="stealth" w="lg" len="lg"/>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grpSp>
      <p:sp>
        <p:nvSpPr>
          <p:cNvPr id="108570" name="标题 1"/>
          <p:cNvSpPr>
            <a:spLocks noGrp="1"/>
          </p:cNvSpPr>
          <p:nvPr>
            <p:ph type="title"/>
          </p:nvPr>
        </p:nvSpPr>
        <p:spPr>
          <a:xfrm>
            <a:off x="515938" y="273050"/>
            <a:ext cx="10321925" cy="863600"/>
          </a:xfrm>
        </p:spPr>
        <p:txBody>
          <a:bodyPr/>
          <a:lstStyle/>
          <a:p>
            <a:pPr eaLnBrk="1" hangingPunct="1"/>
            <a:endParaRPr lang="zh-CN" altLang="en-US" smtClean="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nodeType="afterGroup">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5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57"/>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par>
                          <p:cTn id="36" fill="hold" nodeType="afterGroup">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58"/>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527050" y="333375"/>
            <a:ext cx="10321925" cy="863600"/>
          </a:xfrm>
        </p:spPr>
        <p:txBody>
          <a:bodyPr/>
          <a:lstStyle/>
          <a:p>
            <a:pPr eaLnBrk="1" hangingPunct="1"/>
            <a:r>
              <a:rPr lang="en-US" altLang="zh-CN" b="1" smtClean="0"/>
              <a:t>3) </a:t>
            </a:r>
            <a:r>
              <a:rPr lang="zh-CN" altLang="en-US" b="1" smtClean="0"/>
              <a:t>利用栈模拟递归</a:t>
            </a:r>
            <a:r>
              <a:rPr lang="en-US" altLang="zh-CN" b="1" smtClean="0">
                <a:latin typeface="Arial" panose="020B0604020202020204" pitchFamily="34" charset="0"/>
              </a:rPr>
              <a:t>—</a:t>
            </a:r>
            <a:r>
              <a:rPr lang="zh-CN" altLang="en-US" b="1" smtClean="0"/>
              <a:t>通用方法</a:t>
            </a:r>
            <a:endParaRPr lang="zh-CN" altLang="en-US" sz="3200" smtClean="0"/>
          </a:p>
        </p:txBody>
      </p:sp>
      <p:sp>
        <p:nvSpPr>
          <p:cNvPr id="109571" name="Rectangle 3"/>
          <p:cNvSpPr>
            <a:spLocks noGrp="1" noChangeArrowheads="1"/>
          </p:cNvSpPr>
          <p:nvPr>
            <p:ph idx="1"/>
          </p:nvPr>
        </p:nvSpPr>
        <p:spPr>
          <a:xfrm>
            <a:off x="527050" y="1501775"/>
            <a:ext cx="10321925" cy="4351338"/>
          </a:xfrm>
        </p:spPr>
        <p:txBody>
          <a:bodyPr/>
          <a:lstStyle/>
          <a:p>
            <a:pPr eaLnBrk="1" hangingPunct="1"/>
            <a:r>
              <a:rPr lang="zh-CN" altLang="en-US" sz="2100" b="1" smtClean="0">
                <a:ea typeface="楷体_GB2312" panose="02010609030101010101" pitchFamily="49" charset="-122"/>
              </a:rPr>
              <a:t>如果是递归函数，需改写为递归过程</a:t>
            </a:r>
            <a:endParaRPr lang="zh-CN" altLang="en-US" sz="2100" smtClean="0"/>
          </a:p>
          <a:p>
            <a:pPr eaLnBrk="1" hangingPunct="1">
              <a:buFont typeface="Wingdings" panose="05000000000000000000" pitchFamily="2" charset="2"/>
              <a:buNone/>
            </a:pPr>
            <a:r>
              <a:rPr lang="zh-CN" altLang="en-US" sz="2100" smtClean="0"/>
              <a:t>     例：求</a:t>
            </a:r>
            <a:r>
              <a:rPr lang="en-US" altLang="zh-CN" sz="2100" smtClean="0"/>
              <a:t>n!</a:t>
            </a:r>
          </a:p>
        </p:txBody>
      </p:sp>
      <p:sp>
        <p:nvSpPr>
          <p:cNvPr id="12" name="Rectangle 19"/>
          <p:cNvSpPr>
            <a:spLocks noChangeArrowheads="1"/>
          </p:cNvSpPr>
          <p:nvPr/>
        </p:nvSpPr>
        <p:spPr bwMode="auto">
          <a:xfrm>
            <a:off x="2209800" y="2492375"/>
            <a:ext cx="5334000" cy="3886200"/>
          </a:xfrm>
          <a:prstGeom prst="rect">
            <a:avLst/>
          </a:prstGeom>
          <a:solidFill>
            <a:schemeClr val="accent1">
              <a:lumMod val="60000"/>
              <a:lumOff val="40000"/>
            </a:schemeClr>
          </a:solidFill>
          <a:ln>
            <a:noFill/>
          </a:ln>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FontTx/>
              <a:buNone/>
              <a:defRPr/>
            </a:pPr>
            <a:r>
              <a:rPr lang="en-US" altLang="zh-CN" sz="2400" dirty="0">
                <a:solidFill>
                  <a:schemeClr val="bg1"/>
                </a:solidFill>
              </a:rPr>
              <a:t>void  </a:t>
            </a:r>
            <a:r>
              <a:rPr lang="en-US" altLang="zh-CN" sz="2400" b="1" dirty="0">
                <a:solidFill>
                  <a:schemeClr val="bg1"/>
                </a:solidFill>
              </a:rPr>
              <a:t> fact</a:t>
            </a:r>
            <a:r>
              <a:rPr lang="en-US" altLang="zh-CN" sz="2400" dirty="0">
                <a:solidFill>
                  <a:schemeClr val="bg1"/>
                </a:solidFill>
              </a:rPr>
              <a:t>(</a:t>
            </a:r>
            <a:r>
              <a:rPr lang="en-US" altLang="zh-CN" sz="2400" dirty="0" err="1">
                <a:solidFill>
                  <a:schemeClr val="bg1"/>
                </a:solidFill>
              </a:rPr>
              <a:t>int</a:t>
            </a:r>
            <a:r>
              <a:rPr lang="en-US" altLang="zh-CN" sz="2400" dirty="0">
                <a:solidFill>
                  <a:schemeClr val="bg1"/>
                </a:solidFill>
              </a:rPr>
              <a:t> n, </a:t>
            </a:r>
            <a:r>
              <a:rPr lang="en-US" altLang="zh-CN" sz="2400" dirty="0" err="1">
                <a:solidFill>
                  <a:schemeClr val="bg1"/>
                </a:solidFill>
              </a:rPr>
              <a:t>int</a:t>
            </a:r>
            <a:r>
              <a:rPr lang="en-US" altLang="zh-CN" sz="2400" dirty="0">
                <a:solidFill>
                  <a:schemeClr val="bg1"/>
                </a:solidFill>
              </a:rPr>
              <a:t> &amp;f)</a:t>
            </a:r>
          </a:p>
          <a:p>
            <a:pPr eaLnBrk="1" hangingPunct="1">
              <a:lnSpc>
                <a:spcPct val="150000"/>
              </a:lnSpc>
              <a:buFontTx/>
              <a:buNone/>
              <a:defRPr/>
            </a:pPr>
            <a:r>
              <a:rPr lang="en-US" altLang="zh-CN" sz="2400" dirty="0">
                <a:solidFill>
                  <a:schemeClr val="bg1"/>
                </a:solidFill>
              </a:rPr>
              <a:t>      {0: if (n==0)    f=1;</a:t>
            </a:r>
          </a:p>
          <a:p>
            <a:pPr eaLnBrk="1" hangingPunct="1">
              <a:lnSpc>
                <a:spcPct val="150000"/>
              </a:lnSpc>
              <a:buFontTx/>
              <a:buNone/>
              <a:defRPr/>
            </a:pPr>
            <a:r>
              <a:rPr lang="en-US" altLang="zh-CN" sz="2400" dirty="0">
                <a:solidFill>
                  <a:schemeClr val="bg1"/>
                </a:solidFill>
              </a:rPr>
              <a:t>            else  {  1: fact(n-1,f);</a:t>
            </a:r>
          </a:p>
          <a:p>
            <a:pPr eaLnBrk="1" hangingPunct="1">
              <a:lnSpc>
                <a:spcPct val="150000"/>
              </a:lnSpc>
              <a:buFontTx/>
              <a:buNone/>
              <a:defRPr/>
            </a:pPr>
            <a:r>
              <a:rPr lang="en-US" altLang="zh-CN" sz="2400" dirty="0">
                <a:solidFill>
                  <a:schemeClr val="bg1"/>
                </a:solidFill>
              </a:rPr>
              <a:t>                        2: f=n*f</a:t>
            </a:r>
          </a:p>
          <a:p>
            <a:pPr eaLnBrk="1" hangingPunct="1">
              <a:lnSpc>
                <a:spcPct val="150000"/>
              </a:lnSpc>
              <a:buFontTx/>
              <a:buNone/>
              <a:defRPr/>
            </a:pPr>
            <a:r>
              <a:rPr lang="en-US" altLang="zh-CN" sz="2400" dirty="0">
                <a:solidFill>
                  <a:schemeClr val="bg1"/>
                </a:solidFill>
              </a:rPr>
              <a:t>                    }</a:t>
            </a:r>
          </a:p>
          <a:p>
            <a:pPr eaLnBrk="1" hangingPunct="1">
              <a:lnSpc>
                <a:spcPct val="150000"/>
              </a:lnSpc>
              <a:buFontTx/>
              <a:buNone/>
              <a:defRPr/>
            </a:pPr>
            <a:r>
              <a:rPr lang="en-US" altLang="zh-CN" sz="2400" dirty="0">
                <a:solidFill>
                  <a:schemeClr val="bg1"/>
                </a:solidFill>
              </a:rPr>
              <a:t>       } //fact</a:t>
            </a:r>
          </a:p>
        </p:txBody>
      </p:sp>
      <p:sp>
        <p:nvSpPr>
          <p:cNvPr id="13" name="Text Box 7"/>
          <p:cNvSpPr txBox="1">
            <a:spLocks noChangeArrowheads="1"/>
          </p:cNvSpPr>
          <p:nvPr/>
        </p:nvSpPr>
        <p:spPr bwMode="auto">
          <a:xfrm>
            <a:off x="2892425" y="29495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b="1">
                <a:solidFill>
                  <a:srgbClr val="FFFF00"/>
                </a:solidFill>
                <a:latin typeface="Times New Roman" panose="02020603050405020304" pitchFamily="18" charset="0"/>
                <a:ea typeface="宋体" panose="02010600030101010101" pitchFamily="2" charset="-122"/>
              </a:rPr>
              <a:t> InitStack(S);</a:t>
            </a:r>
            <a:endParaRPr kumimoji="1" lang="en-US" altLang="zh-CN" sz="2400">
              <a:solidFill>
                <a:schemeClr val="accent2"/>
              </a:solidFill>
              <a:latin typeface="Times New Roman" panose="02020603050405020304" pitchFamily="18" charset="0"/>
              <a:ea typeface="宋体" panose="02010600030101010101" pitchFamily="2" charset="-122"/>
            </a:endParaRPr>
          </a:p>
        </p:txBody>
      </p:sp>
      <p:sp>
        <p:nvSpPr>
          <p:cNvPr id="14" name="Line 9"/>
          <p:cNvSpPr>
            <a:spLocks noChangeShapeType="1"/>
          </p:cNvSpPr>
          <p:nvPr/>
        </p:nvSpPr>
        <p:spPr bwMode="auto">
          <a:xfrm>
            <a:off x="4191000" y="4092575"/>
            <a:ext cx="1371600" cy="7620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 name="组合 14"/>
          <p:cNvGrpSpPr>
            <a:grpSpLocks/>
          </p:cNvGrpSpPr>
          <p:nvPr/>
        </p:nvGrpSpPr>
        <p:grpSpPr bwMode="auto">
          <a:xfrm>
            <a:off x="5257800" y="3254375"/>
            <a:ext cx="4789488" cy="793750"/>
            <a:chOff x="7869194" y="7867663"/>
            <a:chExt cx="4789488" cy="794064"/>
          </a:xfrm>
        </p:grpSpPr>
        <p:sp>
          <p:nvSpPr>
            <p:cNvPr id="109579" name="Line 13"/>
            <p:cNvSpPr>
              <a:spLocks noChangeShapeType="1"/>
            </p:cNvSpPr>
            <p:nvPr/>
          </p:nvSpPr>
          <p:spPr bwMode="auto">
            <a:xfrm>
              <a:off x="7869194" y="8324863"/>
              <a:ext cx="381000" cy="0"/>
            </a:xfrm>
            <a:prstGeom prst="line">
              <a:avLst/>
            </a:prstGeom>
            <a:noFill/>
            <a:ln w="9525">
              <a:solidFill>
                <a:srgbClr val="FFFF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0" name="Line 14"/>
            <p:cNvSpPr>
              <a:spLocks noChangeShapeType="1"/>
            </p:cNvSpPr>
            <p:nvPr/>
          </p:nvSpPr>
          <p:spPr bwMode="auto">
            <a:xfrm>
              <a:off x="7869194" y="8324863"/>
              <a:ext cx="0" cy="228600"/>
            </a:xfrm>
            <a:prstGeom prst="line">
              <a:avLst/>
            </a:prstGeom>
            <a:noFill/>
            <a:ln w="952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1" name="Text Box 21"/>
            <p:cNvSpPr txBox="1">
              <a:spLocks noChangeArrowheads="1"/>
            </p:cNvSpPr>
            <p:nvPr/>
          </p:nvSpPr>
          <p:spPr bwMode="auto">
            <a:xfrm>
              <a:off x="8250194" y="7867663"/>
              <a:ext cx="4408488" cy="794064"/>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70000"/>
                </a:lnSpc>
                <a:spcBef>
                  <a:spcPct val="50000"/>
                </a:spcBef>
                <a:buFontTx/>
                <a:buNone/>
              </a:pPr>
              <a:r>
                <a:rPr kumimoji="1" lang="en-US" altLang="zh-CN" sz="2400">
                  <a:solidFill>
                    <a:schemeClr val="accent2"/>
                  </a:solidFill>
                  <a:latin typeface="Times New Roman" panose="02020603050405020304" pitchFamily="18" charset="0"/>
                  <a:ea typeface="宋体" panose="02010600030101010101" pitchFamily="2" charset="-122"/>
                </a:rPr>
                <a:t>Push( S, (2, n, f ));</a:t>
              </a:r>
            </a:p>
            <a:p>
              <a:pPr eaLnBrk="1" hangingPunct="1">
                <a:lnSpc>
                  <a:spcPct val="70000"/>
                </a:lnSpc>
                <a:spcBef>
                  <a:spcPct val="50000"/>
                </a:spcBef>
                <a:buFontTx/>
                <a:buNone/>
              </a:pPr>
              <a:r>
                <a:rPr kumimoji="1" lang="en-US" altLang="zh-CN" sz="2400">
                  <a:solidFill>
                    <a:schemeClr val="accent2"/>
                  </a:solidFill>
                  <a:latin typeface="Times New Roman" panose="02020603050405020304" pitchFamily="18" charset="0"/>
                  <a:ea typeface="宋体" panose="02010600030101010101" pitchFamily="2" charset="-122"/>
                </a:rPr>
                <a:t>n=n-1; goto 0; </a:t>
              </a:r>
            </a:p>
          </p:txBody>
        </p:sp>
      </p:grpSp>
      <p:grpSp>
        <p:nvGrpSpPr>
          <p:cNvPr id="19" name="组合 18"/>
          <p:cNvGrpSpPr>
            <a:grpSpLocks/>
          </p:cNvGrpSpPr>
          <p:nvPr/>
        </p:nvGrpSpPr>
        <p:grpSpPr bwMode="auto">
          <a:xfrm>
            <a:off x="3200400" y="4473575"/>
            <a:ext cx="6934200" cy="2109788"/>
            <a:chOff x="5811794" y="9086863"/>
            <a:chExt cx="6934200" cy="2109788"/>
          </a:xfrm>
        </p:grpSpPr>
        <p:sp>
          <p:nvSpPr>
            <p:cNvPr id="109577" name="Line 15"/>
            <p:cNvSpPr>
              <a:spLocks noChangeShapeType="1"/>
            </p:cNvSpPr>
            <p:nvPr/>
          </p:nvSpPr>
          <p:spPr bwMode="auto">
            <a:xfrm flipH="1">
              <a:off x="5811794" y="10306063"/>
              <a:ext cx="1981200" cy="0"/>
            </a:xfrm>
            <a:prstGeom prst="line">
              <a:avLst/>
            </a:prstGeom>
            <a:noFill/>
            <a:ln w="9525">
              <a:solidFill>
                <a:srgbClr val="FFFF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78" name="Text Box 22"/>
            <p:cNvSpPr txBox="1">
              <a:spLocks noChangeArrowheads="1"/>
            </p:cNvSpPr>
            <p:nvPr/>
          </p:nvSpPr>
          <p:spPr bwMode="auto">
            <a:xfrm>
              <a:off x="7792994" y="9086863"/>
              <a:ext cx="4953000" cy="2109788"/>
            </a:xfrm>
            <a:prstGeom prst="rect">
              <a:avLst/>
            </a:prstGeom>
            <a:solidFill>
              <a:srgbClr val="FFFF99"/>
            </a:solidFill>
            <a:ln w="9525">
              <a:solidFill>
                <a:srgbClr val="FFFF00"/>
              </a:solidFill>
              <a:miter lim="800000"/>
              <a:headEnd/>
              <a:tailEnd/>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70000"/>
                </a:lnSpc>
                <a:spcBef>
                  <a:spcPct val="50000"/>
                </a:spcBef>
                <a:buFontTx/>
                <a:buNone/>
              </a:pPr>
              <a:r>
                <a:rPr kumimoji="1" lang="en-US" altLang="zh-CN" sz="2400">
                  <a:solidFill>
                    <a:schemeClr val="accent2"/>
                  </a:solidFill>
                  <a:latin typeface="Times New Roman" panose="02020603050405020304" pitchFamily="18" charset="0"/>
                  <a:ea typeface="宋体" panose="02010600030101010101" pitchFamily="2" charset="-122"/>
                </a:rPr>
                <a:t> if ( !StackEmpty(S) )</a:t>
              </a:r>
            </a:p>
            <a:p>
              <a:pPr eaLnBrk="1" hangingPunct="1">
                <a:lnSpc>
                  <a:spcPct val="70000"/>
                </a:lnSpc>
                <a:spcBef>
                  <a:spcPct val="50000"/>
                </a:spcBef>
                <a:buFontTx/>
                <a:buNone/>
              </a:pPr>
              <a:r>
                <a:rPr kumimoji="1" lang="en-US" altLang="zh-CN" sz="2400">
                  <a:solidFill>
                    <a:schemeClr val="accent2"/>
                  </a:solidFill>
                  <a:latin typeface="Times New Roman" panose="02020603050405020304" pitchFamily="18" charset="0"/>
                  <a:ea typeface="宋体" panose="02010600030101010101" pitchFamily="2" charset="-122"/>
                </a:rPr>
                <a:t> {  (S.top-1)-&gt;f=f; </a:t>
              </a:r>
              <a:r>
                <a:rPr kumimoji="1" lang="en-US" altLang="zh-CN" sz="2400">
                  <a:solidFill>
                    <a:schemeClr val="accent2"/>
                  </a:solidFill>
                  <a:latin typeface="楷体_GB2312" panose="02010609030101010101" pitchFamily="49" charset="-122"/>
                  <a:ea typeface="楷体_GB2312" panose="02010609030101010101" pitchFamily="49" charset="-122"/>
                </a:rPr>
                <a:t>//</a:t>
              </a:r>
              <a:r>
                <a:rPr kumimoji="1" lang="zh-CN" altLang="en-US" sz="2400">
                  <a:solidFill>
                    <a:schemeClr val="accent2"/>
                  </a:solidFill>
                  <a:latin typeface="楷体_GB2312" panose="02010609030101010101" pitchFamily="49" charset="-122"/>
                  <a:ea typeface="楷体_GB2312" panose="02010609030101010101" pitchFamily="49" charset="-122"/>
                </a:rPr>
                <a:t>还原本层变参值</a:t>
              </a:r>
            </a:p>
            <a:p>
              <a:pPr eaLnBrk="1" hangingPunct="1">
                <a:lnSpc>
                  <a:spcPct val="70000"/>
                </a:lnSpc>
                <a:spcBef>
                  <a:spcPct val="50000"/>
                </a:spcBef>
                <a:buFontTx/>
                <a:buNone/>
              </a:pPr>
              <a:r>
                <a:rPr kumimoji="1" lang="zh-CN" altLang="en-US" sz="2400">
                  <a:solidFill>
                    <a:schemeClr val="accent2"/>
                  </a:solidFill>
                  <a:latin typeface="Times New Roman" panose="02020603050405020304" pitchFamily="18" charset="0"/>
                  <a:ea typeface="宋体" panose="02010600030101010101" pitchFamily="2" charset="-122"/>
                </a:rPr>
                <a:t>     </a:t>
              </a:r>
              <a:r>
                <a:rPr kumimoji="1" lang="en-US" altLang="zh-CN" sz="2400">
                  <a:solidFill>
                    <a:schemeClr val="accent2"/>
                  </a:solidFill>
                  <a:latin typeface="Times New Roman" panose="02020603050405020304" pitchFamily="18" charset="0"/>
                  <a:ea typeface="宋体" panose="02010600030101010101" pitchFamily="2" charset="-122"/>
                </a:rPr>
                <a:t>Pop(S, (rd, n, f) ); </a:t>
              </a:r>
            </a:p>
            <a:p>
              <a:pPr eaLnBrk="1" hangingPunct="1">
                <a:lnSpc>
                  <a:spcPct val="70000"/>
                </a:lnSpc>
                <a:spcBef>
                  <a:spcPct val="50000"/>
                </a:spcBef>
                <a:buFontTx/>
                <a:buNone/>
              </a:pPr>
              <a:r>
                <a:rPr kumimoji="1" lang="en-US" altLang="zh-CN" sz="2400">
                  <a:solidFill>
                    <a:schemeClr val="accent2"/>
                  </a:solidFill>
                  <a:latin typeface="Times New Roman" panose="02020603050405020304" pitchFamily="18" charset="0"/>
                  <a:ea typeface="宋体" panose="02010600030101010101" pitchFamily="2" charset="-122"/>
                </a:rPr>
                <a:t>     goto rd ;</a:t>
              </a:r>
            </a:p>
            <a:p>
              <a:pPr eaLnBrk="1" hangingPunct="1">
                <a:lnSpc>
                  <a:spcPct val="70000"/>
                </a:lnSpc>
                <a:spcBef>
                  <a:spcPct val="50000"/>
                </a:spcBef>
                <a:buFontTx/>
                <a:buNone/>
              </a:pPr>
              <a:r>
                <a:rPr kumimoji="1" lang="en-US" altLang="zh-CN" sz="2400">
                  <a:solidFill>
                    <a:schemeClr val="accent2"/>
                  </a:solidFill>
                  <a:latin typeface="Times New Roman" panose="02020603050405020304" pitchFamily="18" charset="0"/>
                  <a:ea typeface="宋体" panose="02010600030101010101" pitchFamily="2" charset="-122"/>
                </a:rPr>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527050" y="333375"/>
            <a:ext cx="10321925" cy="863600"/>
          </a:xfrm>
        </p:spPr>
        <p:txBody>
          <a:bodyPr/>
          <a:lstStyle/>
          <a:p>
            <a:pPr eaLnBrk="1" hangingPunct="1"/>
            <a:r>
              <a:rPr lang="zh-CN" altLang="en-US" sz="2400" b="1" smtClean="0"/>
              <a:t>自设栈模拟系统工作栈</a:t>
            </a:r>
            <a:r>
              <a:rPr lang="zh-CN" altLang="en-US" sz="2400" smtClean="0"/>
              <a:t>  </a:t>
            </a:r>
          </a:p>
        </p:txBody>
      </p:sp>
      <p:sp>
        <p:nvSpPr>
          <p:cNvPr id="117763" name="Rectangle 3"/>
          <p:cNvSpPr>
            <a:spLocks noGrp="1" noChangeArrowheads="1"/>
          </p:cNvSpPr>
          <p:nvPr>
            <p:ph idx="1"/>
          </p:nvPr>
        </p:nvSpPr>
        <p:spPr>
          <a:xfrm>
            <a:off x="527050" y="1773238"/>
            <a:ext cx="10321925" cy="4351337"/>
          </a:xfrm>
        </p:spPr>
        <p:txBody>
          <a:bodyPr rtlCol="0">
            <a:normAutofit lnSpcReduction="10000"/>
          </a:bodyPr>
          <a:lstStyle/>
          <a:p>
            <a:pPr eaLnBrk="1" fontAlgn="auto" hangingPunct="1">
              <a:lnSpc>
                <a:spcPct val="60000"/>
              </a:lnSpc>
              <a:spcBef>
                <a:spcPct val="50000"/>
              </a:spcBef>
              <a:spcAft>
                <a:spcPts val="0"/>
              </a:spcAft>
              <a:buFont typeface="Wingdings" panose="05000000000000000000" pitchFamily="2" charset="2"/>
              <a:buNone/>
              <a:defRPr/>
            </a:pPr>
            <a:r>
              <a:rPr lang="en-US" altLang="en-US" sz="2000" dirty="0"/>
              <a:t>    </a:t>
            </a:r>
            <a:r>
              <a:rPr lang="zh-CN" altLang="en-US" sz="1800" dirty="0"/>
              <a:t>例：</a:t>
            </a:r>
            <a:r>
              <a:rPr lang="en-US" altLang="zh-CN" sz="1800" dirty="0">
                <a:solidFill>
                  <a:schemeClr val="accent2"/>
                </a:solidFill>
              </a:rPr>
              <a:t>CONST  </a:t>
            </a:r>
            <a:r>
              <a:rPr lang="en-US" altLang="zh-CN" sz="1800" dirty="0" err="1">
                <a:solidFill>
                  <a:schemeClr val="accent2"/>
                </a:solidFill>
              </a:rPr>
              <a:t>arrmax</a:t>
            </a:r>
            <a:r>
              <a:rPr lang="en-US" altLang="zh-CN" sz="1800" dirty="0">
                <a:solidFill>
                  <a:schemeClr val="accent2"/>
                </a:solidFill>
              </a:rPr>
              <a:t>=</a:t>
            </a:r>
            <a:r>
              <a:rPr lang="en-US" altLang="zh-CN" sz="1800" dirty="0">
                <a:solidFill>
                  <a:schemeClr val="accent2"/>
                </a:solidFill>
                <a:latin typeface="Arial" panose="020B0604020202020204" pitchFamily="34" charset="0"/>
              </a:rPr>
              <a:t>…</a:t>
            </a:r>
            <a:r>
              <a:rPr lang="en-US" altLang="zh-CN" sz="1800" dirty="0">
                <a:solidFill>
                  <a:schemeClr val="accent2"/>
                </a:solidFill>
              </a:rPr>
              <a:t>;</a:t>
            </a:r>
          </a:p>
          <a:p>
            <a:pPr eaLnBrk="1" fontAlgn="auto" hangingPunct="1">
              <a:lnSpc>
                <a:spcPct val="60000"/>
              </a:lnSpc>
              <a:spcBef>
                <a:spcPct val="50000"/>
              </a:spcBef>
              <a:spcAft>
                <a:spcPts val="0"/>
              </a:spcAft>
              <a:buFont typeface="Wingdings" panose="05000000000000000000" pitchFamily="2" charset="2"/>
              <a:buNone/>
              <a:defRPr/>
            </a:pPr>
            <a:r>
              <a:rPr lang="en-US" altLang="zh-CN" sz="1800" dirty="0">
                <a:solidFill>
                  <a:schemeClr val="accent2"/>
                </a:solidFill>
              </a:rPr>
              <a:t> 		</a:t>
            </a:r>
            <a:r>
              <a:rPr lang="en-US" altLang="zh-CN" sz="1800" dirty="0" err="1">
                <a:solidFill>
                  <a:schemeClr val="accent2"/>
                </a:solidFill>
              </a:rPr>
              <a:t>typedef</a:t>
            </a:r>
            <a:r>
              <a:rPr lang="en-US" altLang="zh-CN" sz="1800" dirty="0">
                <a:solidFill>
                  <a:schemeClr val="accent2"/>
                </a:solidFill>
              </a:rPr>
              <a:t>  </a:t>
            </a:r>
            <a:r>
              <a:rPr lang="en-US" altLang="zh-CN" sz="1800" dirty="0" err="1">
                <a:solidFill>
                  <a:schemeClr val="accent2"/>
                </a:solidFill>
              </a:rPr>
              <a:t>struct</a:t>
            </a:r>
            <a:r>
              <a:rPr lang="en-US" altLang="zh-CN" sz="1800" dirty="0">
                <a:solidFill>
                  <a:schemeClr val="accent2"/>
                </a:solidFill>
              </a:rPr>
              <a:t> {</a:t>
            </a:r>
          </a:p>
          <a:p>
            <a:pPr eaLnBrk="1" fontAlgn="auto" hangingPunct="1">
              <a:lnSpc>
                <a:spcPct val="60000"/>
              </a:lnSpc>
              <a:spcBef>
                <a:spcPct val="50000"/>
              </a:spcBef>
              <a:spcAft>
                <a:spcPts val="0"/>
              </a:spcAft>
              <a:buFont typeface="Wingdings" panose="05000000000000000000" pitchFamily="2" charset="2"/>
              <a:buNone/>
              <a:defRPr/>
            </a:pPr>
            <a:r>
              <a:rPr lang="en-US" altLang="zh-CN" sz="1800" dirty="0">
                <a:solidFill>
                  <a:schemeClr val="accent2"/>
                </a:solidFill>
              </a:rPr>
              <a:t>                   </a:t>
            </a:r>
            <a:r>
              <a:rPr lang="en-US" altLang="zh-CN" sz="1800" dirty="0" err="1">
                <a:solidFill>
                  <a:schemeClr val="accent2"/>
                </a:solidFill>
              </a:rPr>
              <a:t>int</a:t>
            </a:r>
            <a:r>
              <a:rPr lang="en-US" altLang="zh-CN" sz="1800" dirty="0">
                <a:solidFill>
                  <a:schemeClr val="accent2"/>
                </a:solidFill>
              </a:rPr>
              <a:t> </a:t>
            </a:r>
            <a:r>
              <a:rPr lang="en-US" altLang="zh-CN" sz="1800" dirty="0" err="1">
                <a:solidFill>
                  <a:schemeClr val="accent2"/>
                </a:solidFill>
              </a:rPr>
              <a:t>rd</a:t>
            </a:r>
            <a:r>
              <a:rPr lang="en-US" altLang="zh-CN" sz="1800" dirty="0">
                <a:solidFill>
                  <a:schemeClr val="accent2"/>
                </a:solidFill>
              </a:rPr>
              <a:t>;</a:t>
            </a:r>
          </a:p>
          <a:p>
            <a:pPr eaLnBrk="1" fontAlgn="auto" hangingPunct="1">
              <a:lnSpc>
                <a:spcPct val="60000"/>
              </a:lnSpc>
              <a:spcBef>
                <a:spcPct val="50000"/>
              </a:spcBef>
              <a:spcAft>
                <a:spcPts val="0"/>
              </a:spcAft>
              <a:buFont typeface="Wingdings" panose="05000000000000000000" pitchFamily="2" charset="2"/>
              <a:buNone/>
              <a:defRPr/>
            </a:pPr>
            <a:r>
              <a:rPr lang="en-US" altLang="zh-CN" sz="1800" dirty="0">
                <a:solidFill>
                  <a:schemeClr val="accent2"/>
                </a:solidFill>
              </a:rPr>
              <a:t>		        </a:t>
            </a:r>
            <a:r>
              <a:rPr lang="en-US" altLang="zh-CN" sz="1800" dirty="0" err="1">
                <a:solidFill>
                  <a:schemeClr val="accent2"/>
                </a:solidFill>
              </a:rPr>
              <a:t>int</a:t>
            </a:r>
            <a:r>
              <a:rPr lang="en-US" altLang="zh-CN" sz="1800" dirty="0">
                <a:solidFill>
                  <a:schemeClr val="accent2"/>
                </a:solidFill>
              </a:rPr>
              <a:t> n;</a:t>
            </a:r>
          </a:p>
          <a:p>
            <a:pPr eaLnBrk="1" fontAlgn="auto" hangingPunct="1">
              <a:lnSpc>
                <a:spcPct val="60000"/>
              </a:lnSpc>
              <a:spcBef>
                <a:spcPct val="50000"/>
              </a:spcBef>
              <a:spcAft>
                <a:spcPts val="0"/>
              </a:spcAft>
              <a:buFont typeface="Wingdings" panose="05000000000000000000" pitchFamily="2" charset="2"/>
              <a:buNone/>
              <a:defRPr/>
            </a:pPr>
            <a:r>
              <a:rPr lang="en-US" altLang="zh-CN" sz="1800" dirty="0">
                <a:solidFill>
                  <a:schemeClr val="accent2"/>
                </a:solidFill>
              </a:rPr>
              <a:t>		        </a:t>
            </a:r>
            <a:r>
              <a:rPr lang="en-US" altLang="zh-CN" sz="1800" dirty="0" err="1">
                <a:solidFill>
                  <a:schemeClr val="accent2"/>
                </a:solidFill>
              </a:rPr>
              <a:t>int</a:t>
            </a:r>
            <a:r>
              <a:rPr lang="en-US" altLang="zh-CN" sz="1800" dirty="0">
                <a:solidFill>
                  <a:schemeClr val="accent2"/>
                </a:solidFill>
              </a:rPr>
              <a:t> f;</a:t>
            </a:r>
          </a:p>
          <a:p>
            <a:pPr eaLnBrk="1" fontAlgn="auto" hangingPunct="1">
              <a:lnSpc>
                <a:spcPct val="60000"/>
              </a:lnSpc>
              <a:spcBef>
                <a:spcPct val="50000"/>
              </a:spcBef>
              <a:spcAft>
                <a:spcPts val="0"/>
              </a:spcAft>
              <a:buFont typeface="Wingdings" panose="05000000000000000000" pitchFamily="2" charset="2"/>
              <a:buNone/>
              <a:defRPr/>
            </a:pPr>
            <a:r>
              <a:rPr lang="en-US" altLang="zh-CN" sz="1800" dirty="0">
                <a:solidFill>
                  <a:schemeClr val="accent2"/>
                </a:solidFill>
              </a:rPr>
              <a:t>           }</a:t>
            </a:r>
            <a:r>
              <a:rPr lang="en-US" altLang="zh-CN" sz="1800" dirty="0" err="1">
                <a:solidFill>
                  <a:schemeClr val="accent2"/>
                </a:solidFill>
              </a:rPr>
              <a:t>Snode</a:t>
            </a:r>
            <a:endParaRPr lang="en-US" altLang="zh-CN" sz="1800" dirty="0">
              <a:solidFill>
                <a:schemeClr val="accent2"/>
              </a:solidFill>
            </a:endParaRPr>
          </a:p>
          <a:p>
            <a:pPr eaLnBrk="1" fontAlgn="auto" hangingPunct="1">
              <a:lnSpc>
                <a:spcPct val="60000"/>
              </a:lnSpc>
              <a:spcBef>
                <a:spcPct val="50000"/>
              </a:spcBef>
              <a:spcAft>
                <a:spcPts val="0"/>
              </a:spcAft>
              <a:buFont typeface="Wingdings" panose="05000000000000000000" pitchFamily="2" charset="2"/>
              <a:buNone/>
              <a:defRPr/>
            </a:pPr>
            <a:r>
              <a:rPr lang="en-US" altLang="zh-CN" sz="1800" dirty="0">
                <a:solidFill>
                  <a:schemeClr val="accent2"/>
                </a:solidFill>
              </a:rPr>
              <a:t>            </a:t>
            </a:r>
            <a:r>
              <a:rPr lang="en-US" altLang="zh-CN" sz="1800" dirty="0" err="1">
                <a:solidFill>
                  <a:schemeClr val="accent2"/>
                </a:solidFill>
              </a:rPr>
              <a:t>Snode</a:t>
            </a:r>
            <a:r>
              <a:rPr lang="en-US" altLang="zh-CN" sz="1800" dirty="0">
                <a:solidFill>
                  <a:schemeClr val="accent2"/>
                </a:solidFill>
              </a:rPr>
              <a:t>  s[</a:t>
            </a:r>
            <a:r>
              <a:rPr lang="en-US" altLang="zh-CN" sz="1800" dirty="0" err="1">
                <a:solidFill>
                  <a:schemeClr val="accent2"/>
                </a:solidFill>
              </a:rPr>
              <a:t>arrmax</a:t>
            </a:r>
            <a:r>
              <a:rPr lang="en-US" altLang="zh-CN" sz="1800" dirty="0">
                <a:solidFill>
                  <a:schemeClr val="accent2"/>
                </a:solidFill>
              </a:rPr>
              <a:t>];</a:t>
            </a:r>
          </a:p>
          <a:p>
            <a:pPr eaLnBrk="1" fontAlgn="auto" hangingPunct="1">
              <a:lnSpc>
                <a:spcPct val="60000"/>
              </a:lnSpc>
              <a:spcBef>
                <a:spcPct val="50000"/>
              </a:spcBef>
              <a:spcAft>
                <a:spcPts val="0"/>
              </a:spcAft>
              <a:buFont typeface="Wingdings" panose="05000000000000000000" pitchFamily="2" charset="2"/>
              <a:buNone/>
              <a:defRPr/>
            </a:pPr>
            <a:endParaRPr lang="en-US" altLang="zh-CN" sz="1800" dirty="0">
              <a:solidFill>
                <a:schemeClr val="accent2"/>
              </a:solidFill>
            </a:endParaRPr>
          </a:p>
          <a:p>
            <a:pPr eaLnBrk="1" fontAlgn="auto" hangingPunct="1">
              <a:lnSpc>
                <a:spcPct val="80000"/>
              </a:lnSpc>
              <a:spcAft>
                <a:spcPts val="0"/>
              </a:spcAft>
              <a:defRPr/>
            </a:pPr>
            <a:r>
              <a:rPr lang="zh-CN" altLang="en-US" sz="2000" b="1" dirty="0">
                <a:ea typeface="楷体_GB2312" panose="02010609030101010101" pitchFamily="49" charset="-122"/>
              </a:rPr>
              <a:t>改写算法</a:t>
            </a:r>
            <a:endParaRPr lang="zh-CN" altLang="en-US" sz="2000" dirty="0">
              <a:solidFill>
                <a:srgbClr val="FF6600"/>
              </a:solidFill>
            </a:endParaRPr>
          </a:p>
          <a:p>
            <a:pPr lvl="1" eaLnBrk="1" fontAlgn="auto" hangingPunct="1">
              <a:lnSpc>
                <a:spcPct val="80000"/>
              </a:lnSpc>
              <a:spcAft>
                <a:spcPts val="0"/>
              </a:spcAft>
              <a:defRPr/>
            </a:pPr>
            <a:r>
              <a:rPr lang="zh-CN" altLang="en-US" sz="2000" dirty="0"/>
              <a:t>在程序开头增加栈的初始化语句</a:t>
            </a:r>
          </a:p>
          <a:p>
            <a:pPr lvl="1" eaLnBrk="1" fontAlgn="auto" hangingPunct="1">
              <a:lnSpc>
                <a:spcPct val="80000"/>
              </a:lnSpc>
              <a:spcAft>
                <a:spcPts val="0"/>
              </a:spcAft>
              <a:defRPr/>
            </a:pPr>
            <a:r>
              <a:rPr lang="zh-CN" altLang="en-US" sz="2000" dirty="0"/>
              <a:t>改写递归调用语句  </a:t>
            </a:r>
            <a:r>
              <a:rPr lang="zh-CN" altLang="en-US" sz="2000" dirty="0" smtClean="0"/>
              <a:t> 入</a:t>
            </a:r>
            <a:r>
              <a:rPr lang="zh-CN" altLang="en-US" sz="2000" dirty="0"/>
              <a:t>栈处理；</a:t>
            </a:r>
          </a:p>
          <a:p>
            <a:pPr lvl="1" eaLnBrk="1" fontAlgn="auto" hangingPunct="1">
              <a:lnSpc>
                <a:spcPct val="80000"/>
              </a:lnSpc>
              <a:spcAft>
                <a:spcPts val="0"/>
              </a:spcAft>
              <a:buFont typeface="Wingdings" panose="05000000000000000000" pitchFamily="2" charset="2"/>
              <a:buNone/>
              <a:defRPr/>
            </a:pPr>
            <a:r>
              <a:rPr lang="zh-CN" altLang="en-US" sz="2000" dirty="0"/>
              <a:t>                             </a:t>
            </a:r>
            <a:r>
              <a:rPr lang="zh-CN" altLang="en-US" sz="2000" dirty="0" smtClean="0"/>
              <a:t>         确定</a:t>
            </a:r>
            <a:r>
              <a:rPr lang="zh-CN" altLang="en-US" sz="2000" dirty="0"/>
              <a:t>调用的参数值；</a:t>
            </a:r>
          </a:p>
          <a:p>
            <a:pPr lvl="1" eaLnBrk="1" fontAlgn="auto" hangingPunct="1">
              <a:lnSpc>
                <a:spcPct val="80000"/>
              </a:lnSpc>
              <a:spcAft>
                <a:spcPts val="0"/>
              </a:spcAft>
              <a:buFont typeface="Wingdings" panose="05000000000000000000" pitchFamily="2" charset="2"/>
              <a:buNone/>
              <a:defRPr/>
            </a:pPr>
            <a:r>
              <a:rPr lang="zh-CN" altLang="en-US" sz="2000" dirty="0"/>
              <a:t>                             </a:t>
            </a:r>
            <a:r>
              <a:rPr lang="zh-CN" altLang="en-US" sz="2000" dirty="0" smtClean="0"/>
              <a:t>         转</a:t>
            </a:r>
            <a:r>
              <a:rPr lang="zh-CN" altLang="en-US" sz="2000" dirty="0"/>
              <a:t>至调用的开始语句</a:t>
            </a:r>
          </a:p>
          <a:p>
            <a:pPr lvl="1" eaLnBrk="1" fontAlgn="auto" hangingPunct="1">
              <a:lnSpc>
                <a:spcPct val="80000"/>
              </a:lnSpc>
              <a:spcAft>
                <a:spcPts val="0"/>
              </a:spcAft>
              <a:defRPr/>
            </a:pPr>
            <a:r>
              <a:rPr lang="zh-CN" altLang="en-US" sz="2000" dirty="0"/>
              <a:t>改写所有递归出口  </a:t>
            </a:r>
            <a:r>
              <a:rPr lang="zh-CN" altLang="en-US" sz="2000" dirty="0" smtClean="0"/>
              <a:t> 退</a:t>
            </a:r>
            <a:r>
              <a:rPr lang="zh-CN" altLang="en-US" sz="2000" dirty="0"/>
              <a:t>栈还原参数；</a:t>
            </a:r>
          </a:p>
          <a:p>
            <a:pPr lvl="1" eaLnBrk="1" fontAlgn="auto" hangingPunct="1">
              <a:lnSpc>
                <a:spcPct val="80000"/>
              </a:lnSpc>
              <a:spcAft>
                <a:spcPts val="0"/>
              </a:spcAft>
              <a:buFont typeface="Wingdings" panose="05000000000000000000" pitchFamily="2" charset="2"/>
              <a:buNone/>
              <a:defRPr/>
            </a:pPr>
            <a:r>
              <a:rPr lang="zh-CN" altLang="en-US" sz="2000" dirty="0"/>
              <a:t>                             </a:t>
            </a:r>
            <a:r>
              <a:rPr lang="zh-CN" altLang="en-US" sz="2000" dirty="0" smtClean="0"/>
              <a:t>         转</a:t>
            </a:r>
            <a:r>
              <a:rPr lang="zh-CN" altLang="en-US" sz="2000" dirty="0"/>
              <a:t>至返回地址处</a:t>
            </a:r>
          </a:p>
        </p:txBody>
      </p:sp>
      <p:sp>
        <p:nvSpPr>
          <p:cNvPr id="110596" name="AutoShape 4"/>
          <p:cNvSpPr>
            <a:spLocks/>
          </p:cNvSpPr>
          <p:nvPr/>
        </p:nvSpPr>
        <p:spPr bwMode="auto">
          <a:xfrm>
            <a:off x="3359150" y="4652963"/>
            <a:ext cx="144463" cy="576262"/>
          </a:xfrm>
          <a:prstGeom prst="leftBrace">
            <a:avLst>
              <a:gd name="adj1" fmla="val 5433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0597" name="AutoShape 5"/>
          <p:cNvSpPr>
            <a:spLocks/>
          </p:cNvSpPr>
          <p:nvPr/>
        </p:nvSpPr>
        <p:spPr bwMode="auto">
          <a:xfrm>
            <a:off x="3359150" y="5410200"/>
            <a:ext cx="144463" cy="533400"/>
          </a:xfrm>
          <a:prstGeom prst="leftBrace">
            <a:avLst>
              <a:gd name="adj1" fmla="val 5815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0598" name="Line 6"/>
          <p:cNvSpPr>
            <a:spLocks noChangeShapeType="1"/>
          </p:cNvSpPr>
          <p:nvPr/>
        </p:nvSpPr>
        <p:spPr bwMode="auto">
          <a:xfrm>
            <a:off x="7543800" y="1989138"/>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599" name="Line 7"/>
          <p:cNvSpPr>
            <a:spLocks noChangeShapeType="1"/>
          </p:cNvSpPr>
          <p:nvPr/>
        </p:nvSpPr>
        <p:spPr bwMode="auto">
          <a:xfrm>
            <a:off x="7543800" y="3513138"/>
            <a:ext cx="2209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600" name="Line 8"/>
          <p:cNvSpPr>
            <a:spLocks noChangeShapeType="1"/>
          </p:cNvSpPr>
          <p:nvPr/>
        </p:nvSpPr>
        <p:spPr bwMode="auto">
          <a:xfrm flipV="1">
            <a:off x="9753600" y="1989138"/>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601" name="Text Box 9"/>
          <p:cNvSpPr txBox="1">
            <a:spLocks noChangeArrowheads="1"/>
          </p:cNvSpPr>
          <p:nvPr/>
        </p:nvSpPr>
        <p:spPr bwMode="auto">
          <a:xfrm>
            <a:off x="8383588" y="154463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s</a:t>
            </a:r>
          </a:p>
        </p:txBody>
      </p:sp>
      <p:sp>
        <p:nvSpPr>
          <p:cNvPr id="110602" name="Text Box 10"/>
          <p:cNvSpPr txBox="1">
            <a:spLocks noChangeArrowheads="1"/>
          </p:cNvSpPr>
          <p:nvPr/>
        </p:nvSpPr>
        <p:spPr bwMode="auto">
          <a:xfrm>
            <a:off x="7620000" y="3436938"/>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rd         n       f</a:t>
            </a:r>
          </a:p>
        </p:txBody>
      </p:sp>
      <p:sp>
        <p:nvSpPr>
          <p:cNvPr id="110603" name="Line 11"/>
          <p:cNvSpPr>
            <a:spLocks noChangeShapeType="1"/>
          </p:cNvSpPr>
          <p:nvPr/>
        </p:nvSpPr>
        <p:spPr bwMode="auto">
          <a:xfrm>
            <a:off x="7294563" y="2420938"/>
            <a:ext cx="228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604" name="Rectangle 12"/>
          <p:cNvSpPr>
            <a:spLocks noChangeArrowheads="1"/>
          </p:cNvSpPr>
          <p:nvPr/>
        </p:nvSpPr>
        <p:spPr bwMode="auto">
          <a:xfrm>
            <a:off x="7543800" y="2522538"/>
            <a:ext cx="2209800" cy="990600"/>
          </a:xfrm>
          <a:prstGeom prst="rect">
            <a:avLst/>
          </a:prstGeom>
          <a:solidFill>
            <a:srgbClr val="FFFF99"/>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0605" name="Text Box 13"/>
          <p:cNvSpPr txBox="1">
            <a:spLocks noChangeArrowheads="1"/>
          </p:cNvSpPr>
          <p:nvPr/>
        </p:nvSpPr>
        <p:spPr bwMode="auto">
          <a:xfrm>
            <a:off x="6740525" y="2192338"/>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top</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a:xfrm>
            <a:off x="527050" y="333375"/>
            <a:ext cx="10321925" cy="863600"/>
          </a:xfrm>
        </p:spPr>
        <p:txBody>
          <a:bodyPr/>
          <a:lstStyle/>
          <a:p>
            <a:pPr eaLnBrk="1" hangingPunct="1"/>
            <a:r>
              <a:rPr lang="zh-CN" altLang="en-US" smtClean="0"/>
              <a:t>消除递归</a:t>
            </a:r>
          </a:p>
        </p:txBody>
      </p:sp>
      <p:sp>
        <p:nvSpPr>
          <p:cNvPr id="111619" name="Rectangle 1027"/>
          <p:cNvSpPr>
            <a:spLocks noGrp="1" noChangeArrowheads="1"/>
          </p:cNvSpPr>
          <p:nvPr>
            <p:ph type="body" sz="half" idx="4294967295"/>
          </p:nvPr>
        </p:nvSpPr>
        <p:spPr>
          <a:xfrm>
            <a:off x="1847850" y="1628775"/>
            <a:ext cx="2895600" cy="4537075"/>
          </a:xfrm>
          <a:solidFill>
            <a:srgbClr val="FFFF99"/>
          </a:solidFill>
        </p:spPr>
        <p:txBody>
          <a:bodyPr/>
          <a:lstStyle/>
          <a:p>
            <a:pPr eaLnBrk="1" hangingPunct="1">
              <a:buFontTx/>
              <a:buNone/>
            </a:pPr>
            <a:r>
              <a:rPr lang="en-US" altLang="zh-CN" sz="1600" b="1" smtClean="0">
                <a:latin typeface="Times New Roman" panose="02020603050405020304" pitchFamily="18" charset="0"/>
                <a:cs typeface="Times New Roman" panose="02020603050405020304" pitchFamily="18" charset="0"/>
              </a:rPr>
              <a:t>void  </a:t>
            </a:r>
            <a:r>
              <a:rPr lang="en-US" altLang="zh-CN" sz="1600" b="1" smtClean="0">
                <a:solidFill>
                  <a:schemeClr val="accent2"/>
                </a:solidFill>
                <a:latin typeface="Times New Roman" panose="02020603050405020304" pitchFamily="18" charset="0"/>
                <a:cs typeface="Times New Roman" panose="02020603050405020304" pitchFamily="18" charset="0"/>
              </a:rPr>
              <a:t> fact</a:t>
            </a:r>
            <a:r>
              <a:rPr lang="en-US" altLang="zh-CN" sz="1600" b="1" smtClean="0">
                <a:latin typeface="Times New Roman" panose="02020603050405020304" pitchFamily="18" charset="0"/>
                <a:cs typeface="Times New Roman" panose="02020603050405020304" pitchFamily="18" charset="0"/>
              </a:rPr>
              <a:t>(int n; int &amp;f) </a:t>
            </a:r>
          </a:p>
          <a:p>
            <a:pPr eaLnBrk="1" hangingPunct="1">
              <a:buFontTx/>
              <a:buNone/>
            </a:pPr>
            <a:r>
              <a:rPr lang="en-US" altLang="zh-CN" sz="1600" b="1" smtClean="0">
                <a:latin typeface="Times New Roman" panose="02020603050405020304" pitchFamily="18" charset="0"/>
                <a:cs typeface="Times New Roman" panose="02020603050405020304" pitchFamily="18" charset="0"/>
              </a:rPr>
              <a:t>{   InitStack(S);</a:t>
            </a:r>
          </a:p>
          <a:p>
            <a:pPr eaLnBrk="1" hangingPunct="1">
              <a:buFontTx/>
              <a:buNone/>
            </a:pPr>
            <a:r>
              <a:rPr lang="en-US" altLang="zh-CN" sz="1600" b="1" smtClean="0">
                <a:solidFill>
                  <a:schemeClr val="accent2"/>
                </a:solidFill>
                <a:latin typeface="Times New Roman" panose="02020603050405020304" pitchFamily="18" charset="0"/>
                <a:cs typeface="Times New Roman" panose="02020603050405020304" pitchFamily="18" charset="0"/>
              </a:rPr>
              <a:t>0:</a:t>
            </a:r>
            <a:r>
              <a:rPr lang="en-US" altLang="zh-CN" sz="1600" b="1" smtClean="0">
                <a:latin typeface="Times New Roman" panose="02020603050405020304" pitchFamily="18" charset="0"/>
                <a:cs typeface="Times New Roman" panose="02020603050405020304" pitchFamily="18" charset="0"/>
              </a:rPr>
              <a:t> if (n==0)   f=1;</a:t>
            </a:r>
          </a:p>
          <a:p>
            <a:pPr eaLnBrk="1" hangingPunct="1">
              <a:buFontTx/>
              <a:buNone/>
            </a:pPr>
            <a:r>
              <a:rPr lang="en-US" altLang="zh-CN" sz="1600" b="1" smtClean="0">
                <a:latin typeface="Times New Roman" panose="02020603050405020304" pitchFamily="18" charset="0"/>
                <a:cs typeface="Times New Roman" panose="02020603050405020304" pitchFamily="18" charset="0"/>
              </a:rPr>
              <a:t>    else  { </a:t>
            </a:r>
            <a:r>
              <a:rPr lang="en-US" altLang="zh-CN" sz="1600" b="1" smtClean="0">
                <a:solidFill>
                  <a:schemeClr val="accent2"/>
                </a:solidFill>
                <a:latin typeface="Times New Roman" panose="02020603050405020304" pitchFamily="18" charset="0"/>
                <a:cs typeface="Times New Roman" panose="02020603050405020304" pitchFamily="18" charset="0"/>
              </a:rPr>
              <a:t>1:</a:t>
            </a:r>
            <a:r>
              <a:rPr lang="en-US" altLang="zh-CN" sz="1600" b="1" smtClean="0">
                <a:latin typeface="Times New Roman" panose="02020603050405020304" pitchFamily="18" charset="0"/>
                <a:cs typeface="Times New Roman" panose="02020603050405020304" pitchFamily="18" charset="0"/>
              </a:rPr>
              <a:t>  </a:t>
            </a: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Push( S, (2, n, </a:t>
            </a:r>
            <a:r>
              <a:rPr lang="en-US" altLang="zh-CN" sz="1600" b="1" smtClean="0">
                <a:solidFill>
                  <a:srgbClr val="FF3300"/>
                </a:solidFill>
                <a:latin typeface="Times New Roman" panose="02020603050405020304" pitchFamily="18" charset="0"/>
                <a:cs typeface="Times New Roman" panose="02020603050405020304" pitchFamily="18" charset="0"/>
                <a:sym typeface="Symbol" panose="05050102010706020507" pitchFamily="18" charset="2"/>
              </a:rPr>
              <a:t>f</a:t>
            </a: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a:t>
            </a:r>
          </a:p>
          <a:p>
            <a:pPr eaLnBrk="1" hangingPunct="1">
              <a:spcBef>
                <a:spcPct val="50000"/>
              </a:spcBef>
              <a:buFontTx/>
              <a:buNone/>
            </a:pP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n=n-1;</a:t>
            </a:r>
          </a:p>
          <a:p>
            <a:pPr eaLnBrk="1" hangingPunct="1">
              <a:spcBef>
                <a:spcPct val="50000"/>
              </a:spcBef>
              <a:buFontTx/>
              <a:buNone/>
            </a:pP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goto 0;</a:t>
            </a:r>
            <a:r>
              <a:rPr lang="en-US" altLang="zh-CN" sz="1600" smtClean="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 </a:t>
            </a:r>
            <a:endParaRPr lang="en-US" altLang="zh-CN" sz="1600" b="1" smtClean="0">
              <a:latin typeface="Times New Roman" panose="02020603050405020304" pitchFamily="18" charset="0"/>
              <a:cs typeface="Times New Roman" panose="02020603050405020304" pitchFamily="18" charset="0"/>
            </a:endParaRPr>
          </a:p>
          <a:p>
            <a:pPr eaLnBrk="1" hangingPunct="1">
              <a:buFontTx/>
              <a:buNone/>
            </a:pPr>
            <a:r>
              <a:rPr lang="en-US" altLang="zh-CN" sz="1600" b="1" smtClean="0">
                <a:latin typeface="Times New Roman" panose="02020603050405020304" pitchFamily="18" charset="0"/>
                <a:cs typeface="Times New Roman" panose="02020603050405020304" pitchFamily="18" charset="0"/>
              </a:rPr>
              <a:t>               </a:t>
            </a:r>
            <a:r>
              <a:rPr lang="en-US" altLang="zh-CN" sz="1600" b="1" smtClean="0">
                <a:solidFill>
                  <a:schemeClr val="accent2"/>
                </a:solidFill>
                <a:latin typeface="Times New Roman" panose="02020603050405020304" pitchFamily="18" charset="0"/>
                <a:cs typeface="Times New Roman" panose="02020603050405020304" pitchFamily="18" charset="0"/>
              </a:rPr>
              <a:t>2:</a:t>
            </a:r>
            <a:r>
              <a:rPr lang="en-US" altLang="zh-CN" sz="1600" b="1" smtClean="0">
                <a:latin typeface="Times New Roman" panose="02020603050405020304" pitchFamily="18" charset="0"/>
                <a:cs typeface="Times New Roman" panose="02020603050405020304" pitchFamily="18" charset="0"/>
              </a:rPr>
              <a:t>  f =n*f;</a:t>
            </a:r>
          </a:p>
          <a:p>
            <a:pPr eaLnBrk="1" hangingPunct="1">
              <a:buFontTx/>
              <a:buNone/>
            </a:pPr>
            <a:r>
              <a:rPr lang="en-US" altLang="zh-CN" sz="1600" b="1" smtClean="0">
                <a:latin typeface="Times New Roman" panose="02020603050405020304" pitchFamily="18" charset="0"/>
                <a:cs typeface="Times New Roman" panose="02020603050405020304" pitchFamily="18" charset="0"/>
              </a:rPr>
              <a:t>     }</a:t>
            </a:r>
          </a:p>
          <a:p>
            <a:pPr eaLnBrk="1" hangingPunct="1">
              <a:lnSpc>
                <a:spcPct val="70000"/>
              </a:lnSpc>
              <a:spcBef>
                <a:spcPct val="50000"/>
              </a:spcBef>
              <a:buFontTx/>
              <a:buNone/>
            </a:pPr>
            <a:r>
              <a:rPr lang="en-US" altLang="zh-CN" sz="1600" smtClean="0">
                <a:solidFill>
                  <a:schemeClr val="accent2"/>
                </a:solidFill>
                <a:latin typeface="Times New Roman" panose="02020603050405020304" pitchFamily="18" charset="0"/>
                <a:cs typeface="Times New Roman" panose="02020603050405020304" pitchFamily="18" charset="0"/>
              </a:rPr>
              <a:t>   </a:t>
            </a:r>
            <a:r>
              <a:rPr lang="en-US" altLang="zh-CN" sz="1600" b="1" smtClean="0">
                <a:latin typeface="Times New Roman" panose="02020603050405020304" pitchFamily="18" charset="0"/>
                <a:cs typeface="Times New Roman" panose="02020603050405020304" pitchFamily="18" charset="0"/>
              </a:rPr>
              <a:t>if ( !StackEmpty(S) )</a:t>
            </a:r>
            <a:endParaRPr lang="en-US" altLang="zh-CN" sz="1600" b="1" smtClean="0">
              <a:latin typeface="Times New Roman" panose="02020603050405020304" pitchFamily="18" charset="0"/>
              <a:cs typeface="Times New Roman" panose="02020603050405020304" pitchFamily="18" charset="0"/>
              <a:sym typeface="Symbol" panose="05050102010706020507" pitchFamily="18" charset="2"/>
            </a:endParaRPr>
          </a:p>
          <a:p>
            <a:pPr eaLnBrk="1" hangingPunct="1">
              <a:lnSpc>
                <a:spcPct val="70000"/>
              </a:lnSpc>
              <a:spcBef>
                <a:spcPct val="50000"/>
              </a:spcBef>
              <a:buFontTx/>
              <a:buNone/>
            </a:pP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        </a:t>
            </a:r>
            <a:r>
              <a:rPr lang="en-US" altLang="zh-CN" sz="1600" b="1" smtClean="0">
                <a:solidFill>
                  <a:srgbClr val="FF3300"/>
                </a:solidFill>
                <a:latin typeface="Times New Roman" panose="02020603050405020304" pitchFamily="18" charset="0"/>
                <a:cs typeface="Times New Roman" panose="02020603050405020304" pitchFamily="18" charset="0"/>
                <a:sym typeface="Symbol" panose="05050102010706020507" pitchFamily="18" charset="2"/>
              </a:rPr>
              <a:t>(S.top-1)-&gt;f=f;</a:t>
            </a: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a:t>
            </a:r>
          </a:p>
          <a:p>
            <a:pPr eaLnBrk="1" hangingPunct="1">
              <a:lnSpc>
                <a:spcPct val="70000"/>
              </a:lnSpc>
              <a:spcBef>
                <a:spcPct val="50000"/>
              </a:spcBef>
              <a:buFontTx/>
              <a:buNone/>
            </a:pP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Pop(S, (rd, n, </a:t>
            </a:r>
            <a:r>
              <a:rPr lang="en-US" altLang="zh-CN" sz="1600" b="1" smtClean="0">
                <a:solidFill>
                  <a:srgbClr val="FF3300"/>
                </a:solidFill>
                <a:latin typeface="Times New Roman" panose="02020603050405020304" pitchFamily="18" charset="0"/>
                <a:cs typeface="Times New Roman" panose="02020603050405020304" pitchFamily="18" charset="0"/>
                <a:sym typeface="Symbol" panose="05050102010706020507" pitchFamily="18" charset="2"/>
              </a:rPr>
              <a:t>f</a:t>
            </a: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 </a:t>
            </a:r>
          </a:p>
          <a:p>
            <a:pPr eaLnBrk="1" hangingPunct="1">
              <a:lnSpc>
                <a:spcPct val="70000"/>
              </a:lnSpc>
              <a:spcBef>
                <a:spcPct val="50000"/>
              </a:spcBef>
              <a:buFontTx/>
              <a:buNone/>
            </a:pP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goto rd ;</a:t>
            </a:r>
          </a:p>
          <a:p>
            <a:pPr eaLnBrk="1" hangingPunct="1">
              <a:lnSpc>
                <a:spcPct val="70000"/>
              </a:lnSpc>
              <a:spcBef>
                <a:spcPct val="50000"/>
              </a:spcBef>
              <a:buFontTx/>
              <a:buNone/>
            </a:pP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 </a:t>
            </a:r>
            <a:endParaRPr lang="en-US" altLang="zh-CN" sz="1600" b="1" smtClean="0">
              <a:latin typeface="Times New Roman" panose="02020603050405020304" pitchFamily="18" charset="0"/>
              <a:cs typeface="Times New Roman" panose="02020603050405020304" pitchFamily="18" charset="0"/>
            </a:endParaRPr>
          </a:p>
          <a:p>
            <a:pPr eaLnBrk="1" hangingPunct="1">
              <a:buFontTx/>
              <a:buNone/>
            </a:pPr>
            <a:r>
              <a:rPr lang="en-US" altLang="zh-CN" sz="1600" b="1" smtClean="0">
                <a:latin typeface="Times New Roman" panose="02020603050405020304" pitchFamily="18" charset="0"/>
                <a:cs typeface="Times New Roman" panose="02020603050405020304" pitchFamily="18" charset="0"/>
              </a:rPr>
              <a:t>}//fact</a:t>
            </a:r>
          </a:p>
        </p:txBody>
      </p:sp>
      <p:sp>
        <p:nvSpPr>
          <p:cNvPr id="111620" name="Rectangle 1028"/>
          <p:cNvSpPr>
            <a:spLocks noGrp="1" noChangeArrowheads="1"/>
          </p:cNvSpPr>
          <p:nvPr>
            <p:ph type="body" sz="half" idx="4294967295"/>
          </p:nvPr>
        </p:nvSpPr>
        <p:spPr>
          <a:xfrm>
            <a:off x="7032625" y="1628775"/>
            <a:ext cx="2563813" cy="4392613"/>
          </a:xfrm>
          <a:solidFill>
            <a:srgbClr val="FFFF99"/>
          </a:solidFill>
        </p:spPr>
        <p:txBody>
          <a:bodyPr/>
          <a:lstStyle/>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rPr>
              <a:t>void  </a:t>
            </a:r>
            <a:r>
              <a:rPr lang="en-US" altLang="zh-CN" sz="1600" b="1" smtClean="0">
                <a:solidFill>
                  <a:schemeClr val="accent2"/>
                </a:solidFill>
                <a:latin typeface="Times New Roman" panose="02020603050405020304" pitchFamily="18" charset="0"/>
                <a:cs typeface="Times New Roman" panose="02020603050405020304" pitchFamily="18" charset="0"/>
              </a:rPr>
              <a:t> fact</a:t>
            </a:r>
            <a:r>
              <a:rPr lang="en-US" altLang="zh-CN" sz="1600" b="1" smtClean="0">
                <a:latin typeface="Times New Roman" panose="02020603050405020304" pitchFamily="18" charset="0"/>
                <a:cs typeface="Times New Roman" panose="02020603050405020304" pitchFamily="18" charset="0"/>
              </a:rPr>
              <a:t>(int n; int &amp;f ) </a:t>
            </a:r>
          </a:p>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rPr>
              <a:t>{    InitStack(S);</a:t>
            </a:r>
          </a:p>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rPr>
              <a:t>     while (n!=0)   </a:t>
            </a:r>
          </a:p>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rPr>
              <a:t>     {    Push (S, n);</a:t>
            </a:r>
            <a:endParaRPr lang="en-US" altLang="zh-CN" sz="1600" b="1" smtClean="0">
              <a:latin typeface="Times New Roman" panose="02020603050405020304" pitchFamily="18" charset="0"/>
              <a:cs typeface="Times New Roman" panose="02020603050405020304" pitchFamily="18" charset="0"/>
              <a:sym typeface="Symbol" panose="05050102010706020507" pitchFamily="18" charset="2"/>
            </a:endParaRPr>
          </a:p>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n=n-1;</a:t>
            </a:r>
          </a:p>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sym typeface="Symbol" panose="05050102010706020507" pitchFamily="18" charset="2"/>
              </a:rPr>
              <a:t>      }</a:t>
            </a:r>
          </a:p>
          <a:p>
            <a:pPr eaLnBrk="1" hangingPunct="1">
              <a:lnSpc>
                <a:spcPct val="80000"/>
              </a:lnSpc>
              <a:spcBef>
                <a:spcPct val="50000"/>
              </a:spcBef>
              <a:buFontTx/>
              <a:buNone/>
            </a:pPr>
            <a:r>
              <a:rPr lang="en-US" altLang="zh-CN" sz="1600" b="1" smtClean="0">
                <a:latin typeface="Times New Roman" panose="02020603050405020304" pitchFamily="18" charset="0"/>
                <a:cs typeface="Times New Roman" panose="02020603050405020304" pitchFamily="18" charset="0"/>
              </a:rPr>
              <a:t>     f=1;</a:t>
            </a:r>
          </a:p>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rPr>
              <a:t>     while ( !StackEmpty(S) )</a:t>
            </a:r>
          </a:p>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rPr>
              <a:t>     {    Pop (S, n);</a:t>
            </a:r>
          </a:p>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rPr>
              <a:t>           f=n*f;</a:t>
            </a:r>
          </a:p>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rPr>
              <a:t>      }</a:t>
            </a:r>
          </a:p>
          <a:p>
            <a:pPr eaLnBrk="1" hangingPunct="1">
              <a:lnSpc>
                <a:spcPct val="80000"/>
              </a:lnSpc>
              <a:buFontTx/>
              <a:buNone/>
            </a:pPr>
            <a:r>
              <a:rPr lang="en-US" altLang="zh-CN" sz="1600" b="1" smtClean="0">
                <a:latin typeface="Times New Roman" panose="02020603050405020304" pitchFamily="18" charset="0"/>
                <a:cs typeface="Times New Roman" panose="02020603050405020304" pitchFamily="18" charset="0"/>
              </a:rPr>
              <a:t>}//fact</a:t>
            </a:r>
          </a:p>
        </p:txBody>
      </p:sp>
      <p:sp>
        <p:nvSpPr>
          <p:cNvPr id="111621" name="AutoShape 1030"/>
          <p:cNvSpPr>
            <a:spLocks noChangeArrowheads="1"/>
          </p:cNvSpPr>
          <p:nvPr/>
        </p:nvSpPr>
        <p:spPr bwMode="auto">
          <a:xfrm>
            <a:off x="5494338" y="3541713"/>
            <a:ext cx="641350" cy="288925"/>
          </a:xfrm>
          <a:prstGeom prst="rightArrow">
            <a:avLst>
              <a:gd name="adj1" fmla="val 50000"/>
              <a:gd name="adj2" fmla="val 39874"/>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endParaRPr kumimoji="1" lang="zh-CN" altLang="en-US" sz="90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527050" y="333375"/>
            <a:ext cx="10321925" cy="863600"/>
          </a:xfrm>
        </p:spPr>
        <p:txBody>
          <a:bodyPr/>
          <a:lstStyle/>
          <a:p>
            <a:pPr eaLnBrk="1" hangingPunct="1"/>
            <a:r>
              <a:rPr lang="en-US" altLang="zh-CN" smtClean="0"/>
              <a:t>3.2 </a:t>
            </a:r>
            <a:r>
              <a:rPr lang="zh-CN" altLang="en-US" smtClean="0"/>
              <a:t>队列</a:t>
            </a:r>
            <a:endParaRPr lang="zh-CN" altLang="en-US" sz="3600" u="sng" smtClean="0"/>
          </a:p>
        </p:txBody>
      </p:sp>
      <p:sp>
        <p:nvSpPr>
          <p:cNvPr id="113667"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z="2100" b="1" smtClean="0">
                <a:sym typeface="Symbol" panose="05050102010706020507" pitchFamily="18" charset="2"/>
              </a:rPr>
              <a:t>3.2.1   </a:t>
            </a:r>
            <a:r>
              <a:rPr lang="zh-CN" altLang="en-US" sz="2100" b="1" smtClean="0">
                <a:sym typeface="Symbol" panose="05050102010706020507" pitchFamily="18" charset="2"/>
              </a:rPr>
              <a:t>队列的定义</a:t>
            </a:r>
            <a:endParaRPr lang="zh-CN" altLang="en-US" sz="2600" b="1" smtClean="0">
              <a:sym typeface="Symbol" panose="05050102010706020507" pitchFamily="18" charset="2"/>
            </a:endParaRPr>
          </a:p>
          <a:p>
            <a:pPr eaLnBrk="1" hangingPunct="1">
              <a:buFont typeface="Wingdings" panose="05000000000000000000" pitchFamily="2" charset="2"/>
              <a:buNone/>
            </a:pPr>
            <a:r>
              <a:rPr lang="zh-CN" altLang="en-US" sz="2600" smtClean="0">
                <a:sym typeface="Symbol" panose="05050102010706020507" pitchFamily="18" charset="2"/>
              </a:rPr>
              <a:t>    </a:t>
            </a:r>
            <a:r>
              <a:rPr lang="zh-CN" altLang="en-US" sz="2100" b="1" smtClean="0">
                <a:solidFill>
                  <a:srgbClr val="FF3300"/>
                </a:solidFill>
                <a:sym typeface="Symbol" panose="05050102010706020507" pitchFamily="18" charset="2"/>
              </a:rPr>
              <a:t>队列</a:t>
            </a:r>
            <a:r>
              <a:rPr lang="zh-CN" altLang="en-US" sz="2100" smtClean="0">
                <a:sym typeface="Symbol" panose="05050102010706020507" pitchFamily="18" charset="2"/>
              </a:rPr>
              <a:t>是一种特殊的线性表，限定插入和删除操作</a:t>
            </a:r>
            <a:r>
              <a:rPr lang="zh-CN" altLang="en-US" sz="2100" smtClean="0">
                <a:solidFill>
                  <a:schemeClr val="accent2"/>
                </a:solidFill>
                <a:sym typeface="Symbol" panose="05050102010706020507" pitchFamily="18" charset="2"/>
              </a:rPr>
              <a:t>分别在表的两端</a:t>
            </a:r>
            <a:r>
              <a:rPr lang="zh-CN" altLang="en-US" sz="2100" smtClean="0">
                <a:sym typeface="Symbol" panose="05050102010706020507" pitchFamily="18" charset="2"/>
              </a:rPr>
              <a:t>进行。具有</a:t>
            </a:r>
            <a:r>
              <a:rPr lang="zh-CN" altLang="en-US" sz="2100" b="1" smtClean="0">
                <a:solidFill>
                  <a:schemeClr val="accent2"/>
                </a:solidFill>
                <a:sym typeface="Symbol" panose="05050102010706020507" pitchFamily="18" charset="2"/>
              </a:rPr>
              <a:t>先进先出</a:t>
            </a:r>
            <a:r>
              <a:rPr lang="en-US" altLang="zh-CN" sz="2100" smtClean="0">
                <a:sym typeface="Symbol" panose="05050102010706020507" pitchFamily="18" charset="2"/>
              </a:rPr>
              <a:t>(FIFO</a:t>
            </a:r>
            <a:r>
              <a:rPr lang="en-US" altLang="zh-CN" sz="2100" smtClean="0">
                <a:latin typeface="Arial" panose="020B0604020202020204" pitchFamily="34" charset="0"/>
                <a:sym typeface="Symbol" panose="05050102010706020507" pitchFamily="18" charset="2"/>
              </a:rPr>
              <a:t>—</a:t>
            </a:r>
            <a:r>
              <a:rPr lang="en-US" altLang="zh-CN" sz="2100" smtClean="0">
                <a:sym typeface="Symbol" panose="05050102010706020507" pitchFamily="18" charset="2"/>
              </a:rPr>
              <a:t>First In First Out)</a:t>
            </a:r>
            <a:r>
              <a:rPr lang="zh-CN" altLang="zh-CN" sz="2100" smtClean="0">
                <a:sym typeface="Symbol" panose="05050102010706020507" pitchFamily="18" charset="2"/>
              </a:rPr>
              <a:t>的特点。</a:t>
            </a:r>
          </a:p>
          <a:p>
            <a:pPr eaLnBrk="1" hangingPunct="1">
              <a:buFont typeface="Wingdings" panose="05000000000000000000" pitchFamily="2" charset="2"/>
              <a:buNone/>
            </a:pPr>
            <a:endParaRPr lang="zh-CN" altLang="zh-CN" sz="2100" smtClean="0">
              <a:sym typeface="Symbol" panose="05050102010706020507" pitchFamily="18" charset="2"/>
            </a:endParaRPr>
          </a:p>
          <a:p>
            <a:pPr eaLnBrk="1" hangingPunct="1">
              <a:buFont typeface="Wingdings" panose="05000000000000000000" pitchFamily="2" charset="2"/>
              <a:buNone/>
            </a:pPr>
            <a:r>
              <a:rPr lang="zh-CN" altLang="zh-CN" sz="2600" smtClean="0">
                <a:sym typeface="Symbol" panose="05050102010706020507" pitchFamily="18" charset="2"/>
              </a:rPr>
              <a:t>                        </a:t>
            </a:r>
            <a:r>
              <a:rPr lang="en-US" altLang="zh-CN" sz="2600" smtClean="0">
                <a:sym typeface="Symbol" panose="05050102010706020507" pitchFamily="18" charset="2"/>
              </a:rPr>
              <a:t>a</a:t>
            </a:r>
            <a:r>
              <a:rPr lang="en-US" altLang="zh-CN" sz="2600" baseline="-25000" smtClean="0">
                <a:sym typeface="Symbol" panose="05050102010706020507" pitchFamily="18" charset="2"/>
              </a:rPr>
              <a:t>1</a:t>
            </a:r>
            <a:r>
              <a:rPr lang="en-US" altLang="zh-CN" sz="2600" smtClean="0">
                <a:sym typeface="Symbol" panose="05050102010706020507" pitchFamily="18" charset="2"/>
              </a:rPr>
              <a:t>     a</a:t>
            </a:r>
            <a:r>
              <a:rPr lang="en-US" altLang="zh-CN" sz="2600" baseline="-25000" smtClean="0">
                <a:sym typeface="Symbol" panose="05050102010706020507" pitchFamily="18" charset="2"/>
              </a:rPr>
              <a:t>2</a:t>
            </a:r>
            <a:r>
              <a:rPr lang="en-US" altLang="zh-CN" sz="2600" smtClean="0">
                <a:sym typeface="Symbol" panose="05050102010706020507" pitchFamily="18" charset="2"/>
              </a:rPr>
              <a:t>  </a:t>
            </a:r>
            <a:r>
              <a:rPr lang="en-US" altLang="zh-CN" sz="2600" smtClean="0">
                <a:latin typeface="Arial" panose="020B0604020202020204" pitchFamily="34" charset="0"/>
                <a:sym typeface="Symbol" panose="05050102010706020507" pitchFamily="18" charset="2"/>
              </a:rPr>
              <a:t>…</a:t>
            </a:r>
            <a:r>
              <a:rPr lang="en-US" altLang="zh-CN" sz="2600" smtClean="0">
                <a:sym typeface="Symbol" panose="05050102010706020507" pitchFamily="18" charset="2"/>
              </a:rPr>
              <a:t>  a</a:t>
            </a:r>
            <a:r>
              <a:rPr lang="en-US" altLang="zh-CN" sz="2600" baseline="-25000" smtClean="0">
                <a:sym typeface="Symbol" panose="05050102010706020507" pitchFamily="18" charset="2"/>
              </a:rPr>
              <a:t>i</a:t>
            </a:r>
            <a:r>
              <a:rPr lang="en-US" altLang="zh-CN" sz="2600" smtClean="0">
                <a:sym typeface="Symbol" panose="05050102010706020507" pitchFamily="18" charset="2"/>
              </a:rPr>
              <a:t>  </a:t>
            </a:r>
            <a:r>
              <a:rPr lang="en-US" altLang="zh-CN" sz="2600" smtClean="0">
                <a:latin typeface="Arial" panose="020B0604020202020204" pitchFamily="34" charset="0"/>
                <a:sym typeface="Symbol" panose="05050102010706020507" pitchFamily="18" charset="2"/>
              </a:rPr>
              <a:t>…</a:t>
            </a:r>
            <a:r>
              <a:rPr lang="en-US" altLang="zh-CN" sz="2600" smtClean="0">
                <a:sym typeface="Symbol" panose="05050102010706020507" pitchFamily="18" charset="2"/>
              </a:rPr>
              <a:t>  a</a:t>
            </a:r>
            <a:r>
              <a:rPr lang="en-US" altLang="zh-CN" sz="2600" baseline="-25000" smtClean="0">
                <a:sym typeface="Symbol" panose="05050102010706020507" pitchFamily="18" charset="2"/>
              </a:rPr>
              <a:t>n</a:t>
            </a:r>
            <a:r>
              <a:rPr lang="en-US" altLang="zh-CN" sz="2600" smtClean="0">
                <a:sym typeface="Symbol" panose="05050102010706020507" pitchFamily="18" charset="2"/>
              </a:rPr>
              <a:t>  </a:t>
            </a:r>
          </a:p>
        </p:txBody>
      </p:sp>
      <p:sp>
        <p:nvSpPr>
          <p:cNvPr id="113668" name="Line 4"/>
          <p:cNvSpPr>
            <a:spLocks noChangeShapeType="1"/>
          </p:cNvSpPr>
          <p:nvPr/>
        </p:nvSpPr>
        <p:spPr bwMode="auto">
          <a:xfrm>
            <a:off x="2451100" y="3270250"/>
            <a:ext cx="320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69" name="Line 5"/>
          <p:cNvSpPr>
            <a:spLocks noChangeShapeType="1"/>
          </p:cNvSpPr>
          <p:nvPr/>
        </p:nvSpPr>
        <p:spPr bwMode="auto">
          <a:xfrm>
            <a:off x="2451100" y="3956050"/>
            <a:ext cx="320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0" name="Line 6"/>
          <p:cNvSpPr>
            <a:spLocks noChangeShapeType="1"/>
          </p:cNvSpPr>
          <p:nvPr/>
        </p:nvSpPr>
        <p:spPr bwMode="auto">
          <a:xfrm flipV="1">
            <a:off x="2511425" y="395605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1" name="Line 7"/>
          <p:cNvSpPr>
            <a:spLocks noChangeShapeType="1"/>
          </p:cNvSpPr>
          <p:nvPr/>
        </p:nvSpPr>
        <p:spPr bwMode="auto">
          <a:xfrm flipV="1">
            <a:off x="5607050" y="395605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2" name="Text Box 8"/>
          <p:cNvSpPr txBox="1">
            <a:spLocks noChangeArrowheads="1"/>
          </p:cNvSpPr>
          <p:nvPr/>
        </p:nvSpPr>
        <p:spPr bwMode="auto">
          <a:xfrm>
            <a:off x="1841500" y="418465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400">
                <a:solidFill>
                  <a:srgbClr val="FF3300"/>
                </a:solidFill>
                <a:latin typeface="Times New Roman" panose="02020603050405020304" pitchFamily="18" charset="0"/>
                <a:ea typeface="宋体" panose="02010600030101010101" pitchFamily="2" charset="-122"/>
              </a:rPr>
              <a:t>队头</a:t>
            </a:r>
            <a:r>
              <a:rPr kumimoji="1" lang="en-US" altLang="en-US" sz="2400">
                <a:latin typeface="Times New Roman" panose="02020603050405020304" pitchFamily="18" charset="0"/>
                <a:ea typeface="宋体" panose="02010600030101010101" pitchFamily="2" charset="-122"/>
              </a:rPr>
              <a:t> </a:t>
            </a:r>
            <a:r>
              <a:rPr kumimoji="1" lang="en-US" altLang="zh-CN" sz="2400">
                <a:latin typeface="Times New Roman" panose="02020603050405020304" pitchFamily="18" charset="0"/>
                <a:ea typeface="宋体" panose="02010600030101010101" pitchFamily="2" charset="-122"/>
              </a:rPr>
              <a:t>f</a:t>
            </a:r>
          </a:p>
        </p:txBody>
      </p:sp>
      <p:sp>
        <p:nvSpPr>
          <p:cNvPr id="113673" name="Text Box 9"/>
          <p:cNvSpPr txBox="1">
            <a:spLocks noChangeArrowheads="1"/>
          </p:cNvSpPr>
          <p:nvPr/>
        </p:nvSpPr>
        <p:spPr bwMode="auto">
          <a:xfrm>
            <a:off x="4737100" y="4195763"/>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400">
                <a:solidFill>
                  <a:srgbClr val="FF3300"/>
                </a:solidFill>
                <a:latin typeface="Times New Roman" panose="02020603050405020304" pitchFamily="18" charset="0"/>
                <a:ea typeface="宋体" panose="02010600030101010101" pitchFamily="2" charset="-122"/>
              </a:rPr>
              <a:t>队尾</a:t>
            </a:r>
            <a:r>
              <a:rPr kumimoji="1" lang="en-US" altLang="en-US" sz="2400">
                <a:latin typeface="Times New Roman" panose="02020603050405020304" pitchFamily="18" charset="0"/>
                <a:ea typeface="宋体" panose="02010600030101010101" pitchFamily="2" charset="-122"/>
              </a:rPr>
              <a:t> </a:t>
            </a:r>
            <a:r>
              <a:rPr kumimoji="1" lang="en-US" altLang="zh-CN" sz="2400">
                <a:latin typeface="Times New Roman" panose="02020603050405020304" pitchFamily="18" charset="0"/>
                <a:ea typeface="宋体" panose="02010600030101010101" pitchFamily="2" charset="-122"/>
              </a:rPr>
              <a:t>r</a:t>
            </a:r>
          </a:p>
        </p:txBody>
      </p:sp>
      <p:sp>
        <p:nvSpPr>
          <p:cNvPr id="113674" name="Text Box 12"/>
          <p:cNvSpPr txBox="1">
            <a:spLocks noChangeArrowheads="1"/>
          </p:cNvSpPr>
          <p:nvPr/>
        </p:nvSpPr>
        <p:spPr bwMode="auto">
          <a:xfrm>
            <a:off x="927100" y="334645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400" b="1">
                <a:solidFill>
                  <a:srgbClr val="FF3300"/>
                </a:solidFill>
                <a:latin typeface="Times New Roman" panose="02020603050405020304" pitchFamily="18" charset="0"/>
                <a:ea typeface="楷体_GB2312" panose="02010609030101010101" pitchFamily="49" charset="-122"/>
              </a:rPr>
              <a:t>出队</a:t>
            </a:r>
            <a:endParaRPr kumimoji="1" lang="zh-CN" altLang="en-US" sz="2400">
              <a:latin typeface="Times New Roman" panose="02020603050405020304" pitchFamily="18" charset="0"/>
              <a:ea typeface="宋体" panose="02010600030101010101" pitchFamily="2" charset="-122"/>
            </a:endParaRPr>
          </a:p>
        </p:txBody>
      </p:sp>
      <p:sp>
        <p:nvSpPr>
          <p:cNvPr id="113675" name="Text Box 14"/>
          <p:cNvSpPr txBox="1">
            <a:spLocks noChangeArrowheads="1"/>
          </p:cNvSpPr>
          <p:nvPr/>
        </p:nvSpPr>
        <p:spPr bwMode="auto">
          <a:xfrm>
            <a:off x="6261100" y="327025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400" b="1">
                <a:solidFill>
                  <a:srgbClr val="FF3300"/>
                </a:solidFill>
                <a:latin typeface="Times New Roman" panose="02020603050405020304" pitchFamily="18" charset="0"/>
                <a:ea typeface="楷体_GB2312" panose="02010609030101010101" pitchFamily="49" charset="-122"/>
              </a:rPr>
              <a:t>入队</a:t>
            </a:r>
            <a:endParaRPr kumimoji="1" lang="zh-CN" altLang="en-US" sz="2400">
              <a:latin typeface="Times New Roman" panose="02020603050405020304" pitchFamily="18" charset="0"/>
              <a:ea typeface="楷体_GB2312" panose="02010609030101010101" pitchFamily="49" charset="-122"/>
            </a:endParaRPr>
          </a:p>
        </p:txBody>
      </p:sp>
      <p:sp>
        <p:nvSpPr>
          <p:cNvPr id="113676" name="AutoShape 15"/>
          <p:cNvSpPr>
            <a:spLocks noChangeArrowheads="1"/>
          </p:cNvSpPr>
          <p:nvPr/>
        </p:nvSpPr>
        <p:spPr bwMode="auto">
          <a:xfrm>
            <a:off x="1803400" y="3490913"/>
            <a:ext cx="533400" cy="152400"/>
          </a:xfrm>
          <a:prstGeom prst="leftArrow">
            <a:avLst>
              <a:gd name="adj1" fmla="val 50000"/>
              <a:gd name="adj2" fmla="val 87500"/>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3677" name="AutoShape 16"/>
          <p:cNvSpPr>
            <a:spLocks noChangeArrowheads="1"/>
          </p:cNvSpPr>
          <p:nvPr/>
        </p:nvSpPr>
        <p:spPr bwMode="auto">
          <a:xfrm>
            <a:off x="5803900" y="3490913"/>
            <a:ext cx="533400" cy="152400"/>
          </a:xfrm>
          <a:prstGeom prst="leftArrow">
            <a:avLst>
              <a:gd name="adj1" fmla="val 50000"/>
              <a:gd name="adj2" fmla="val 87500"/>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1676400" y="1808163"/>
            <a:ext cx="88836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华文楷体" panose="02010600040101010101" pitchFamily="2" charset="-122"/>
                <a:ea typeface="华文楷体" panose="02010600040101010101" pitchFamily="2" charset="-122"/>
              </a:rPr>
              <a:t>        </a:t>
            </a:r>
            <a:r>
              <a:rPr kumimoji="1" lang="zh-CN" altLang="en-US" sz="2400">
                <a:latin typeface="华文楷体" panose="02010600040101010101" pitchFamily="2" charset="-122"/>
                <a:ea typeface="华文楷体" panose="02010600040101010101" pitchFamily="2" charset="-122"/>
              </a:rPr>
              <a:t>把允许插入的一端叫队尾</a:t>
            </a:r>
            <a:r>
              <a:rPr kumimoji="1" lang="en-US" altLang="zh-CN" sz="2400">
                <a:latin typeface="华文楷体" panose="02010600040101010101" pitchFamily="2" charset="-122"/>
                <a:ea typeface="华文楷体" panose="02010600040101010101" pitchFamily="2" charset="-122"/>
              </a:rPr>
              <a:t>(rear) </a:t>
            </a:r>
            <a:r>
              <a:rPr kumimoji="1" lang="zh-CN" altLang="en-US" sz="2400">
                <a:latin typeface="华文楷体" panose="02010600040101010101" pitchFamily="2" charset="-122"/>
                <a:ea typeface="华文楷体" panose="02010600040101010101" pitchFamily="2" charset="-122"/>
              </a:rPr>
              <a:t>，把允许删除的一端叫</a:t>
            </a:r>
          </a:p>
          <a:p>
            <a:pPr eaLnBrk="1" hangingPunct="1">
              <a:lnSpc>
                <a:spcPct val="100000"/>
              </a:lnSpc>
              <a:spcBef>
                <a:spcPct val="0"/>
              </a:spcBef>
              <a:buFontTx/>
              <a:buNone/>
            </a:pPr>
            <a:r>
              <a:rPr kumimoji="1" lang="zh-CN" altLang="en-US" sz="2400">
                <a:latin typeface="华文楷体" panose="02010600040101010101" pitchFamily="2" charset="-122"/>
                <a:ea typeface="华文楷体" panose="02010600040101010101" pitchFamily="2" charset="-122"/>
              </a:rPr>
              <a:t>队头</a:t>
            </a:r>
            <a:r>
              <a:rPr kumimoji="1" lang="en-US" altLang="zh-CN" sz="2400">
                <a:latin typeface="华文楷体" panose="02010600040101010101" pitchFamily="2" charset="-122"/>
                <a:ea typeface="华文楷体" panose="02010600040101010101" pitchFamily="2" charset="-122"/>
              </a:rPr>
              <a:t>(front)</a:t>
            </a:r>
            <a:r>
              <a:rPr kumimoji="1" lang="zh-CN" altLang="en-US" sz="2400">
                <a:latin typeface="华文楷体" panose="02010600040101010101" pitchFamily="2" charset="-122"/>
                <a:ea typeface="华文楷体" panose="02010600040101010101" pitchFamily="2" charset="-122"/>
              </a:rPr>
              <a:t>。没有元素时称为空队列。</a:t>
            </a:r>
          </a:p>
        </p:txBody>
      </p:sp>
      <p:grpSp>
        <p:nvGrpSpPr>
          <p:cNvPr id="114691" name="Group 4"/>
          <p:cNvGrpSpPr>
            <a:grpSpLocks/>
          </p:cNvGrpSpPr>
          <p:nvPr/>
        </p:nvGrpSpPr>
        <p:grpSpPr bwMode="auto">
          <a:xfrm>
            <a:off x="2743200" y="3860800"/>
            <a:ext cx="6432550" cy="914400"/>
            <a:chOff x="768" y="1152"/>
            <a:chExt cx="4052" cy="576"/>
          </a:xfrm>
        </p:grpSpPr>
        <p:sp>
          <p:nvSpPr>
            <p:cNvPr id="114697" name="Line 5"/>
            <p:cNvSpPr>
              <a:spLocks noChangeShapeType="1"/>
            </p:cNvSpPr>
            <p:nvPr/>
          </p:nvSpPr>
          <p:spPr bwMode="auto">
            <a:xfrm>
              <a:off x="1488" y="1200"/>
              <a:ext cx="27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8" name="Line 6"/>
            <p:cNvSpPr>
              <a:spLocks noChangeShapeType="1"/>
            </p:cNvSpPr>
            <p:nvPr/>
          </p:nvSpPr>
          <p:spPr bwMode="auto">
            <a:xfrm>
              <a:off x="1488" y="1728"/>
              <a:ext cx="27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9" name="Text Box 7"/>
            <p:cNvSpPr txBox="1">
              <a:spLocks noChangeArrowheads="1"/>
            </p:cNvSpPr>
            <p:nvPr/>
          </p:nvSpPr>
          <p:spPr bwMode="auto">
            <a:xfrm>
              <a:off x="1680" y="1344"/>
              <a:ext cx="15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en-US" sz="2400">
                  <a:latin typeface="Times New Roman" panose="02020603050405020304" pitchFamily="18" charset="0"/>
                  <a:ea typeface="宋体" panose="02010600030101010101" pitchFamily="2" charset="-122"/>
                </a:rPr>
                <a:t>a1   a2   a3   a4   a5</a:t>
              </a:r>
              <a:endParaRPr kumimoji="1" lang="en-US" altLang="zh-CN" sz="2400">
                <a:latin typeface="Times New Roman" panose="02020603050405020304" pitchFamily="18" charset="0"/>
                <a:ea typeface="宋体" panose="02010600030101010101" pitchFamily="2" charset="-122"/>
              </a:endParaRPr>
            </a:p>
          </p:txBody>
        </p:sp>
        <p:sp>
          <p:nvSpPr>
            <p:cNvPr id="114700" name="Line 8"/>
            <p:cNvSpPr>
              <a:spLocks noChangeShapeType="1"/>
            </p:cNvSpPr>
            <p:nvPr/>
          </p:nvSpPr>
          <p:spPr bwMode="auto">
            <a:xfrm flipH="1">
              <a:off x="768" y="1536"/>
              <a:ext cx="6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01" name="Line 9"/>
            <p:cNvSpPr>
              <a:spLocks noChangeShapeType="1"/>
            </p:cNvSpPr>
            <p:nvPr/>
          </p:nvSpPr>
          <p:spPr bwMode="auto">
            <a:xfrm flipH="1">
              <a:off x="4224" y="1488"/>
              <a:ext cx="5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02" name="Text Box 10"/>
            <p:cNvSpPr txBox="1">
              <a:spLocks noChangeArrowheads="1"/>
            </p:cNvSpPr>
            <p:nvPr/>
          </p:nvSpPr>
          <p:spPr bwMode="auto">
            <a:xfrm>
              <a:off x="816" y="1152"/>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出队</a:t>
              </a:r>
            </a:p>
          </p:txBody>
        </p:sp>
        <p:sp>
          <p:nvSpPr>
            <p:cNvPr id="114703" name="Text Box 11"/>
            <p:cNvSpPr txBox="1">
              <a:spLocks noChangeArrowheads="1"/>
            </p:cNvSpPr>
            <p:nvPr/>
          </p:nvSpPr>
          <p:spPr bwMode="auto">
            <a:xfrm>
              <a:off x="4320" y="1152"/>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入队</a:t>
              </a:r>
            </a:p>
          </p:txBody>
        </p:sp>
      </p:grpSp>
      <p:sp>
        <p:nvSpPr>
          <p:cNvPr id="114692" name="Line 12"/>
          <p:cNvSpPr>
            <a:spLocks noChangeShapeType="1"/>
          </p:cNvSpPr>
          <p:nvPr/>
        </p:nvSpPr>
        <p:spPr bwMode="auto">
          <a:xfrm flipV="1">
            <a:off x="4343400" y="5057775"/>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3" name="Text Box 13"/>
          <p:cNvSpPr txBox="1">
            <a:spLocks noChangeArrowheads="1"/>
          </p:cNvSpPr>
          <p:nvPr/>
        </p:nvSpPr>
        <p:spPr bwMode="auto">
          <a:xfrm>
            <a:off x="4098925" y="5556250"/>
            <a:ext cx="77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en-US" sz="2400">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114694" name="Line 14"/>
          <p:cNvSpPr>
            <a:spLocks noChangeShapeType="1"/>
          </p:cNvSpPr>
          <p:nvPr/>
        </p:nvSpPr>
        <p:spPr bwMode="auto">
          <a:xfrm flipV="1">
            <a:off x="6477000" y="5057775"/>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5" name="Text Box 15"/>
          <p:cNvSpPr txBox="1">
            <a:spLocks noChangeArrowheads="1"/>
          </p:cNvSpPr>
          <p:nvPr/>
        </p:nvSpPr>
        <p:spPr bwMode="auto">
          <a:xfrm>
            <a:off x="6248400" y="5556250"/>
            <a:ext cx="65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114696" name="标题 1"/>
          <p:cNvSpPr>
            <a:spLocks noGrp="1"/>
          </p:cNvSpPr>
          <p:nvPr>
            <p:ph type="title"/>
          </p:nvPr>
        </p:nvSpPr>
        <p:spPr>
          <a:xfrm>
            <a:off x="527050" y="333375"/>
            <a:ext cx="10321925" cy="863600"/>
          </a:xfrm>
        </p:spPr>
        <p:txBody>
          <a:bodyPr/>
          <a:lstStyle/>
          <a:p>
            <a:pPr eaLnBrk="1" hangingPunct="1"/>
            <a:r>
              <a:rPr lang="zh-CN" altLang="en-US" smtClean="0"/>
              <a:t>队列的定义</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Group 2"/>
          <p:cNvGrpSpPr>
            <a:grpSpLocks/>
          </p:cNvGrpSpPr>
          <p:nvPr/>
        </p:nvGrpSpPr>
        <p:grpSpPr bwMode="auto">
          <a:xfrm>
            <a:off x="2895600" y="2209800"/>
            <a:ext cx="6432550" cy="914400"/>
            <a:chOff x="768" y="1152"/>
            <a:chExt cx="4052" cy="576"/>
          </a:xfrm>
        </p:grpSpPr>
        <p:sp>
          <p:nvSpPr>
            <p:cNvPr id="115717" name="Line 3"/>
            <p:cNvSpPr>
              <a:spLocks noChangeShapeType="1"/>
            </p:cNvSpPr>
            <p:nvPr/>
          </p:nvSpPr>
          <p:spPr bwMode="auto">
            <a:xfrm>
              <a:off x="1488" y="1200"/>
              <a:ext cx="27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8" name="Line 4"/>
            <p:cNvSpPr>
              <a:spLocks noChangeShapeType="1"/>
            </p:cNvSpPr>
            <p:nvPr/>
          </p:nvSpPr>
          <p:spPr bwMode="auto">
            <a:xfrm>
              <a:off x="1488" y="1728"/>
              <a:ext cx="27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9" name="Text Box 5"/>
            <p:cNvSpPr txBox="1">
              <a:spLocks noChangeArrowheads="1"/>
            </p:cNvSpPr>
            <p:nvPr/>
          </p:nvSpPr>
          <p:spPr bwMode="auto">
            <a:xfrm>
              <a:off x="1680" y="1344"/>
              <a:ext cx="15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en-US" sz="2400">
                  <a:latin typeface="Times New Roman" panose="02020603050405020304" pitchFamily="18" charset="0"/>
                  <a:ea typeface="宋体" panose="02010600030101010101" pitchFamily="2" charset="-122"/>
                </a:rPr>
                <a:t>a1   a2   a3   a4   a5</a:t>
              </a:r>
              <a:endParaRPr kumimoji="1" lang="en-US" altLang="zh-CN" sz="2400">
                <a:latin typeface="Times New Roman" panose="02020603050405020304" pitchFamily="18" charset="0"/>
                <a:ea typeface="宋体" panose="02010600030101010101" pitchFamily="2" charset="-122"/>
              </a:endParaRPr>
            </a:p>
          </p:txBody>
        </p:sp>
        <p:sp>
          <p:nvSpPr>
            <p:cNvPr id="115720" name="Line 6"/>
            <p:cNvSpPr>
              <a:spLocks noChangeShapeType="1"/>
            </p:cNvSpPr>
            <p:nvPr/>
          </p:nvSpPr>
          <p:spPr bwMode="auto">
            <a:xfrm flipH="1">
              <a:off x="768" y="1536"/>
              <a:ext cx="6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1" name="Line 7"/>
            <p:cNvSpPr>
              <a:spLocks noChangeShapeType="1"/>
            </p:cNvSpPr>
            <p:nvPr/>
          </p:nvSpPr>
          <p:spPr bwMode="auto">
            <a:xfrm flipH="1">
              <a:off x="4224" y="1488"/>
              <a:ext cx="5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2" name="Text Box 8"/>
            <p:cNvSpPr txBox="1">
              <a:spLocks noChangeArrowheads="1"/>
            </p:cNvSpPr>
            <p:nvPr/>
          </p:nvSpPr>
          <p:spPr bwMode="auto">
            <a:xfrm>
              <a:off x="816" y="1152"/>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出队</a:t>
              </a:r>
            </a:p>
          </p:txBody>
        </p:sp>
        <p:sp>
          <p:nvSpPr>
            <p:cNvPr id="115723" name="Text Box 9"/>
            <p:cNvSpPr txBox="1">
              <a:spLocks noChangeArrowheads="1"/>
            </p:cNvSpPr>
            <p:nvPr/>
          </p:nvSpPr>
          <p:spPr bwMode="auto">
            <a:xfrm>
              <a:off x="4320" y="1152"/>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入队</a:t>
              </a:r>
            </a:p>
          </p:txBody>
        </p:sp>
      </p:grpSp>
      <p:sp>
        <p:nvSpPr>
          <p:cNvPr id="115715" name="Text Box 10"/>
          <p:cNvSpPr txBox="1">
            <a:spLocks noChangeArrowheads="1"/>
          </p:cNvSpPr>
          <p:nvPr/>
        </p:nvSpPr>
        <p:spPr bwMode="auto">
          <a:xfrm>
            <a:off x="1558925" y="3962400"/>
            <a:ext cx="95059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华文楷体" panose="02010600040101010101" pitchFamily="2" charset="-122"/>
                <a:ea typeface="华文楷体" panose="02010600040101010101" pitchFamily="2" charset="-122"/>
              </a:rPr>
              <a:t>        </a:t>
            </a:r>
            <a:r>
              <a:rPr kumimoji="1" lang="zh-CN" altLang="en-US" sz="2400">
                <a:latin typeface="华文楷体" panose="02010600040101010101" pitchFamily="2" charset="-122"/>
                <a:ea typeface="华文楷体" panose="02010600040101010101" pitchFamily="2" charset="-122"/>
              </a:rPr>
              <a:t>上图是一个有</a:t>
            </a:r>
            <a:r>
              <a:rPr kumimoji="1" lang="en-US" altLang="zh-CN" sz="2400">
                <a:latin typeface="华文楷体" panose="02010600040101010101" pitchFamily="2" charset="-122"/>
                <a:ea typeface="华文楷体" panose="02010600040101010101" pitchFamily="2" charset="-122"/>
              </a:rPr>
              <a:t>5</a:t>
            </a:r>
            <a:r>
              <a:rPr kumimoji="1" lang="zh-CN" altLang="en-US" sz="2400">
                <a:latin typeface="华文楷体" panose="02010600040101010101" pitchFamily="2" charset="-122"/>
                <a:ea typeface="华文楷体" panose="02010600040101010101" pitchFamily="2" charset="-122"/>
              </a:rPr>
              <a:t>个元素的队列，入队的顺序依次</a:t>
            </a:r>
            <a:r>
              <a:rPr kumimoji="1" lang="en-US" altLang="en-US" sz="2400">
                <a:latin typeface="华文楷体" panose="02010600040101010101" pitchFamily="2" charset="-122"/>
                <a:ea typeface="华文楷体" panose="02010600040101010101" pitchFamily="2" charset="-122"/>
              </a:rPr>
              <a:t>a1,a2,a3,a4,a5</a:t>
            </a:r>
            <a:r>
              <a:rPr kumimoji="1" lang="zh-CN" altLang="en-US" sz="2400">
                <a:latin typeface="华文楷体" panose="02010600040101010101" pitchFamily="2" charset="-122"/>
                <a:ea typeface="华文楷体" panose="02010600040101010101" pitchFamily="2" charset="-122"/>
              </a:rPr>
              <a:t>，出队时的顺序将依然是</a:t>
            </a:r>
            <a:r>
              <a:rPr kumimoji="1" lang="en-US" altLang="en-US" sz="2400">
                <a:latin typeface="华文楷体" panose="02010600040101010101" pitchFamily="2" charset="-122"/>
                <a:ea typeface="华文楷体" panose="02010600040101010101" pitchFamily="2" charset="-122"/>
              </a:rPr>
              <a:t>a1,a2,a3,a4,a5</a:t>
            </a:r>
            <a:r>
              <a:rPr kumimoji="1" lang="zh-CN" altLang="en-US" sz="2400">
                <a:latin typeface="华文楷体" panose="02010600040101010101" pitchFamily="2" charset="-122"/>
                <a:ea typeface="华文楷体" panose="02010600040101010101" pitchFamily="2" charset="-122"/>
              </a:rPr>
              <a:t>。先进入队列的元素总是先离开队列。因此队列也称作先进先出</a:t>
            </a:r>
            <a:r>
              <a:rPr kumimoji="1" lang="en-US" altLang="zh-CN" sz="2400">
                <a:latin typeface="华文楷体" panose="02010600040101010101" pitchFamily="2" charset="-122"/>
                <a:ea typeface="华文楷体" panose="02010600040101010101" pitchFamily="2" charset="-122"/>
              </a:rPr>
              <a:t>(First  In First Out)</a:t>
            </a:r>
            <a:r>
              <a:rPr kumimoji="1" lang="zh-CN" altLang="en-US" sz="2400">
                <a:latin typeface="华文楷体" panose="02010600040101010101" pitchFamily="2" charset="-122"/>
                <a:ea typeface="华文楷体" panose="02010600040101010101" pitchFamily="2" charset="-122"/>
              </a:rPr>
              <a:t>的线性表，简称</a:t>
            </a:r>
            <a:r>
              <a:rPr kumimoji="1" lang="en-US" altLang="zh-CN" sz="2400">
                <a:latin typeface="华文楷体" panose="02010600040101010101" pitchFamily="2" charset="-122"/>
                <a:ea typeface="华文楷体" panose="02010600040101010101" pitchFamily="2" charset="-122"/>
              </a:rPr>
              <a:t>FIFO</a:t>
            </a:r>
            <a:r>
              <a:rPr kumimoji="1" lang="zh-CN" altLang="en-US" sz="2400">
                <a:latin typeface="华文楷体" panose="02010600040101010101" pitchFamily="2" charset="-122"/>
                <a:ea typeface="华文楷体" panose="02010600040101010101" pitchFamily="2" charset="-122"/>
              </a:rPr>
              <a:t>表。</a:t>
            </a:r>
          </a:p>
        </p:txBody>
      </p:sp>
      <p:sp>
        <p:nvSpPr>
          <p:cNvPr id="115716"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527050" y="333375"/>
            <a:ext cx="10321925" cy="863600"/>
          </a:xfrm>
        </p:spPr>
        <p:txBody>
          <a:bodyPr/>
          <a:lstStyle/>
          <a:p>
            <a:pPr eaLnBrk="1" hangingPunct="1"/>
            <a:r>
              <a:rPr lang="zh-CN" altLang="en-US" smtClean="0"/>
              <a:t>定义在队列结构上的基本运算</a:t>
            </a:r>
            <a:endParaRPr lang="zh-CN" altLang="en-US" sz="3200" smtClean="0"/>
          </a:p>
        </p:txBody>
      </p:sp>
      <p:sp>
        <p:nvSpPr>
          <p:cNvPr id="116739"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z="2600" smtClean="0"/>
              <a:t>   </a:t>
            </a:r>
            <a:r>
              <a:rPr lang="en-US" altLang="zh-CN" sz="2100" smtClean="0"/>
              <a:t>(1)</a:t>
            </a:r>
            <a:r>
              <a:rPr lang="zh-CN" altLang="en-US" sz="2100" smtClean="0"/>
              <a:t>构造空队列操作          </a:t>
            </a:r>
            <a:r>
              <a:rPr lang="en-US" altLang="zh-CN" sz="2100" smtClean="0">
                <a:solidFill>
                  <a:schemeClr val="accent2"/>
                </a:solidFill>
              </a:rPr>
              <a:t>init_queue</a:t>
            </a:r>
            <a:r>
              <a:rPr lang="en-US" altLang="zh-CN" sz="2100" smtClean="0"/>
              <a:t>(q)</a:t>
            </a:r>
          </a:p>
          <a:p>
            <a:pPr eaLnBrk="1" hangingPunct="1">
              <a:buFont typeface="Wingdings" panose="05000000000000000000" pitchFamily="2" charset="2"/>
              <a:buNone/>
            </a:pPr>
            <a:r>
              <a:rPr lang="en-US" altLang="zh-CN" sz="2100" smtClean="0"/>
              <a:t>    (2)</a:t>
            </a:r>
            <a:r>
              <a:rPr lang="zh-CN" altLang="en-US" sz="2100" smtClean="0"/>
              <a:t>判队空否函数              </a:t>
            </a:r>
            <a:r>
              <a:rPr lang="en-US" altLang="zh-CN" sz="2100" smtClean="0">
                <a:solidFill>
                  <a:schemeClr val="accent2"/>
                </a:solidFill>
              </a:rPr>
              <a:t>empty_queue</a:t>
            </a:r>
            <a:r>
              <a:rPr lang="en-US" altLang="zh-CN" sz="2100" smtClean="0"/>
              <a:t>(q)</a:t>
            </a:r>
          </a:p>
          <a:p>
            <a:pPr eaLnBrk="1" hangingPunct="1">
              <a:buFont typeface="Wingdings" panose="05000000000000000000" pitchFamily="2" charset="2"/>
              <a:buNone/>
            </a:pPr>
            <a:r>
              <a:rPr lang="en-US" altLang="zh-CN" sz="2100" smtClean="0"/>
              <a:t>    (3)</a:t>
            </a:r>
            <a:r>
              <a:rPr lang="zh-CN" altLang="en-US" sz="2100" smtClean="0"/>
              <a:t>元素入队操作              </a:t>
            </a:r>
            <a:r>
              <a:rPr lang="en-US" altLang="zh-CN" sz="2100" smtClean="0">
                <a:solidFill>
                  <a:schemeClr val="accent2"/>
                </a:solidFill>
              </a:rPr>
              <a:t>en_queue</a:t>
            </a:r>
            <a:r>
              <a:rPr lang="en-US" altLang="zh-CN" sz="2100" smtClean="0"/>
              <a:t>(q,x)</a:t>
            </a:r>
          </a:p>
          <a:p>
            <a:pPr eaLnBrk="1" hangingPunct="1">
              <a:buFont typeface="Wingdings" panose="05000000000000000000" pitchFamily="2" charset="2"/>
              <a:buNone/>
            </a:pPr>
            <a:r>
              <a:rPr lang="en-US" altLang="zh-CN" sz="2100" smtClean="0"/>
              <a:t>    (4)</a:t>
            </a:r>
            <a:r>
              <a:rPr lang="zh-CN" altLang="en-US" sz="2100" smtClean="0"/>
              <a:t>元素出队函数              </a:t>
            </a:r>
            <a:r>
              <a:rPr lang="en-US" altLang="zh-CN" sz="2100" smtClean="0">
                <a:solidFill>
                  <a:schemeClr val="accent2"/>
                </a:solidFill>
              </a:rPr>
              <a:t>dl_queue</a:t>
            </a:r>
            <a:r>
              <a:rPr lang="en-US" altLang="zh-CN" sz="2100" smtClean="0"/>
              <a:t>(q)</a:t>
            </a:r>
          </a:p>
          <a:p>
            <a:pPr eaLnBrk="1" hangingPunct="1">
              <a:buFont typeface="Wingdings" panose="05000000000000000000" pitchFamily="2" charset="2"/>
              <a:buNone/>
            </a:pPr>
            <a:r>
              <a:rPr lang="en-US" altLang="zh-CN" sz="2100" smtClean="0"/>
              <a:t>    (5)</a:t>
            </a:r>
            <a:r>
              <a:rPr lang="zh-CN" altLang="zh-CN" sz="2100" smtClean="0"/>
              <a:t>取队头元素函数   </a:t>
            </a:r>
            <a:r>
              <a:rPr lang="zh-CN" altLang="en-US" sz="2100" smtClean="0"/>
              <a:t>       </a:t>
            </a:r>
            <a:r>
              <a:rPr lang="en-US" altLang="zh-CN" sz="2100" smtClean="0">
                <a:solidFill>
                  <a:schemeClr val="accent2"/>
                </a:solidFill>
              </a:rPr>
              <a:t>gethead_queue</a:t>
            </a:r>
            <a:r>
              <a:rPr lang="en-US" altLang="zh-CN" sz="2100" smtClean="0"/>
              <a:t>(q)</a:t>
            </a:r>
          </a:p>
          <a:p>
            <a:pPr eaLnBrk="1" hangingPunct="1">
              <a:buFont typeface="Wingdings" panose="05000000000000000000" pitchFamily="2" charset="2"/>
              <a:buNone/>
            </a:pPr>
            <a:r>
              <a:rPr lang="en-US" altLang="zh-CN" sz="2100" smtClean="0"/>
              <a:t>    (6) </a:t>
            </a:r>
            <a:r>
              <a:rPr lang="zh-CN" altLang="en-US" sz="2100" smtClean="0"/>
              <a:t>队列置空操作             </a:t>
            </a:r>
            <a:r>
              <a:rPr lang="en-US" altLang="zh-CN" sz="2100" smtClean="0">
                <a:solidFill>
                  <a:schemeClr val="accent2"/>
                </a:solidFill>
              </a:rPr>
              <a:t>clear_queue</a:t>
            </a:r>
            <a:r>
              <a:rPr lang="en-US" altLang="zh-CN" sz="2100" smtClean="0"/>
              <a:t>(q)</a:t>
            </a:r>
          </a:p>
          <a:p>
            <a:pPr eaLnBrk="1" hangingPunct="1">
              <a:buFont typeface="Wingdings" panose="05000000000000000000" pitchFamily="2" charset="2"/>
              <a:buNone/>
            </a:pPr>
            <a:r>
              <a:rPr lang="en-US" altLang="zh-CN" sz="2100" smtClean="0"/>
              <a:t>    (7)</a:t>
            </a:r>
            <a:r>
              <a:rPr lang="zh-CN" altLang="en-US" sz="2100" smtClean="0"/>
              <a:t>求队中元素个数函数  </a:t>
            </a:r>
            <a:r>
              <a:rPr lang="en-US" altLang="zh-CN" sz="2100" smtClean="0">
                <a:solidFill>
                  <a:schemeClr val="accent2"/>
                </a:solidFill>
              </a:rPr>
              <a:t>current_size_queue</a:t>
            </a:r>
            <a:r>
              <a:rPr lang="en-US" altLang="zh-CN" sz="2100" smtClean="0"/>
              <a:t>(q)</a:t>
            </a:r>
          </a:p>
          <a:p>
            <a:pPr eaLnBrk="1" hangingPunct="1">
              <a:buFont typeface="Wingdings" panose="05000000000000000000" pitchFamily="2" charset="2"/>
              <a:buNone/>
            </a:pPr>
            <a:endParaRPr lang="en-US" altLang="zh-CN" sz="2100" smtClean="0"/>
          </a:p>
        </p:txBody>
      </p:sp>
      <p:sp>
        <p:nvSpPr>
          <p:cNvPr id="51204" name="Text Box 4"/>
          <p:cNvSpPr txBox="1">
            <a:spLocks noChangeArrowheads="1"/>
          </p:cNvSpPr>
          <p:nvPr/>
        </p:nvSpPr>
        <p:spPr bwMode="auto">
          <a:xfrm>
            <a:off x="2286000" y="5181600"/>
            <a:ext cx="662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zh-CN" sz="2400">
                <a:solidFill>
                  <a:schemeClr val="accent2"/>
                </a:solidFill>
                <a:latin typeface="Times New Roman" panose="02020603050405020304" pitchFamily="18" charset="0"/>
                <a:ea typeface="楷体_GB2312" panose="02010609030101010101" pitchFamily="49" charset="-122"/>
              </a:rPr>
              <a:t>思考：可否用两个栈实现一个队列？如何实现？</a:t>
            </a:r>
            <a:endParaRPr kumimoji="1" lang="zh-CN" altLang="en-US" sz="2400">
              <a:solidFill>
                <a:schemeClr val="accent2"/>
              </a:solidFill>
              <a:latin typeface="Times New Roman" panose="02020603050405020304" pitchFamily="18" charset="0"/>
              <a:ea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04">
                                            <p:txEl>
                                              <p:pRg st="0" end="0"/>
                                            </p:txEl>
                                          </p:spTgt>
                                        </p:tgtEl>
                                        <p:attrNameLst>
                                          <p:attrName>style.visibility</p:attrName>
                                        </p:attrNameLst>
                                      </p:cBhvr>
                                      <p:to>
                                        <p:strVal val="visible"/>
                                      </p:to>
                                    </p:set>
                                    <p:anim calcmode="lin" valueType="num">
                                      <p:cBhvr additive="base">
                                        <p:cTn id="7" dur="500" fill="hold"/>
                                        <p:tgtEl>
                                          <p:spTgt spid="5120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20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527050" y="333375"/>
            <a:ext cx="10321925" cy="863600"/>
          </a:xfrm>
        </p:spPr>
        <p:txBody>
          <a:bodyPr/>
          <a:lstStyle/>
          <a:p>
            <a:pPr eaLnBrk="1" hangingPunct="1"/>
            <a:r>
              <a:rPr lang="en-US" altLang="zh-CN" smtClean="0"/>
              <a:t>3.2.2 </a:t>
            </a:r>
            <a:r>
              <a:rPr lang="zh-CN" altLang="zh-CN" smtClean="0"/>
              <a:t>队列的链式存储结构以及操作的实现</a:t>
            </a:r>
            <a:endParaRPr lang="zh-CN" altLang="en-US" sz="3600" smtClean="0"/>
          </a:p>
        </p:txBody>
      </p:sp>
      <p:sp>
        <p:nvSpPr>
          <p:cNvPr id="117763"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z="2100" b="1" smtClean="0">
                <a:solidFill>
                  <a:srgbClr val="FF3300"/>
                </a:solidFill>
              </a:rPr>
              <a:t>[</a:t>
            </a:r>
            <a:r>
              <a:rPr lang="zh-CN" altLang="en-US" sz="2100" b="1" smtClean="0">
                <a:solidFill>
                  <a:srgbClr val="FF3300"/>
                </a:solidFill>
              </a:rPr>
              <a:t>类型定义</a:t>
            </a:r>
            <a:r>
              <a:rPr lang="en-US" altLang="zh-CN" sz="2100" b="1" smtClean="0">
                <a:solidFill>
                  <a:srgbClr val="FF3300"/>
                </a:solidFill>
              </a:rPr>
              <a:t>]</a:t>
            </a:r>
            <a:r>
              <a:rPr lang="en-US" altLang="zh-CN" sz="2100" smtClean="0"/>
              <a:t>   </a:t>
            </a:r>
            <a:r>
              <a:rPr lang="zh-CN" altLang="en-US" sz="2100" smtClean="0">
                <a:solidFill>
                  <a:schemeClr val="accent2"/>
                </a:solidFill>
                <a:latin typeface="楷体_GB2312" panose="02010609030101010101" pitchFamily="49" charset="-122"/>
                <a:ea typeface="楷体_GB2312" panose="02010609030101010101" pitchFamily="49" charset="-122"/>
              </a:rPr>
              <a:t>队头指针 </a:t>
            </a:r>
            <a:r>
              <a:rPr lang="en-US" altLang="zh-CN" sz="2100" smtClean="0">
                <a:solidFill>
                  <a:schemeClr val="accent2"/>
                </a:solidFill>
                <a:latin typeface="楷体_GB2312" panose="02010609030101010101" pitchFamily="49" charset="-122"/>
                <a:ea typeface="楷体_GB2312" panose="02010609030101010101" pitchFamily="49" charset="-122"/>
              </a:rPr>
              <a:t>+ </a:t>
            </a:r>
            <a:r>
              <a:rPr lang="zh-CN" altLang="en-US" sz="2100" smtClean="0">
                <a:solidFill>
                  <a:schemeClr val="accent2"/>
                </a:solidFill>
                <a:latin typeface="楷体_GB2312" panose="02010609030101010101" pitchFamily="49" charset="-122"/>
                <a:ea typeface="楷体_GB2312" panose="02010609030101010101" pitchFamily="49" charset="-122"/>
              </a:rPr>
              <a:t>队尾指针</a:t>
            </a:r>
            <a:r>
              <a:rPr lang="zh-CN" altLang="en-US" sz="2600" smtClean="0"/>
              <a:t> </a:t>
            </a:r>
          </a:p>
        </p:txBody>
      </p:sp>
      <p:sp>
        <p:nvSpPr>
          <p:cNvPr id="117764" name="Rectangle 4"/>
          <p:cNvSpPr>
            <a:spLocks noChangeArrowheads="1"/>
          </p:cNvSpPr>
          <p:nvPr/>
        </p:nvSpPr>
        <p:spPr bwMode="auto">
          <a:xfrm>
            <a:off x="7620000" y="2057400"/>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7765" name="Rectangle 5"/>
          <p:cNvSpPr>
            <a:spLocks noChangeArrowheads="1"/>
          </p:cNvSpPr>
          <p:nvPr/>
        </p:nvSpPr>
        <p:spPr bwMode="auto">
          <a:xfrm>
            <a:off x="7620000" y="2743200"/>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7766" name="Rectangle 6"/>
          <p:cNvSpPr>
            <a:spLocks noChangeArrowheads="1"/>
          </p:cNvSpPr>
          <p:nvPr/>
        </p:nvSpPr>
        <p:spPr bwMode="auto">
          <a:xfrm>
            <a:off x="7620000" y="3429000"/>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7767" name="Rectangle 7"/>
          <p:cNvSpPr>
            <a:spLocks noChangeArrowheads="1"/>
          </p:cNvSpPr>
          <p:nvPr/>
        </p:nvSpPr>
        <p:spPr bwMode="auto">
          <a:xfrm>
            <a:off x="7620000" y="5257800"/>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7768" name="Line 8"/>
          <p:cNvSpPr>
            <a:spLocks noChangeShapeType="1"/>
          </p:cNvSpPr>
          <p:nvPr/>
        </p:nvSpPr>
        <p:spPr bwMode="auto">
          <a:xfrm>
            <a:off x="8458200" y="205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9" name="Line 9"/>
          <p:cNvSpPr>
            <a:spLocks noChangeShapeType="1"/>
          </p:cNvSpPr>
          <p:nvPr/>
        </p:nvSpPr>
        <p:spPr bwMode="auto">
          <a:xfrm>
            <a:off x="8458200" y="2743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0" name="Line 10"/>
          <p:cNvSpPr>
            <a:spLocks noChangeShapeType="1"/>
          </p:cNvSpPr>
          <p:nvPr/>
        </p:nvSpPr>
        <p:spPr bwMode="auto">
          <a:xfrm>
            <a:off x="8458200" y="3429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1" name="Line 11"/>
          <p:cNvSpPr>
            <a:spLocks noChangeShapeType="1"/>
          </p:cNvSpPr>
          <p:nvPr/>
        </p:nvSpPr>
        <p:spPr bwMode="auto">
          <a:xfrm>
            <a:off x="8458200" y="5257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2" name="Text Box 12"/>
          <p:cNvSpPr txBox="1">
            <a:spLocks noChangeArrowheads="1"/>
          </p:cNvSpPr>
          <p:nvPr/>
        </p:nvSpPr>
        <p:spPr bwMode="auto">
          <a:xfrm>
            <a:off x="7696200" y="16002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data   next</a:t>
            </a:r>
          </a:p>
        </p:txBody>
      </p:sp>
      <p:sp>
        <p:nvSpPr>
          <p:cNvPr id="117773" name="Line 15"/>
          <p:cNvSpPr>
            <a:spLocks noChangeShapeType="1"/>
          </p:cNvSpPr>
          <p:nvPr/>
        </p:nvSpPr>
        <p:spPr bwMode="auto">
          <a:xfrm>
            <a:off x="8763000" y="22860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4" name="Line 16"/>
          <p:cNvSpPr>
            <a:spLocks noChangeShapeType="1"/>
          </p:cNvSpPr>
          <p:nvPr/>
        </p:nvSpPr>
        <p:spPr bwMode="auto">
          <a:xfrm>
            <a:off x="8763000" y="29718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5" name="Line 17"/>
          <p:cNvSpPr>
            <a:spLocks noChangeShapeType="1"/>
          </p:cNvSpPr>
          <p:nvPr/>
        </p:nvSpPr>
        <p:spPr bwMode="auto">
          <a:xfrm>
            <a:off x="8763000" y="36576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6" name="Line 18"/>
          <p:cNvSpPr>
            <a:spLocks noChangeShapeType="1"/>
          </p:cNvSpPr>
          <p:nvPr/>
        </p:nvSpPr>
        <p:spPr bwMode="auto">
          <a:xfrm>
            <a:off x="8763000" y="4191000"/>
            <a:ext cx="0" cy="6096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7" name="Line 19"/>
          <p:cNvSpPr>
            <a:spLocks noChangeShapeType="1"/>
          </p:cNvSpPr>
          <p:nvPr/>
        </p:nvSpPr>
        <p:spPr bwMode="auto">
          <a:xfrm>
            <a:off x="8763000" y="48006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8" name="Text Box 20"/>
          <p:cNvSpPr txBox="1">
            <a:spLocks noChangeArrowheads="1"/>
          </p:cNvSpPr>
          <p:nvPr/>
        </p:nvSpPr>
        <p:spPr bwMode="auto">
          <a:xfrm>
            <a:off x="8610600" y="54102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17779" name="Line 21"/>
          <p:cNvSpPr>
            <a:spLocks noChangeShapeType="1"/>
          </p:cNvSpPr>
          <p:nvPr/>
        </p:nvSpPr>
        <p:spPr bwMode="auto">
          <a:xfrm flipV="1">
            <a:off x="7086600" y="22860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80" name="Text Box 22"/>
          <p:cNvSpPr txBox="1">
            <a:spLocks noChangeArrowheads="1"/>
          </p:cNvSpPr>
          <p:nvPr/>
        </p:nvSpPr>
        <p:spPr bwMode="auto">
          <a:xfrm>
            <a:off x="6351588" y="20574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17781" name="Line 23"/>
          <p:cNvSpPr>
            <a:spLocks noChangeShapeType="1"/>
          </p:cNvSpPr>
          <p:nvPr/>
        </p:nvSpPr>
        <p:spPr bwMode="auto">
          <a:xfrm>
            <a:off x="7162800" y="54864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82" name="Line 24"/>
          <p:cNvSpPr>
            <a:spLocks noChangeShapeType="1"/>
          </p:cNvSpPr>
          <p:nvPr/>
        </p:nvSpPr>
        <p:spPr bwMode="auto">
          <a:xfrm>
            <a:off x="7162800" y="54864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83" name="Text Box 25"/>
          <p:cNvSpPr txBox="1">
            <a:spLocks noChangeArrowheads="1"/>
          </p:cNvSpPr>
          <p:nvPr/>
        </p:nvSpPr>
        <p:spPr bwMode="auto">
          <a:xfrm>
            <a:off x="6858000" y="56388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117784" name="Text Box 26"/>
          <p:cNvSpPr txBox="1">
            <a:spLocks noChangeArrowheads="1"/>
          </p:cNvSpPr>
          <p:nvPr/>
        </p:nvSpPr>
        <p:spPr bwMode="auto">
          <a:xfrm>
            <a:off x="9144000" y="274320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400">
                <a:solidFill>
                  <a:schemeClr val="accent2"/>
                </a:solidFill>
                <a:latin typeface="Times New Roman" panose="02020603050405020304" pitchFamily="18" charset="0"/>
                <a:ea typeface="楷体_GB2312" panose="02010609030101010101" pitchFamily="49" charset="-122"/>
              </a:rPr>
              <a:t>队头</a:t>
            </a:r>
            <a:endParaRPr kumimoji="1" lang="zh-CN" altLang="en-US" sz="2400">
              <a:latin typeface="Times New Roman" panose="02020603050405020304" pitchFamily="18" charset="0"/>
              <a:ea typeface="宋体" panose="02010600030101010101" pitchFamily="2" charset="-122"/>
            </a:endParaRPr>
          </a:p>
        </p:txBody>
      </p:sp>
      <p:sp>
        <p:nvSpPr>
          <p:cNvPr id="117785" name="Text Box 27"/>
          <p:cNvSpPr txBox="1">
            <a:spLocks noChangeArrowheads="1"/>
          </p:cNvSpPr>
          <p:nvPr/>
        </p:nvSpPr>
        <p:spPr bwMode="auto">
          <a:xfrm>
            <a:off x="9144000" y="52578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400">
                <a:solidFill>
                  <a:schemeClr val="accent2"/>
                </a:solidFill>
                <a:latin typeface="Times New Roman" panose="02020603050405020304" pitchFamily="18" charset="0"/>
                <a:ea typeface="楷体_GB2312" panose="02010609030101010101" pitchFamily="49" charset="-122"/>
              </a:rPr>
              <a:t>队尾</a:t>
            </a:r>
            <a:endParaRPr kumimoji="1" lang="zh-CN" altLang="en-US" sz="2400">
              <a:latin typeface="Times New Roman" panose="02020603050405020304" pitchFamily="18" charset="0"/>
              <a:ea typeface="宋体" panose="02010600030101010101" pitchFamily="2" charset="-122"/>
            </a:endParaRPr>
          </a:p>
        </p:txBody>
      </p:sp>
      <p:sp>
        <p:nvSpPr>
          <p:cNvPr id="117786" name="Rectangle 29" descr="浅色上对角线"/>
          <p:cNvSpPr>
            <a:spLocks noChangeArrowheads="1"/>
          </p:cNvSpPr>
          <p:nvPr/>
        </p:nvSpPr>
        <p:spPr bwMode="auto">
          <a:xfrm>
            <a:off x="7620000" y="2057400"/>
            <a:ext cx="838200" cy="4572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7787" name="Text Box 30"/>
          <p:cNvSpPr txBox="1">
            <a:spLocks noChangeArrowheads="1"/>
          </p:cNvSpPr>
          <p:nvPr/>
        </p:nvSpPr>
        <p:spPr bwMode="auto">
          <a:xfrm>
            <a:off x="2279650" y="2205038"/>
            <a:ext cx="3868738" cy="2308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cs typeface="Times New Roman" panose="02020603050405020304" pitchFamily="18" charset="0"/>
              </a:rPr>
              <a:t>typedef  struct node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cs typeface="Times New Roman" panose="02020603050405020304" pitchFamily="18" charset="0"/>
              </a:rPr>
              <a:t>    Elemtype     data;</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cs typeface="Times New Roman" panose="02020603050405020304" pitchFamily="18" charset="0"/>
              </a:rPr>
              <a:t>    struct node  *next;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cs typeface="Times New Roman" panose="02020603050405020304" pitchFamily="18" charset="0"/>
              </a:rPr>
              <a:t>}  QNode ;</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cs typeface="Times New Roman" panose="02020603050405020304" pitchFamily="18" charset="0"/>
              </a:rPr>
              <a:t>QNode   * front,  * rear;</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ChangeArrowheads="1"/>
          </p:cNvSpPr>
          <p:nvPr/>
        </p:nvSpPr>
        <p:spPr bwMode="auto">
          <a:xfrm>
            <a:off x="2351088" y="3429000"/>
            <a:ext cx="474662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(1) </a:t>
            </a:r>
            <a:r>
              <a:rPr kumimoji="1" lang="zh-CN" altLang="en-US" sz="2400">
                <a:latin typeface="Times New Roman" panose="02020603050405020304" pitchFamily="18" charset="0"/>
                <a:ea typeface="宋体" panose="02010600030101010101" pitchFamily="2" charset="-122"/>
              </a:rPr>
              <a:t>初始化链队</a:t>
            </a:r>
          </a:p>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InitQueue ( LinkQueue  *Q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 </a:t>
            </a:r>
            <a:r>
              <a:rPr kumimoji="1" lang="zh-CN" altLang="en-US" sz="2400">
                <a:latin typeface="Times New Roman" panose="02020603050405020304" pitchFamily="18" charset="0"/>
                <a:ea typeface="宋体" panose="02010600030101010101" pitchFamily="2" charset="-122"/>
              </a:rPr>
              <a:t>链队不带头结点</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     </a:t>
            </a:r>
            <a:r>
              <a:rPr kumimoji="1" lang="en-US" altLang="zh-CN" sz="2400">
                <a:latin typeface="Times New Roman" panose="02020603050405020304" pitchFamily="18" charset="0"/>
                <a:ea typeface="宋体" panose="02010600030101010101" pitchFamily="2" charset="-122"/>
              </a:rPr>
              <a:t>Q-&gt;front = Q-&gt;rear = NULL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18787" name="Text Box 3"/>
          <p:cNvSpPr txBox="1">
            <a:spLocks noChangeArrowheads="1"/>
          </p:cNvSpPr>
          <p:nvPr/>
        </p:nvSpPr>
        <p:spPr bwMode="auto">
          <a:xfrm>
            <a:off x="6672263" y="1412875"/>
            <a:ext cx="37401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en-US" sz="2400">
                <a:latin typeface="Times New Roman" panose="02020603050405020304" pitchFamily="18" charset="0"/>
                <a:ea typeface="宋体" panose="02010600030101010101" pitchFamily="2" charset="-122"/>
              </a:rPr>
              <a:t>typedef  struct  {</a:t>
            </a:r>
          </a:p>
          <a:p>
            <a:pPr eaLnBrk="1" hangingPunct="1">
              <a:lnSpc>
                <a:spcPct val="100000"/>
              </a:lnSpc>
              <a:spcBef>
                <a:spcPct val="0"/>
              </a:spcBef>
              <a:buFontTx/>
              <a:buNone/>
            </a:pPr>
            <a:r>
              <a:rPr kumimoji="1" lang="en-US" altLang="en-US" sz="2400">
                <a:latin typeface="Times New Roman" panose="02020603050405020304" pitchFamily="18" charset="0"/>
                <a:ea typeface="宋体" panose="02010600030101010101" pitchFamily="2" charset="-122"/>
              </a:rPr>
              <a:t>    QNode    * front;</a:t>
            </a:r>
          </a:p>
          <a:p>
            <a:pPr eaLnBrk="1" hangingPunct="1">
              <a:lnSpc>
                <a:spcPct val="100000"/>
              </a:lnSpc>
              <a:spcBef>
                <a:spcPct val="0"/>
              </a:spcBef>
              <a:buFontTx/>
              <a:buNone/>
            </a:pPr>
            <a:r>
              <a:rPr kumimoji="1" lang="en-US" altLang="en-US" sz="2400">
                <a:latin typeface="Times New Roman" panose="02020603050405020304" pitchFamily="18" charset="0"/>
                <a:ea typeface="宋体" panose="02010600030101010101" pitchFamily="2" charset="-122"/>
              </a:rPr>
              <a:t>    QNode    * rear;</a:t>
            </a:r>
          </a:p>
          <a:p>
            <a:pPr eaLnBrk="1" hangingPunct="1">
              <a:lnSpc>
                <a:spcPct val="100000"/>
              </a:lnSpc>
              <a:spcBef>
                <a:spcPct val="0"/>
              </a:spcBef>
              <a:buFontTx/>
              <a:buNone/>
            </a:pPr>
            <a:r>
              <a:rPr kumimoji="1" lang="en-US" altLang="en-US" sz="2400">
                <a:latin typeface="Times New Roman" panose="02020603050405020304" pitchFamily="18" charset="0"/>
                <a:ea typeface="宋体" panose="02010600030101010101" pitchFamily="2" charset="-122"/>
              </a:rPr>
              <a:t>}  LinkQueue ;</a:t>
            </a:r>
          </a:p>
          <a:p>
            <a:pPr eaLnBrk="1" hangingPunct="1">
              <a:lnSpc>
                <a:spcPct val="100000"/>
              </a:lnSpc>
              <a:spcBef>
                <a:spcPct val="0"/>
              </a:spcBef>
              <a:buFontTx/>
              <a:buNone/>
            </a:pPr>
            <a:r>
              <a:rPr kumimoji="1" lang="en-US" altLang="en-US" sz="2400">
                <a:latin typeface="Times New Roman" panose="02020603050405020304" pitchFamily="18" charset="0"/>
                <a:ea typeface="宋体" panose="02010600030101010101" pitchFamily="2" charset="-122"/>
              </a:rPr>
              <a:t>//</a:t>
            </a:r>
            <a:r>
              <a:rPr kumimoji="1" lang="zh-CN" altLang="en-US" sz="2400">
                <a:latin typeface="Times New Roman" panose="02020603050405020304" pitchFamily="18" charset="0"/>
                <a:ea typeface="宋体" panose="02010600030101010101" pitchFamily="2" charset="-122"/>
              </a:rPr>
              <a:t>定义一个数据类型，包含</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两个指针</a:t>
            </a:r>
          </a:p>
        </p:txBody>
      </p:sp>
      <p:sp>
        <p:nvSpPr>
          <p:cNvPr id="118788"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9" descr="浅色上对角线"/>
          <p:cNvSpPr>
            <a:spLocks noChangeArrowheads="1"/>
          </p:cNvSpPr>
          <p:nvPr/>
        </p:nvSpPr>
        <p:spPr bwMode="auto">
          <a:xfrm>
            <a:off x="3452813" y="2071688"/>
            <a:ext cx="838200" cy="4572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9811" name="Rectangle 29" descr="浅色上对角线"/>
          <p:cNvSpPr>
            <a:spLocks noChangeArrowheads="1"/>
          </p:cNvSpPr>
          <p:nvPr/>
        </p:nvSpPr>
        <p:spPr bwMode="auto">
          <a:xfrm>
            <a:off x="5810250" y="2071688"/>
            <a:ext cx="838200" cy="4572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9812" name="矩形 3"/>
          <p:cNvSpPr>
            <a:spLocks noChangeArrowheads="1"/>
          </p:cNvSpPr>
          <p:nvPr/>
        </p:nvSpPr>
        <p:spPr bwMode="auto">
          <a:xfrm>
            <a:off x="2309813" y="2757488"/>
            <a:ext cx="440848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Status   InitQueue (QNode   * f,  * r)</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    // </a:t>
            </a:r>
            <a:r>
              <a:rPr kumimoji="1" lang="zh-CN" altLang="en-US" sz="1800">
                <a:latin typeface="Times New Roman" panose="02020603050405020304" pitchFamily="18" charset="0"/>
                <a:ea typeface="宋体" panose="02010600030101010101" pitchFamily="2" charset="-122"/>
                <a:cs typeface="Times New Roman" panose="02020603050405020304" pitchFamily="18" charset="0"/>
              </a:rPr>
              <a:t>链队不带头结点</a:t>
            </a:r>
          </a:p>
          <a:p>
            <a:pPr eaLnBrk="1" hangingPunct="1">
              <a:lnSpc>
                <a:spcPct val="100000"/>
              </a:lnSpc>
              <a:spcBef>
                <a:spcPct val="0"/>
              </a:spcBef>
              <a:buFontTx/>
              <a:buNone/>
            </a:pPr>
            <a:r>
              <a:rPr kumimoji="1" lang="zh-CN" altLang="en-US" sz="1800">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f = r = NULL ;</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     return  OK;</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a:t>
            </a:r>
          </a:p>
          <a:p>
            <a:pPr eaLnBrk="1" hangingPunct="1">
              <a:lnSpc>
                <a:spcPct val="100000"/>
              </a:lnSpc>
              <a:spcBef>
                <a:spcPct val="0"/>
              </a:spcBef>
              <a:buFontTx/>
              <a:buNone/>
            </a:pPr>
            <a:endParaRPr kumimoji="1" lang="en-US"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9813" name="Line 21"/>
          <p:cNvSpPr>
            <a:spLocks noChangeShapeType="1"/>
          </p:cNvSpPr>
          <p:nvPr/>
        </p:nvSpPr>
        <p:spPr bwMode="auto">
          <a:xfrm flipV="1">
            <a:off x="5238750" y="22860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4" name="Text Box 22"/>
          <p:cNvSpPr txBox="1">
            <a:spLocks noChangeArrowheads="1"/>
          </p:cNvSpPr>
          <p:nvPr/>
        </p:nvSpPr>
        <p:spPr bwMode="auto">
          <a:xfrm>
            <a:off x="4705350" y="20574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119815" name="Line 21"/>
          <p:cNvSpPr>
            <a:spLocks noChangeShapeType="1"/>
          </p:cNvSpPr>
          <p:nvPr/>
        </p:nvSpPr>
        <p:spPr bwMode="auto">
          <a:xfrm flipV="1">
            <a:off x="2843213" y="2300288"/>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6" name="Text Box 22"/>
          <p:cNvSpPr txBox="1">
            <a:spLocks noChangeArrowheads="1"/>
          </p:cNvSpPr>
          <p:nvPr/>
        </p:nvSpPr>
        <p:spPr bwMode="auto">
          <a:xfrm>
            <a:off x="2309813" y="2071688"/>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19817" name="Rectangle 29" descr="浅色上对角线"/>
          <p:cNvSpPr>
            <a:spLocks noChangeArrowheads="1"/>
          </p:cNvSpPr>
          <p:nvPr/>
        </p:nvSpPr>
        <p:spPr bwMode="auto">
          <a:xfrm>
            <a:off x="3452813" y="4572000"/>
            <a:ext cx="838200" cy="4572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9818" name="Rectangle 29" descr="浅色上对角线"/>
          <p:cNvSpPr>
            <a:spLocks noChangeArrowheads="1"/>
          </p:cNvSpPr>
          <p:nvPr/>
        </p:nvSpPr>
        <p:spPr bwMode="auto">
          <a:xfrm>
            <a:off x="5810250" y="4572000"/>
            <a:ext cx="838200" cy="4572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19819" name="Line 21"/>
          <p:cNvSpPr>
            <a:spLocks noChangeShapeType="1"/>
          </p:cNvSpPr>
          <p:nvPr/>
        </p:nvSpPr>
        <p:spPr bwMode="auto">
          <a:xfrm flipV="1">
            <a:off x="5238750" y="4786313"/>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0" name="Text Box 22"/>
          <p:cNvSpPr txBox="1">
            <a:spLocks noChangeArrowheads="1"/>
          </p:cNvSpPr>
          <p:nvPr/>
        </p:nvSpPr>
        <p:spPr bwMode="auto">
          <a:xfrm>
            <a:off x="4705350" y="4557713"/>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r</a:t>
            </a:r>
          </a:p>
        </p:txBody>
      </p:sp>
      <p:sp>
        <p:nvSpPr>
          <p:cNvPr id="119821" name="Line 21"/>
          <p:cNvSpPr>
            <a:spLocks noChangeShapeType="1"/>
          </p:cNvSpPr>
          <p:nvPr/>
        </p:nvSpPr>
        <p:spPr bwMode="auto">
          <a:xfrm flipV="1">
            <a:off x="2843213" y="48006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2" name="Text Box 22"/>
          <p:cNvSpPr txBox="1">
            <a:spLocks noChangeArrowheads="1"/>
          </p:cNvSpPr>
          <p:nvPr/>
        </p:nvSpPr>
        <p:spPr bwMode="auto">
          <a:xfrm>
            <a:off x="2309813" y="45720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f</a:t>
            </a:r>
          </a:p>
        </p:txBody>
      </p:sp>
      <p:sp>
        <p:nvSpPr>
          <p:cNvPr id="119823"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9" descr="浅色上对角线"/>
          <p:cNvSpPr>
            <a:spLocks noChangeArrowheads="1"/>
          </p:cNvSpPr>
          <p:nvPr/>
        </p:nvSpPr>
        <p:spPr bwMode="auto">
          <a:xfrm>
            <a:off x="3452813" y="1785938"/>
            <a:ext cx="838200" cy="4572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0835" name="Rectangle 29" descr="浅色上对角线"/>
          <p:cNvSpPr>
            <a:spLocks noChangeArrowheads="1"/>
          </p:cNvSpPr>
          <p:nvPr/>
        </p:nvSpPr>
        <p:spPr bwMode="auto">
          <a:xfrm>
            <a:off x="6596063" y="2257425"/>
            <a:ext cx="838200" cy="4572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0836" name="矩形 3"/>
          <p:cNvSpPr>
            <a:spLocks noChangeArrowheads="1"/>
          </p:cNvSpPr>
          <p:nvPr/>
        </p:nvSpPr>
        <p:spPr bwMode="auto">
          <a:xfrm>
            <a:off x="2595563" y="3000375"/>
            <a:ext cx="34925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rPr>
              <a:t>Status   InitQueue (LinkQueue  *Q)</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rPr>
              <a:t>{    // </a:t>
            </a:r>
            <a:r>
              <a:rPr kumimoji="1" lang="zh-CN" altLang="en-US" sz="1800">
                <a:latin typeface="Times New Roman" panose="02020603050405020304" pitchFamily="18" charset="0"/>
                <a:ea typeface="宋体" panose="02010600030101010101" pitchFamily="2" charset="-122"/>
              </a:rPr>
              <a:t>链队不带头结点</a:t>
            </a:r>
          </a:p>
          <a:p>
            <a:pPr eaLnBrk="1" hangingPunct="1">
              <a:lnSpc>
                <a:spcPct val="100000"/>
              </a:lnSpc>
              <a:spcBef>
                <a:spcPct val="0"/>
              </a:spcBef>
              <a:buFontTx/>
              <a:buNone/>
            </a:pPr>
            <a:r>
              <a:rPr kumimoji="1" lang="zh-CN" altLang="en-US" sz="1800">
                <a:latin typeface="Times New Roman" panose="02020603050405020304" pitchFamily="18" charset="0"/>
                <a:ea typeface="宋体" panose="02010600030101010101" pitchFamily="2" charset="-122"/>
              </a:rPr>
              <a:t>     </a:t>
            </a:r>
            <a:r>
              <a:rPr kumimoji="1" lang="en-US" altLang="zh-CN" sz="1800">
                <a:latin typeface="Times New Roman" panose="02020603050405020304" pitchFamily="18" charset="0"/>
                <a:ea typeface="宋体" panose="02010600030101010101" pitchFamily="2" charset="-122"/>
              </a:rPr>
              <a:t>Q-&gt;front = Q-&gt;rear = NULL ;</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18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endParaRPr kumimoji="1" lang="en-US" altLang="zh-CN" sz="1800">
              <a:latin typeface="Times New Roman" panose="02020603050405020304" pitchFamily="18" charset="0"/>
              <a:ea typeface="宋体" panose="02010600030101010101" pitchFamily="2" charset="-122"/>
            </a:endParaRPr>
          </a:p>
        </p:txBody>
      </p:sp>
      <p:sp>
        <p:nvSpPr>
          <p:cNvPr id="120837" name="Line 21"/>
          <p:cNvSpPr>
            <a:spLocks noChangeShapeType="1"/>
          </p:cNvSpPr>
          <p:nvPr/>
        </p:nvSpPr>
        <p:spPr bwMode="auto">
          <a:xfrm flipV="1">
            <a:off x="2914650" y="2014538"/>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8" name="Text Box 22"/>
          <p:cNvSpPr txBox="1">
            <a:spLocks noChangeArrowheads="1"/>
          </p:cNvSpPr>
          <p:nvPr/>
        </p:nvSpPr>
        <p:spPr bwMode="auto">
          <a:xfrm>
            <a:off x="2381250" y="1785938"/>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LQ</a:t>
            </a:r>
          </a:p>
        </p:txBody>
      </p:sp>
      <p:sp>
        <p:nvSpPr>
          <p:cNvPr id="120839" name="Rectangle 29" descr="浅色上对角线"/>
          <p:cNvSpPr>
            <a:spLocks noChangeArrowheads="1"/>
          </p:cNvSpPr>
          <p:nvPr/>
        </p:nvSpPr>
        <p:spPr bwMode="auto">
          <a:xfrm>
            <a:off x="3452813" y="4572000"/>
            <a:ext cx="838200" cy="4572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0840" name="Line 21"/>
          <p:cNvSpPr>
            <a:spLocks noChangeShapeType="1"/>
          </p:cNvSpPr>
          <p:nvPr/>
        </p:nvSpPr>
        <p:spPr bwMode="auto">
          <a:xfrm flipV="1">
            <a:off x="2843213" y="48006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1" name="Text Box 22"/>
          <p:cNvSpPr txBox="1">
            <a:spLocks noChangeArrowheads="1"/>
          </p:cNvSpPr>
          <p:nvPr/>
        </p:nvSpPr>
        <p:spPr bwMode="auto">
          <a:xfrm>
            <a:off x="2309813" y="45720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Q</a:t>
            </a:r>
          </a:p>
        </p:txBody>
      </p:sp>
      <p:sp>
        <p:nvSpPr>
          <p:cNvPr id="120842" name="Rectangle 29" descr="浅色上对角线"/>
          <p:cNvSpPr>
            <a:spLocks noChangeArrowheads="1"/>
          </p:cNvSpPr>
          <p:nvPr/>
        </p:nvSpPr>
        <p:spPr bwMode="auto">
          <a:xfrm>
            <a:off x="6596063" y="1828800"/>
            <a:ext cx="838200" cy="4572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0843" name="Text Box 22"/>
          <p:cNvSpPr txBox="1">
            <a:spLocks noChangeArrowheads="1"/>
          </p:cNvSpPr>
          <p:nvPr/>
        </p:nvSpPr>
        <p:spPr bwMode="auto">
          <a:xfrm>
            <a:off x="5738813" y="2185988"/>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120844" name="Text Box 22"/>
          <p:cNvSpPr txBox="1">
            <a:spLocks noChangeArrowheads="1"/>
          </p:cNvSpPr>
          <p:nvPr/>
        </p:nvSpPr>
        <p:spPr bwMode="auto">
          <a:xfrm>
            <a:off x="5667375" y="18288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20845" name="Line 23"/>
          <p:cNvSpPr>
            <a:spLocks noChangeShapeType="1"/>
          </p:cNvSpPr>
          <p:nvPr/>
        </p:nvSpPr>
        <p:spPr bwMode="auto">
          <a:xfrm flipV="1">
            <a:off x="4310063" y="1828800"/>
            <a:ext cx="2286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6" name="Line 23"/>
          <p:cNvSpPr>
            <a:spLocks noChangeShapeType="1"/>
          </p:cNvSpPr>
          <p:nvPr/>
        </p:nvSpPr>
        <p:spPr bwMode="auto">
          <a:xfrm flipH="1" flipV="1">
            <a:off x="7024688" y="2714625"/>
            <a:ext cx="7937" cy="20859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7" name="Line 24"/>
          <p:cNvSpPr>
            <a:spLocks noChangeShapeType="1"/>
          </p:cNvSpPr>
          <p:nvPr/>
        </p:nvSpPr>
        <p:spPr bwMode="auto">
          <a:xfrm>
            <a:off x="4310063" y="4786313"/>
            <a:ext cx="2722562" cy="14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8"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2063750" y="1700213"/>
            <a:ext cx="6821488"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(2) </a:t>
            </a:r>
            <a:r>
              <a:rPr kumimoji="1" lang="zh-CN" altLang="en-US" sz="2400">
                <a:latin typeface="Times New Roman" panose="02020603050405020304" pitchFamily="18" charset="0"/>
                <a:ea typeface="宋体" panose="02010600030101010101" pitchFamily="2" charset="-122"/>
              </a:rPr>
              <a:t>入链队</a:t>
            </a:r>
          </a:p>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EnQueue ( LinkQueue  *Q, Elemtype e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 = (Qnode </a:t>
            </a:r>
            <a:r>
              <a:rPr kumimoji="1" lang="zh-CN" altLang="en-US" sz="2400">
                <a:latin typeface="Times New Roman" panose="02020603050405020304" pitchFamily="18" charset="0"/>
                <a:ea typeface="宋体" panose="02010600030101010101" pitchFamily="2" charset="-122"/>
              </a:rPr>
              <a:t>*</a:t>
            </a:r>
            <a:r>
              <a:rPr kumimoji="1" lang="en-US" altLang="zh-CN" sz="2400">
                <a:latin typeface="Times New Roman" panose="02020603050405020304" pitchFamily="18" charset="0"/>
                <a:ea typeface="宋体" panose="02010600030101010101" pitchFamily="2" charset="-122"/>
              </a:rPr>
              <a:t>) malloc ( sizeof ( QNode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s-&gt;data = 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s-&gt;next = NULL;</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Q-&gt;rear-&gt;next = s;</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Q-&gt;rear = s;</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p:txBody>
      </p:sp>
      <p:sp>
        <p:nvSpPr>
          <p:cNvPr id="121859"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2"/>
          <p:cNvSpPr txBox="1">
            <a:spLocks noChangeArrowheads="1"/>
          </p:cNvSpPr>
          <p:nvPr/>
        </p:nvSpPr>
        <p:spPr bwMode="auto">
          <a:xfrm>
            <a:off x="2063750" y="1628775"/>
            <a:ext cx="65309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(3) </a:t>
            </a:r>
            <a:r>
              <a:rPr kumimoji="1" lang="zh-CN" altLang="en-US" sz="2400">
                <a:latin typeface="Times New Roman" panose="02020603050405020304" pitchFamily="18" charset="0"/>
                <a:ea typeface="宋体" panose="02010600030101010101" pitchFamily="2" charset="-122"/>
              </a:rPr>
              <a:t>出链队</a:t>
            </a:r>
          </a:p>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DeQueue ( LinkQueue  *Q,  Elemtype  *e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 </a:t>
            </a:r>
            <a:r>
              <a:rPr kumimoji="1" lang="zh-CN" altLang="en-US" sz="2400">
                <a:latin typeface="Times New Roman" panose="02020603050405020304" pitchFamily="18" charset="0"/>
                <a:ea typeface="宋体" panose="02010600030101010101" pitchFamily="2" charset="-122"/>
              </a:rPr>
              <a:t>链队不带头结点</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     </a:t>
            </a:r>
            <a:r>
              <a:rPr kumimoji="1" lang="en-US" altLang="zh-CN" sz="2400">
                <a:latin typeface="Times New Roman" panose="02020603050405020304" pitchFamily="18" charset="0"/>
                <a:ea typeface="宋体" panose="02010600030101010101" pitchFamily="2" charset="-122"/>
              </a:rPr>
              <a:t>if  ( Q-&gt;front = = NULL )   return ERROR;</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*e = Q-&gt;front-&gt;data;</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p = Q-&gt;front;</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Q-&gt;front = Q-&gt;front-&gt;next;</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if (Q-&gt;front = = NULL)  Q-&gt;rear = NULL;</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free (p);</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22883"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527050" y="333375"/>
            <a:ext cx="10321925" cy="863600"/>
          </a:xfrm>
        </p:spPr>
        <p:txBody>
          <a:bodyPr/>
          <a:lstStyle/>
          <a:p>
            <a:pPr eaLnBrk="1" hangingPunct="1"/>
            <a:r>
              <a:rPr lang="en-US" altLang="zh-CN" smtClean="0"/>
              <a:t>3.2.3 </a:t>
            </a:r>
            <a:r>
              <a:rPr lang="zh-CN" altLang="en-US" smtClean="0"/>
              <a:t>循环</a:t>
            </a:r>
            <a:r>
              <a:rPr lang="zh-CN" altLang="zh-CN" smtClean="0"/>
              <a:t>队列的顺序存储结构以及操作的实现</a:t>
            </a:r>
            <a:endParaRPr lang="zh-CN" altLang="en-US" smtClean="0"/>
          </a:p>
        </p:txBody>
      </p:sp>
      <p:grpSp>
        <p:nvGrpSpPr>
          <p:cNvPr id="123907" name="Group 4"/>
          <p:cNvGrpSpPr>
            <a:grpSpLocks/>
          </p:cNvGrpSpPr>
          <p:nvPr/>
        </p:nvGrpSpPr>
        <p:grpSpPr bwMode="auto">
          <a:xfrm>
            <a:off x="2659063" y="5108575"/>
            <a:ext cx="6629400" cy="609600"/>
            <a:chOff x="624" y="3120"/>
            <a:chExt cx="4176" cy="384"/>
          </a:xfrm>
        </p:grpSpPr>
        <p:sp>
          <p:nvSpPr>
            <p:cNvPr id="123916" name="Rectangle 5"/>
            <p:cNvSpPr>
              <a:spLocks noChangeArrowheads="1"/>
            </p:cNvSpPr>
            <p:nvPr/>
          </p:nvSpPr>
          <p:spPr bwMode="auto">
            <a:xfrm>
              <a:off x="624" y="3120"/>
              <a:ext cx="4176" cy="38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3917" name="Line 6"/>
            <p:cNvSpPr>
              <a:spLocks noChangeShapeType="1"/>
            </p:cNvSpPr>
            <p:nvPr/>
          </p:nvSpPr>
          <p:spPr bwMode="auto">
            <a:xfrm>
              <a:off x="1776" y="3120"/>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18" name="Line 7"/>
            <p:cNvSpPr>
              <a:spLocks noChangeShapeType="1"/>
            </p:cNvSpPr>
            <p:nvPr/>
          </p:nvSpPr>
          <p:spPr bwMode="auto">
            <a:xfrm>
              <a:off x="2160" y="3120"/>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19" name="Line 8"/>
            <p:cNvSpPr>
              <a:spLocks noChangeShapeType="1"/>
            </p:cNvSpPr>
            <p:nvPr/>
          </p:nvSpPr>
          <p:spPr bwMode="auto">
            <a:xfrm>
              <a:off x="2544" y="3120"/>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0" name="Line 9"/>
            <p:cNvSpPr>
              <a:spLocks noChangeShapeType="1"/>
            </p:cNvSpPr>
            <p:nvPr/>
          </p:nvSpPr>
          <p:spPr bwMode="auto">
            <a:xfrm>
              <a:off x="3936" y="3312"/>
              <a:ext cx="33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1" name="Line 10"/>
            <p:cNvSpPr>
              <a:spLocks noChangeShapeType="1"/>
            </p:cNvSpPr>
            <p:nvPr/>
          </p:nvSpPr>
          <p:spPr bwMode="auto">
            <a:xfrm>
              <a:off x="2928" y="3120"/>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2" name="Line 11"/>
            <p:cNvSpPr>
              <a:spLocks noChangeShapeType="1"/>
            </p:cNvSpPr>
            <p:nvPr/>
          </p:nvSpPr>
          <p:spPr bwMode="auto">
            <a:xfrm>
              <a:off x="3312" y="3120"/>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3" name="Line 12"/>
            <p:cNvSpPr>
              <a:spLocks noChangeShapeType="1"/>
            </p:cNvSpPr>
            <p:nvPr/>
          </p:nvSpPr>
          <p:spPr bwMode="auto">
            <a:xfrm>
              <a:off x="1392" y="3120"/>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4" name="Line 13"/>
            <p:cNvSpPr>
              <a:spLocks noChangeShapeType="1"/>
            </p:cNvSpPr>
            <p:nvPr/>
          </p:nvSpPr>
          <p:spPr bwMode="auto">
            <a:xfrm>
              <a:off x="1008" y="3120"/>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5" name="Text Box 14"/>
            <p:cNvSpPr txBox="1">
              <a:spLocks noChangeArrowheads="1"/>
            </p:cNvSpPr>
            <p:nvPr/>
          </p:nvSpPr>
          <p:spPr bwMode="auto">
            <a:xfrm>
              <a:off x="1440" y="316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a1</a:t>
              </a:r>
            </a:p>
          </p:txBody>
        </p:sp>
        <p:sp>
          <p:nvSpPr>
            <p:cNvPr id="123926" name="Text Box 15"/>
            <p:cNvSpPr txBox="1">
              <a:spLocks noChangeArrowheads="1"/>
            </p:cNvSpPr>
            <p:nvPr/>
          </p:nvSpPr>
          <p:spPr bwMode="auto">
            <a:xfrm>
              <a:off x="1824" y="316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a2</a:t>
              </a:r>
            </a:p>
          </p:txBody>
        </p:sp>
        <p:sp>
          <p:nvSpPr>
            <p:cNvPr id="123927" name="Text Box 16"/>
            <p:cNvSpPr txBox="1">
              <a:spLocks noChangeArrowheads="1"/>
            </p:cNvSpPr>
            <p:nvPr/>
          </p:nvSpPr>
          <p:spPr bwMode="auto">
            <a:xfrm>
              <a:off x="2199" y="316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a3</a:t>
              </a:r>
            </a:p>
          </p:txBody>
        </p:sp>
        <p:sp>
          <p:nvSpPr>
            <p:cNvPr id="123928" name="Text Box 17"/>
            <p:cNvSpPr txBox="1">
              <a:spLocks noChangeArrowheads="1"/>
            </p:cNvSpPr>
            <p:nvPr/>
          </p:nvSpPr>
          <p:spPr bwMode="auto">
            <a:xfrm>
              <a:off x="2592" y="316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a4</a:t>
              </a:r>
            </a:p>
          </p:txBody>
        </p:sp>
      </p:grpSp>
      <p:sp>
        <p:nvSpPr>
          <p:cNvPr id="123908" name="Text Box 18"/>
          <p:cNvSpPr txBox="1">
            <a:spLocks noChangeArrowheads="1"/>
          </p:cNvSpPr>
          <p:nvPr/>
        </p:nvSpPr>
        <p:spPr bwMode="auto">
          <a:xfrm>
            <a:off x="2735263" y="2441575"/>
            <a:ext cx="26273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Elemtype   A[100]; </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int    rear,  front;</a:t>
            </a:r>
          </a:p>
        </p:txBody>
      </p:sp>
      <p:sp>
        <p:nvSpPr>
          <p:cNvPr id="123909" name="Text Box 19"/>
          <p:cNvSpPr txBox="1">
            <a:spLocks noChangeArrowheads="1"/>
          </p:cNvSpPr>
          <p:nvPr/>
        </p:nvSpPr>
        <p:spPr bwMode="auto">
          <a:xfrm>
            <a:off x="2601913" y="1776413"/>
            <a:ext cx="3028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宋体" panose="02010600030101010101" pitchFamily="2" charset="-122"/>
              </a:rPr>
              <a:t>队列的顺序存储</a:t>
            </a:r>
            <a:endParaRPr kumimoji="1" lang="zh-CN" altLang="en-US" sz="2400">
              <a:latin typeface="Times New Roman" panose="02020603050405020304" pitchFamily="18" charset="0"/>
              <a:ea typeface="宋体" panose="02010600030101010101" pitchFamily="2" charset="-122"/>
            </a:endParaRPr>
          </a:p>
        </p:txBody>
      </p:sp>
      <p:sp>
        <p:nvSpPr>
          <p:cNvPr id="123910" name="Text Box 20"/>
          <p:cNvSpPr txBox="1">
            <a:spLocks noChangeArrowheads="1"/>
          </p:cNvSpPr>
          <p:nvPr/>
        </p:nvSpPr>
        <p:spPr bwMode="auto">
          <a:xfrm>
            <a:off x="3802063" y="6175375"/>
            <a:ext cx="776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23911" name="Text Box 21"/>
          <p:cNvSpPr txBox="1">
            <a:spLocks noChangeArrowheads="1"/>
          </p:cNvSpPr>
          <p:nvPr/>
        </p:nvSpPr>
        <p:spPr bwMode="auto">
          <a:xfrm>
            <a:off x="6345238" y="6175375"/>
            <a:ext cx="65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123912" name="Line 22"/>
          <p:cNvSpPr>
            <a:spLocks noChangeShapeType="1"/>
          </p:cNvSpPr>
          <p:nvPr/>
        </p:nvSpPr>
        <p:spPr bwMode="auto">
          <a:xfrm flipV="1">
            <a:off x="4183063" y="5794375"/>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13" name="Line 23"/>
          <p:cNvSpPr>
            <a:spLocks noChangeShapeType="1"/>
          </p:cNvSpPr>
          <p:nvPr/>
        </p:nvSpPr>
        <p:spPr bwMode="auto">
          <a:xfrm flipV="1">
            <a:off x="6621463" y="5794375"/>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14" name="Text Box 24"/>
          <p:cNvSpPr txBox="1">
            <a:spLocks noChangeArrowheads="1"/>
          </p:cNvSpPr>
          <p:nvPr/>
        </p:nvSpPr>
        <p:spPr bwMode="auto">
          <a:xfrm>
            <a:off x="2582863" y="4464050"/>
            <a:ext cx="1412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A[0] A[1]</a:t>
            </a:r>
          </a:p>
        </p:txBody>
      </p:sp>
      <p:sp>
        <p:nvSpPr>
          <p:cNvPr id="123915" name="Text Box 25"/>
          <p:cNvSpPr txBox="1">
            <a:spLocks noChangeArrowheads="1"/>
          </p:cNvSpPr>
          <p:nvPr/>
        </p:nvSpPr>
        <p:spPr bwMode="auto">
          <a:xfrm>
            <a:off x="8528050" y="4498975"/>
            <a:ext cx="912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A[99]</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4930" name="Group 2"/>
          <p:cNvGrpSpPr>
            <a:grpSpLocks/>
          </p:cNvGrpSpPr>
          <p:nvPr/>
        </p:nvGrpSpPr>
        <p:grpSpPr bwMode="auto">
          <a:xfrm>
            <a:off x="2819400" y="1792288"/>
            <a:ext cx="990600" cy="4572000"/>
            <a:chOff x="816" y="720"/>
            <a:chExt cx="624" cy="2880"/>
          </a:xfrm>
        </p:grpSpPr>
        <p:sp>
          <p:nvSpPr>
            <p:cNvPr id="124985" name="Rectangle 3"/>
            <p:cNvSpPr>
              <a:spLocks noChangeArrowheads="1"/>
            </p:cNvSpPr>
            <p:nvPr/>
          </p:nvSpPr>
          <p:spPr bwMode="auto">
            <a:xfrm>
              <a:off x="816" y="720"/>
              <a:ext cx="624" cy="28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4986" name="Line 4"/>
            <p:cNvSpPr>
              <a:spLocks noChangeShapeType="1"/>
            </p:cNvSpPr>
            <p:nvPr/>
          </p:nvSpPr>
          <p:spPr bwMode="auto">
            <a:xfrm>
              <a:off x="816" y="100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7" name="Line 5"/>
            <p:cNvSpPr>
              <a:spLocks noChangeShapeType="1"/>
            </p:cNvSpPr>
            <p:nvPr/>
          </p:nvSpPr>
          <p:spPr bwMode="auto">
            <a:xfrm>
              <a:off x="816" y="12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8" name="Line 6"/>
            <p:cNvSpPr>
              <a:spLocks noChangeShapeType="1"/>
            </p:cNvSpPr>
            <p:nvPr/>
          </p:nvSpPr>
          <p:spPr bwMode="auto">
            <a:xfrm>
              <a:off x="816" y="15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9" name="Line 7"/>
            <p:cNvSpPr>
              <a:spLocks noChangeShapeType="1"/>
            </p:cNvSpPr>
            <p:nvPr/>
          </p:nvSpPr>
          <p:spPr bwMode="auto">
            <a:xfrm>
              <a:off x="816" y="18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90" name="Line 8"/>
            <p:cNvSpPr>
              <a:spLocks noChangeShapeType="1"/>
            </p:cNvSpPr>
            <p:nvPr/>
          </p:nvSpPr>
          <p:spPr bwMode="auto">
            <a:xfrm>
              <a:off x="816" y="21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91" name="Line 9"/>
            <p:cNvSpPr>
              <a:spLocks noChangeShapeType="1"/>
            </p:cNvSpPr>
            <p:nvPr/>
          </p:nvSpPr>
          <p:spPr bwMode="auto">
            <a:xfrm>
              <a:off x="816" y="244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92" name="Line 10"/>
            <p:cNvSpPr>
              <a:spLocks noChangeShapeType="1"/>
            </p:cNvSpPr>
            <p:nvPr/>
          </p:nvSpPr>
          <p:spPr bwMode="auto">
            <a:xfrm>
              <a:off x="816" y="273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93" name="Line 11"/>
            <p:cNvSpPr>
              <a:spLocks noChangeShapeType="1"/>
            </p:cNvSpPr>
            <p:nvPr/>
          </p:nvSpPr>
          <p:spPr bwMode="auto">
            <a:xfrm>
              <a:off x="816" y="302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94" name="Line 12"/>
            <p:cNvSpPr>
              <a:spLocks noChangeShapeType="1"/>
            </p:cNvSpPr>
            <p:nvPr/>
          </p:nvSpPr>
          <p:spPr bwMode="auto">
            <a:xfrm>
              <a:off x="816" y="331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4931" name="Line 13"/>
          <p:cNvSpPr>
            <a:spLocks noChangeShapeType="1"/>
          </p:cNvSpPr>
          <p:nvPr/>
        </p:nvSpPr>
        <p:spPr bwMode="auto">
          <a:xfrm>
            <a:off x="1768475" y="624998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32" name="Text Box 14"/>
          <p:cNvSpPr txBox="1">
            <a:spLocks noChangeArrowheads="1"/>
          </p:cNvSpPr>
          <p:nvPr/>
        </p:nvSpPr>
        <p:spPr bwMode="auto">
          <a:xfrm>
            <a:off x="1752600" y="6173788"/>
            <a:ext cx="77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24933" name="Line 15"/>
          <p:cNvSpPr>
            <a:spLocks noChangeShapeType="1"/>
          </p:cNvSpPr>
          <p:nvPr/>
        </p:nvSpPr>
        <p:spPr bwMode="auto">
          <a:xfrm>
            <a:off x="1768475" y="602138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34" name="Text Box 16"/>
          <p:cNvSpPr txBox="1">
            <a:spLocks noChangeArrowheads="1"/>
          </p:cNvSpPr>
          <p:nvPr/>
        </p:nvSpPr>
        <p:spPr bwMode="auto">
          <a:xfrm>
            <a:off x="1797050" y="5661025"/>
            <a:ext cx="65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rear</a:t>
            </a:r>
          </a:p>
        </p:txBody>
      </p:sp>
      <p:grpSp>
        <p:nvGrpSpPr>
          <p:cNvPr id="124935" name="Group 17"/>
          <p:cNvGrpSpPr>
            <a:grpSpLocks/>
          </p:cNvGrpSpPr>
          <p:nvPr/>
        </p:nvGrpSpPr>
        <p:grpSpPr bwMode="auto">
          <a:xfrm>
            <a:off x="4876800" y="1792288"/>
            <a:ext cx="990600" cy="4572000"/>
            <a:chOff x="816" y="720"/>
            <a:chExt cx="624" cy="2880"/>
          </a:xfrm>
        </p:grpSpPr>
        <p:sp>
          <p:nvSpPr>
            <p:cNvPr id="124975" name="Rectangle 18"/>
            <p:cNvSpPr>
              <a:spLocks noChangeArrowheads="1"/>
            </p:cNvSpPr>
            <p:nvPr/>
          </p:nvSpPr>
          <p:spPr bwMode="auto">
            <a:xfrm>
              <a:off x="816" y="720"/>
              <a:ext cx="624" cy="28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4976" name="Line 19"/>
            <p:cNvSpPr>
              <a:spLocks noChangeShapeType="1"/>
            </p:cNvSpPr>
            <p:nvPr/>
          </p:nvSpPr>
          <p:spPr bwMode="auto">
            <a:xfrm>
              <a:off x="816" y="100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7" name="Line 20"/>
            <p:cNvSpPr>
              <a:spLocks noChangeShapeType="1"/>
            </p:cNvSpPr>
            <p:nvPr/>
          </p:nvSpPr>
          <p:spPr bwMode="auto">
            <a:xfrm>
              <a:off x="816" y="12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8" name="Line 21"/>
            <p:cNvSpPr>
              <a:spLocks noChangeShapeType="1"/>
            </p:cNvSpPr>
            <p:nvPr/>
          </p:nvSpPr>
          <p:spPr bwMode="auto">
            <a:xfrm>
              <a:off x="816" y="15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9" name="Line 22"/>
            <p:cNvSpPr>
              <a:spLocks noChangeShapeType="1"/>
            </p:cNvSpPr>
            <p:nvPr/>
          </p:nvSpPr>
          <p:spPr bwMode="auto">
            <a:xfrm>
              <a:off x="816" y="18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0" name="Line 23"/>
            <p:cNvSpPr>
              <a:spLocks noChangeShapeType="1"/>
            </p:cNvSpPr>
            <p:nvPr/>
          </p:nvSpPr>
          <p:spPr bwMode="auto">
            <a:xfrm>
              <a:off x="816" y="21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1" name="Line 24"/>
            <p:cNvSpPr>
              <a:spLocks noChangeShapeType="1"/>
            </p:cNvSpPr>
            <p:nvPr/>
          </p:nvSpPr>
          <p:spPr bwMode="auto">
            <a:xfrm>
              <a:off x="816" y="244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2" name="Line 25"/>
            <p:cNvSpPr>
              <a:spLocks noChangeShapeType="1"/>
            </p:cNvSpPr>
            <p:nvPr/>
          </p:nvSpPr>
          <p:spPr bwMode="auto">
            <a:xfrm>
              <a:off x="816" y="273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3" name="Line 26"/>
            <p:cNvSpPr>
              <a:spLocks noChangeShapeType="1"/>
            </p:cNvSpPr>
            <p:nvPr/>
          </p:nvSpPr>
          <p:spPr bwMode="auto">
            <a:xfrm>
              <a:off x="816" y="302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4" name="Line 27"/>
            <p:cNvSpPr>
              <a:spLocks noChangeShapeType="1"/>
            </p:cNvSpPr>
            <p:nvPr/>
          </p:nvSpPr>
          <p:spPr bwMode="auto">
            <a:xfrm>
              <a:off x="816" y="331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4936" name="Group 28"/>
          <p:cNvGrpSpPr>
            <a:grpSpLocks/>
          </p:cNvGrpSpPr>
          <p:nvPr/>
        </p:nvGrpSpPr>
        <p:grpSpPr bwMode="auto">
          <a:xfrm>
            <a:off x="6934200" y="1792288"/>
            <a:ext cx="990600" cy="4572000"/>
            <a:chOff x="816" y="720"/>
            <a:chExt cx="624" cy="2880"/>
          </a:xfrm>
        </p:grpSpPr>
        <p:sp>
          <p:nvSpPr>
            <p:cNvPr id="124965" name="Rectangle 29"/>
            <p:cNvSpPr>
              <a:spLocks noChangeArrowheads="1"/>
            </p:cNvSpPr>
            <p:nvPr/>
          </p:nvSpPr>
          <p:spPr bwMode="auto">
            <a:xfrm>
              <a:off x="816" y="720"/>
              <a:ext cx="624" cy="28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4966" name="Line 30"/>
            <p:cNvSpPr>
              <a:spLocks noChangeShapeType="1"/>
            </p:cNvSpPr>
            <p:nvPr/>
          </p:nvSpPr>
          <p:spPr bwMode="auto">
            <a:xfrm>
              <a:off x="816" y="100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7" name="Line 31"/>
            <p:cNvSpPr>
              <a:spLocks noChangeShapeType="1"/>
            </p:cNvSpPr>
            <p:nvPr/>
          </p:nvSpPr>
          <p:spPr bwMode="auto">
            <a:xfrm>
              <a:off x="816" y="12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8" name="Line 32"/>
            <p:cNvSpPr>
              <a:spLocks noChangeShapeType="1"/>
            </p:cNvSpPr>
            <p:nvPr/>
          </p:nvSpPr>
          <p:spPr bwMode="auto">
            <a:xfrm>
              <a:off x="816" y="15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9" name="Line 33"/>
            <p:cNvSpPr>
              <a:spLocks noChangeShapeType="1"/>
            </p:cNvSpPr>
            <p:nvPr/>
          </p:nvSpPr>
          <p:spPr bwMode="auto">
            <a:xfrm>
              <a:off x="816" y="18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0" name="Line 34"/>
            <p:cNvSpPr>
              <a:spLocks noChangeShapeType="1"/>
            </p:cNvSpPr>
            <p:nvPr/>
          </p:nvSpPr>
          <p:spPr bwMode="auto">
            <a:xfrm>
              <a:off x="816" y="21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1" name="Line 35"/>
            <p:cNvSpPr>
              <a:spLocks noChangeShapeType="1"/>
            </p:cNvSpPr>
            <p:nvPr/>
          </p:nvSpPr>
          <p:spPr bwMode="auto">
            <a:xfrm>
              <a:off x="816" y="244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2" name="Line 36"/>
            <p:cNvSpPr>
              <a:spLocks noChangeShapeType="1"/>
            </p:cNvSpPr>
            <p:nvPr/>
          </p:nvSpPr>
          <p:spPr bwMode="auto">
            <a:xfrm>
              <a:off x="816" y="273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3" name="Line 37"/>
            <p:cNvSpPr>
              <a:spLocks noChangeShapeType="1"/>
            </p:cNvSpPr>
            <p:nvPr/>
          </p:nvSpPr>
          <p:spPr bwMode="auto">
            <a:xfrm>
              <a:off x="816" y="302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4" name="Line 38"/>
            <p:cNvSpPr>
              <a:spLocks noChangeShapeType="1"/>
            </p:cNvSpPr>
            <p:nvPr/>
          </p:nvSpPr>
          <p:spPr bwMode="auto">
            <a:xfrm>
              <a:off x="816" y="331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4937" name="Group 39"/>
          <p:cNvGrpSpPr>
            <a:grpSpLocks/>
          </p:cNvGrpSpPr>
          <p:nvPr/>
        </p:nvGrpSpPr>
        <p:grpSpPr bwMode="auto">
          <a:xfrm>
            <a:off x="8915400" y="1792288"/>
            <a:ext cx="990600" cy="4572000"/>
            <a:chOff x="816" y="720"/>
            <a:chExt cx="624" cy="2880"/>
          </a:xfrm>
        </p:grpSpPr>
        <p:sp>
          <p:nvSpPr>
            <p:cNvPr id="124955" name="Rectangle 40"/>
            <p:cNvSpPr>
              <a:spLocks noChangeArrowheads="1"/>
            </p:cNvSpPr>
            <p:nvPr/>
          </p:nvSpPr>
          <p:spPr bwMode="auto">
            <a:xfrm>
              <a:off x="816" y="720"/>
              <a:ext cx="624" cy="28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4956" name="Line 41"/>
            <p:cNvSpPr>
              <a:spLocks noChangeShapeType="1"/>
            </p:cNvSpPr>
            <p:nvPr/>
          </p:nvSpPr>
          <p:spPr bwMode="auto">
            <a:xfrm>
              <a:off x="816" y="100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7" name="Line 42"/>
            <p:cNvSpPr>
              <a:spLocks noChangeShapeType="1"/>
            </p:cNvSpPr>
            <p:nvPr/>
          </p:nvSpPr>
          <p:spPr bwMode="auto">
            <a:xfrm>
              <a:off x="816" y="12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8" name="Line 43"/>
            <p:cNvSpPr>
              <a:spLocks noChangeShapeType="1"/>
            </p:cNvSpPr>
            <p:nvPr/>
          </p:nvSpPr>
          <p:spPr bwMode="auto">
            <a:xfrm>
              <a:off x="816" y="15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9" name="Line 44"/>
            <p:cNvSpPr>
              <a:spLocks noChangeShapeType="1"/>
            </p:cNvSpPr>
            <p:nvPr/>
          </p:nvSpPr>
          <p:spPr bwMode="auto">
            <a:xfrm>
              <a:off x="816" y="18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0" name="Line 45"/>
            <p:cNvSpPr>
              <a:spLocks noChangeShapeType="1"/>
            </p:cNvSpPr>
            <p:nvPr/>
          </p:nvSpPr>
          <p:spPr bwMode="auto">
            <a:xfrm>
              <a:off x="816" y="21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1" name="Line 46"/>
            <p:cNvSpPr>
              <a:spLocks noChangeShapeType="1"/>
            </p:cNvSpPr>
            <p:nvPr/>
          </p:nvSpPr>
          <p:spPr bwMode="auto">
            <a:xfrm>
              <a:off x="816" y="244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2" name="Line 47"/>
            <p:cNvSpPr>
              <a:spLocks noChangeShapeType="1"/>
            </p:cNvSpPr>
            <p:nvPr/>
          </p:nvSpPr>
          <p:spPr bwMode="auto">
            <a:xfrm>
              <a:off x="816" y="273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3" name="Line 48"/>
            <p:cNvSpPr>
              <a:spLocks noChangeShapeType="1"/>
            </p:cNvSpPr>
            <p:nvPr/>
          </p:nvSpPr>
          <p:spPr bwMode="auto">
            <a:xfrm>
              <a:off x="816" y="302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4" name="Line 49"/>
            <p:cNvSpPr>
              <a:spLocks noChangeShapeType="1"/>
            </p:cNvSpPr>
            <p:nvPr/>
          </p:nvSpPr>
          <p:spPr bwMode="auto">
            <a:xfrm>
              <a:off x="816" y="331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4938" name="Line 50"/>
          <p:cNvSpPr>
            <a:spLocks noChangeShapeType="1"/>
          </p:cNvSpPr>
          <p:nvPr/>
        </p:nvSpPr>
        <p:spPr bwMode="auto">
          <a:xfrm>
            <a:off x="4038600" y="628808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39" name="Text Box 51"/>
          <p:cNvSpPr txBox="1">
            <a:spLocks noChangeArrowheads="1"/>
          </p:cNvSpPr>
          <p:nvPr/>
        </p:nvSpPr>
        <p:spPr bwMode="auto">
          <a:xfrm>
            <a:off x="4022725" y="5907088"/>
            <a:ext cx="77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24940" name="Line 52"/>
          <p:cNvSpPr>
            <a:spLocks noChangeShapeType="1"/>
          </p:cNvSpPr>
          <p:nvPr/>
        </p:nvSpPr>
        <p:spPr bwMode="auto">
          <a:xfrm>
            <a:off x="4038600" y="476408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41" name="Text Box 53"/>
          <p:cNvSpPr txBox="1">
            <a:spLocks noChangeArrowheads="1"/>
          </p:cNvSpPr>
          <p:nvPr/>
        </p:nvSpPr>
        <p:spPr bwMode="auto">
          <a:xfrm>
            <a:off x="4067175" y="4383088"/>
            <a:ext cx="65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124942" name="Line 54"/>
          <p:cNvSpPr>
            <a:spLocks noChangeShapeType="1"/>
          </p:cNvSpPr>
          <p:nvPr/>
        </p:nvSpPr>
        <p:spPr bwMode="auto">
          <a:xfrm>
            <a:off x="6096000" y="346868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43" name="Text Box 55"/>
          <p:cNvSpPr txBox="1">
            <a:spLocks noChangeArrowheads="1"/>
          </p:cNvSpPr>
          <p:nvPr/>
        </p:nvSpPr>
        <p:spPr bwMode="auto">
          <a:xfrm>
            <a:off x="6080125" y="3087688"/>
            <a:ext cx="77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24944" name="Line 56"/>
          <p:cNvSpPr>
            <a:spLocks noChangeShapeType="1"/>
          </p:cNvSpPr>
          <p:nvPr/>
        </p:nvSpPr>
        <p:spPr bwMode="auto">
          <a:xfrm>
            <a:off x="6096000" y="255428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45" name="Text Box 57"/>
          <p:cNvSpPr txBox="1">
            <a:spLocks noChangeArrowheads="1"/>
          </p:cNvSpPr>
          <p:nvPr/>
        </p:nvSpPr>
        <p:spPr bwMode="auto">
          <a:xfrm>
            <a:off x="6124575" y="2173288"/>
            <a:ext cx="65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124946" name="Line 58"/>
          <p:cNvSpPr>
            <a:spLocks noChangeShapeType="1"/>
          </p:cNvSpPr>
          <p:nvPr/>
        </p:nvSpPr>
        <p:spPr bwMode="auto">
          <a:xfrm>
            <a:off x="8077200" y="346868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47" name="Text Box 59"/>
          <p:cNvSpPr txBox="1">
            <a:spLocks noChangeArrowheads="1"/>
          </p:cNvSpPr>
          <p:nvPr/>
        </p:nvSpPr>
        <p:spPr bwMode="auto">
          <a:xfrm>
            <a:off x="8061325" y="3087688"/>
            <a:ext cx="77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24948" name="Line 60"/>
          <p:cNvSpPr>
            <a:spLocks noChangeShapeType="1"/>
          </p:cNvSpPr>
          <p:nvPr/>
        </p:nvSpPr>
        <p:spPr bwMode="auto">
          <a:xfrm>
            <a:off x="8077200" y="163988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49" name="Text Box 61"/>
          <p:cNvSpPr txBox="1">
            <a:spLocks noChangeArrowheads="1"/>
          </p:cNvSpPr>
          <p:nvPr/>
        </p:nvSpPr>
        <p:spPr bwMode="auto">
          <a:xfrm>
            <a:off x="8105775" y="1258888"/>
            <a:ext cx="65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124950" name="Text Box 62"/>
          <p:cNvSpPr txBox="1">
            <a:spLocks noChangeArrowheads="1"/>
          </p:cNvSpPr>
          <p:nvPr/>
        </p:nvSpPr>
        <p:spPr bwMode="auto">
          <a:xfrm>
            <a:off x="5167313" y="4900613"/>
            <a:ext cx="471487"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a3</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a2</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a1</a:t>
            </a:r>
          </a:p>
        </p:txBody>
      </p:sp>
      <p:sp>
        <p:nvSpPr>
          <p:cNvPr id="124951" name="Text Box 63"/>
          <p:cNvSpPr txBox="1">
            <a:spLocks noChangeArrowheads="1"/>
          </p:cNvSpPr>
          <p:nvPr/>
        </p:nvSpPr>
        <p:spPr bwMode="auto">
          <a:xfrm>
            <a:off x="7224713" y="2630488"/>
            <a:ext cx="4714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a7</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a6</a:t>
            </a:r>
          </a:p>
        </p:txBody>
      </p:sp>
      <p:sp>
        <p:nvSpPr>
          <p:cNvPr id="124952" name="Text Box 64"/>
          <p:cNvSpPr txBox="1">
            <a:spLocks noChangeArrowheads="1"/>
          </p:cNvSpPr>
          <p:nvPr/>
        </p:nvSpPr>
        <p:spPr bwMode="auto">
          <a:xfrm>
            <a:off x="9205913" y="1716088"/>
            <a:ext cx="471487"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a9</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a8</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a7</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a6</a:t>
            </a:r>
          </a:p>
        </p:txBody>
      </p:sp>
      <p:sp>
        <p:nvSpPr>
          <p:cNvPr id="124953" name="Text Box 66"/>
          <p:cNvSpPr txBox="1">
            <a:spLocks noChangeArrowheads="1"/>
          </p:cNvSpPr>
          <p:nvPr/>
        </p:nvSpPr>
        <p:spPr bwMode="auto">
          <a:xfrm>
            <a:off x="2482850" y="1716088"/>
            <a:ext cx="336550"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9</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8</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7</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6</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5</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4</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3</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2</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1</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0</a:t>
            </a:r>
          </a:p>
        </p:txBody>
      </p:sp>
      <p:sp>
        <p:nvSpPr>
          <p:cNvPr id="124954" name="标题 1"/>
          <p:cNvSpPr>
            <a:spLocks noGrp="1"/>
          </p:cNvSpPr>
          <p:nvPr>
            <p:ph type="title"/>
          </p:nvPr>
        </p:nvSpPr>
        <p:spPr>
          <a:xfrm>
            <a:off x="527050" y="333375"/>
            <a:ext cx="10321925" cy="863600"/>
          </a:xfrm>
        </p:spPr>
        <p:txBody>
          <a:bodyPr/>
          <a:lstStyle/>
          <a:p>
            <a:pPr eaLnBrk="1" hangingPunct="1"/>
            <a:r>
              <a:rPr lang="zh-CN" altLang="en-US" smtClean="0"/>
              <a:t>“假溢出”</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125955" name="Rectangle 1027"/>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zh-CN" altLang="en-US" sz="2400" b="1" smtClean="0">
                <a:solidFill>
                  <a:srgbClr val="993300"/>
                </a:solidFill>
              </a:rPr>
              <a:t>一般用法的顺序存储结构之缺陷</a:t>
            </a:r>
            <a:endParaRPr lang="zh-CN" altLang="en-US" sz="2400" smtClean="0">
              <a:solidFill>
                <a:srgbClr val="993300"/>
              </a:solidFill>
            </a:endParaRPr>
          </a:p>
          <a:p>
            <a:pPr eaLnBrk="1" hangingPunct="1">
              <a:buFont typeface="Wingdings" panose="05000000000000000000" pitchFamily="2" charset="2"/>
              <a:buNone/>
            </a:pPr>
            <a:r>
              <a:rPr lang="zh-CN" altLang="en-US" sz="2400" smtClean="0"/>
              <a:t>    出队列操作后大量移动数据或存在“假上溢”现象。</a:t>
            </a:r>
          </a:p>
          <a:p>
            <a:pPr eaLnBrk="1" hangingPunct="1">
              <a:buFont typeface="Wingdings" panose="05000000000000000000" pitchFamily="2" charset="2"/>
              <a:buNone/>
            </a:pPr>
            <a:r>
              <a:rPr lang="zh-CN" altLang="en-US" sz="2400" b="1" smtClean="0">
                <a:solidFill>
                  <a:srgbClr val="993300"/>
                </a:solidFill>
              </a:rPr>
              <a:t>解决方法： 循环队列</a:t>
            </a:r>
            <a:endParaRPr lang="zh-CN" altLang="en-US" sz="2400" smtClean="0">
              <a:solidFill>
                <a:srgbClr val="993300"/>
              </a:solidFill>
            </a:endParaRPr>
          </a:p>
          <a:p>
            <a:pPr eaLnBrk="1" hangingPunct="1">
              <a:buFont typeface="Wingdings" panose="05000000000000000000" pitchFamily="2" charset="2"/>
              <a:buNone/>
            </a:pPr>
            <a:r>
              <a:rPr lang="en-US" altLang="zh-CN" sz="2400" b="1" smtClean="0">
                <a:solidFill>
                  <a:srgbClr val="FF3300"/>
                </a:solidFill>
              </a:rPr>
              <a:t>[</a:t>
            </a:r>
            <a:r>
              <a:rPr lang="zh-CN" altLang="en-US" sz="2400" b="1" smtClean="0">
                <a:solidFill>
                  <a:srgbClr val="FF3300"/>
                </a:solidFill>
              </a:rPr>
              <a:t>类型定义</a:t>
            </a:r>
            <a:r>
              <a:rPr lang="en-US" altLang="zh-CN" sz="2400" b="1" smtClean="0">
                <a:solidFill>
                  <a:srgbClr val="FF3300"/>
                </a:solidFill>
              </a:rPr>
              <a:t>]</a:t>
            </a:r>
            <a:r>
              <a:rPr lang="en-US" altLang="zh-CN" sz="2400" smtClean="0">
                <a:solidFill>
                  <a:srgbClr val="FF3300"/>
                </a:solidFill>
              </a:rPr>
              <a:t>   </a:t>
            </a:r>
            <a:r>
              <a:rPr lang="zh-CN" altLang="en-US" sz="2400" smtClean="0">
                <a:solidFill>
                  <a:schemeClr val="accent2"/>
                </a:solidFill>
                <a:latin typeface="楷体_GB2312" panose="02010609030101010101" pitchFamily="49" charset="-122"/>
                <a:ea typeface="楷体_GB2312" panose="02010609030101010101" pitchFamily="49" charset="-122"/>
              </a:rPr>
              <a:t>一维数组</a:t>
            </a:r>
            <a:r>
              <a:rPr lang="en-US" altLang="zh-CN" sz="2400" smtClean="0">
                <a:solidFill>
                  <a:schemeClr val="accent2"/>
                </a:solidFill>
                <a:latin typeface="楷体_GB2312" panose="02010609030101010101" pitchFamily="49" charset="-122"/>
                <a:ea typeface="楷体_GB2312" panose="02010609030101010101" pitchFamily="49" charset="-122"/>
              </a:rPr>
              <a:t>(</a:t>
            </a:r>
            <a:r>
              <a:rPr lang="zh-CN" altLang="en-US" sz="2400" smtClean="0">
                <a:solidFill>
                  <a:schemeClr val="accent2"/>
                </a:solidFill>
                <a:latin typeface="楷体_GB2312" panose="02010609030101010101" pitchFamily="49" charset="-122"/>
                <a:ea typeface="楷体_GB2312" panose="02010609030101010101" pitchFamily="49" charset="-122"/>
              </a:rPr>
              <a:t>队列空间</a:t>
            </a:r>
            <a:r>
              <a:rPr lang="en-US" altLang="zh-CN" sz="2400" smtClean="0">
                <a:solidFill>
                  <a:schemeClr val="accent2"/>
                </a:solidFill>
                <a:latin typeface="楷体_GB2312" panose="02010609030101010101" pitchFamily="49" charset="-122"/>
                <a:ea typeface="楷体_GB2312" panose="02010609030101010101" pitchFamily="49" charset="-122"/>
              </a:rPr>
              <a:t>) + </a:t>
            </a:r>
            <a:r>
              <a:rPr lang="zh-CN" altLang="en-US" sz="2400" smtClean="0">
                <a:solidFill>
                  <a:schemeClr val="accent2"/>
                </a:solidFill>
                <a:latin typeface="楷体_GB2312" panose="02010609030101010101" pitchFamily="49" charset="-122"/>
                <a:ea typeface="楷体_GB2312" panose="02010609030101010101" pitchFamily="49" charset="-122"/>
              </a:rPr>
              <a:t>头指针 </a:t>
            </a:r>
            <a:r>
              <a:rPr lang="en-US" altLang="zh-CN" sz="2400" smtClean="0">
                <a:solidFill>
                  <a:schemeClr val="accent2"/>
                </a:solidFill>
                <a:latin typeface="楷体_GB2312" panose="02010609030101010101" pitchFamily="49" charset="-122"/>
                <a:ea typeface="楷体_GB2312" panose="02010609030101010101" pitchFamily="49" charset="-122"/>
              </a:rPr>
              <a:t>+ </a:t>
            </a:r>
            <a:r>
              <a:rPr lang="zh-CN" altLang="en-US" sz="2400" smtClean="0">
                <a:solidFill>
                  <a:schemeClr val="accent2"/>
                </a:solidFill>
                <a:latin typeface="楷体_GB2312" panose="02010609030101010101" pitchFamily="49" charset="-122"/>
                <a:ea typeface="楷体_GB2312" panose="02010609030101010101" pitchFamily="49" charset="-122"/>
              </a:rPr>
              <a:t>尾指针</a:t>
            </a:r>
            <a:r>
              <a:rPr lang="zh-CN" altLang="en-US" sz="2400" smtClean="0"/>
              <a:t> </a:t>
            </a:r>
          </a:p>
          <a:p>
            <a:pPr eaLnBrk="1" hangingPunct="1">
              <a:buFont typeface="Wingdings" panose="05000000000000000000" pitchFamily="2" charset="2"/>
              <a:buNone/>
            </a:pPr>
            <a:r>
              <a:rPr lang="zh-CN" altLang="en-US" smtClean="0"/>
              <a:t>                          </a:t>
            </a:r>
            <a:r>
              <a:rPr lang="zh-CN" altLang="en-US" sz="3900" smtClean="0">
                <a:solidFill>
                  <a:schemeClr val="accent1"/>
                </a:solidFill>
              </a:rPr>
              <a:t>   </a:t>
            </a:r>
            <a:endParaRPr lang="zh-CN" altLang="en-US" sz="3400" smtClean="0"/>
          </a:p>
        </p:txBody>
      </p:sp>
      <p:sp>
        <p:nvSpPr>
          <p:cNvPr id="125956" name="Rectangle 1028"/>
          <p:cNvSpPr>
            <a:spLocks noChangeArrowheads="1"/>
          </p:cNvSpPr>
          <p:nvPr/>
        </p:nvSpPr>
        <p:spPr bwMode="auto">
          <a:xfrm>
            <a:off x="3505200" y="4075113"/>
            <a:ext cx="4648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5957" name="Line 1029"/>
          <p:cNvSpPr>
            <a:spLocks noChangeShapeType="1"/>
          </p:cNvSpPr>
          <p:nvPr/>
        </p:nvSpPr>
        <p:spPr bwMode="auto">
          <a:xfrm flipH="1">
            <a:off x="3886200" y="40751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58" name="Line 1030"/>
          <p:cNvSpPr>
            <a:spLocks noChangeShapeType="1"/>
          </p:cNvSpPr>
          <p:nvPr/>
        </p:nvSpPr>
        <p:spPr bwMode="auto">
          <a:xfrm>
            <a:off x="4572000" y="40751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59" name="Line 1031"/>
          <p:cNvSpPr>
            <a:spLocks noChangeShapeType="1"/>
          </p:cNvSpPr>
          <p:nvPr/>
        </p:nvSpPr>
        <p:spPr bwMode="auto">
          <a:xfrm>
            <a:off x="7772400" y="40751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0" name="Text Box 1033"/>
          <p:cNvSpPr txBox="1">
            <a:spLocks noChangeArrowheads="1"/>
          </p:cNvSpPr>
          <p:nvPr/>
        </p:nvSpPr>
        <p:spPr bwMode="auto">
          <a:xfrm>
            <a:off x="3505200" y="44561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5961" name="Text Box 1034"/>
          <p:cNvSpPr txBox="1">
            <a:spLocks noChangeArrowheads="1"/>
          </p:cNvSpPr>
          <p:nvPr/>
        </p:nvSpPr>
        <p:spPr bwMode="auto">
          <a:xfrm>
            <a:off x="7696200" y="437991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  </a:t>
            </a:r>
            <a:r>
              <a:rPr kumimoji="1" lang="en-US" altLang="zh-CN" sz="2400">
                <a:solidFill>
                  <a:schemeClr val="accent2"/>
                </a:solidFill>
                <a:latin typeface="Times New Roman" panose="02020603050405020304" pitchFamily="18" charset="0"/>
                <a:ea typeface="宋体" panose="02010600030101010101" pitchFamily="2" charset="-122"/>
              </a:rPr>
              <a:t>m</a:t>
            </a:r>
          </a:p>
        </p:txBody>
      </p:sp>
      <p:sp>
        <p:nvSpPr>
          <p:cNvPr id="125962" name="Line 1035"/>
          <p:cNvSpPr>
            <a:spLocks noChangeShapeType="1"/>
          </p:cNvSpPr>
          <p:nvPr/>
        </p:nvSpPr>
        <p:spPr bwMode="auto">
          <a:xfrm flipV="1">
            <a:off x="5029200" y="4532313"/>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3" name="Text Box 1037"/>
          <p:cNvSpPr txBox="1">
            <a:spLocks noChangeArrowheads="1"/>
          </p:cNvSpPr>
          <p:nvPr/>
        </p:nvSpPr>
        <p:spPr bwMode="auto">
          <a:xfrm>
            <a:off x="4876800" y="4684713"/>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f</a:t>
            </a:r>
          </a:p>
        </p:txBody>
      </p:sp>
      <p:sp>
        <p:nvSpPr>
          <p:cNvPr id="125964" name="Text Box 1046"/>
          <p:cNvSpPr txBox="1">
            <a:spLocks noChangeArrowheads="1"/>
          </p:cNvSpPr>
          <p:nvPr/>
        </p:nvSpPr>
        <p:spPr bwMode="auto">
          <a:xfrm>
            <a:off x="6705600" y="4608513"/>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r</a:t>
            </a:r>
          </a:p>
        </p:txBody>
      </p:sp>
      <p:sp>
        <p:nvSpPr>
          <p:cNvPr id="125965" name="Line 1047"/>
          <p:cNvSpPr>
            <a:spLocks noChangeShapeType="1"/>
          </p:cNvSpPr>
          <p:nvPr/>
        </p:nvSpPr>
        <p:spPr bwMode="auto">
          <a:xfrm flipV="1">
            <a:off x="6781800" y="4532313"/>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6" name="Rectangle 1051"/>
          <p:cNvSpPr>
            <a:spLocks noChangeArrowheads="1"/>
          </p:cNvSpPr>
          <p:nvPr/>
        </p:nvSpPr>
        <p:spPr bwMode="auto">
          <a:xfrm>
            <a:off x="4876800" y="4075113"/>
            <a:ext cx="2057400" cy="4572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5967" name="Line 1052"/>
          <p:cNvSpPr>
            <a:spLocks noChangeShapeType="1"/>
          </p:cNvSpPr>
          <p:nvPr/>
        </p:nvSpPr>
        <p:spPr bwMode="auto">
          <a:xfrm>
            <a:off x="5181600" y="40751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8" name="Line 1053"/>
          <p:cNvSpPr>
            <a:spLocks noChangeShapeType="1"/>
          </p:cNvSpPr>
          <p:nvPr/>
        </p:nvSpPr>
        <p:spPr bwMode="auto">
          <a:xfrm>
            <a:off x="6629400" y="40751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55" name="Line 1055"/>
          <p:cNvSpPr>
            <a:spLocks noChangeShapeType="1"/>
          </p:cNvSpPr>
          <p:nvPr/>
        </p:nvSpPr>
        <p:spPr bwMode="auto">
          <a:xfrm flipV="1">
            <a:off x="4724400" y="4532313"/>
            <a:ext cx="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1" presetClass="entr" presetSubtype="0" fill="hold" nodeType="clickEffect">
                                  <p:stCondLst>
                                    <p:cond delay="0"/>
                                  </p:stCondLst>
                                  <p:childTnLst>
                                    <p:set>
                                      <p:cBhvr>
                                        <p:cTn id="6" dur="500">
                                          <p:stCondLst>
                                            <p:cond delay="0"/>
                                          </p:stCondLst>
                                        </p:cTn>
                                        <p:tgtEl>
                                          <p:spTgt spid="778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978" name="Group 2"/>
          <p:cNvGrpSpPr>
            <a:grpSpLocks/>
          </p:cNvGrpSpPr>
          <p:nvPr/>
        </p:nvGrpSpPr>
        <p:grpSpPr bwMode="auto">
          <a:xfrm>
            <a:off x="6662738" y="2143125"/>
            <a:ext cx="3536950" cy="3733800"/>
            <a:chOff x="2860" y="384"/>
            <a:chExt cx="2228" cy="2352"/>
          </a:xfrm>
        </p:grpSpPr>
        <p:sp>
          <p:nvSpPr>
            <p:cNvPr id="126985" name="Oval 3"/>
            <p:cNvSpPr>
              <a:spLocks noChangeArrowheads="1"/>
            </p:cNvSpPr>
            <p:nvPr/>
          </p:nvSpPr>
          <p:spPr bwMode="auto">
            <a:xfrm>
              <a:off x="3072" y="672"/>
              <a:ext cx="2016" cy="206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6986" name="Oval 4"/>
            <p:cNvSpPr>
              <a:spLocks noChangeArrowheads="1"/>
            </p:cNvSpPr>
            <p:nvPr/>
          </p:nvSpPr>
          <p:spPr bwMode="auto">
            <a:xfrm>
              <a:off x="3792" y="1392"/>
              <a:ext cx="576"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6987" name="Line 5"/>
            <p:cNvSpPr>
              <a:spLocks noChangeShapeType="1"/>
            </p:cNvSpPr>
            <p:nvPr/>
          </p:nvSpPr>
          <p:spPr bwMode="auto">
            <a:xfrm>
              <a:off x="4080" y="1968"/>
              <a:ext cx="0"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8" name="Line 6"/>
            <p:cNvSpPr>
              <a:spLocks noChangeShapeType="1"/>
            </p:cNvSpPr>
            <p:nvPr/>
          </p:nvSpPr>
          <p:spPr bwMode="auto">
            <a:xfrm>
              <a:off x="4080" y="672"/>
              <a:ext cx="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9" name="Line 7"/>
            <p:cNvSpPr>
              <a:spLocks noChangeShapeType="1"/>
            </p:cNvSpPr>
            <p:nvPr/>
          </p:nvSpPr>
          <p:spPr bwMode="auto">
            <a:xfrm flipH="1">
              <a:off x="3072" y="1680"/>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0" name="Line 8"/>
            <p:cNvSpPr>
              <a:spLocks noChangeShapeType="1"/>
            </p:cNvSpPr>
            <p:nvPr/>
          </p:nvSpPr>
          <p:spPr bwMode="auto">
            <a:xfrm flipH="1" flipV="1">
              <a:off x="3600" y="816"/>
              <a:ext cx="336"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1" name="Line 9"/>
            <p:cNvSpPr>
              <a:spLocks noChangeShapeType="1"/>
            </p:cNvSpPr>
            <p:nvPr/>
          </p:nvSpPr>
          <p:spPr bwMode="auto">
            <a:xfrm flipH="1" flipV="1">
              <a:off x="3216" y="1152"/>
              <a:ext cx="62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2" name="Line 10"/>
            <p:cNvSpPr>
              <a:spLocks noChangeShapeType="1"/>
            </p:cNvSpPr>
            <p:nvPr/>
          </p:nvSpPr>
          <p:spPr bwMode="auto">
            <a:xfrm flipH="1">
              <a:off x="3216" y="1824"/>
              <a:ext cx="624"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3" name="Line 11"/>
            <p:cNvSpPr>
              <a:spLocks noChangeShapeType="1"/>
            </p:cNvSpPr>
            <p:nvPr/>
          </p:nvSpPr>
          <p:spPr bwMode="auto">
            <a:xfrm flipH="1">
              <a:off x="3600" y="1920"/>
              <a:ext cx="336"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4" name="Text Box 12"/>
            <p:cNvSpPr txBox="1">
              <a:spLocks noChangeArrowheads="1"/>
            </p:cNvSpPr>
            <p:nvPr/>
          </p:nvSpPr>
          <p:spPr bwMode="auto">
            <a:xfrm>
              <a:off x="3216" y="172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a6</a:t>
              </a:r>
            </a:p>
          </p:txBody>
        </p:sp>
        <p:sp>
          <p:nvSpPr>
            <p:cNvPr id="126995" name="Text Box 13"/>
            <p:cNvSpPr txBox="1">
              <a:spLocks noChangeArrowheads="1"/>
            </p:cNvSpPr>
            <p:nvPr/>
          </p:nvSpPr>
          <p:spPr bwMode="auto">
            <a:xfrm>
              <a:off x="3206" y="1322"/>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a7</a:t>
              </a:r>
            </a:p>
          </p:txBody>
        </p:sp>
        <p:sp>
          <p:nvSpPr>
            <p:cNvPr id="126996" name="Text Box 14"/>
            <p:cNvSpPr txBox="1">
              <a:spLocks noChangeArrowheads="1"/>
            </p:cNvSpPr>
            <p:nvPr/>
          </p:nvSpPr>
          <p:spPr bwMode="auto">
            <a:xfrm>
              <a:off x="3408" y="960"/>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a8</a:t>
              </a:r>
            </a:p>
          </p:txBody>
        </p:sp>
        <p:sp>
          <p:nvSpPr>
            <p:cNvPr id="126997" name="Text Box 15"/>
            <p:cNvSpPr txBox="1">
              <a:spLocks noChangeArrowheads="1"/>
            </p:cNvSpPr>
            <p:nvPr/>
          </p:nvSpPr>
          <p:spPr bwMode="auto">
            <a:xfrm>
              <a:off x="3735" y="76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a9</a:t>
              </a:r>
            </a:p>
          </p:txBody>
        </p:sp>
        <p:sp>
          <p:nvSpPr>
            <p:cNvPr id="126998" name="Line 16"/>
            <p:cNvSpPr>
              <a:spLocks noChangeShapeType="1"/>
            </p:cNvSpPr>
            <p:nvPr/>
          </p:nvSpPr>
          <p:spPr bwMode="auto">
            <a:xfrm flipH="1">
              <a:off x="4224" y="816"/>
              <a:ext cx="336"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9" name="Text Box 17"/>
            <p:cNvSpPr txBox="1">
              <a:spLocks noChangeArrowheads="1"/>
            </p:cNvSpPr>
            <p:nvPr/>
          </p:nvSpPr>
          <p:spPr bwMode="auto">
            <a:xfrm>
              <a:off x="4262" y="38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0</a:t>
              </a:r>
            </a:p>
          </p:txBody>
        </p:sp>
        <p:sp>
          <p:nvSpPr>
            <p:cNvPr id="127000" name="Text Box 18"/>
            <p:cNvSpPr txBox="1">
              <a:spLocks noChangeArrowheads="1"/>
            </p:cNvSpPr>
            <p:nvPr/>
          </p:nvSpPr>
          <p:spPr bwMode="auto">
            <a:xfrm>
              <a:off x="3686" y="41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9</a:t>
              </a:r>
            </a:p>
          </p:txBody>
        </p:sp>
        <p:sp>
          <p:nvSpPr>
            <p:cNvPr id="127001" name="Text Box 19"/>
            <p:cNvSpPr txBox="1">
              <a:spLocks noChangeArrowheads="1"/>
            </p:cNvSpPr>
            <p:nvPr/>
          </p:nvSpPr>
          <p:spPr bwMode="auto">
            <a:xfrm>
              <a:off x="3158" y="74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8</a:t>
              </a:r>
            </a:p>
          </p:txBody>
        </p:sp>
        <p:sp>
          <p:nvSpPr>
            <p:cNvPr id="127002" name="Text Box 20"/>
            <p:cNvSpPr txBox="1">
              <a:spLocks noChangeArrowheads="1"/>
            </p:cNvSpPr>
            <p:nvPr/>
          </p:nvSpPr>
          <p:spPr bwMode="auto">
            <a:xfrm>
              <a:off x="2860" y="122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7</a:t>
              </a:r>
            </a:p>
          </p:txBody>
        </p:sp>
        <p:sp>
          <p:nvSpPr>
            <p:cNvPr id="127003" name="Line 21"/>
            <p:cNvSpPr>
              <a:spLocks noChangeShapeType="1"/>
            </p:cNvSpPr>
            <p:nvPr/>
          </p:nvSpPr>
          <p:spPr bwMode="auto">
            <a:xfrm flipV="1">
              <a:off x="4320" y="1200"/>
              <a:ext cx="62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004" name="Text Box 22"/>
            <p:cNvSpPr txBox="1">
              <a:spLocks noChangeArrowheads="1"/>
            </p:cNvSpPr>
            <p:nvPr/>
          </p:nvSpPr>
          <p:spPr bwMode="auto">
            <a:xfrm>
              <a:off x="4790" y="69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1</a:t>
              </a:r>
            </a:p>
          </p:txBody>
        </p:sp>
        <p:sp>
          <p:nvSpPr>
            <p:cNvPr id="127005" name="Line 23"/>
            <p:cNvSpPr>
              <a:spLocks noChangeShapeType="1"/>
            </p:cNvSpPr>
            <p:nvPr/>
          </p:nvSpPr>
          <p:spPr bwMode="auto">
            <a:xfrm flipH="1">
              <a:off x="4416" y="1824"/>
              <a:ext cx="336" cy="528"/>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6979" name="Line 24"/>
          <p:cNvSpPr>
            <a:spLocks noChangeShapeType="1"/>
          </p:cNvSpPr>
          <p:nvPr/>
        </p:nvSpPr>
        <p:spPr bwMode="auto">
          <a:xfrm>
            <a:off x="6237288" y="4733925"/>
            <a:ext cx="685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0" name="Text Box 25"/>
          <p:cNvSpPr txBox="1">
            <a:spLocks noChangeArrowheads="1"/>
          </p:cNvSpPr>
          <p:nvPr/>
        </p:nvSpPr>
        <p:spPr bwMode="auto">
          <a:xfrm>
            <a:off x="5307013" y="4470400"/>
            <a:ext cx="776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26981" name="Line 26"/>
          <p:cNvSpPr>
            <a:spLocks noChangeShapeType="1"/>
          </p:cNvSpPr>
          <p:nvPr/>
        </p:nvSpPr>
        <p:spPr bwMode="auto">
          <a:xfrm>
            <a:off x="8828088" y="2066925"/>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2" name="Text Box 27"/>
          <p:cNvSpPr txBox="1">
            <a:spLocks noChangeArrowheads="1"/>
          </p:cNvSpPr>
          <p:nvPr/>
        </p:nvSpPr>
        <p:spPr bwMode="auto">
          <a:xfrm>
            <a:off x="8278813" y="1609725"/>
            <a:ext cx="65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126983" name="Text Box 29"/>
          <p:cNvSpPr txBox="1">
            <a:spLocks noChangeArrowheads="1"/>
          </p:cNvSpPr>
          <p:nvPr/>
        </p:nvSpPr>
        <p:spPr bwMode="auto">
          <a:xfrm>
            <a:off x="1671638" y="1962150"/>
            <a:ext cx="4800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2400">
                <a:latin typeface="华文楷体" panose="02010600040101010101" pitchFamily="2" charset="-122"/>
                <a:ea typeface="华文楷体" panose="02010600040101010101" pitchFamily="2" charset="-122"/>
              </a:rPr>
              <a:t>解决假溢出的方法之一是将队列的</a:t>
            </a:r>
          </a:p>
          <a:p>
            <a:pPr eaLnBrk="1" hangingPunct="1">
              <a:lnSpc>
                <a:spcPct val="100000"/>
              </a:lnSpc>
              <a:spcBef>
                <a:spcPct val="0"/>
              </a:spcBef>
              <a:buFontTx/>
              <a:buNone/>
            </a:pPr>
            <a:r>
              <a:rPr kumimoji="1" lang="zh-CN" altLang="en-US" sz="2400">
                <a:latin typeface="华文楷体" panose="02010600040101010101" pitchFamily="2" charset="-122"/>
                <a:ea typeface="华文楷体" panose="02010600040101010101" pitchFamily="2" charset="-122"/>
              </a:rPr>
              <a:t>数据区看成头尾相接的循环结构。</a:t>
            </a:r>
          </a:p>
          <a:p>
            <a:pPr eaLnBrk="1" hangingPunct="1">
              <a:lnSpc>
                <a:spcPct val="100000"/>
              </a:lnSpc>
              <a:spcBef>
                <a:spcPct val="0"/>
              </a:spcBef>
              <a:buFontTx/>
              <a:buNone/>
            </a:pPr>
            <a:r>
              <a:rPr kumimoji="1" lang="zh-CN" altLang="en-US" sz="2400">
                <a:latin typeface="华文楷体" panose="02010600040101010101" pitchFamily="2" charset="-122"/>
                <a:ea typeface="华文楷体" panose="02010600040101010101" pitchFamily="2" charset="-122"/>
              </a:rPr>
              <a:t>只要队列元素个数小于总的可用空</a:t>
            </a:r>
          </a:p>
          <a:p>
            <a:pPr eaLnBrk="1" hangingPunct="1">
              <a:lnSpc>
                <a:spcPct val="100000"/>
              </a:lnSpc>
              <a:spcBef>
                <a:spcPct val="0"/>
              </a:spcBef>
              <a:buFontTx/>
              <a:buNone/>
            </a:pPr>
            <a:r>
              <a:rPr kumimoji="1" lang="zh-CN" altLang="en-US" sz="2400">
                <a:latin typeface="华文楷体" panose="02010600040101010101" pitchFamily="2" charset="-122"/>
                <a:ea typeface="华文楷体" panose="02010600040101010101" pitchFamily="2" charset="-122"/>
              </a:rPr>
              <a:t>间，插入删除就可以一直进行下去</a:t>
            </a:r>
          </a:p>
        </p:txBody>
      </p:sp>
      <p:sp>
        <p:nvSpPr>
          <p:cNvPr id="126984" name="标题 1"/>
          <p:cNvSpPr>
            <a:spLocks noGrp="1"/>
          </p:cNvSpPr>
          <p:nvPr>
            <p:ph type="title"/>
          </p:nvPr>
        </p:nvSpPr>
        <p:spPr>
          <a:xfrm>
            <a:off x="527050" y="333375"/>
            <a:ext cx="10321925" cy="863600"/>
          </a:xfrm>
        </p:spPr>
        <p:txBody>
          <a:bodyPr/>
          <a:lstStyle/>
          <a:p>
            <a:pPr eaLnBrk="1" hangingPunct="1"/>
            <a:r>
              <a:rPr lang="zh-CN" altLang="en-US" smtClean="0"/>
              <a:t>循环队列</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002" name="Group 2"/>
          <p:cNvGrpSpPr>
            <a:grpSpLocks/>
          </p:cNvGrpSpPr>
          <p:nvPr/>
        </p:nvGrpSpPr>
        <p:grpSpPr bwMode="auto">
          <a:xfrm>
            <a:off x="6659563" y="2359025"/>
            <a:ext cx="3536950" cy="3733800"/>
            <a:chOff x="2860" y="384"/>
            <a:chExt cx="2228" cy="2352"/>
          </a:xfrm>
        </p:grpSpPr>
        <p:sp>
          <p:nvSpPr>
            <p:cNvPr id="128009" name="Oval 3"/>
            <p:cNvSpPr>
              <a:spLocks noChangeArrowheads="1"/>
            </p:cNvSpPr>
            <p:nvPr/>
          </p:nvSpPr>
          <p:spPr bwMode="auto">
            <a:xfrm>
              <a:off x="3072" y="672"/>
              <a:ext cx="2016" cy="206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8010" name="Oval 4"/>
            <p:cNvSpPr>
              <a:spLocks noChangeArrowheads="1"/>
            </p:cNvSpPr>
            <p:nvPr/>
          </p:nvSpPr>
          <p:spPr bwMode="auto">
            <a:xfrm>
              <a:off x="3792" y="1392"/>
              <a:ext cx="576"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8011" name="Line 5"/>
            <p:cNvSpPr>
              <a:spLocks noChangeShapeType="1"/>
            </p:cNvSpPr>
            <p:nvPr/>
          </p:nvSpPr>
          <p:spPr bwMode="auto">
            <a:xfrm>
              <a:off x="4080" y="1968"/>
              <a:ext cx="0"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2" name="Line 6"/>
            <p:cNvSpPr>
              <a:spLocks noChangeShapeType="1"/>
            </p:cNvSpPr>
            <p:nvPr/>
          </p:nvSpPr>
          <p:spPr bwMode="auto">
            <a:xfrm>
              <a:off x="4080" y="672"/>
              <a:ext cx="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3" name="Line 7"/>
            <p:cNvSpPr>
              <a:spLocks noChangeShapeType="1"/>
            </p:cNvSpPr>
            <p:nvPr/>
          </p:nvSpPr>
          <p:spPr bwMode="auto">
            <a:xfrm flipH="1">
              <a:off x="3072" y="1680"/>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4" name="Line 8"/>
            <p:cNvSpPr>
              <a:spLocks noChangeShapeType="1"/>
            </p:cNvSpPr>
            <p:nvPr/>
          </p:nvSpPr>
          <p:spPr bwMode="auto">
            <a:xfrm flipH="1" flipV="1">
              <a:off x="3600" y="816"/>
              <a:ext cx="336"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5" name="Line 9"/>
            <p:cNvSpPr>
              <a:spLocks noChangeShapeType="1"/>
            </p:cNvSpPr>
            <p:nvPr/>
          </p:nvSpPr>
          <p:spPr bwMode="auto">
            <a:xfrm flipH="1" flipV="1">
              <a:off x="3216" y="1152"/>
              <a:ext cx="62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6" name="Line 10"/>
            <p:cNvSpPr>
              <a:spLocks noChangeShapeType="1"/>
            </p:cNvSpPr>
            <p:nvPr/>
          </p:nvSpPr>
          <p:spPr bwMode="auto">
            <a:xfrm flipH="1">
              <a:off x="3216" y="1824"/>
              <a:ext cx="624"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7" name="Line 11"/>
            <p:cNvSpPr>
              <a:spLocks noChangeShapeType="1"/>
            </p:cNvSpPr>
            <p:nvPr/>
          </p:nvSpPr>
          <p:spPr bwMode="auto">
            <a:xfrm flipH="1">
              <a:off x="3600" y="1920"/>
              <a:ext cx="336"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8" name="Text Box 12"/>
            <p:cNvSpPr txBox="1">
              <a:spLocks noChangeArrowheads="1"/>
            </p:cNvSpPr>
            <p:nvPr/>
          </p:nvSpPr>
          <p:spPr bwMode="auto">
            <a:xfrm>
              <a:off x="3216" y="172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a6</a:t>
              </a:r>
            </a:p>
          </p:txBody>
        </p:sp>
        <p:sp>
          <p:nvSpPr>
            <p:cNvPr id="128019" name="Text Box 13"/>
            <p:cNvSpPr txBox="1">
              <a:spLocks noChangeArrowheads="1"/>
            </p:cNvSpPr>
            <p:nvPr/>
          </p:nvSpPr>
          <p:spPr bwMode="auto">
            <a:xfrm>
              <a:off x="3206" y="1322"/>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a7</a:t>
              </a:r>
            </a:p>
          </p:txBody>
        </p:sp>
        <p:sp>
          <p:nvSpPr>
            <p:cNvPr id="128020" name="Text Box 14"/>
            <p:cNvSpPr txBox="1">
              <a:spLocks noChangeArrowheads="1"/>
            </p:cNvSpPr>
            <p:nvPr/>
          </p:nvSpPr>
          <p:spPr bwMode="auto">
            <a:xfrm>
              <a:off x="3408" y="960"/>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a8</a:t>
              </a:r>
            </a:p>
          </p:txBody>
        </p:sp>
        <p:sp>
          <p:nvSpPr>
            <p:cNvPr id="128021" name="Text Box 15"/>
            <p:cNvSpPr txBox="1">
              <a:spLocks noChangeArrowheads="1"/>
            </p:cNvSpPr>
            <p:nvPr/>
          </p:nvSpPr>
          <p:spPr bwMode="auto">
            <a:xfrm>
              <a:off x="3735" y="76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a9</a:t>
              </a:r>
            </a:p>
          </p:txBody>
        </p:sp>
        <p:sp>
          <p:nvSpPr>
            <p:cNvPr id="128022" name="Line 16"/>
            <p:cNvSpPr>
              <a:spLocks noChangeShapeType="1"/>
            </p:cNvSpPr>
            <p:nvPr/>
          </p:nvSpPr>
          <p:spPr bwMode="auto">
            <a:xfrm flipH="1">
              <a:off x="4224" y="816"/>
              <a:ext cx="336"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3" name="Text Box 17"/>
            <p:cNvSpPr txBox="1">
              <a:spLocks noChangeArrowheads="1"/>
            </p:cNvSpPr>
            <p:nvPr/>
          </p:nvSpPr>
          <p:spPr bwMode="auto">
            <a:xfrm>
              <a:off x="4262" y="38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0</a:t>
              </a:r>
            </a:p>
          </p:txBody>
        </p:sp>
        <p:sp>
          <p:nvSpPr>
            <p:cNvPr id="128024" name="Text Box 18"/>
            <p:cNvSpPr txBox="1">
              <a:spLocks noChangeArrowheads="1"/>
            </p:cNvSpPr>
            <p:nvPr/>
          </p:nvSpPr>
          <p:spPr bwMode="auto">
            <a:xfrm>
              <a:off x="3686" y="41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9</a:t>
              </a:r>
            </a:p>
          </p:txBody>
        </p:sp>
        <p:sp>
          <p:nvSpPr>
            <p:cNvPr id="128025" name="Text Box 19"/>
            <p:cNvSpPr txBox="1">
              <a:spLocks noChangeArrowheads="1"/>
            </p:cNvSpPr>
            <p:nvPr/>
          </p:nvSpPr>
          <p:spPr bwMode="auto">
            <a:xfrm>
              <a:off x="3158" y="74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8</a:t>
              </a:r>
            </a:p>
          </p:txBody>
        </p:sp>
        <p:sp>
          <p:nvSpPr>
            <p:cNvPr id="128026" name="Text Box 20"/>
            <p:cNvSpPr txBox="1">
              <a:spLocks noChangeArrowheads="1"/>
            </p:cNvSpPr>
            <p:nvPr/>
          </p:nvSpPr>
          <p:spPr bwMode="auto">
            <a:xfrm>
              <a:off x="2860" y="122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7</a:t>
              </a:r>
            </a:p>
          </p:txBody>
        </p:sp>
        <p:sp>
          <p:nvSpPr>
            <p:cNvPr id="128027" name="Line 21"/>
            <p:cNvSpPr>
              <a:spLocks noChangeShapeType="1"/>
            </p:cNvSpPr>
            <p:nvPr/>
          </p:nvSpPr>
          <p:spPr bwMode="auto">
            <a:xfrm flipV="1">
              <a:off x="4320" y="1200"/>
              <a:ext cx="62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8" name="Text Box 22"/>
            <p:cNvSpPr txBox="1">
              <a:spLocks noChangeArrowheads="1"/>
            </p:cNvSpPr>
            <p:nvPr/>
          </p:nvSpPr>
          <p:spPr bwMode="auto">
            <a:xfrm>
              <a:off x="4790" y="69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1</a:t>
              </a:r>
            </a:p>
          </p:txBody>
        </p:sp>
        <p:sp>
          <p:nvSpPr>
            <p:cNvPr id="128029" name="Line 23"/>
            <p:cNvSpPr>
              <a:spLocks noChangeShapeType="1"/>
            </p:cNvSpPr>
            <p:nvPr/>
          </p:nvSpPr>
          <p:spPr bwMode="auto">
            <a:xfrm flipH="1">
              <a:off x="4416" y="1824"/>
              <a:ext cx="336" cy="528"/>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8003" name="Line 24"/>
          <p:cNvSpPr>
            <a:spLocks noChangeShapeType="1"/>
          </p:cNvSpPr>
          <p:nvPr/>
        </p:nvSpPr>
        <p:spPr bwMode="auto">
          <a:xfrm>
            <a:off x="6234113" y="4949825"/>
            <a:ext cx="685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4" name="Text Box 25"/>
          <p:cNvSpPr txBox="1">
            <a:spLocks noChangeArrowheads="1"/>
          </p:cNvSpPr>
          <p:nvPr/>
        </p:nvSpPr>
        <p:spPr bwMode="auto">
          <a:xfrm>
            <a:off x="5303838" y="4686300"/>
            <a:ext cx="776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28005" name="Line 26"/>
          <p:cNvSpPr>
            <a:spLocks noChangeShapeType="1"/>
          </p:cNvSpPr>
          <p:nvPr/>
        </p:nvSpPr>
        <p:spPr bwMode="auto">
          <a:xfrm>
            <a:off x="8824913" y="2282825"/>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6" name="Text Box 27"/>
          <p:cNvSpPr txBox="1">
            <a:spLocks noChangeArrowheads="1"/>
          </p:cNvSpPr>
          <p:nvPr/>
        </p:nvSpPr>
        <p:spPr bwMode="auto">
          <a:xfrm>
            <a:off x="8275638" y="1825625"/>
            <a:ext cx="65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128007" name="Text Box 29"/>
          <p:cNvSpPr txBox="1">
            <a:spLocks noChangeArrowheads="1"/>
          </p:cNvSpPr>
          <p:nvPr/>
        </p:nvSpPr>
        <p:spPr bwMode="auto">
          <a:xfrm>
            <a:off x="1549400" y="1857375"/>
            <a:ext cx="57245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华文楷体" panose="02010600040101010101" pitchFamily="2" charset="-122"/>
                <a:cs typeface="Times New Roman" panose="02020603050405020304" pitchFamily="18" charset="0"/>
              </a:rPr>
              <a:t>循环意义下的序号加</a:t>
            </a:r>
            <a:r>
              <a:rPr kumimoji="1" lang="en-US" altLang="zh-CN" sz="2400">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400">
                <a:latin typeface="Times New Roman" panose="02020603050405020304" pitchFamily="18" charset="0"/>
                <a:ea typeface="华文楷体" panose="02010600040101010101" pitchFamily="2" charset="-122"/>
                <a:cs typeface="Times New Roman" panose="02020603050405020304" pitchFamily="18" charset="0"/>
              </a:rPr>
              <a:t>操作可以描述为： </a:t>
            </a:r>
          </a:p>
          <a:p>
            <a:pPr eaLnBrk="1" hangingPunct="1">
              <a:lnSpc>
                <a:spcPct val="100000"/>
              </a:lnSpc>
              <a:spcBef>
                <a:spcPct val="0"/>
              </a:spcBef>
              <a:buFontTx/>
              <a:buNone/>
            </a:pPr>
            <a:r>
              <a:rPr kumimoji="1" lang="zh-CN" altLang="en-US" sz="2400">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a:latin typeface="Times New Roman" panose="02020603050405020304" pitchFamily="18" charset="0"/>
                <a:ea typeface="华文楷体" panose="02010600040101010101" pitchFamily="2" charset="-122"/>
                <a:cs typeface="Times New Roman" panose="02020603050405020304" pitchFamily="18" charset="0"/>
              </a:rPr>
              <a:t>if(i+1 == 10)</a:t>
            </a:r>
          </a:p>
          <a:p>
            <a:pPr eaLnBrk="1" hangingPunct="1">
              <a:lnSpc>
                <a:spcPct val="100000"/>
              </a:lnSpc>
              <a:spcBef>
                <a:spcPct val="0"/>
              </a:spcBef>
              <a:buFontTx/>
              <a:buNone/>
            </a:pPr>
            <a:r>
              <a:rPr kumimoji="1" lang="en-US" altLang="zh-CN" sz="2400">
                <a:latin typeface="Times New Roman" panose="02020603050405020304" pitchFamily="18" charset="0"/>
                <a:ea typeface="华文楷体" panose="02010600040101010101" pitchFamily="2" charset="-122"/>
                <a:cs typeface="Times New Roman" panose="02020603050405020304" pitchFamily="18" charset="0"/>
              </a:rPr>
              <a:t>          i=0;</a:t>
            </a:r>
          </a:p>
          <a:p>
            <a:pPr eaLnBrk="1" hangingPunct="1">
              <a:lnSpc>
                <a:spcPct val="100000"/>
              </a:lnSpc>
              <a:spcBef>
                <a:spcPct val="0"/>
              </a:spcBef>
              <a:buFontTx/>
              <a:buNone/>
            </a:pPr>
            <a:r>
              <a:rPr kumimoji="1" lang="en-US" altLang="zh-CN" sz="2400">
                <a:latin typeface="Times New Roman" panose="02020603050405020304" pitchFamily="18" charset="0"/>
                <a:ea typeface="华文楷体" panose="02010600040101010101" pitchFamily="2" charset="-122"/>
                <a:cs typeface="Times New Roman" panose="02020603050405020304" pitchFamily="18" charset="0"/>
              </a:rPr>
              <a:t>     else</a:t>
            </a:r>
          </a:p>
          <a:p>
            <a:pPr eaLnBrk="1" hangingPunct="1">
              <a:lnSpc>
                <a:spcPct val="100000"/>
              </a:lnSpc>
              <a:spcBef>
                <a:spcPct val="0"/>
              </a:spcBef>
              <a:buFontTx/>
              <a:buNone/>
            </a:pPr>
            <a:r>
              <a:rPr kumimoji="1" lang="en-US" altLang="zh-CN" sz="2400">
                <a:latin typeface="Times New Roman" panose="02020603050405020304" pitchFamily="18" charset="0"/>
                <a:ea typeface="华文楷体" panose="02010600040101010101" pitchFamily="2" charset="-122"/>
                <a:cs typeface="Times New Roman" panose="02020603050405020304" pitchFamily="18" charset="0"/>
              </a:rPr>
              <a:t>          i++;</a:t>
            </a:r>
          </a:p>
        </p:txBody>
      </p:sp>
      <p:sp>
        <p:nvSpPr>
          <p:cNvPr id="128008" name="标题 1"/>
          <p:cNvSpPr>
            <a:spLocks noGrp="1"/>
          </p:cNvSpPr>
          <p:nvPr>
            <p:ph type="title"/>
          </p:nvPr>
        </p:nvSpPr>
        <p:spPr>
          <a:xfrm>
            <a:off x="527050" y="333375"/>
            <a:ext cx="10321925" cy="863600"/>
          </a:xfrm>
        </p:spPr>
        <p:txBody>
          <a:bodyPr/>
          <a:lstStyle/>
          <a:p>
            <a:pPr eaLnBrk="1" hangingPunct="1"/>
            <a:r>
              <a:rPr lang="zh-CN" altLang="en-US" smtClean="0"/>
              <a:t>循环队列</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9026" name="Group 2"/>
          <p:cNvGrpSpPr>
            <a:grpSpLocks/>
          </p:cNvGrpSpPr>
          <p:nvPr/>
        </p:nvGrpSpPr>
        <p:grpSpPr bwMode="auto">
          <a:xfrm>
            <a:off x="6807200" y="2071688"/>
            <a:ext cx="3536950" cy="3733800"/>
            <a:chOff x="2860" y="384"/>
            <a:chExt cx="2228" cy="2352"/>
          </a:xfrm>
        </p:grpSpPr>
        <p:sp>
          <p:nvSpPr>
            <p:cNvPr id="129034" name="Oval 3"/>
            <p:cNvSpPr>
              <a:spLocks noChangeArrowheads="1"/>
            </p:cNvSpPr>
            <p:nvPr/>
          </p:nvSpPr>
          <p:spPr bwMode="auto">
            <a:xfrm>
              <a:off x="3072" y="672"/>
              <a:ext cx="2016" cy="206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9035" name="Oval 4"/>
            <p:cNvSpPr>
              <a:spLocks noChangeArrowheads="1"/>
            </p:cNvSpPr>
            <p:nvPr/>
          </p:nvSpPr>
          <p:spPr bwMode="auto">
            <a:xfrm>
              <a:off x="3792" y="1392"/>
              <a:ext cx="576"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29036" name="Line 5"/>
            <p:cNvSpPr>
              <a:spLocks noChangeShapeType="1"/>
            </p:cNvSpPr>
            <p:nvPr/>
          </p:nvSpPr>
          <p:spPr bwMode="auto">
            <a:xfrm>
              <a:off x="4080" y="1968"/>
              <a:ext cx="0"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7" name="Line 6"/>
            <p:cNvSpPr>
              <a:spLocks noChangeShapeType="1"/>
            </p:cNvSpPr>
            <p:nvPr/>
          </p:nvSpPr>
          <p:spPr bwMode="auto">
            <a:xfrm>
              <a:off x="4080" y="672"/>
              <a:ext cx="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8" name="Line 7"/>
            <p:cNvSpPr>
              <a:spLocks noChangeShapeType="1"/>
            </p:cNvSpPr>
            <p:nvPr/>
          </p:nvSpPr>
          <p:spPr bwMode="auto">
            <a:xfrm flipH="1">
              <a:off x="3072" y="1680"/>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9" name="Line 8"/>
            <p:cNvSpPr>
              <a:spLocks noChangeShapeType="1"/>
            </p:cNvSpPr>
            <p:nvPr/>
          </p:nvSpPr>
          <p:spPr bwMode="auto">
            <a:xfrm flipH="1" flipV="1">
              <a:off x="3600" y="816"/>
              <a:ext cx="336"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40" name="Line 9"/>
            <p:cNvSpPr>
              <a:spLocks noChangeShapeType="1"/>
            </p:cNvSpPr>
            <p:nvPr/>
          </p:nvSpPr>
          <p:spPr bwMode="auto">
            <a:xfrm flipH="1" flipV="1">
              <a:off x="3216" y="1152"/>
              <a:ext cx="62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41" name="Line 10"/>
            <p:cNvSpPr>
              <a:spLocks noChangeShapeType="1"/>
            </p:cNvSpPr>
            <p:nvPr/>
          </p:nvSpPr>
          <p:spPr bwMode="auto">
            <a:xfrm flipH="1">
              <a:off x="3216" y="1824"/>
              <a:ext cx="624"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42" name="Line 11"/>
            <p:cNvSpPr>
              <a:spLocks noChangeShapeType="1"/>
            </p:cNvSpPr>
            <p:nvPr/>
          </p:nvSpPr>
          <p:spPr bwMode="auto">
            <a:xfrm flipH="1">
              <a:off x="3600" y="1920"/>
              <a:ext cx="336"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43" name="Text Box 12"/>
            <p:cNvSpPr txBox="1">
              <a:spLocks noChangeArrowheads="1"/>
            </p:cNvSpPr>
            <p:nvPr/>
          </p:nvSpPr>
          <p:spPr bwMode="auto">
            <a:xfrm>
              <a:off x="3216" y="172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a6</a:t>
              </a:r>
            </a:p>
          </p:txBody>
        </p:sp>
        <p:sp>
          <p:nvSpPr>
            <p:cNvPr id="129044" name="Text Box 13"/>
            <p:cNvSpPr txBox="1">
              <a:spLocks noChangeArrowheads="1"/>
            </p:cNvSpPr>
            <p:nvPr/>
          </p:nvSpPr>
          <p:spPr bwMode="auto">
            <a:xfrm>
              <a:off x="3206" y="1322"/>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a7</a:t>
              </a:r>
            </a:p>
          </p:txBody>
        </p:sp>
        <p:sp>
          <p:nvSpPr>
            <p:cNvPr id="129045" name="Text Box 14"/>
            <p:cNvSpPr txBox="1">
              <a:spLocks noChangeArrowheads="1"/>
            </p:cNvSpPr>
            <p:nvPr/>
          </p:nvSpPr>
          <p:spPr bwMode="auto">
            <a:xfrm>
              <a:off x="3408" y="960"/>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a8</a:t>
              </a:r>
            </a:p>
          </p:txBody>
        </p:sp>
        <p:sp>
          <p:nvSpPr>
            <p:cNvPr id="129046" name="Text Box 15"/>
            <p:cNvSpPr txBox="1">
              <a:spLocks noChangeArrowheads="1"/>
            </p:cNvSpPr>
            <p:nvPr/>
          </p:nvSpPr>
          <p:spPr bwMode="auto">
            <a:xfrm>
              <a:off x="3735" y="76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a9</a:t>
              </a:r>
            </a:p>
          </p:txBody>
        </p:sp>
        <p:sp>
          <p:nvSpPr>
            <p:cNvPr id="129047" name="Line 16"/>
            <p:cNvSpPr>
              <a:spLocks noChangeShapeType="1"/>
            </p:cNvSpPr>
            <p:nvPr/>
          </p:nvSpPr>
          <p:spPr bwMode="auto">
            <a:xfrm flipH="1">
              <a:off x="4224" y="816"/>
              <a:ext cx="336"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48" name="Text Box 17"/>
            <p:cNvSpPr txBox="1">
              <a:spLocks noChangeArrowheads="1"/>
            </p:cNvSpPr>
            <p:nvPr/>
          </p:nvSpPr>
          <p:spPr bwMode="auto">
            <a:xfrm>
              <a:off x="4262" y="38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0</a:t>
              </a:r>
            </a:p>
          </p:txBody>
        </p:sp>
        <p:sp>
          <p:nvSpPr>
            <p:cNvPr id="129049" name="Text Box 18"/>
            <p:cNvSpPr txBox="1">
              <a:spLocks noChangeArrowheads="1"/>
            </p:cNvSpPr>
            <p:nvPr/>
          </p:nvSpPr>
          <p:spPr bwMode="auto">
            <a:xfrm>
              <a:off x="3686" y="41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9</a:t>
              </a:r>
            </a:p>
          </p:txBody>
        </p:sp>
        <p:sp>
          <p:nvSpPr>
            <p:cNvPr id="129050" name="Text Box 19"/>
            <p:cNvSpPr txBox="1">
              <a:spLocks noChangeArrowheads="1"/>
            </p:cNvSpPr>
            <p:nvPr/>
          </p:nvSpPr>
          <p:spPr bwMode="auto">
            <a:xfrm>
              <a:off x="3158" y="74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8</a:t>
              </a:r>
            </a:p>
          </p:txBody>
        </p:sp>
        <p:sp>
          <p:nvSpPr>
            <p:cNvPr id="129051" name="Text Box 20"/>
            <p:cNvSpPr txBox="1">
              <a:spLocks noChangeArrowheads="1"/>
            </p:cNvSpPr>
            <p:nvPr/>
          </p:nvSpPr>
          <p:spPr bwMode="auto">
            <a:xfrm>
              <a:off x="2860" y="122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7</a:t>
              </a:r>
            </a:p>
          </p:txBody>
        </p:sp>
        <p:sp>
          <p:nvSpPr>
            <p:cNvPr id="129052" name="Line 21"/>
            <p:cNvSpPr>
              <a:spLocks noChangeShapeType="1"/>
            </p:cNvSpPr>
            <p:nvPr/>
          </p:nvSpPr>
          <p:spPr bwMode="auto">
            <a:xfrm flipV="1">
              <a:off x="4320" y="1200"/>
              <a:ext cx="62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53" name="Text Box 22"/>
            <p:cNvSpPr txBox="1">
              <a:spLocks noChangeArrowheads="1"/>
            </p:cNvSpPr>
            <p:nvPr/>
          </p:nvSpPr>
          <p:spPr bwMode="auto">
            <a:xfrm>
              <a:off x="4790" y="69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1</a:t>
              </a:r>
            </a:p>
          </p:txBody>
        </p:sp>
        <p:sp>
          <p:nvSpPr>
            <p:cNvPr id="129054" name="Line 23"/>
            <p:cNvSpPr>
              <a:spLocks noChangeShapeType="1"/>
            </p:cNvSpPr>
            <p:nvPr/>
          </p:nvSpPr>
          <p:spPr bwMode="auto">
            <a:xfrm flipH="1">
              <a:off x="4416" y="1824"/>
              <a:ext cx="336" cy="528"/>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9027" name="Line 24"/>
          <p:cNvSpPr>
            <a:spLocks noChangeShapeType="1"/>
          </p:cNvSpPr>
          <p:nvPr/>
        </p:nvSpPr>
        <p:spPr bwMode="auto">
          <a:xfrm>
            <a:off x="6381750" y="4662488"/>
            <a:ext cx="685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28" name="Text Box 25"/>
          <p:cNvSpPr txBox="1">
            <a:spLocks noChangeArrowheads="1"/>
          </p:cNvSpPr>
          <p:nvPr/>
        </p:nvSpPr>
        <p:spPr bwMode="auto">
          <a:xfrm>
            <a:off x="5451475" y="4398963"/>
            <a:ext cx="77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front</a:t>
            </a:r>
          </a:p>
        </p:txBody>
      </p:sp>
      <p:sp>
        <p:nvSpPr>
          <p:cNvPr id="129029" name="Line 26"/>
          <p:cNvSpPr>
            <a:spLocks noChangeShapeType="1"/>
          </p:cNvSpPr>
          <p:nvPr/>
        </p:nvSpPr>
        <p:spPr bwMode="auto">
          <a:xfrm>
            <a:off x="8972550" y="1995488"/>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0" name="Text Box 27"/>
          <p:cNvSpPr txBox="1">
            <a:spLocks noChangeArrowheads="1"/>
          </p:cNvSpPr>
          <p:nvPr/>
        </p:nvSpPr>
        <p:spPr bwMode="auto">
          <a:xfrm>
            <a:off x="8423275" y="1538288"/>
            <a:ext cx="65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rear</a:t>
            </a:r>
          </a:p>
        </p:txBody>
      </p:sp>
      <p:sp>
        <p:nvSpPr>
          <p:cNvPr id="220189" name="Text Box 29"/>
          <p:cNvSpPr txBox="1">
            <a:spLocks noChangeArrowheads="1"/>
          </p:cNvSpPr>
          <p:nvPr/>
        </p:nvSpPr>
        <p:spPr bwMode="auto">
          <a:xfrm>
            <a:off x="1990725" y="4251325"/>
            <a:ext cx="32623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队尾插入一个元素时：</a:t>
            </a:r>
            <a:endParaRPr kumimoji="1" lang="en-US"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rear = (rear + 1) %10</a:t>
            </a:r>
          </a:p>
        </p:txBody>
      </p:sp>
      <p:sp>
        <p:nvSpPr>
          <p:cNvPr id="220190" name="Text Box 30"/>
          <p:cNvSpPr txBox="1">
            <a:spLocks noChangeArrowheads="1"/>
          </p:cNvSpPr>
          <p:nvPr/>
        </p:nvSpPr>
        <p:spPr bwMode="auto">
          <a:xfrm>
            <a:off x="1990725" y="5394325"/>
            <a:ext cx="32623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队头删除一个元素时：</a:t>
            </a:r>
            <a:endParaRPr kumimoji="1" lang="en-US"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front = (front + 1) %10</a:t>
            </a:r>
          </a:p>
        </p:txBody>
      </p:sp>
      <p:sp>
        <p:nvSpPr>
          <p:cNvPr id="129033" name="标题 1"/>
          <p:cNvSpPr>
            <a:spLocks noGrp="1"/>
          </p:cNvSpPr>
          <p:nvPr>
            <p:ph type="title"/>
          </p:nvPr>
        </p:nvSpPr>
        <p:spPr>
          <a:xfrm>
            <a:off x="527050" y="333375"/>
            <a:ext cx="10321925" cy="863600"/>
          </a:xfrm>
        </p:spPr>
        <p:txBody>
          <a:bodyPr/>
          <a:lstStyle/>
          <a:p>
            <a:pPr eaLnBrk="1" hangingPunct="1"/>
            <a:r>
              <a:rPr lang="zh-CN" altLang="en-US" smtClean="0"/>
              <a:t>循环队列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018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018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20190">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2019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89" grpId="0" build="p" autoUpdateAnimBg="0"/>
      <p:bldP spid="220190" grpId="0"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527050" y="333375"/>
            <a:ext cx="10321925" cy="863600"/>
          </a:xfrm>
        </p:spPr>
        <p:txBody>
          <a:bodyPr/>
          <a:lstStyle/>
          <a:p>
            <a:pPr eaLnBrk="1" hangingPunct="1"/>
            <a:r>
              <a:rPr lang="zh-CN" altLang="en-US" smtClean="0"/>
              <a:t>循环队列的控制方案讨论</a:t>
            </a:r>
            <a:endParaRPr lang="zh-CN" altLang="en-US" sz="4000" smtClean="0"/>
          </a:p>
        </p:txBody>
      </p:sp>
      <p:sp>
        <p:nvSpPr>
          <p:cNvPr id="130051" name="Rectangle 3"/>
          <p:cNvSpPr>
            <a:spLocks noGrp="1" noChangeArrowheads="1"/>
          </p:cNvSpPr>
          <p:nvPr>
            <p:ph idx="1"/>
          </p:nvPr>
        </p:nvSpPr>
        <p:spPr>
          <a:xfrm>
            <a:off x="527050" y="1773238"/>
            <a:ext cx="10321925" cy="4351337"/>
          </a:xfrm>
        </p:spPr>
        <p:txBody>
          <a:bodyPr/>
          <a:lstStyle/>
          <a:p>
            <a:pPr eaLnBrk="1" hangingPunct="1">
              <a:buFont typeface="Wingdings" panose="05000000000000000000" pitchFamily="2" charset="2"/>
              <a:buNone/>
            </a:pPr>
            <a:r>
              <a:rPr lang="en-US" altLang="zh-CN" sz="2100" b="1" smtClean="0">
                <a:solidFill>
                  <a:srgbClr val="FF3300"/>
                </a:solidFill>
              </a:rPr>
              <a:t>1)</a:t>
            </a:r>
            <a:r>
              <a:rPr lang="zh-CN" altLang="en-US" sz="2100" b="1" smtClean="0">
                <a:solidFill>
                  <a:srgbClr val="FF3300"/>
                </a:solidFill>
              </a:rPr>
              <a:t>设置标志</a:t>
            </a:r>
            <a:endParaRPr lang="zh-CN" altLang="en-US" sz="2600" smtClean="0">
              <a:solidFill>
                <a:srgbClr val="FF0066"/>
              </a:solidFill>
            </a:endParaRPr>
          </a:p>
          <a:p>
            <a:pPr eaLnBrk="1" hangingPunct="1">
              <a:lnSpc>
                <a:spcPct val="80000"/>
              </a:lnSpc>
              <a:buFont typeface="Wingdings" panose="05000000000000000000" pitchFamily="2" charset="2"/>
              <a:buNone/>
            </a:pPr>
            <a:r>
              <a:rPr lang="zh-CN" altLang="en-US" sz="2100" smtClean="0"/>
              <a:t>          另设计数器</a:t>
            </a:r>
            <a:r>
              <a:rPr lang="en-US" altLang="zh-CN" sz="2100" smtClean="0"/>
              <a:t>count</a:t>
            </a:r>
            <a:r>
              <a:rPr lang="zh-CN" altLang="en-US" sz="2100" smtClean="0"/>
              <a:t>（初始化</a:t>
            </a:r>
            <a:r>
              <a:rPr lang="en-US" altLang="zh-CN" sz="2100" smtClean="0"/>
              <a:t>count=0</a:t>
            </a:r>
            <a:r>
              <a:rPr lang="zh-CN" altLang="en-US" sz="2100" smtClean="0"/>
              <a:t>）</a:t>
            </a:r>
          </a:p>
          <a:p>
            <a:pPr eaLnBrk="1" hangingPunct="1">
              <a:lnSpc>
                <a:spcPct val="80000"/>
              </a:lnSpc>
              <a:buFont typeface="Wingdings" panose="05000000000000000000" pitchFamily="2" charset="2"/>
              <a:buNone/>
            </a:pPr>
            <a:r>
              <a:rPr lang="zh-CN" altLang="en-US" sz="2600" smtClean="0"/>
              <a:t>         </a:t>
            </a:r>
            <a:r>
              <a:rPr lang="zh-CN" altLang="en-US" sz="2100" smtClean="0"/>
              <a:t>空表状态  </a:t>
            </a:r>
            <a:r>
              <a:rPr lang="en-US" altLang="zh-CN" sz="2100" smtClean="0"/>
              <a:t>count=0</a:t>
            </a:r>
          </a:p>
          <a:p>
            <a:pPr eaLnBrk="1" hangingPunct="1">
              <a:lnSpc>
                <a:spcPct val="80000"/>
              </a:lnSpc>
              <a:buFont typeface="Wingdings" panose="05000000000000000000" pitchFamily="2" charset="2"/>
              <a:buNone/>
            </a:pPr>
            <a:r>
              <a:rPr lang="en-US" altLang="zh-CN" sz="2100" smtClean="0"/>
              <a:t>          </a:t>
            </a:r>
            <a:r>
              <a:rPr lang="zh-CN" altLang="en-US" sz="2100" smtClean="0"/>
              <a:t>表满状态  </a:t>
            </a:r>
            <a:r>
              <a:rPr lang="en-US" altLang="zh-CN" sz="2100" smtClean="0"/>
              <a:t>count=n</a:t>
            </a:r>
          </a:p>
          <a:p>
            <a:pPr eaLnBrk="1" hangingPunct="1">
              <a:lnSpc>
                <a:spcPct val="80000"/>
              </a:lnSpc>
              <a:buFont typeface="Wingdings" panose="05000000000000000000" pitchFamily="2" charset="2"/>
              <a:buNone/>
            </a:pPr>
            <a:r>
              <a:rPr lang="en-US" altLang="zh-CN" sz="2600" smtClean="0"/>
              <a:t>    </a:t>
            </a:r>
            <a:endParaRPr lang="en-US" altLang="zh-CN" sz="2100" smtClean="0"/>
          </a:p>
          <a:p>
            <a:pPr eaLnBrk="1" hangingPunct="1">
              <a:lnSpc>
                <a:spcPct val="80000"/>
              </a:lnSpc>
              <a:buFont typeface="Wingdings" panose="05000000000000000000" pitchFamily="2" charset="2"/>
              <a:buNone/>
            </a:pPr>
            <a:r>
              <a:rPr lang="en-US" altLang="zh-CN" sz="2100" b="1" smtClean="0">
                <a:solidFill>
                  <a:srgbClr val="FF3300"/>
                </a:solidFill>
              </a:rPr>
              <a:t>  2)</a:t>
            </a:r>
            <a:r>
              <a:rPr lang="zh-CN" altLang="en-US" sz="2100" b="1" smtClean="0">
                <a:solidFill>
                  <a:srgbClr val="FF3300"/>
                </a:solidFill>
              </a:rPr>
              <a:t>少用一个元素空间</a:t>
            </a:r>
            <a:r>
              <a:rPr lang="zh-CN" altLang="en-US" sz="2600" smtClean="0">
                <a:solidFill>
                  <a:srgbClr val="FF0066"/>
                </a:solidFill>
              </a:rPr>
              <a:t> </a:t>
            </a:r>
            <a:r>
              <a:rPr lang="zh-CN" altLang="en-US" sz="2100" smtClean="0"/>
              <a:t>（初始化 </a:t>
            </a:r>
            <a:r>
              <a:rPr lang="en-US" altLang="zh-CN" sz="2100" smtClean="0"/>
              <a:t>f=1</a:t>
            </a:r>
            <a:r>
              <a:rPr lang="zh-CN" altLang="en-US" sz="2100" smtClean="0"/>
              <a:t>，</a:t>
            </a:r>
            <a:r>
              <a:rPr lang="en-US" altLang="zh-CN" sz="2100" smtClean="0"/>
              <a:t>r=1</a:t>
            </a:r>
            <a:r>
              <a:rPr lang="zh-CN" altLang="en-US" sz="2100" smtClean="0"/>
              <a:t>）</a:t>
            </a:r>
          </a:p>
          <a:p>
            <a:pPr eaLnBrk="1" hangingPunct="1">
              <a:lnSpc>
                <a:spcPct val="80000"/>
              </a:lnSpc>
              <a:buFont typeface="Wingdings" panose="05000000000000000000" pitchFamily="2" charset="2"/>
              <a:buNone/>
            </a:pPr>
            <a:r>
              <a:rPr lang="zh-CN" altLang="en-US" sz="2100" smtClean="0"/>
              <a:t>          空表状态  </a:t>
            </a:r>
            <a:r>
              <a:rPr lang="en-US" altLang="zh-CN" sz="2100" smtClean="0"/>
              <a:t>f=r</a:t>
            </a:r>
          </a:p>
          <a:p>
            <a:pPr eaLnBrk="1" hangingPunct="1">
              <a:lnSpc>
                <a:spcPct val="80000"/>
              </a:lnSpc>
              <a:buFont typeface="Wingdings" panose="05000000000000000000" pitchFamily="2" charset="2"/>
              <a:buNone/>
            </a:pPr>
            <a:r>
              <a:rPr lang="en-US" altLang="zh-CN" sz="2100" smtClean="0"/>
              <a:t>          </a:t>
            </a:r>
            <a:r>
              <a:rPr lang="zh-CN" altLang="en-US" sz="2100" smtClean="0"/>
              <a:t>表满状态  ：</a:t>
            </a:r>
            <a:r>
              <a:rPr lang="en-US" altLang="zh-CN" sz="2100" smtClean="0"/>
              <a:t>(r  mod  m) + 1 = f</a:t>
            </a:r>
          </a:p>
        </p:txBody>
      </p:sp>
      <p:sp>
        <p:nvSpPr>
          <p:cNvPr id="130052" name="Oval 4"/>
          <p:cNvSpPr>
            <a:spLocks noChangeArrowheads="1"/>
          </p:cNvSpPr>
          <p:nvPr/>
        </p:nvSpPr>
        <p:spPr bwMode="auto">
          <a:xfrm>
            <a:off x="7743825" y="4025900"/>
            <a:ext cx="1295400" cy="1219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0053" name="Oval 5"/>
          <p:cNvSpPr>
            <a:spLocks noChangeArrowheads="1"/>
          </p:cNvSpPr>
          <p:nvPr/>
        </p:nvSpPr>
        <p:spPr bwMode="auto">
          <a:xfrm>
            <a:off x="8124825" y="4330700"/>
            <a:ext cx="5334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0054" name="AutoShape 6"/>
          <p:cNvSpPr>
            <a:spLocks noChangeArrowheads="1"/>
          </p:cNvSpPr>
          <p:nvPr/>
        </p:nvSpPr>
        <p:spPr bwMode="auto">
          <a:xfrm rot="10800000">
            <a:off x="7743825" y="4025900"/>
            <a:ext cx="1295400" cy="12192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152 w 21600"/>
              <a:gd name="T13" fmla="*/ 0 h 21600"/>
              <a:gd name="T14" fmla="*/ 21448 w 21600"/>
              <a:gd name="T15" fmla="*/ 10106 h 21600"/>
            </a:gdLst>
            <a:ahLst/>
            <a:cxnLst>
              <a:cxn ang="T8">
                <a:pos x="T0" y="T1"/>
              </a:cxn>
              <a:cxn ang="T9">
                <a:pos x="T2" y="T3"/>
              </a:cxn>
              <a:cxn ang="T10">
                <a:pos x="T4" y="T5"/>
              </a:cxn>
              <a:cxn ang="T11">
                <a:pos x="T6" y="T7"/>
              </a:cxn>
            </a:cxnLst>
            <a:rect l="T12" t="T13" r="T14" b="T15"/>
            <a:pathLst>
              <a:path w="21600" h="21600">
                <a:moveTo>
                  <a:pt x="7014" y="9112"/>
                </a:moveTo>
                <a:cubicBezTo>
                  <a:pt x="7680" y="7617"/>
                  <a:pt x="9163" y="6654"/>
                  <a:pt x="10800" y="6655"/>
                </a:cubicBezTo>
                <a:cubicBezTo>
                  <a:pt x="12436" y="6655"/>
                  <a:pt x="13919" y="7617"/>
                  <a:pt x="14585" y="9112"/>
                </a:cubicBezTo>
                <a:lnTo>
                  <a:pt x="20664" y="6402"/>
                </a:lnTo>
                <a:cubicBezTo>
                  <a:pt x="18927" y="2508"/>
                  <a:pt x="15063" y="-1"/>
                  <a:pt x="10799" y="0"/>
                </a:cubicBezTo>
                <a:cubicBezTo>
                  <a:pt x="6536" y="0"/>
                  <a:pt x="2672" y="2508"/>
                  <a:pt x="935" y="6402"/>
                </a:cubicBezTo>
                <a:lnTo>
                  <a:pt x="7014" y="9112"/>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30055" name="Line 7"/>
          <p:cNvSpPr>
            <a:spLocks noChangeShapeType="1"/>
          </p:cNvSpPr>
          <p:nvPr/>
        </p:nvSpPr>
        <p:spPr bwMode="auto">
          <a:xfrm>
            <a:off x="8502650" y="4830763"/>
            <a:ext cx="2889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56" name="Line 8"/>
          <p:cNvSpPr>
            <a:spLocks noChangeShapeType="1"/>
          </p:cNvSpPr>
          <p:nvPr/>
        </p:nvSpPr>
        <p:spPr bwMode="auto">
          <a:xfrm flipV="1">
            <a:off x="7772400" y="4614863"/>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57" name="Text Box 9"/>
          <p:cNvSpPr txBox="1">
            <a:spLocks noChangeArrowheads="1"/>
          </p:cNvSpPr>
          <p:nvPr/>
        </p:nvSpPr>
        <p:spPr bwMode="auto">
          <a:xfrm>
            <a:off x="9007475" y="4614863"/>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f</a:t>
            </a:r>
          </a:p>
        </p:txBody>
      </p:sp>
      <p:sp>
        <p:nvSpPr>
          <p:cNvPr id="130058" name="Line 10"/>
          <p:cNvSpPr>
            <a:spLocks noChangeShapeType="1"/>
          </p:cNvSpPr>
          <p:nvPr/>
        </p:nvSpPr>
        <p:spPr bwMode="auto">
          <a:xfrm flipH="1">
            <a:off x="8931275" y="4995863"/>
            <a:ext cx="15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59" name="Line 11"/>
          <p:cNvSpPr>
            <a:spLocks noChangeShapeType="1"/>
          </p:cNvSpPr>
          <p:nvPr/>
        </p:nvSpPr>
        <p:spPr bwMode="auto">
          <a:xfrm flipV="1">
            <a:off x="7507288" y="4741863"/>
            <a:ext cx="1524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0" name="Text Box 12"/>
          <p:cNvSpPr txBox="1">
            <a:spLocks noChangeArrowheads="1"/>
          </p:cNvSpPr>
          <p:nvPr/>
        </p:nvSpPr>
        <p:spPr bwMode="auto">
          <a:xfrm>
            <a:off x="7278688" y="458946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r</a:t>
            </a:r>
          </a:p>
        </p:txBody>
      </p:sp>
      <p:sp>
        <p:nvSpPr>
          <p:cNvPr id="130061" name="Line 13"/>
          <p:cNvSpPr>
            <a:spLocks noChangeShapeType="1"/>
          </p:cNvSpPr>
          <p:nvPr/>
        </p:nvSpPr>
        <p:spPr bwMode="auto">
          <a:xfrm>
            <a:off x="8048625" y="410210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2" name="Line 14"/>
          <p:cNvSpPr>
            <a:spLocks noChangeShapeType="1"/>
          </p:cNvSpPr>
          <p:nvPr/>
        </p:nvSpPr>
        <p:spPr bwMode="auto">
          <a:xfrm>
            <a:off x="8353425" y="40259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3" name="Line 15"/>
          <p:cNvSpPr>
            <a:spLocks noChangeShapeType="1"/>
          </p:cNvSpPr>
          <p:nvPr/>
        </p:nvSpPr>
        <p:spPr bwMode="auto">
          <a:xfrm flipH="1">
            <a:off x="8505825" y="4102100"/>
            <a:ext cx="152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4" name="Text Box 16"/>
          <p:cNvSpPr txBox="1">
            <a:spLocks noChangeArrowheads="1"/>
          </p:cNvSpPr>
          <p:nvPr/>
        </p:nvSpPr>
        <p:spPr bwMode="auto">
          <a:xfrm>
            <a:off x="8353425" y="36449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1</a:t>
            </a:r>
          </a:p>
        </p:txBody>
      </p:sp>
      <p:sp>
        <p:nvSpPr>
          <p:cNvPr id="130065" name="Text Box 17"/>
          <p:cNvSpPr txBox="1">
            <a:spLocks noChangeArrowheads="1"/>
          </p:cNvSpPr>
          <p:nvPr/>
        </p:nvSpPr>
        <p:spPr bwMode="auto">
          <a:xfrm>
            <a:off x="7896225" y="36449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m</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1"/>
          <p:cNvSpPr>
            <a:spLocks noGrp="1"/>
          </p:cNvSpPr>
          <p:nvPr>
            <p:ph type="title"/>
          </p:nvPr>
        </p:nvSpPr>
        <p:spPr>
          <a:xfrm>
            <a:off x="527050" y="333375"/>
            <a:ext cx="10321925" cy="863600"/>
          </a:xfrm>
        </p:spPr>
        <p:txBody>
          <a:bodyPr/>
          <a:lstStyle/>
          <a:p>
            <a:pPr eaLnBrk="1" hangingPunct="1"/>
            <a:endParaRPr lang="zh-CN" altLang="en-US" smtClean="0"/>
          </a:p>
        </p:txBody>
      </p:sp>
      <p:sp>
        <p:nvSpPr>
          <p:cNvPr id="131075" name="Rectangle 2"/>
          <p:cNvSpPr>
            <a:spLocks noGrp="1" noChangeArrowheads="1"/>
          </p:cNvSpPr>
          <p:nvPr>
            <p:ph idx="1"/>
          </p:nvPr>
        </p:nvSpPr>
        <p:spPr>
          <a:xfrm>
            <a:off x="527050" y="1447800"/>
            <a:ext cx="10321925" cy="4351338"/>
          </a:xfrm>
        </p:spPr>
        <p:txBody>
          <a:bodyPr/>
          <a:lstStyle/>
          <a:p>
            <a:pPr eaLnBrk="1" hangingPunct="1">
              <a:buFont typeface="Wingdings" panose="05000000000000000000" pitchFamily="2" charset="2"/>
              <a:buNone/>
            </a:pPr>
            <a:r>
              <a:rPr lang="en-US" altLang="zh-CN" sz="2000" smtClean="0"/>
              <a:t>           </a:t>
            </a:r>
            <a:r>
              <a:rPr lang="zh-CN" altLang="en-US" sz="2000" smtClean="0"/>
              <a:t>队指针初值：</a:t>
            </a:r>
            <a:r>
              <a:rPr lang="en-US" altLang="zh-CN" sz="2000" smtClean="0"/>
              <a:t>f =r =1</a:t>
            </a:r>
          </a:p>
          <a:p>
            <a:pPr eaLnBrk="1" hangingPunct="1">
              <a:buFont typeface="Wingdings" panose="05000000000000000000" pitchFamily="2" charset="2"/>
              <a:buNone/>
            </a:pPr>
            <a:r>
              <a:rPr lang="en-US" altLang="zh-CN" sz="2000" smtClean="0"/>
              <a:t>           </a:t>
            </a:r>
            <a:r>
              <a:rPr lang="zh-CN" altLang="en-US" sz="2000" smtClean="0"/>
              <a:t>队空条件： </a:t>
            </a:r>
            <a:r>
              <a:rPr lang="en-US" altLang="zh-CN" sz="2000" smtClean="0"/>
              <a:t>f == r</a:t>
            </a:r>
          </a:p>
          <a:p>
            <a:pPr eaLnBrk="1" hangingPunct="1">
              <a:buFont typeface="Wingdings" panose="05000000000000000000" pitchFamily="2" charset="2"/>
              <a:buNone/>
            </a:pPr>
            <a:r>
              <a:rPr lang="en-US" altLang="zh-CN" sz="2000" smtClean="0"/>
              <a:t>           </a:t>
            </a:r>
            <a:r>
              <a:rPr lang="zh-CN" altLang="en-US" sz="2000" smtClean="0"/>
              <a:t>队满条件：</a:t>
            </a:r>
            <a:r>
              <a:rPr lang="en-US" altLang="zh-CN" sz="2000" smtClean="0"/>
              <a:t>(r  mod  m) + 1 == f</a:t>
            </a:r>
          </a:p>
          <a:p>
            <a:pPr eaLnBrk="1" hangingPunct="1">
              <a:buFont typeface="Wingdings" panose="05000000000000000000" pitchFamily="2" charset="2"/>
              <a:buNone/>
            </a:pPr>
            <a:r>
              <a:rPr lang="zh-CN" altLang="en-US" sz="2000" smtClean="0"/>
              <a:t>　　     </a:t>
            </a:r>
            <a:r>
              <a:rPr lang="zh-CN" altLang="zh-CN" sz="2000" smtClean="0"/>
              <a:t>指针后移时的取值：</a:t>
            </a:r>
            <a:r>
              <a:rPr lang="en-US" altLang="zh-CN" sz="2000" smtClean="0"/>
              <a:t>i== ( i mod m)+1</a:t>
            </a:r>
          </a:p>
        </p:txBody>
      </p:sp>
      <p:sp>
        <p:nvSpPr>
          <p:cNvPr id="131076" name="Oval 3"/>
          <p:cNvSpPr>
            <a:spLocks noChangeArrowheads="1"/>
          </p:cNvSpPr>
          <p:nvPr/>
        </p:nvSpPr>
        <p:spPr bwMode="auto">
          <a:xfrm>
            <a:off x="4730750" y="3843338"/>
            <a:ext cx="1066800" cy="914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1077" name="Oval 4"/>
          <p:cNvSpPr>
            <a:spLocks noChangeArrowheads="1"/>
          </p:cNvSpPr>
          <p:nvPr/>
        </p:nvSpPr>
        <p:spPr bwMode="auto">
          <a:xfrm>
            <a:off x="4197350" y="3309938"/>
            <a:ext cx="2133600" cy="1981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1078" name="Line 5"/>
          <p:cNvSpPr>
            <a:spLocks noChangeShapeType="1"/>
          </p:cNvSpPr>
          <p:nvPr/>
        </p:nvSpPr>
        <p:spPr bwMode="auto">
          <a:xfrm>
            <a:off x="5340350" y="3309938"/>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79" name="Line 6"/>
          <p:cNvSpPr>
            <a:spLocks noChangeShapeType="1"/>
          </p:cNvSpPr>
          <p:nvPr/>
        </p:nvSpPr>
        <p:spPr bwMode="auto">
          <a:xfrm flipV="1">
            <a:off x="5492750" y="3386138"/>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80" name="Line 7"/>
          <p:cNvSpPr>
            <a:spLocks noChangeShapeType="1"/>
          </p:cNvSpPr>
          <p:nvPr/>
        </p:nvSpPr>
        <p:spPr bwMode="auto">
          <a:xfrm flipH="1" flipV="1">
            <a:off x="4959350" y="3386138"/>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81" name="Line 8"/>
          <p:cNvSpPr>
            <a:spLocks noChangeShapeType="1"/>
          </p:cNvSpPr>
          <p:nvPr/>
        </p:nvSpPr>
        <p:spPr bwMode="auto">
          <a:xfrm flipH="1" flipV="1">
            <a:off x="4578350" y="3538538"/>
            <a:ext cx="3810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82" name="Text Box 9"/>
          <p:cNvSpPr txBox="1">
            <a:spLocks noChangeArrowheads="1"/>
          </p:cNvSpPr>
          <p:nvPr/>
        </p:nvSpPr>
        <p:spPr bwMode="auto">
          <a:xfrm>
            <a:off x="5416550" y="2928938"/>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1</a:t>
            </a:r>
          </a:p>
        </p:txBody>
      </p:sp>
      <p:sp>
        <p:nvSpPr>
          <p:cNvPr id="131083" name="Text Box 10"/>
          <p:cNvSpPr txBox="1">
            <a:spLocks noChangeArrowheads="1"/>
          </p:cNvSpPr>
          <p:nvPr/>
        </p:nvSpPr>
        <p:spPr bwMode="auto">
          <a:xfrm>
            <a:off x="5873750" y="315753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2</a:t>
            </a:r>
          </a:p>
        </p:txBody>
      </p:sp>
      <p:sp>
        <p:nvSpPr>
          <p:cNvPr id="131084" name="Text Box 11"/>
          <p:cNvSpPr txBox="1">
            <a:spLocks noChangeArrowheads="1"/>
          </p:cNvSpPr>
          <p:nvPr/>
        </p:nvSpPr>
        <p:spPr bwMode="auto">
          <a:xfrm>
            <a:off x="4883150" y="285273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m</a:t>
            </a:r>
          </a:p>
        </p:txBody>
      </p:sp>
      <p:sp>
        <p:nvSpPr>
          <p:cNvPr id="131085" name="Text Box 12"/>
          <p:cNvSpPr txBox="1">
            <a:spLocks noChangeArrowheads="1"/>
          </p:cNvSpPr>
          <p:nvPr/>
        </p:nvSpPr>
        <p:spPr bwMode="auto">
          <a:xfrm>
            <a:off x="4197350" y="3005138"/>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m-1</a:t>
            </a:r>
          </a:p>
        </p:txBody>
      </p:sp>
      <p:sp>
        <p:nvSpPr>
          <p:cNvPr id="131086" name="Line 13"/>
          <p:cNvSpPr>
            <a:spLocks noChangeShapeType="1"/>
          </p:cNvSpPr>
          <p:nvPr/>
        </p:nvSpPr>
        <p:spPr bwMode="auto">
          <a:xfrm flipH="1" flipV="1">
            <a:off x="6407150" y="4300538"/>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87" name="Line 14"/>
          <p:cNvSpPr>
            <a:spLocks noChangeShapeType="1"/>
          </p:cNvSpPr>
          <p:nvPr/>
        </p:nvSpPr>
        <p:spPr bwMode="auto">
          <a:xfrm>
            <a:off x="3827463" y="38989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88" name="Text Box 15"/>
          <p:cNvSpPr txBox="1">
            <a:spLocks noChangeArrowheads="1"/>
          </p:cNvSpPr>
          <p:nvPr/>
        </p:nvSpPr>
        <p:spPr bwMode="auto">
          <a:xfrm>
            <a:off x="6788150" y="407193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b="1">
                <a:solidFill>
                  <a:schemeClr val="accent2"/>
                </a:solidFill>
                <a:latin typeface="Times New Roman" panose="02020603050405020304" pitchFamily="18" charset="0"/>
                <a:ea typeface="宋体" panose="02010600030101010101" pitchFamily="2" charset="-122"/>
              </a:rPr>
              <a:t>f</a:t>
            </a:r>
          </a:p>
        </p:txBody>
      </p:sp>
      <p:sp>
        <p:nvSpPr>
          <p:cNvPr id="131089" name="Text Box 16"/>
          <p:cNvSpPr txBox="1">
            <a:spLocks noChangeArrowheads="1"/>
          </p:cNvSpPr>
          <p:nvPr/>
        </p:nvSpPr>
        <p:spPr bwMode="auto">
          <a:xfrm>
            <a:off x="3598863" y="35941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b="1">
                <a:solidFill>
                  <a:schemeClr val="accent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131090" name="Text Box 17"/>
          <p:cNvSpPr txBox="1">
            <a:spLocks noChangeArrowheads="1"/>
          </p:cNvSpPr>
          <p:nvPr/>
        </p:nvSpPr>
        <p:spPr bwMode="auto">
          <a:xfrm>
            <a:off x="2063750" y="5900738"/>
            <a:ext cx="5105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zh-CN" altLang="en-US" sz="2400">
                <a:latin typeface="Times New Roman" panose="02020603050405020304" pitchFamily="18" charset="0"/>
                <a:ea typeface="华文楷体" panose="02010600040101010101" pitchFamily="2" charset="-122"/>
                <a:cs typeface="Times New Roman" panose="02020603050405020304" pitchFamily="18" charset="0"/>
              </a:rPr>
              <a:t>队列非空时当前队列中元素个数　</a:t>
            </a:r>
            <a:r>
              <a:rPr kumimoji="1" lang="en-US" altLang="zh-CN" sz="2400">
                <a:latin typeface="Times New Roman" panose="02020603050405020304" pitchFamily="18" charset="0"/>
                <a:ea typeface="华文楷体" panose="02010600040101010101" pitchFamily="2" charset="-122"/>
                <a:cs typeface="Times New Roman" panose="02020603050405020304" pitchFamily="18" charset="0"/>
              </a:rPr>
              <a:t>n=</a:t>
            </a:r>
            <a:r>
              <a:rPr kumimoji="1" lang="zh-CN" altLang="en-US" sz="2400">
                <a:latin typeface="Times New Roman" panose="02020603050405020304" pitchFamily="18" charset="0"/>
                <a:ea typeface="华文楷体" panose="02010600040101010101" pitchFamily="2" charset="-122"/>
                <a:cs typeface="Times New Roman" panose="02020603050405020304" pitchFamily="18" charset="0"/>
              </a:rPr>
              <a:t>　</a:t>
            </a:r>
          </a:p>
        </p:txBody>
      </p:sp>
      <p:sp>
        <p:nvSpPr>
          <p:cNvPr id="131091" name="Text Box 18"/>
          <p:cNvSpPr txBox="1">
            <a:spLocks noChangeArrowheads="1"/>
          </p:cNvSpPr>
          <p:nvPr/>
        </p:nvSpPr>
        <p:spPr bwMode="auto">
          <a:xfrm>
            <a:off x="7245350" y="5519738"/>
            <a:ext cx="2514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r-f           rf</a:t>
            </a:r>
            <a:r>
              <a:rPr kumimoji="1" lang="zh-CN" altLang="en-US" sz="2400">
                <a:latin typeface="Times New Roman" panose="02020603050405020304" pitchFamily="18" charset="0"/>
                <a:ea typeface="宋体" panose="02010600030101010101" pitchFamily="2" charset="-122"/>
              </a:rPr>
              <a:t>时</a:t>
            </a:r>
          </a:p>
          <a:p>
            <a:pPr eaLnBrk="1" hangingPunct="1">
              <a:lnSpc>
                <a:spcPct val="100000"/>
              </a:lnSpc>
              <a:spcBef>
                <a:spcPct val="50000"/>
              </a:spcBef>
              <a:buFontTx/>
              <a:buNone/>
            </a:pPr>
            <a:r>
              <a:rPr kumimoji="1" lang="en-US" altLang="zh-CN" sz="2400">
                <a:latin typeface="Times New Roman" panose="02020603050405020304" pitchFamily="18" charset="0"/>
                <a:ea typeface="宋体" panose="02010600030101010101" pitchFamily="2" charset="-122"/>
              </a:rPr>
              <a:t>r-f+m      r&lt;f</a:t>
            </a:r>
            <a:r>
              <a:rPr kumimoji="1" lang="zh-CN" altLang="en-US" sz="2400">
                <a:latin typeface="Times New Roman" panose="02020603050405020304" pitchFamily="18" charset="0"/>
                <a:ea typeface="宋体" panose="02010600030101010101" pitchFamily="2" charset="-122"/>
              </a:rPr>
              <a:t>时</a:t>
            </a:r>
          </a:p>
        </p:txBody>
      </p:sp>
      <p:sp>
        <p:nvSpPr>
          <p:cNvPr id="131092" name="AutoShape 19"/>
          <p:cNvSpPr>
            <a:spLocks/>
          </p:cNvSpPr>
          <p:nvPr/>
        </p:nvSpPr>
        <p:spPr bwMode="auto">
          <a:xfrm>
            <a:off x="7169150" y="5748338"/>
            <a:ext cx="76200" cy="685800"/>
          </a:xfrm>
          <a:prstGeom prst="leftBrace">
            <a:avLst>
              <a:gd name="adj1" fmla="val 75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1700">
              <a:latin typeface="Verdana" panose="020B0604030504040204" pitchFamily="34" charset="0"/>
              <a:ea typeface="宋体" panose="02010600030101010101" pitchFamily="2" charset="-122"/>
            </a:endParaRPr>
          </a:p>
        </p:txBody>
      </p:sp>
      <p:sp>
        <p:nvSpPr>
          <p:cNvPr id="131093" name="AutoShape 20"/>
          <p:cNvSpPr>
            <a:spLocks noChangeArrowheads="1"/>
          </p:cNvSpPr>
          <p:nvPr/>
        </p:nvSpPr>
        <p:spPr bwMode="auto">
          <a:xfrm rot="10800000">
            <a:off x="4197350" y="3309938"/>
            <a:ext cx="2133600" cy="19812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9477 h 21600"/>
            </a:gdLst>
            <a:ahLst/>
            <a:cxnLst>
              <a:cxn ang="T8">
                <a:pos x="T0" y="T1"/>
              </a:cxn>
              <a:cxn ang="T9">
                <a:pos x="T2" y="T3"/>
              </a:cxn>
              <a:cxn ang="T10">
                <a:pos x="T4" y="T5"/>
              </a:cxn>
              <a:cxn ang="T11">
                <a:pos x="T6" y="T7"/>
              </a:cxn>
            </a:cxnLst>
            <a:rect l="T12" t="T13" r="T14" b="T15"/>
            <a:pathLst>
              <a:path w="21600" h="21600">
                <a:moveTo>
                  <a:pt x="5416" y="11629"/>
                </a:moveTo>
                <a:cubicBezTo>
                  <a:pt x="5374" y="11355"/>
                  <a:pt x="5353" y="11077"/>
                  <a:pt x="5353" y="10800"/>
                </a:cubicBezTo>
                <a:cubicBezTo>
                  <a:pt x="5353" y="7791"/>
                  <a:pt x="7791" y="5353"/>
                  <a:pt x="10800" y="5353"/>
                </a:cubicBezTo>
                <a:cubicBezTo>
                  <a:pt x="13808" y="5353"/>
                  <a:pt x="16247" y="7791"/>
                  <a:pt x="16247" y="10800"/>
                </a:cubicBezTo>
                <a:cubicBezTo>
                  <a:pt x="16247" y="11077"/>
                  <a:pt x="16225" y="11355"/>
                  <a:pt x="16183" y="11629"/>
                </a:cubicBezTo>
                <a:lnTo>
                  <a:pt x="21473" y="12445"/>
                </a:lnTo>
                <a:cubicBezTo>
                  <a:pt x="21557" y="11901"/>
                  <a:pt x="21600" y="11350"/>
                  <a:pt x="21600" y="10800"/>
                </a:cubicBezTo>
                <a:cubicBezTo>
                  <a:pt x="21600" y="4835"/>
                  <a:pt x="16764" y="0"/>
                  <a:pt x="10800" y="0"/>
                </a:cubicBezTo>
                <a:cubicBezTo>
                  <a:pt x="4835" y="0"/>
                  <a:pt x="0" y="4835"/>
                  <a:pt x="0" y="10800"/>
                </a:cubicBezTo>
                <a:cubicBezTo>
                  <a:pt x="-1" y="11350"/>
                  <a:pt x="42" y="11901"/>
                  <a:pt x="126" y="12445"/>
                </a:cubicBezTo>
                <a:lnTo>
                  <a:pt x="5416" y="1162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31094" name="Line 21"/>
          <p:cNvSpPr>
            <a:spLocks noChangeShapeType="1"/>
          </p:cNvSpPr>
          <p:nvPr/>
        </p:nvSpPr>
        <p:spPr bwMode="auto">
          <a:xfrm flipV="1">
            <a:off x="5645150" y="3614738"/>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95" name="AutoShape 22"/>
          <p:cNvSpPr>
            <a:spLocks noChangeArrowheads="1"/>
          </p:cNvSpPr>
          <p:nvPr/>
        </p:nvSpPr>
        <p:spPr bwMode="auto">
          <a:xfrm flipH="1" flipV="1">
            <a:off x="4502150" y="5138738"/>
            <a:ext cx="1676400" cy="5334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83" y="5399"/>
                  <a:pt x="5493" y="7716"/>
                  <a:pt x="5402" y="10631"/>
                </a:cubicBezTo>
                <a:lnTo>
                  <a:pt x="5" y="10462"/>
                </a:lnTo>
                <a:cubicBezTo>
                  <a:pt x="187" y="4632"/>
                  <a:pt x="4966"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FF99"/>
          </a:solidFill>
          <a:ln w="9525">
            <a:solidFill>
              <a:schemeClr val="tx1"/>
            </a:solidFill>
            <a:miter lim="800000"/>
            <a:headEnd/>
            <a:tailEnd/>
          </a:ln>
        </p:spPr>
        <p:txBody>
          <a:bodyPr wrap="none" anchor="ctr"/>
          <a:lstStyle/>
          <a:p>
            <a:endParaRPr lang="zh-CN" altLang="en-US"/>
          </a:p>
        </p:txBody>
      </p:sp>
      <p:sp>
        <p:nvSpPr>
          <p:cNvPr id="131096" name="Line 23"/>
          <p:cNvSpPr>
            <a:spLocks noChangeShapeType="1"/>
          </p:cNvSpPr>
          <p:nvPr/>
        </p:nvSpPr>
        <p:spPr bwMode="auto">
          <a:xfrm flipH="1">
            <a:off x="6711950" y="4452938"/>
            <a:ext cx="152400" cy="2286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97" name="Line 24"/>
          <p:cNvSpPr>
            <a:spLocks noChangeShapeType="1"/>
          </p:cNvSpPr>
          <p:nvPr/>
        </p:nvSpPr>
        <p:spPr bwMode="auto">
          <a:xfrm flipV="1">
            <a:off x="3751263" y="3441700"/>
            <a:ext cx="228600" cy="2286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p:cNvSpPr txBox="1">
            <a:spLocks noChangeArrowheads="1"/>
          </p:cNvSpPr>
          <p:nvPr/>
        </p:nvSpPr>
        <p:spPr bwMode="auto">
          <a:xfrm>
            <a:off x="1558925" y="3068638"/>
            <a:ext cx="30162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(1) </a:t>
            </a:r>
            <a:r>
              <a:rPr kumimoji="1" lang="zh-CN" altLang="en-US" sz="2400">
                <a:latin typeface="Times New Roman" panose="02020603050405020304" pitchFamily="18" charset="0"/>
                <a:ea typeface="宋体" panose="02010600030101010101" pitchFamily="2" charset="-122"/>
              </a:rPr>
              <a:t>初始化队列</a:t>
            </a:r>
          </a:p>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InitQueue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Elemtype  A[100];</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int  front = rear = 0;</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32099" name="Text Box 3"/>
          <p:cNvSpPr txBox="1">
            <a:spLocks noChangeArrowheads="1"/>
          </p:cNvSpPr>
          <p:nvPr/>
        </p:nvSpPr>
        <p:spPr bwMode="auto">
          <a:xfrm>
            <a:off x="5735638" y="1341438"/>
            <a:ext cx="2916237"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typedef   struct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Elemtype   * base;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int   front;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int   rear;</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SqQueue ;</a:t>
            </a:r>
          </a:p>
        </p:txBody>
      </p:sp>
      <p:sp>
        <p:nvSpPr>
          <p:cNvPr id="132100" name="Text Box 4"/>
          <p:cNvSpPr txBox="1">
            <a:spLocks noChangeArrowheads="1"/>
          </p:cNvSpPr>
          <p:nvPr/>
        </p:nvSpPr>
        <p:spPr bwMode="auto">
          <a:xfrm>
            <a:off x="5375275" y="3789363"/>
            <a:ext cx="595312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InitQueue ( SqQueue *Q)</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Q-&gt;base = malloc( 100*sizeof(Elemtype)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Q-&gt;front = Q-&gt;rear = 0;</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p:txBody>
      </p:sp>
      <p:sp>
        <p:nvSpPr>
          <p:cNvPr id="132101"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2"/>
          <p:cNvSpPr txBox="1">
            <a:spLocks noChangeArrowheads="1"/>
          </p:cNvSpPr>
          <p:nvPr/>
        </p:nvSpPr>
        <p:spPr bwMode="auto">
          <a:xfrm>
            <a:off x="1416050" y="1773238"/>
            <a:ext cx="531812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(2) </a:t>
            </a:r>
            <a:r>
              <a:rPr kumimoji="1" lang="zh-CN" altLang="en-US" sz="2400">
                <a:latin typeface="Times New Roman" panose="02020603050405020304" pitchFamily="18" charset="0"/>
                <a:ea typeface="宋体" panose="02010600030101010101" pitchFamily="2" charset="-122"/>
              </a:rPr>
              <a:t>判队空</a:t>
            </a:r>
          </a:p>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QueueEmpty( SqQueue Q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if ( Q.front = = Q.rear )  return  TRUE;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else   return  FALSE;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33123"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2"/>
          <p:cNvSpPr txBox="1">
            <a:spLocks noChangeArrowheads="1"/>
          </p:cNvSpPr>
          <p:nvPr/>
        </p:nvSpPr>
        <p:spPr bwMode="auto">
          <a:xfrm>
            <a:off x="1774825" y="1844675"/>
            <a:ext cx="70580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(3) </a:t>
            </a:r>
            <a:r>
              <a:rPr kumimoji="1" lang="zh-CN" altLang="en-US" sz="2400">
                <a:latin typeface="Times New Roman" panose="02020603050405020304" pitchFamily="18" charset="0"/>
                <a:ea typeface="宋体" panose="02010600030101010101" pitchFamily="2" charset="-122"/>
              </a:rPr>
              <a:t>判队满</a:t>
            </a:r>
          </a:p>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#define  MAX  100</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QueueFull( SqQueue Q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if ( (Q.rear +1) % MAX = = Q.front )  return  TRUE;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else   return  FALSE;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34147"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2"/>
          <p:cNvSpPr txBox="1">
            <a:spLocks noChangeArrowheads="1"/>
          </p:cNvSpPr>
          <p:nvPr/>
        </p:nvSpPr>
        <p:spPr bwMode="auto">
          <a:xfrm>
            <a:off x="1858963" y="1916113"/>
            <a:ext cx="76581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(4) </a:t>
            </a:r>
            <a:r>
              <a:rPr kumimoji="1" lang="zh-CN" altLang="en-US" sz="2400">
                <a:latin typeface="Times New Roman" panose="02020603050405020304" pitchFamily="18" charset="0"/>
                <a:ea typeface="宋体" panose="02010600030101010101" pitchFamily="2" charset="-122"/>
              </a:rPr>
              <a:t>入队</a:t>
            </a:r>
          </a:p>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Statue   EnQueue ( SqQueue  *Q , Elemtype  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if ( (Q-&gt;rear +1) % MAX = = Q-&gt;front )  return  ERROR;</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 Q-&gt;base +Q-&gt;rear ) = e;</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Q-&gt;rear = (Q-&gt;rear +1) % MAX;</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35171"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1774825" y="1916113"/>
            <a:ext cx="6199188"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(5) </a:t>
            </a:r>
            <a:r>
              <a:rPr kumimoji="1" lang="zh-CN" altLang="en-US" sz="2400">
                <a:latin typeface="Times New Roman" panose="02020603050405020304" pitchFamily="18" charset="0"/>
                <a:ea typeface="宋体" panose="02010600030101010101" pitchFamily="2" charset="-122"/>
              </a:rPr>
              <a:t>出队</a:t>
            </a:r>
          </a:p>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DeQueue ( SqQueue *Q ,  Elemtype  *e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if  (Q-&gt;front = = Q-&gt;rear )  return  ERROR;</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 = * ( Q-&gt;base + Q-&gt;front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Q-&gt;front = (Q-&gt;front +1) % MAX;</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36195" name="标题 1"/>
          <p:cNvSpPr>
            <a:spLocks noGrp="1"/>
          </p:cNvSpPr>
          <p:nvPr>
            <p:ph type="title"/>
          </p:nvPr>
        </p:nvSpPr>
        <p:spPr>
          <a:xfrm>
            <a:off x="527050" y="333375"/>
            <a:ext cx="10321925" cy="863600"/>
          </a:xfrm>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2_自定义设计方案">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习题</Template>
  <TotalTime>24907</TotalTime>
  <Words>5829</Words>
  <Application>Microsoft Office PowerPoint</Application>
  <PresentationFormat>宽屏</PresentationFormat>
  <Paragraphs>1304</Paragraphs>
  <Slides>111</Slides>
  <Notes>10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111</vt:i4>
      </vt:variant>
    </vt:vector>
  </HeadingPairs>
  <TitlesOfParts>
    <vt:vector size="128" baseType="lpstr">
      <vt:lpstr>等线</vt:lpstr>
      <vt:lpstr>等线 Light</vt:lpstr>
      <vt:lpstr>华文彩云</vt:lpstr>
      <vt:lpstr>华文仿宋</vt:lpstr>
      <vt:lpstr>华文楷体</vt:lpstr>
      <vt:lpstr>楷体</vt:lpstr>
      <vt:lpstr>楷体_GB2312</vt:lpstr>
      <vt:lpstr>隶书</vt:lpstr>
      <vt:lpstr>宋体</vt:lpstr>
      <vt:lpstr>Arial</vt:lpstr>
      <vt:lpstr>Calibri</vt:lpstr>
      <vt:lpstr>Calibri Light</vt:lpstr>
      <vt:lpstr>Symbol</vt:lpstr>
      <vt:lpstr>Times New Roman</vt:lpstr>
      <vt:lpstr>Verdana</vt:lpstr>
      <vt:lpstr>Wingdings</vt:lpstr>
      <vt:lpstr>2_自定义设计方案</vt:lpstr>
      <vt:lpstr>C++语法</vt:lpstr>
      <vt:lpstr>C++语法</vt:lpstr>
      <vt:lpstr>例题</vt:lpstr>
      <vt:lpstr>链表置逆</vt:lpstr>
      <vt:lpstr>链表置逆示意图</vt:lpstr>
      <vt:lpstr>完整C语言程序</vt:lpstr>
      <vt:lpstr>PowerPoint 演示文稿</vt:lpstr>
      <vt:lpstr>PowerPoint 演示文稿</vt:lpstr>
      <vt:lpstr>PowerPoint 演示文稿</vt:lpstr>
      <vt:lpstr>例题</vt:lpstr>
      <vt:lpstr>排序</vt:lpstr>
      <vt:lpstr>PowerPoint 演示文稿</vt:lpstr>
      <vt:lpstr>第三章 栈和队列</vt:lpstr>
      <vt:lpstr>线性表、栈、队列的比较</vt:lpstr>
      <vt:lpstr>例、一叠书或一叠盘子</vt:lpstr>
      <vt:lpstr>进栈和出栈</vt:lpstr>
      <vt:lpstr>进栈和出栈</vt:lpstr>
      <vt:lpstr>进栈和出栈</vt:lpstr>
      <vt:lpstr>进栈和出栈</vt:lpstr>
      <vt:lpstr>进栈和出栈</vt:lpstr>
      <vt:lpstr>进栈和出栈</vt:lpstr>
      <vt:lpstr>进栈和出栈</vt:lpstr>
      <vt:lpstr>进栈和出栈</vt:lpstr>
      <vt:lpstr>进栈和出栈</vt:lpstr>
      <vt:lpstr>进栈和出栈</vt:lpstr>
      <vt:lpstr>3.1 栈</vt:lpstr>
      <vt:lpstr>栈的类型定义</vt:lpstr>
      <vt:lpstr>定义在栈结构上的基本运算</vt:lpstr>
      <vt:lpstr>顺序栈</vt:lpstr>
      <vt:lpstr>3.1.2 栈的顺序存储结构以及操作的实现</vt:lpstr>
      <vt:lpstr>(1)栈初始化：</vt:lpstr>
      <vt:lpstr>PowerPoint 演示文稿</vt:lpstr>
      <vt:lpstr>⑵ 判空栈</vt:lpstr>
      <vt:lpstr>⑶ 入栈</vt:lpstr>
      <vt:lpstr>⑷ 出栈</vt:lpstr>
      <vt:lpstr>⑸ 读取栈顶元素</vt:lpstr>
      <vt:lpstr> 两个栈共享一组地址连续的存储单元</vt:lpstr>
      <vt:lpstr>出栈次序</vt:lpstr>
      <vt:lpstr>3.1.3 栈的链式存储结构以及操作的实现</vt:lpstr>
      <vt:lpstr>PowerPoint 演示文稿</vt:lpstr>
      <vt:lpstr>PowerPoint 演示文稿</vt:lpstr>
      <vt:lpstr>(1) 入栈 </vt:lpstr>
      <vt:lpstr>(2) 出栈</vt:lpstr>
      <vt:lpstr>3.1.4  栈的应用例</vt:lpstr>
      <vt:lpstr>数制转换</vt:lpstr>
      <vt:lpstr>PowerPoint 演示文稿</vt:lpstr>
      <vt:lpstr>数制转换</vt:lpstr>
      <vt:lpstr>括弧匹配检验 </vt:lpstr>
      <vt:lpstr>括弧匹配检验</vt:lpstr>
      <vt:lpstr>括弧匹配检验</vt:lpstr>
      <vt:lpstr>迷宫问题</vt:lpstr>
      <vt:lpstr>迷宫求解问题 </vt:lpstr>
      <vt:lpstr>迷宫求解问题</vt:lpstr>
      <vt:lpstr>迷宫问题</vt:lpstr>
      <vt:lpstr>迷宫问题</vt:lpstr>
      <vt:lpstr>迷宫问题</vt:lpstr>
      <vt:lpstr>回溯法</vt:lpstr>
      <vt:lpstr>整型数简单表达式求值</vt:lpstr>
      <vt:lpstr>PowerPoint 演示文稿</vt:lpstr>
      <vt:lpstr>PowerPoint 演示文稿</vt:lpstr>
      <vt:lpstr>PowerPoint 演示文稿</vt:lpstr>
      <vt:lpstr>PowerPoint 演示文稿</vt:lpstr>
      <vt:lpstr>表达式求值问题</vt:lpstr>
      <vt:lpstr>表达式求值问题</vt:lpstr>
      <vt:lpstr>表达式求值问题</vt:lpstr>
      <vt:lpstr>表达式求值问题</vt:lpstr>
      <vt:lpstr>表达式求值问题</vt:lpstr>
      <vt:lpstr>表达式求值问题</vt:lpstr>
      <vt:lpstr>表达式求值问题</vt:lpstr>
      <vt:lpstr>3.1.4.2 栈与递归过程</vt:lpstr>
      <vt:lpstr>例2.n阶Hanoi塔问题 </vt:lpstr>
      <vt:lpstr>递归算法</vt:lpstr>
      <vt:lpstr>PowerPoint 演示文稿</vt:lpstr>
      <vt:lpstr>例2. Hanoi塔问题</vt:lpstr>
      <vt:lpstr>PowerPoint 演示文稿</vt:lpstr>
      <vt:lpstr>Hanoi塔递归算法工作过程</vt:lpstr>
      <vt:lpstr>PowerPoint 演示文稿</vt:lpstr>
      <vt:lpstr>递归算法的实现原理</vt:lpstr>
      <vt:lpstr>函数调用示意图</vt:lpstr>
      <vt:lpstr>PowerPoint 演示文稿</vt:lpstr>
      <vt:lpstr>PowerPoint 演示文稿</vt:lpstr>
      <vt:lpstr>递归时系统工作原理示例</vt:lpstr>
      <vt:lpstr>递归算法的用途</vt:lpstr>
      <vt:lpstr>2）消除尾递归</vt:lpstr>
      <vt:lpstr>PowerPoint 演示文稿</vt:lpstr>
      <vt:lpstr>3) 利用栈模拟递归—通用方法</vt:lpstr>
      <vt:lpstr>自设栈模拟系统工作栈  </vt:lpstr>
      <vt:lpstr>消除递归</vt:lpstr>
      <vt:lpstr>3.2 队列</vt:lpstr>
      <vt:lpstr>队列的定义</vt:lpstr>
      <vt:lpstr>PowerPoint 演示文稿</vt:lpstr>
      <vt:lpstr>定义在队列结构上的基本运算</vt:lpstr>
      <vt:lpstr>3.2.2 队列的链式存储结构以及操作的实现</vt:lpstr>
      <vt:lpstr>PowerPoint 演示文稿</vt:lpstr>
      <vt:lpstr>PowerPoint 演示文稿</vt:lpstr>
      <vt:lpstr>PowerPoint 演示文稿</vt:lpstr>
      <vt:lpstr>PowerPoint 演示文稿</vt:lpstr>
      <vt:lpstr>PowerPoint 演示文稿</vt:lpstr>
      <vt:lpstr>3.2.3 循环队列的顺序存储结构以及操作的实现</vt:lpstr>
      <vt:lpstr>“假溢出”</vt:lpstr>
      <vt:lpstr>PowerPoint 演示文稿</vt:lpstr>
      <vt:lpstr>循环队列</vt:lpstr>
      <vt:lpstr>循环队列</vt:lpstr>
      <vt:lpstr>循环队列</vt:lpstr>
      <vt:lpstr>循环队列的控制方案讨论</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本章内容</dc:title>
  <dc:creator>xush</dc:creator>
  <cp:lastModifiedBy>zhhy_bupt@tom.com</cp:lastModifiedBy>
  <cp:revision>410</cp:revision>
  <cp:lastPrinted>2000-02-21T03:59:48Z</cp:lastPrinted>
  <dcterms:created xsi:type="dcterms:W3CDTF">2000-02-21T01:53:45Z</dcterms:created>
  <dcterms:modified xsi:type="dcterms:W3CDTF">2025-09-27T09:21:07Z</dcterms:modified>
</cp:coreProperties>
</file>