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49" r:id="rId2"/>
  </p:sldMasterIdLst>
  <p:notesMasterIdLst>
    <p:notesMasterId r:id="rId41"/>
  </p:notesMasterIdLst>
  <p:handoutMasterIdLst>
    <p:handoutMasterId r:id="rId42"/>
  </p:handoutMasterIdLst>
  <p:sldIdLst>
    <p:sldId id="332" r:id="rId3"/>
    <p:sldId id="337" r:id="rId4"/>
    <p:sldId id="482" r:id="rId5"/>
    <p:sldId id="483" r:id="rId6"/>
    <p:sldId id="485" r:id="rId7"/>
    <p:sldId id="484" r:id="rId8"/>
    <p:sldId id="486" r:id="rId9"/>
    <p:sldId id="487" r:id="rId10"/>
    <p:sldId id="479" r:id="rId11"/>
    <p:sldId id="488" r:id="rId12"/>
    <p:sldId id="467" r:id="rId13"/>
    <p:sldId id="477" r:id="rId14"/>
    <p:sldId id="462" r:id="rId15"/>
    <p:sldId id="463" r:id="rId16"/>
    <p:sldId id="465" r:id="rId17"/>
    <p:sldId id="466" r:id="rId18"/>
    <p:sldId id="478" r:id="rId19"/>
    <p:sldId id="469" r:id="rId20"/>
    <p:sldId id="470" r:id="rId21"/>
    <p:sldId id="480" r:id="rId22"/>
    <p:sldId id="351" r:id="rId23"/>
    <p:sldId id="489" r:id="rId24"/>
    <p:sldId id="492" r:id="rId25"/>
    <p:sldId id="493" r:id="rId26"/>
    <p:sldId id="491" r:id="rId27"/>
    <p:sldId id="494" r:id="rId28"/>
    <p:sldId id="495" r:id="rId29"/>
    <p:sldId id="497" r:id="rId30"/>
    <p:sldId id="498" r:id="rId31"/>
    <p:sldId id="499" r:id="rId32"/>
    <p:sldId id="500" r:id="rId33"/>
    <p:sldId id="501" r:id="rId34"/>
    <p:sldId id="502" r:id="rId35"/>
    <p:sldId id="503" r:id="rId36"/>
    <p:sldId id="505" r:id="rId37"/>
    <p:sldId id="504" r:id="rId38"/>
    <p:sldId id="506" r:id="rId39"/>
    <p:sldId id="507" r:id="rId40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5pPr>
    <a:lvl6pPr marL="22860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6pPr>
    <a:lvl7pPr marL="27432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7pPr>
    <a:lvl8pPr marL="32004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8pPr>
    <a:lvl9pPr marL="3657600" algn="l" defTabSz="4572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-128"/>
        <a:cs typeface="ヒラギノ角ゴ ProN W3" charset="-128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0066"/>
    <a:srgbClr val="3366CC"/>
    <a:srgbClr val="003399"/>
    <a:srgbClr val="F8F6D9"/>
    <a:srgbClr val="EDEBCF"/>
    <a:srgbClr val="D3F2D3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6" autoAdjust="0"/>
    <p:restoredTop sz="96723" autoAdjust="0"/>
  </p:normalViewPr>
  <p:slideViewPr>
    <p:cSldViewPr>
      <p:cViewPr varScale="1">
        <p:scale>
          <a:sx n="95" d="100"/>
          <a:sy n="95" d="100"/>
        </p:scale>
        <p:origin x="60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8" d="100"/>
          <a:sy n="78" d="100"/>
        </p:scale>
        <p:origin x="-2312" y="-10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CFFC39-3AF6-8048-8D2D-0B9CBEDA9E0F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1F6DB-D364-0A40-9E0D-3DD3F1C3C9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8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5362" name="Rectangle 2"/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75182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Gill Sans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0575" y="3886200"/>
            <a:ext cx="3762375" cy="2971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998538"/>
            <a:ext cx="1943100" cy="5859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998538"/>
            <a:ext cx="5676900" cy="5859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2D64756-4093-46CE-8E38-C3C29E4A973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34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3886200"/>
            <a:ext cx="76771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+mj-l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6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19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876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33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7907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479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051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1623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195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text styles</a:t>
            </a:r>
          </a:p>
          <a:p>
            <a:pPr lvl="1"/>
            <a:r>
              <a:rPr lang="en-US">
                <a:sym typeface="Calibri" charset="0"/>
              </a:rPr>
              <a:t>Second level</a:t>
            </a:r>
          </a:p>
          <a:p>
            <a:pPr lvl="2"/>
            <a:r>
              <a:rPr lang="en-US">
                <a:sym typeface="Calibri" charset="0"/>
              </a:rPr>
              <a:t>Third level</a:t>
            </a:r>
          </a:p>
          <a:p>
            <a:pPr lvl="3"/>
            <a:r>
              <a:rPr lang="en-US">
                <a:sym typeface="Calibri" charset="0"/>
              </a:rPr>
              <a:t>Fourth level</a:t>
            </a:r>
          </a:p>
          <a:p>
            <a:pPr lvl="4"/>
            <a:r>
              <a:rPr lang="en-US">
                <a:sym typeface="Calibri" charset="0"/>
              </a:rPr>
              <a:t>Fifth level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8818144" y="6611779"/>
            <a:ext cx="33855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sz="1000" dirty="0">
              <a:latin typeface="+mj-lt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  <p:sp>
        <p:nvSpPr>
          <p:cNvPr id="7" name="Rectangle 1"/>
          <p:cNvSpPr>
            <a:spLocks/>
          </p:cNvSpPr>
          <p:nvPr userDrawn="1"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 Box 32"/>
          <p:cNvSpPr txBox="1">
            <a:spLocks noChangeArrowheads="1"/>
          </p:cNvSpPr>
          <p:nvPr userDrawn="1"/>
        </p:nvSpPr>
        <p:spPr bwMode="auto">
          <a:xfrm>
            <a:off x="7851775" y="-20638"/>
            <a:ext cx="127476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en-US" sz="1200" b="1" dirty="0">
                <a:solidFill>
                  <a:srgbClr val="FFFFFF"/>
                </a:solidFill>
                <a:latin typeface="Times New Roman" pitchFamily="18" charset="0"/>
                <a:ea typeface="+mn-ea"/>
                <a:cs typeface="+mn-cs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5" r:id="rId12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-128"/>
          <a:cs typeface="ヒラギノ角ゴ ProN W6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-128"/>
          <a:cs typeface="ヒラギノ角ゴ ProN W3" charset="-128"/>
          <a:sym typeface="Calibri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1952"/>
            <a:ext cx="9144000" cy="355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63445"/>
            <a:ext cx="678508" cy="678508"/>
          </a:xfrm>
          <a:prstGeom prst="rect">
            <a:avLst/>
          </a:prstGeom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1447800" y="4724400"/>
            <a:ext cx="6400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3300"/>
              </a:buClr>
              <a:buFont typeface="Wingdings 2" pitchFamily="18" charset="2"/>
              <a:buNone/>
              <a:tabLst>
                <a:tab pos="1524000" algn="l"/>
              </a:tabLst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4375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9933"/>
              </a:buClr>
              <a:buSzPct val="80000"/>
              <a:buFont typeface="Wingdings" panose="05000000000000000000" pitchFamily="2" charset="2"/>
              <a:buChar char="u"/>
              <a:tabLst>
                <a:tab pos="1524000" algn="l"/>
              </a:tabLst>
              <a:defRPr kumimoji="1" sz="2800" b="1">
                <a:solidFill>
                  <a:schemeClr val="tx1"/>
                </a:solidFill>
                <a:latin typeface="+mn-lt"/>
                <a:ea typeface="华文新魏" pitchFamily="2" charset="-122"/>
              </a:defRPr>
            </a:lvl2pPr>
            <a:lvl3pPr marL="1166813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Wingdings" panose="05000000000000000000" pitchFamily="2" charset="2"/>
              <a:buChar char="v"/>
              <a:tabLst>
                <a:tab pos="1524000" algn="l"/>
              </a:tabLst>
              <a:defRPr kumimoji="1" sz="2400" b="1">
                <a:solidFill>
                  <a:schemeClr val="tx1"/>
                </a:solidFill>
                <a:latin typeface="+mn-lt"/>
                <a:ea typeface="华文中宋" pitchFamily="2" charset="-122"/>
              </a:defRPr>
            </a:lvl3pPr>
            <a:lvl4pPr marL="1611313" indent="-265113" algn="l" rtl="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Wingdings 2" panose="05020102010507070707" pitchFamily="18" charset="2"/>
              <a:buChar char="°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4pPr>
            <a:lvl5pPr marL="3768725" indent="-5080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5pPr>
            <a:lvl6pPr marL="42259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6pPr>
            <a:lvl7pPr marL="46831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7pPr>
            <a:lvl8pPr marL="51403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8pPr>
            <a:lvl9pPr marL="5597525" indent="-508000" algn="l" rtl="0" eaLnBrk="1" fontAlgn="base" hangingPunct="1">
              <a:spcBef>
                <a:spcPct val="20000"/>
              </a:spcBef>
              <a:spcAft>
                <a:spcPct val="0"/>
              </a:spcAft>
              <a:tabLst>
                <a:tab pos="1524000" algn="l"/>
              </a:tabLst>
              <a:defRPr kumimoji="1" sz="2000" b="1">
                <a:solidFill>
                  <a:schemeClr val="tx1"/>
                </a:solidFill>
                <a:latin typeface="+mn-lt"/>
                <a:ea typeface="隶书" pitchFamily="49" charset="-122"/>
              </a:defRPr>
            </a:lvl9pPr>
          </a:lstStyle>
          <a:p>
            <a:pPr lvl="0" eaLnBrk="1" hangingPunct="1">
              <a:defRPr/>
            </a:pP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itchFamily="2" charset="-122"/>
                <a:ea typeface="华文行楷" pitchFamily="2" charset="-122"/>
              </a:rPr>
              <a:t>实验四</a:t>
            </a:r>
            <a:endParaRPr lang="en-US" altLang="zh-CN" kern="0" dirty="0"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ea typeface="华文新魏" pitchFamily="2" charset="-122"/>
            </a:endParaRPr>
          </a:p>
          <a:p>
            <a:pPr lvl="0" eaLnBrk="1" hangingPunct="1">
              <a:defRPr/>
            </a:pP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华文新魏" pitchFamily="2" charset="-122"/>
              </a:rPr>
              <a:t>字符型</a:t>
            </a:r>
            <a:r>
              <a:rPr lang="en-US" altLang="zh-CN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华文新魏" pitchFamily="2" charset="-122"/>
              </a:rPr>
              <a:t>I/O</a:t>
            </a:r>
            <a:r>
              <a:rPr lang="zh-CN" altLang="en-US" kern="0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ea typeface="华文新魏" pitchFamily="2" charset="-122"/>
              </a:rPr>
              <a:t>设备驱动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/>
              <a:ea typeface="华文新魏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5174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35168"/>
            <a:ext cx="8382000" cy="1092200"/>
          </a:xfrm>
        </p:spPr>
        <p:txBody>
          <a:bodyPr/>
          <a:lstStyle/>
          <a:p>
            <a:pPr eaLnBrk="1" hangingPunct="1"/>
            <a:r>
              <a:rPr kumimoji="0" lang="en-US" altLang="zh-CN" b="1" dirty="0"/>
              <a:t>Linux</a:t>
            </a:r>
            <a:r>
              <a:rPr kumimoji="0" lang="zh-CN" altLang="en-US" b="1" dirty="0"/>
              <a:t>操作系统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71500" y="1714500"/>
            <a:ext cx="79295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304800" y="1779588"/>
            <a:ext cx="7391400" cy="43926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76590" y="3606562"/>
            <a:ext cx="5410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Ubuntu </a:t>
            </a:r>
            <a:r>
              <a:rPr lang="en-US" altLang="zh-CN" dirty="0" err="1">
                <a:solidFill>
                  <a:srgbClr val="FF0000"/>
                </a:solidFill>
              </a:rPr>
              <a:t>linux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348146"/>
            <a:ext cx="7276548" cy="429065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2133600" y="1821144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133600" y="2369112"/>
            <a:ext cx="39249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21423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内核是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操作系统不可缺少的组成部分，但是内核本身不是操作系统。许多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操作系统发行商如</a:t>
            </a:r>
            <a:r>
              <a:rPr lang="en-US" altLang="zh-CN">
                <a:ea typeface="方正楷体简体" charset="-122"/>
              </a:rPr>
              <a:t>RedHat</a:t>
            </a:r>
            <a:r>
              <a:rPr lang="zh-CN" altLang="en-US">
                <a:ea typeface="方正楷体简体" charset="-122"/>
              </a:rPr>
              <a:t>、</a:t>
            </a:r>
            <a:r>
              <a:rPr lang="en-US" altLang="zh-CN">
                <a:ea typeface="方正楷体简体" charset="-122"/>
              </a:rPr>
              <a:t>Debian</a:t>
            </a:r>
            <a:r>
              <a:rPr lang="zh-CN" altLang="en-US">
                <a:ea typeface="方正楷体简体" charset="-122"/>
              </a:rPr>
              <a:t>等都采用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内核，然后加入用户需要的工具软件和程序库，最终构成一个完整的操作系统。嵌入式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系统是运行在嵌入式硬件系统上的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操作系统，每个嵌入式</a:t>
            </a:r>
            <a:r>
              <a:rPr lang="en-US" altLang="zh-CN">
                <a:ea typeface="方正楷体简体" charset="-122"/>
              </a:rPr>
              <a:t>Linux</a:t>
            </a:r>
            <a:r>
              <a:rPr lang="zh-CN" altLang="en-US">
                <a:ea typeface="方正楷体简体" charset="-122"/>
              </a:rPr>
              <a:t>系统都包括了必要的工具软件和程序库。</a:t>
            </a:r>
          </a:p>
        </p:txBody>
      </p:sp>
    </p:spTree>
    <p:extLst>
      <p:ext uri="{BB962C8B-B14F-4D97-AF65-F5344CB8AC3E}">
        <p14:creationId xmlns:p14="http://schemas.microsoft.com/office/powerpoint/2010/main" val="18337709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>
                <a:ea typeface="方正楷体简体" charset="-122"/>
              </a:rPr>
              <a:t>内核是操作系统的核心部分，为应用程序提供安全访问硬件资源的功能。直接操作计算机硬件是很复杂的，内核通过硬件抽象的方法屏蔽了硬件的复杂性和多样性。通过硬件抽象的方法，内核向应用程序提供了统一和简洁的接口，应用程序设计复杂程度降低。实际上，内核可以被看做是一个系统资源管理器，内核管理计算机系统中所有的软件和硬件资源。</a:t>
            </a:r>
          </a:p>
          <a:p>
            <a:endParaRPr lang="zh-CN" altLang="en-US" dirty="0">
              <a:ea typeface="方正楷体简体" charset="-122"/>
            </a:endParaRPr>
          </a:p>
          <a:p>
            <a:endParaRPr lang="en-US" altLang="zh-CN" dirty="0">
              <a:ea typeface="方正楷体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1807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484313"/>
            <a:ext cx="7596188" cy="5183187"/>
          </a:xfrm>
        </p:spPr>
        <p:txBody>
          <a:bodyPr/>
          <a:lstStyle/>
          <a:p>
            <a:r>
              <a:rPr lang="zh-CN" altLang="en-US" dirty="0">
                <a:ea typeface="方正楷体简体" charset="-122"/>
              </a:rPr>
              <a:t>应用程序可以直接运行在计算机硬件上而无需内核的支持，从这个角度看，内核不是必要的。在早期的计算机系统中，由于系统资源的局限，通常采用直接在硬件上运行应用程序的办法。运行应用程序需要一些辅助程序，如程序加载器、调试器等。随着计算机性能的不断提高，硬件和软件源都变得复杂，需要一个统一管理的程序，操作系统的概念也逐渐建立起来。</a:t>
            </a:r>
          </a:p>
          <a:p>
            <a:endParaRPr lang="en-US" altLang="zh-CN" dirty="0">
              <a:ea typeface="方正楷体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43824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内核版本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内核版本号采用两个“</a:t>
            </a:r>
            <a:r>
              <a:rPr lang="en-US" altLang="zh-CN" dirty="0">
                <a:ea typeface="方正楷体简体" charset="-122"/>
              </a:rPr>
              <a:t>.”</a:t>
            </a:r>
            <a:r>
              <a:rPr lang="zh-CN" altLang="en-US" dirty="0">
                <a:ea typeface="方正楷体简体" charset="-122"/>
              </a:rPr>
              <a:t>分割的三个数字来标示，形式为“</a:t>
            </a:r>
            <a:r>
              <a:rPr lang="en-US" altLang="zh-CN" dirty="0">
                <a:ea typeface="方正楷体简体" charset="-122"/>
              </a:rPr>
              <a:t>X.Y.Z”</a:t>
            </a:r>
            <a:r>
              <a:rPr lang="zh-CN" altLang="en-US" dirty="0">
                <a:ea typeface="方正楷体简体" charset="-122"/>
              </a:rPr>
              <a:t>。其中，</a:t>
            </a:r>
            <a:r>
              <a:rPr lang="en-US" altLang="zh-CN" dirty="0">
                <a:ea typeface="方正楷体简体" charset="-122"/>
              </a:rPr>
              <a:t>X</a:t>
            </a:r>
            <a:r>
              <a:rPr lang="zh-CN" altLang="en-US" dirty="0">
                <a:ea typeface="方正楷体简体" charset="-122"/>
              </a:rPr>
              <a:t>是主要版本号，</a:t>
            </a:r>
            <a:r>
              <a:rPr lang="en-US" altLang="zh-CN" dirty="0">
                <a:ea typeface="方正楷体简体" charset="-122"/>
              </a:rPr>
              <a:t>Y</a:t>
            </a:r>
            <a:r>
              <a:rPr lang="zh-CN" altLang="en-US" dirty="0">
                <a:ea typeface="方正楷体简体" charset="-122"/>
              </a:rPr>
              <a:t>是次要版本号，</a:t>
            </a:r>
            <a:r>
              <a:rPr lang="en-US" altLang="zh-CN" dirty="0">
                <a:ea typeface="方正楷体简体" charset="-122"/>
              </a:rPr>
              <a:t>Z</a:t>
            </a:r>
            <a:r>
              <a:rPr lang="zh-CN" altLang="en-US" dirty="0">
                <a:ea typeface="方正楷体简体" charset="-122"/>
              </a:rPr>
              <a:t>代表补丁版本号。奇数代表不稳定的版本；偶数代表稳定的版本。“稳定”和“不稳定”是相对的，如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</a:t>
            </a:r>
            <a:r>
              <a:rPr lang="en-US" altLang="zh-CN" dirty="0">
                <a:ea typeface="方正楷体简体" charset="-122"/>
              </a:rPr>
              <a:t>1.1.0</a:t>
            </a:r>
            <a:r>
              <a:rPr lang="zh-CN" altLang="en-US" dirty="0">
                <a:ea typeface="方正楷体简体" charset="-122"/>
              </a:rPr>
              <a:t>相对于</a:t>
            </a:r>
            <a:r>
              <a:rPr lang="en-US" altLang="zh-CN" dirty="0">
                <a:ea typeface="方正楷体简体" charset="-122"/>
              </a:rPr>
              <a:t>1.0.0</a:t>
            </a:r>
            <a:r>
              <a:rPr lang="zh-CN" altLang="en-US" dirty="0">
                <a:ea typeface="方正楷体简体" charset="-122"/>
              </a:rPr>
              <a:t>来说是“不稳定”版本，但是与</a:t>
            </a:r>
            <a:r>
              <a:rPr lang="en-US" altLang="zh-CN" dirty="0">
                <a:ea typeface="方正楷体简体" charset="-122"/>
              </a:rPr>
              <a:t>1.1.1</a:t>
            </a:r>
            <a:r>
              <a:rPr lang="zh-CN" altLang="en-US" dirty="0">
                <a:ea typeface="方正楷体简体" charset="-122"/>
              </a:rPr>
              <a:t>对比是“稳定”版本。在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内核开发过程中，“不稳定”版本通常是在原有版本基础上增加了新的功能或者新的特性。</a:t>
            </a:r>
          </a:p>
        </p:txBody>
      </p:sp>
    </p:spTree>
    <p:extLst>
      <p:ext uri="{BB962C8B-B14F-4D97-AF65-F5344CB8AC3E}">
        <p14:creationId xmlns:p14="http://schemas.microsoft.com/office/powerpoint/2010/main" val="354414280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大标宋简体" charset="-122"/>
                <a:ea typeface="方正大标宋简体" charset="-122"/>
              </a:rPr>
              <a:t>实验采用</a:t>
            </a:r>
            <a:r>
              <a:rPr lang="en-US" altLang="zh-CN" dirty="0"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dirty="0">
                <a:latin typeface="方正大标宋简体" charset="-122"/>
                <a:ea typeface="方正大标宋简体" charset="-122"/>
              </a:rPr>
              <a:t>内核版本</a:t>
            </a:r>
            <a:r>
              <a:rPr lang="en-US" altLang="zh-CN" dirty="0">
                <a:latin typeface="方正大标宋简体" charset="-122"/>
                <a:ea typeface="方正大标宋简体" charset="-122"/>
              </a:rPr>
              <a:t>Linux-0.11</a:t>
            </a:r>
            <a:r>
              <a:rPr lang="zh-CN" altLang="en-US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？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600" y="1816100"/>
            <a:ext cx="7366000" cy="2370138"/>
          </a:xfrm>
        </p:spPr>
        <p:txBody>
          <a:bodyPr/>
          <a:lstStyle/>
          <a:p>
            <a:r>
              <a:rPr lang="zh-CN" altLang="en-US" dirty="0">
                <a:ea typeface="方正楷体简体" charset="-122"/>
              </a:rPr>
              <a:t>由于最新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内核源代码非常庞大。</a:t>
            </a:r>
            <a:r>
              <a:rPr lang="en-US" altLang="zh-CN" dirty="0">
                <a:ea typeface="方正楷体简体" charset="-122"/>
              </a:rPr>
              <a:t>Linux-0.11</a:t>
            </a:r>
            <a:r>
              <a:rPr lang="zh-CN" altLang="en-US" dirty="0">
                <a:ea typeface="方正楷体简体" charset="-122"/>
              </a:rPr>
              <a:t>与目前</a:t>
            </a:r>
            <a:r>
              <a:rPr lang="en-US" altLang="zh-CN" dirty="0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内核基本功能较为接近，又非常短小的</a:t>
            </a:r>
            <a:r>
              <a:rPr lang="en-US" altLang="zh-CN" dirty="0">
                <a:ea typeface="方正楷体简体" charset="-122"/>
              </a:rPr>
              <a:t>0.11</a:t>
            </a:r>
            <a:r>
              <a:rPr lang="zh-CN" altLang="en-US" dirty="0">
                <a:ea typeface="方正楷体简体" charset="-122"/>
              </a:rPr>
              <a:t>版本作为入门学习的最佳版本。</a:t>
            </a:r>
            <a:r>
              <a:rPr lang="en-US" altLang="zh-CN" dirty="0">
                <a:ea typeface="方正楷体简体" charset="-122"/>
              </a:rPr>
              <a:t>0.11</a:t>
            </a:r>
            <a:r>
              <a:rPr lang="zh-CN" altLang="en-US" dirty="0">
                <a:ea typeface="方正楷体简体" charset="-122"/>
              </a:rPr>
              <a:t>内核源代码只有一万四千行左右，其中包括的内容基本上都是</a:t>
            </a:r>
            <a:r>
              <a:rPr lang="en-US" altLang="zh-CN" dirty="0" err="1">
                <a:ea typeface="方正楷体简体" charset="-122"/>
              </a:rPr>
              <a:t>linux</a:t>
            </a:r>
            <a:r>
              <a:rPr lang="zh-CN" altLang="en-US" dirty="0">
                <a:ea typeface="方正楷体简体" charset="-122"/>
              </a:rPr>
              <a:t>系统的精髓。</a:t>
            </a:r>
          </a:p>
        </p:txBody>
      </p:sp>
    </p:spTree>
    <p:extLst>
      <p:ext uri="{BB962C8B-B14F-4D97-AF65-F5344CB8AC3E}">
        <p14:creationId xmlns:p14="http://schemas.microsoft.com/office/powerpoint/2010/main" val="91173600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21227"/>
            <a:ext cx="8382000" cy="1092200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使用</a:t>
            </a:r>
            <a:r>
              <a:rPr lang="en-US" altLang="zh-CN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tar</a:t>
            </a:r>
            <a:r>
              <a:rPr lang="zh-CN" altLang="en-US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命令将</a:t>
            </a:r>
            <a:r>
              <a:rPr lang="en-US" altLang="zh-CN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linux-0.11.tar.gz</a:t>
            </a:r>
            <a:r>
              <a:rPr lang="zh-CN" altLang="en-US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解压时，结构如下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90" y="1905000"/>
            <a:ext cx="8143620" cy="3886200"/>
          </a:xfrm>
          <a:prstGeom prst="rect">
            <a:avLst/>
          </a:prstGeo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62200" y="5436673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内核源代码目录结构</a:t>
            </a:r>
          </a:p>
        </p:txBody>
      </p:sp>
    </p:spTree>
    <p:extLst>
      <p:ext uri="{BB962C8B-B14F-4D97-AF65-F5344CB8AC3E}">
        <p14:creationId xmlns:p14="http://schemas.microsoft.com/office/powerpoint/2010/main" val="246426422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231" y="167024"/>
            <a:ext cx="7183651" cy="3414376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71500" y="4191793"/>
            <a:ext cx="7366000" cy="237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-128"/>
                <a:cs typeface="ヒラギノ角ゴ ProN W3" charset="-128"/>
                <a:sym typeface="Calibri" charset="0"/>
              </a:defRPr>
            </a:lvl9pPr>
          </a:lstStyle>
          <a:p>
            <a:r>
              <a:rPr lang="zh-CN" altLang="en-US" kern="0" dirty="0">
                <a:ea typeface="方正楷体简体" charset="-122"/>
              </a:rPr>
              <a:t>具体来讲，是对</a:t>
            </a:r>
            <a:r>
              <a:rPr lang="en-US" altLang="zh-CN" kern="0" dirty="0">
                <a:ea typeface="方正楷体简体" charset="-122"/>
              </a:rPr>
              <a:t>boot/</a:t>
            </a:r>
            <a:r>
              <a:rPr lang="zh-CN" altLang="en-US" kern="0" dirty="0">
                <a:ea typeface="方正楷体简体" charset="-122"/>
              </a:rPr>
              <a:t>中的</a:t>
            </a:r>
            <a:r>
              <a:rPr lang="en-US" altLang="zh-CN" kern="0" dirty="0" err="1">
                <a:ea typeface="方正楷体简体" charset="-122"/>
              </a:rPr>
              <a:t>bootsect.s</a:t>
            </a:r>
            <a:r>
              <a:rPr lang="zh-CN" altLang="en-US" kern="0" dirty="0">
                <a:ea typeface="方正楷体简体" charset="-122"/>
              </a:rPr>
              <a:t>、</a:t>
            </a:r>
            <a:r>
              <a:rPr lang="en-US" altLang="zh-CN" kern="0" dirty="0" err="1">
                <a:ea typeface="方正楷体简体" charset="-122"/>
              </a:rPr>
              <a:t>setup.s</a:t>
            </a:r>
            <a:r>
              <a:rPr lang="zh-CN" altLang="en-US" kern="0" dirty="0">
                <a:ea typeface="方正楷体简体" charset="-122"/>
              </a:rPr>
              <a:t>使用</a:t>
            </a:r>
            <a:r>
              <a:rPr lang="en-US" altLang="zh-CN" kern="0" dirty="0">
                <a:ea typeface="方正楷体简体" charset="-122"/>
              </a:rPr>
              <a:t>8086</a:t>
            </a:r>
            <a:r>
              <a:rPr lang="zh-CN" altLang="en-US" kern="0" dirty="0">
                <a:ea typeface="方正楷体简体" charset="-122"/>
              </a:rPr>
              <a:t>汇编器进行编译，分别生成各自的执行模块。再对源代码中的其他所有程序使用</a:t>
            </a:r>
            <a:r>
              <a:rPr lang="en-US" altLang="zh-CN" kern="0" dirty="0">
                <a:ea typeface="方正楷体简体" charset="-122"/>
              </a:rPr>
              <a:t>GNU</a:t>
            </a:r>
            <a:r>
              <a:rPr lang="zh-CN" altLang="en-US" kern="0" dirty="0">
                <a:ea typeface="方正楷体简体" charset="-122"/>
              </a:rPr>
              <a:t>的编译器</a:t>
            </a:r>
            <a:r>
              <a:rPr lang="en-US" altLang="zh-CN" kern="0" dirty="0" err="1">
                <a:ea typeface="方正楷体简体" charset="-122"/>
              </a:rPr>
              <a:t>gcc</a:t>
            </a:r>
            <a:r>
              <a:rPr lang="en-US" altLang="zh-CN" kern="0" dirty="0">
                <a:ea typeface="方正楷体简体" charset="-122"/>
              </a:rPr>
              <a:t>/gas</a:t>
            </a:r>
            <a:r>
              <a:rPr lang="zh-CN" altLang="en-US" kern="0" dirty="0">
                <a:ea typeface="方正楷体简体" charset="-122"/>
              </a:rPr>
              <a:t>进行编译，并连接成模块</a:t>
            </a:r>
            <a:r>
              <a:rPr lang="en-US" altLang="zh-CN" kern="0" dirty="0">
                <a:ea typeface="方正楷体简体" charset="-122"/>
              </a:rPr>
              <a:t>system</a:t>
            </a:r>
            <a:r>
              <a:rPr lang="zh-CN" altLang="en-US" kern="0" dirty="0">
                <a:ea typeface="方正楷体简体" charset="-122"/>
              </a:rPr>
              <a:t>。再用</a:t>
            </a:r>
            <a:r>
              <a:rPr lang="en-US" altLang="zh-CN" kern="0" dirty="0">
                <a:ea typeface="方正楷体简体" charset="-122"/>
              </a:rPr>
              <a:t>build</a:t>
            </a:r>
            <a:r>
              <a:rPr lang="zh-CN" altLang="en-US" kern="0" dirty="0">
                <a:ea typeface="方正楷体简体" charset="-122"/>
              </a:rPr>
              <a:t>工具将这三块组合成一个可运行的内核映像文件</a:t>
            </a:r>
            <a:r>
              <a:rPr lang="en-US" altLang="zh-CN" kern="0" dirty="0">
                <a:ea typeface="方正楷体简体" charset="-122"/>
              </a:rPr>
              <a:t>image</a:t>
            </a:r>
            <a:r>
              <a:rPr lang="zh-CN" altLang="en-US" kern="0" dirty="0">
                <a:ea typeface="方正楷体简体" charset="-122"/>
              </a:rPr>
              <a:t>。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623932" y="3224609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内核编译连接组合结构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084516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600"/>
            <a:ext cx="7620000" cy="6381750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0" y="533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内核系统与用户程序关系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019345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内核空间与用户空间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700213"/>
            <a:ext cx="8415338" cy="4611687"/>
          </a:xfrm>
        </p:spPr>
        <p:txBody>
          <a:bodyPr/>
          <a:lstStyle/>
          <a:p>
            <a:pPr>
              <a:spcBef>
                <a:spcPct val="50000"/>
              </a:spcBef>
              <a:buSzPct val="120000"/>
              <a:buFont typeface="Wingdings" pitchFamily="2" charset="2"/>
              <a:buChar char="§"/>
              <a:defRPr/>
            </a:pPr>
            <a:r>
              <a:rPr lang="en-US" altLang="zh-CN" dirty="0"/>
              <a:t>Linux</a:t>
            </a:r>
            <a:r>
              <a:rPr lang="zh-CN" altLang="en-US" dirty="0"/>
              <a:t>的两种运行模式：</a:t>
            </a:r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/>
              <a:t>内核模式</a:t>
            </a:r>
          </a:p>
          <a:p>
            <a:pPr lvl="1">
              <a:spcBef>
                <a:spcPct val="50000"/>
              </a:spcBef>
              <a:buSzPct val="90000"/>
              <a:defRPr/>
            </a:pPr>
            <a:r>
              <a:rPr lang="zh-CN" altLang="en-US" dirty="0"/>
              <a:t>用户模式</a:t>
            </a:r>
          </a:p>
          <a:p>
            <a:pPr>
              <a:spcBef>
                <a:spcPct val="50000"/>
              </a:spcBef>
              <a:buSzPct val="120000"/>
              <a:buFont typeface="Wingdings" pitchFamily="2" charset="2"/>
              <a:buChar char="§"/>
              <a:defRPr/>
            </a:pPr>
            <a:r>
              <a:rPr lang="zh-CN" altLang="en-US" dirty="0"/>
              <a:t>内核模式对应内核空间，而用户模式对应用户空间。</a:t>
            </a:r>
          </a:p>
          <a:p>
            <a:pPr>
              <a:spcBef>
                <a:spcPct val="50000"/>
              </a:spcBef>
              <a:buSzPct val="120000"/>
              <a:buFont typeface="Wingdings" pitchFamily="2" charset="2"/>
              <a:buChar char="§"/>
              <a:defRPr/>
            </a:pPr>
            <a:r>
              <a:rPr lang="zh-CN" altLang="en-US" dirty="0"/>
              <a:t>驱动程序作为内核的一部分，它对应内核空间，应用程序不能直接访问其数据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209211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685800" y="1066800"/>
            <a:ext cx="8229600" cy="486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v"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区分用户态和内核态目的在于安全考虑：</a:t>
            </a: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禁止用户程序和底层硬件直接打交道</a:t>
            </a: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最简单的例子，如果用户程序往硬件控制寄存器写入不恰当的值，可能导致硬件无法正常工作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Char char="Ø"/>
            </a:pPr>
            <a:r>
              <a:rPr lang="zh-CN" altLang="en-US" sz="32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禁止用户程序访问任意的物理内存</a:t>
            </a:r>
          </a:p>
          <a:p>
            <a:pPr lvl="1" eaLnBrk="0" hangingPunct="0">
              <a:spcBef>
                <a:spcPct val="20000"/>
              </a:spcBef>
              <a:buClr>
                <a:srgbClr val="333399"/>
              </a:buClr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200">
                <a:latin typeface="华文楷体" panose="02010600040101010101" pitchFamily="2" charset="-122"/>
                <a:ea typeface="华文楷体" panose="02010600040101010101" pitchFamily="2" charset="-122"/>
              </a:rPr>
              <a:t>否则可能会破坏其他程序的正常执行，如果对内核所在的地址空间写入数据的话，会导致系统崩溃</a:t>
            </a:r>
            <a:r>
              <a:rPr lang="en-US" altLang="zh-CN" sz="320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977817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8229600" cy="109696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用户程序如何同设备打交道？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2057400"/>
            <a:ext cx="8077200" cy="3724275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800">
                <a:ea typeface="华文楷体" panose="02010600040101010101" pitchFamily="2" charset="-122"/>
              </a:rPr>
              <a:t>例如，用户需通过网卡发送数据</a:t>
            </a:r>
          </a:p>
          <a:p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 硬件被</a:t>
            </a:r>
            <a:r>
              <a:rPr lang="en-US" altLang="zh-CN" sz="2800">
                <a:ea typeface="宋体" panose="02010600030101010101" pitchFamily="2" charset="-122"/>
              </a:rPr>
              <a:t>linux </a:t>
            </a:r>
            <a:r>
              <a:rPr lang="zh-CN" altLang="en-US" sz="2800">
                <a:ea typeface="宋体" panose="02010600030101010101" pitchFamily="2" charset="-122"/>
              </a:rPr>
              <a:t>内核隔离，只能通过内核实现。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不可能直接调用操作系统的函数：不可行，也不安全。</a:t>
            </a:r>
          </a:p>
          <a:p>
            <a:pPr>
              <a:buFont typeface="Wingdings" panose="05000000000000000000" pitchFamily="2" charset="2"/>
              <a:buChar char="l"/>
            </a:pPr>
            <a:endParaRPr lang="zh-CN" altLang="en-US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>
                <a:ea typeface="宋体" panose="02010600030101010101" pitchFamily="2" charset="-122"/>
              </a:rPr>
              <a:t>Linux</a:t>
            </a:r>
            <a:r>
              <a:rPr lang="zh-CN" altLang="en-US" sz="2800">
                <a:ea typeface="宋体" panose="02010600030101010101" pitchFamily="2" charset="-122"/>
              </a:rPr>
              <a:t>提供的解决方法：</a:t>
            </a:r>
            <a:r>
              <a:rPr lang="zh-CN" altLang="en-US" sz="2800">
                <a:solidFill>
                  <a:srgbClr val="FF3300"/>
                </a:solidFill>
                <a:ea typeface="宋体" panose="02010600030101010101" pitchFamily="2" charset="-122"/>
              </a:rPr>
              <a:t>系统调用</a:t>
            </a:r>
          </a:p>
        </p:txBody>
      </p:sp>
    </p:spTree>
    <p:extLst>
      <p:ext uri="{BB962C8B-B14F-4D97-AF65-F5344CB8AC3E}">
        <p14:creationId xmlns:p14="http://schemas.microsoft.com/office/powerpoint/2010/main" val="19002999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609600" y="990600"/>
            <a:ext cx="813752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zh-CN" altLang="en-US" dirty="0">
                <a:ea typeface="宋体" panose="02010600030101010101" pitchFamily="2" charset="-122"/>
              </a:rPr>
              <a:t>系统调用的意义</a:t>
            </a:r>
          </a:p>
        </p:txBody>
      </p:sp>
      <p:sp>
        <p:nvSpPr>
          <p:cNvPr id="14345" name="Rectangle 9"/>
          <p:cNvSpPr>
            <a:spLocks noChangeArrowheads="1"/>
          </p:cNvSpPr>
          <p:nvPr/>
        </p:nvSpPr>
        <p:spPr bwMode="auto">
          <a:xfrm>
            <a:off x="762000" y="1962150"/>
            <a:ext cx="80010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操作系统为用户态进程与硬件设备进行交互提供了一组接口</a:t>
            </a:r>
            <a:r>
              <a:rPr lang="en-US" altLang="zh-CN" sz="2800" dirty="0">
                <a:ea typeface="宋体" panose="02010600030101010101" pitchFamily="2" charset="-122"/>
              </a:rPr>
              <a:t>——</a:t>
            </a:r>
            <a:r>
              <a:rPr lang="zh-CN" altLang="en-US" sz="2800" dirty="0">
                <a:ea typeface="宋体" panose="02010600030101010101" pitchFamily="2" charset="-122"/>
              </a:rPr>
              <a:t>系统调用</a:t>
            </a: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把用户从底层的硬件编程中解放出来</a:t>
            </a: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极大的提高了系统的安全性</a:t>
            </a:r>
          </a:p>
          <a:p>
            <a:pPr lvl="1" algn="l"/>
            <a:r>
              <a:rPr lang="zh-CN" altLang="en-US" dirty="0">
                <a:ea typeface="华文楷体" panose="02010600040101010101" pitchFamily="2" charset="-122"/>
              </a:rPr>
              <a:t>使用户程序具有可移植性</a:t>
            </a:r>
          </a:p>
          <a:p>
            <a:pPr lvl="1" algn="l"/>
            <a:endParaRPr lang="zh-CN" altLang="en-US" dirty="0">
              <a:ea typeface="宋体" panose="02010600030101010101" pitchFamily="2" charset="-122"/>
            </a:endParaRPr>
          </a:p>
          <a:p>
            <a:pPr algn="l"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系统中，系统调用接口，即中断调用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>
              <a:buNone/>
            </a:pP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 0x80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776046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43200"/>
            <a:ext cx="8683625" cy="338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79205" name="Object 5"/>
          <p:cNvGraphicFramePr>
            <a:graphicFrameLocks noGrp="1" noChangeAspect="1"/>
          </p:cNvGraphicFramePr>
          <p:nvPr>
            <p:ph/>
          </p:nvPr>
        </p:nvGraphicFramePr>
        <p:xfrm>
          <a:off x="2209800" y="762000"/>
          <a:ext cx="640080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97755" imgH="1337310" progId="Visio.Drawing.11">
                  <p:embed/>
                </p:oleObj>
              </mc:Choice>
              <mc:Fallback>
                <p:oleObj name="Visio" r:id="rId3" imgW="4897755" imgH="1337310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762000"/>
                        <a:ext cx="640080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7" name="Text Box 7"/>
          <p:cNvSpPr txBox="1">
            <a:spLocks noChangeArrowheads="1"/>
          </p:cNvSpPr>
          <p:nvPr/>
        </p:nvSpPr>
        <p:spPr bwMode="auto">
          <a:xfrm>
            <a:off x="2270125" y="3962400"/>
            <a:ext cx="1006475" cy="33655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</a:rPr>
              <a:t>trap  0</a:t>
            </a:r>
          </a:p>
        </p:txBody>
      </p:sp>
      <p:sp>
        <p:nvSpPr>
          <p:cNvPr id="179208" name="Text Box 8"/>
          <p:cNvSpPr txBox="1">
            <a:spLocks noChangeArrowheads="1"/>
          </p:cNvSpPr>
          <p:nvPr/>
        </p:nvSpPr>
        <p:spPr bwMode="auto">
          <a:xfrm>
            <a:off x="567743" y="97754"/>
            <a:ext cx="2239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FF3300"/>
                </a:solidFill>
                <a:ea typeface="宋体" panose="02010600030101010101" pitchFamily="2" charset="-122"/>
              </a:rPr>
              <a:t>系统调用图解</a:t>
            </a:r>
          </a:p>
        </p:txBody>
      </p:sp>
    </p:spTree>
    <p:extLst>
      <p:ext uri="{BB962C8B-B14F-4D97-AF65-F5344CB8AC3E}">
        <p14:creationId xmlns:p14="http://schemas.microsoft.com/office/powerpoint/2010/main" val="2645917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7772400" cy="533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 dirty="0">
                <a:ea typeface="宋体" panose="02010600030101010101" pitchFamily="2" charset="-122"/>
              </a:rPr>
              <a:t>Linux 2.6 </a:t>
            </a:r>
            <a:r>
              <a:rPr lang="zh-CN" altLang="en-US" sz="2800" dirty="0">
                <a:ea typeface="宋体" panose="02010600030101010101" pitchFamily="2" charset="-122"/>
              </a:rPr>
              <a:t>提供了</a:t>
            </a:r>
            <a:r>
              <a:rPr lang="en-US" altLang="zh-CN" sz="2800" dirty="0">
                <a:ea typeface="宋体" panose="02010600030101010101" pitchFamily="2" charset="-122"/>
              </a:rPr>
              <a:t>300</a:t>
            </a:r>
            <a:r>
              <a:rPr lang="zh-CN" altLang="en-US" sz="2800" dirty="0">
                <a:ea typeface="宋体" panose="02010600030101010101" pitchFamily="2" charset="-122"/>
              </a:rPr>
              <a:t>多个系统调用，用户可以通过这些系统调用，及它们的组合实现对设备的操作。</a:t>
            </a:r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2800" dirty="0">
                <a:ea typeface="宋体" panose="02010600030101010101" pitchFamily="2" charset="-122"/>
              </a:rPr>
              <a:t>通常，应用程序开发并不直接和系统调用打交道，而是用</a:t>
            </a:r>
            <a:r>
              <a:rPr lang="en-US" altLang="zh-CN" sz="2800" dirty="0">
                <a:ea typeface="宋体" panose="02010600030101010101" pitchFamily="2" charset="-122"/>
              </a:rPr>
              <a:t>C</a:t>
            </a:r>
            <a:r>
              <a:rPr lang="zh-CN" altLang="en-US" sz="2800" dirty="0">
                <a:ea typeface="宋体" panose="02010600030101010101" pitchFamily="2" charset="-122"/>
              </a:rPr>
              <a:t>库提供的一层包装函数。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如，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malloc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() 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() </a:t>
            </a:r>
            <a:r>
              <a:rPr lang="en-US" altLang="zh-CN" sz="2800" dirty="0">
                <a:solidFill>
                  <a:srgbClr val="FF33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 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内核函数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en-US" altLang="zh-CN" sz="2800" dirty="0" err="1">
                <a:latin typeface="华文楷体" panose="02010600040101010101" pitchFamily="2" charset="-122"/>
                <a:ea typeface="华文楷体" panose="02010600040101010101" pitchFamily="2" charset="-122"/>
              </a:rPr>
              <a:t>sys_brk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45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号系统调用</a:t>
            </a: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, C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库中它的系统调用方式可能是：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zh-CN" altLang="en-US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>
                <a:ea typeface="宋体" panose="02010600030101010101" pitchFamily="2" charset="-122"/>
              </a:rPr>
              <a:t>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</a:t>
            </a:r>
            <a:r>
              <a:rPr lang="en-US" altLang="zh-CN" sz="2800" dirty="0" err="1">
                <a:ea typeface="宋体" panose="02010600030101010101" pitchFamily="2" charset="-122"/>
              </a:rPr>
              <a:t>movi</a:t>
            </a:r>
            <a:r>
              <a:rPr lang="en-US" altLang="zh-CN" sz="2800" dirty="0">
                <a:ea typeface="宋体" panose="02010600030101010101" pitchFamily="2" charset="-122"/>
              </a:rPr>
              <a:t>   r1, 45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trap   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      …</a:t>
            </a:r>
          </a:p>
        </p:txBody>
      </p:sp>
    </p:spTree>
    <p:extLst>
      <p:ext uri="{BB962C8B-B14F-4D97-AF65-F5344CB8AC3E}">
        <p14:creationId xmlns:p14="http://schemas.microsoft.com/office/powerpoint/2010/main" val="26208813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76250"/>
            <a:ext cx="8420100" cy="75088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内核中设备驱动的层次</a:t>
            </a:r>
          </a:p>
        </p:txBody>
      </p:sp>
      <p:graphicFrame>
        <p:nvGraphicFramePr>
          <p:cNvPr id="6147" name="Object 4"/>
          <p:cNvGraphicFramePr>
            <a:graphicFrameLocks noChangeAspect="1"/>
          </p:cNvGraphicFramePr>
          <p:nvPr/>
        </p:nvGraphicFramePr>
        <p:xfrm>
          <a:off x="381000" y="1371600"/>
          <a:ext cx="8382000" cy="543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76190" imgH="3982006" progId="Paint.Picture">
                  <p:embed/>
                </p:oleObj>
              </mc:Choice>
              <mc:Fallback>
                <p:oleObj r:id="rId2" imgW="6676190" imgH="398200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371600"/>
                        <a:ext cx="8382000" cy="543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1524000" y="4648200"/>
            <a:ext cx="1867580" cy="50641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1752600" y="3000374"/>
            <a:ext cx="4495800" cy="630238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-128"/>
              <a:cs typeface="ヒラギノ角ゴ ProN W3" charset="-128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540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90" name="Rectangle 6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虚拟文件系统 </a:t>
            </a:r>
            <a:r>
              <a:rPr lang="en-US" altLang="zh-CN" sz="3600">
                <a:ea typeface="宋体" panose="02010600030101010101" pitchFamily="2" charset="-122"/>
              </a:rPr>
              <a:t>Virtual Filesystem Switch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81200"/>
            <a:ext cx="7696200" cy="3810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VFS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是一个软件层，是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用户应用程序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zh-CN" altLang="en-US" sz="280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具体文件系统实现</a:t>
            </a:r>
            <a:r>
              <a:rPr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之间的抽象层</a:t>
            </a:r>
            <a:r>
              <a:rPr lang="zh-CN" altLang="en-US" sz="280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对用户界面：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一组标准的、抽象的文件操作，以系统调用提供，如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read()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write()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open()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等。</a:t>
            </a: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对具体文件系统界面：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主体是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file_operations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结构，全是函数指针，提供函数跳转表。</a:t>
            </a:r>
          </a:p>
        </p:txBody>
      </p:sp>
    </p:spTree>
    <p:extLst>
      <p:ext uri="{BB962C8B-B14F-4D97-AF65-F5344CB8AC3E}">
        <p14:creationId xmlns:p14="http://schemas.microsoft.com/office/powerpoint/2010/main" val="2640127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8153400" cy="11430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VFS</a:t>
            </a:r>
            <a:r>
              <a:rPr lang="zh-CN" altLang="en-US" sz="3600">
                <a:ea typeface="宋体" panose="02010600030101010101" pitchFamily="2" charset="-122"/>
              </a:rPr>
              <a:t>在一个简单文件复制操作中的作用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2800">
                <a:ea typeface="宋体" panose="02010600030101010101" pitchFamily="2" charset="-122"/>
              </a:rPr>
              <a:t>假设用户输入</a:t>
            </a:r>
            <a:r>
              <a:rPr lang="en-US" altLang="zh-CN" sz="2800">
                <a:ea typeface="宋体" panose="02010600030101010101" pitchFamily="2" charset="-122"/>
              </a:rPr>
              <a:t>shell</a:t>
            </a:r>
            <a:r>
              <a:rPr lang="zh-CN" altLang="en-US" sz="2800">
                <a:ea typeface="宋体" panose="02010600030101010101" pitchFamily="2" charset="-122"/>
              </a:rPr>
              <a:t>命令：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$ cp   /floppy/TEST   /tmp/test </a:t>
            </a:r>
          </a:p>
          <a:p>
            <a:pPr lvl="1"/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在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cp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命令中，它通过</a:t>
            </a:r>
            <a:r>
              <a:rPr lang="en-US" altLang="zh-CN">
                <a:latin typeface="华文楷体" panose="02010600040101010101" pitchFamily="2" charset="-122"/>
                <a:ea typeface="华文楷体" panose="02010600040101010101" pitchFamily="2" charset="-122"/>
              </a:rPr>
              <a:t>VFS</a:t>
            </a:r>
            <a:r>
              <a:rPr lang="zh-CN" altLang="en-US">
                <a:latin typeface="华文楷体" panose="02010600040101010101" pitchFamily="2" charset="-122"/>
                <a:ea typeface="华文楷体" panose="02010600040101010101" pitchFamily="2" charset="-122"/>
              </a:rPr>
              <a:t>提供的系统调用接口进行文件操作。</a:t>
            </a:r>
          </a:p>
        </p:txBody>
      </p:sp>
      <p:pic>
        <p:nvPicPr>
          <p:cNvPr id="68613" name="Picture 5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048000"/>
            <a:ext cx="6248400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980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Linux</a:t>
            </a:r>
            <a:r>
              <a:rPr lang="zh-CN" altLang="en-US"/>
              <a:t>系统中的设备文件</a:t>
            </a:r>
          </a:p>
        </p:txBody>
      </p:sp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 lvl="1">
              <a:buFont typeface="Wingdings" pitchFamily="2" charset="2"/>
              <a:buNone/>
              <a:defRPr/>
            </a:pPr>
            <a:r>
              <a:rPr lang="en-US" altLang="zh-CN" sz="3200">
                <a:latin typeface="宋体" pitchFamily="2" charset="-122"/>
              </a:rPr>
              <a:t>Linux</a:t>
            </a:r>
            <a:r>
              <a:rPr lang="zh-CN" altLang="en-US" sz="3200">
                <a:latin typeface="宋体" pitchFamily="2" charset="-122"/>
              </a:rPr>
              <a:t>将所有外部设备看成是一类特殊文件，称之为</a:t>
            </a:r>
            <a:r>
              <a:rPr lang="zh-CN" altLang="en-US" sz="3200"/>
              <a:t>“</a:t>
            </a:r>
            <a:r>
              <a:rPr lang="zh-CN" altLang="en-US" sz="3200">
                <a:latin typeface="宋体" pitchFamily="2" charset="-122"/>
              </a:rPr>
              <a:t>设备文件</a:t>
            </a:r>
            <a:r>
              <a:rPr lang="zh-CN" altLang="en-US" sz="3200"/>
              <a:t>”</a:t>
            </a:r>
            <a:r>
              <a:rPr lang="zh-CN" altLang="en-US" sz="3200">
                <a:latin typeface="宋体" pitchFamily="2" charset="-122"/>
              </a:rPr>
              <a:t>，如果说系统调用是</a:t>
            </a:r>
            <a:r>
              <a:rPr lang="en-US" altLang="zh-CN" sz="3200">
                <a:latin typeface="宋体" pitchFamily="2" charset="-122"/>
              </a:rPr>
              <a:t>Linux</a:t>
            </a:r>
            <a:r>
              <a:rPr lang="zh-CN" altLang="en-US" sz="3200">
                <a:latin typeface="宋体" pitchFamily="2" charset="-122"/>
              </a:rPr>
              <a:t>内核和应用程序之间的接口，那么设备驱动程序则可以看成是</a:t>
            </a:r>
            <a:r>
              <a:rPr lang="en-US" altLang="zh-CN" sz="3200">
                <a:latin typeface="宋体" pitchFamily="2" charset="-122"/>
              </a:rPr>
              <a:t>Linux</a:t>
            </a:r>
            <a:r>
              <a:rPr lang="zh-CN" altLang="en-US" sz="3200">
                <a:latin typeface="宋体" pitchFamily="2" charset="-122"/>
              </a:rPr>
              <a:t>内核与外部设备之间的接口。设备驱动程序向应用程序屏蔽了硬件在实现上的细节，使得应用程序可以像操作普通文件一样来操作外部设备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36292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00250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" y="2590800"/>
            <a:ext cx="9047895" cy="31484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4" y="352015"/>
            <a:ext cx="9210335" cy="2000250"/>
          </a:xfrm>
          <a:prstGeom prst="rect">
            <a:avLst/>
          </a:prstGeom>
        </p:spPr>
      </p:pic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字符设备程序之间关系示意图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084945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415338" cy="418147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tty_io.c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程序中包含</a:t>
            </a:r>
            <a:r>
              <a:rPr lang="en-US" altLang="zh-CN" dirty="0" err="1"/>
              <a:t>tty</a:t>
            </a:r>
            <a:r>
              <a:rPr lang="zh-CN" altLang="en-US" dirty="0"/>
              <a:t>字符设备读函数</a:t>
            </a:r>
            <a:r>
              <a:rPr lang="en-US" altLang="zh-CN" dirty="0" err="1"/>
              <a:t>tty_read</a:t>
            </a:r>
            <a:r>
              <a:rPr lang="en-US" altLang="zh-CN" dirty="0"/>
              <a:t>()</a:t>
            </a:r>
            <a:r>
              <a:rPr lang="zh-CN" altLang="en-US" dirty="0"/>
              <a:t>函数和写函数</a:t>
            </a:r>
            <a:r>
              <a:rPr lang="en-US" altLang="zh-CN" dirty="0" err="1"/>
              <a:t>tty_write</a:t>
            </a:r>
            <a:r>
              <a:rPr lang="en-US" altLang="zh-CN" dirty="0"/>
              <a:t>(),</a:t>
            </a:r>
            <a:r>
              <a:rPr lang="zh-CN" altLang="en-US" dirty="0"/>
              <a:t>为文件系统提供了上层访问接口。</a:t>
            </a: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console.c</a:t>
            </a:r>
            <a:r>
              <a:rPr lang="zh-CN" altLang="en-US" dirty="0"/>
              <a:t>文件主要包含控制台初始化程序和控制台写函数</a:t>
            </a:r>
            <a:r>
              <a:rPr lang="en-US" altLang="zh-CN" dirty="0" err="1"/>
              <a:t>con_write</a:t>
            </a:r>
            <a:r>
              <a:rPr lang="en-US" altLang="zh-CN" dirty="0"/>
              <a:t>()</a:t>
            </a:r>
            <a:r>
              <a:rPr lang="zh-CN" altLang="en-US" dirty="0"/>
              <a:t> 。</a:t>
            </a: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rs_io.s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汇编程序用于实现两个串行接口的中断处理程序。</a:t>
            </a: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serial.c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/>
              <a:t>用于对异步串行通信芯片</a:t>
            </a:r>
            <a:r>
              <a:rPr lang="en-US" altLang="zh-CN" dirty="0"/>
              <a:t>UART</a:t>
            </a:r>
            <a:r>
              <a:rPr lang="zh-CN" altLang="en-US" dirty="0"/>
              <a:t>进行初始化操作。</a:t>
            </a: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keyboard.s</a:t>
            </a:r>
            <a:r>
              <a:rPr lang="zh-CN" altLang="en-US" dirty="0"/>
              <a:t>程序主要实现了键盘中断处理过程</a:t>
            </a:r>
            <a:r>
              <a:rPr lang="en-US" altLang="zh-CN" dirty="0" err="1"/>
              <a:t>keyboard_interrupt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err="1">
                <a:solidFill>
                  <a:srgbClr val="FF0000"/>
                </a:solidFill>
              </a:rPr>
              <a:t>tty_ioctl.c</a:t>
            </a:r>
            <a:r>
              <a:rPr lang="zh-CN" altLang="en-US" dirty="0"/>
              <a:t>程序实现了</a:t>
            </a:r>
            <a:r>
              <a:rPr lang="en-US" altLang="zh-CN" dirty="0" err="1"/>
              <a:t>tty</a:t>
            </a:r>
            <a:r>
              <a:rPr lang="zh-CN" altLang="en-US" dirty="0"/>
              <a:t>的</a:t>
            </a:r>
            <a:r>
              <a:rPr lang="en-US" altLang="zh-CN" dirty="0"/>
              <a:t>IO</a:t>
            </a:r>
            <a:r>
              <a:rPr lang="zh-CN" altLang="en-US" dirty="0"/>
              <a:t>控制接口函数</a:t>
            </a:r>
            <a:r>
              <a:rPr lang="en-US" altLang="zh-CN" dirty="0" err="1"/>
              <a:t>tty_ioctl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55696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控制台键盘中断处理程序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86" y="458676"/>
            <a:ext cx="8533942" cy="44259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392312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4393" y="1793765"/>
            <a:ext cx="8686800" cy="3090863"/>
          </a:xfrm>
        </p:spPr>
        <p:txBody>
          <a:bodyPr/>
          <a:lstStyle/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kumimoji="0" lang="en-US" altLang="zh-CN" dirty="0"/>
          </a:p>
          <a:p>
            <a:pPr eaLnBrk="1" hangingPunct="1"/>
            <a:endParaRPr kumimoji="0" lang="zh-CN" altLang="en-US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3200400" y="4884626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XT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键盘扫描码表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17984"/>
            <a:ext cx="9296400" cy="26424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078547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81000"/>
            <a:ext cx="8489034" cy="4953000"/>
          </a:xfrm>
          <a:prstGeom prst="rect">
            <a:avLst/>
          </a:prstGeom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710992" y="53340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控制台终端字符缓冲队列以及函数和程序之间的关系</a:t>
            </a:r>
          </a:p>
        </p:txBody>
      </p:sp>
    </p:spTree>
    <p:extLst>
      <p:ext uri="{BB962C8B-B14F-4D97-AF65-F5344CB8AC3E}">
        <p14:creationId xmlns:p14="http://schemas.microsoft.com/office/powerpoint/2010/main" val="3490856738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演示实验功能演示：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通过修改驱动程序：当键盘按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健，字母显示变为*，再按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，复原。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参考书目：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内核完全注释（电子版）：第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10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章字符设备驱动（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P417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）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111139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609600"/>
            <a:ext cx="77724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代码修改：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、一个全局变量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，每按一次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，就将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f12Flag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的值改变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key_table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，可知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F1~F12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的扫描码用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func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处理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2984732"/>
            <a:ext cx="6477000" cy="280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1488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代码修改：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3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、查看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func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2149341"/>
            <a:ext cx="5807710" cy="197947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128811"/>
            <a:ext cx="4876800" cy="232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7135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026920" y="533400"/>
            <a:ext cx="483108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1678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4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、若将更改后的字符回显，则更改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console.c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con_write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即可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2159000"/>
            <a:ext cx="6858000" cy="11938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3561080"/>
            <a:ext cx="6858000" cy="1925320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62377" y="514858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5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、即将字符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在写到内存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pos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处前，将其更改为*即可即可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594419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1066800"/>
            <a:ext cx="54102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97438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、若要将更改后的字符写入文件，则要更改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kernel/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chr_drv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/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tty_io.c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copy_to_cooked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()</a:t>
            </a: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由它来决定是把字符回显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还是把字符放入辅助队列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-&gt;secondary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中的，而这个辅助队列中的东西是会写入文件中的</a:t>
            </a:r>
          </a:p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2971800"/>
            <a:ext cx="5410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5466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95316" y="3733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7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控制回显， 若不回显，则在写入缓冲队列前将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更改为*，若回显，在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L_ECHO(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tty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)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中将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更改为*为非必需，按照第五步输出前更改即可</a:t>
            </a: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595316" y="838200"/>
            <a:ext cx="717708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14333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33400" y="1066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操作步骤：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905000"/>
            <a:ext cx="784375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34323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1000" y="25908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操作步骤：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zh-CN" sz="2400" dirty="0"/>
              <a:t>安装</a:t>
            </a:r>
            <a:r>
              <a:rPr lang="en-US" altLang="zh-CN" sz="2400" dirty="0"/>
              <a:t>gcc-3.4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gcc-3.4-base_3.4.6-6ubuntu3_i386.deb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http://old-releases.ubuntu.com/ubuntu/pool/universe/g/gcc-3.4/cpp-3.4_3.4.6-6ubuntu3_i386.deb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cpp-3.4_3.4.6-6ubuntu3_i386.deb 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http://old-releases.ubuntu.com/ubuntu/pool/universe/g/gcc-3.4/gcc-3.4_3.4.6-6ubuntu3_i386.deb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gcc-3.4_3.4.6-6ubuntu3_i386.deb</a:t>
            </a:r>
            <a:endParaRPr lang="zh-CN" altLang="zh-CN" sz="2400" dirty="0"/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461629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457200" y="243840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http://old-releases.ubuntu.com/ubuntu/pool/universe/g/gcc-3.4/libstdc++6-dev_3.4.6-6ubuntu3_i386.deb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--force-depends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libstdc</a:t>
            </a:r>
            <a:r>
              <a:rPr lang="en-US" altLang="zh-CN" sz="2400" dirty="0"/>
              <a:t>++6-dev_3.4.6-6ubuntu3_i386.deb</a:t>
            </a:r>
            <a:endParaRPr lang="zh-CN" altLang="zh-CN" sz="2400" dirty="0"/>
          </a:p>
          <a:p>
            <a:r>
              <a:rPr lang="en-US" altLang="zh-CN" sz="2400" dirty="0" err="1"/>
              <a:t>wget</a:t>
            </a:r>
            <a:r>
              <a:rPr lang="en-US" altLang="zh-CN" sz="2400" dirty="0"/>
              <a:t> http://old-releases.ubuntu.com/ubuntu/pool/universe/g/gcc-3.4/g++-3.4_3.4.6-6ubuntu3_i386.deb</a:t>
            </a:r>
            <a:endParaRPr lang="zh-CN" altLang="zh-CN" sz="2400" dirty="0"/>
          </a:p>
          <a:p>
            <a:r>
              <a:rPr lang="en-US" altLang="zh-CN" sz="2400" dirty="0" err="1"/>
              <a:t>sudo</a:t>
            </a:r>
            <a:r>
              <a:rPr lang="en-US" altLang="zh-CN" sz="2400" dirty="0"/>
              <a:t> </a:t>
            </a:r>
            <a:r>
              <a:rPr lang="en-US" altLang="zh-CN" sz="2400" dirty="0" err="1"/>
              <a:t>dpkg</a:t>
            </a:r>
            <a:r>
              <a:rPr lang="en-US" altLang="zh-CN" sz="2400" dirty="0"/>
              <a:t> -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g++-3.4_3.4.6-6ubuntu3_i386.deb</a:t>
            </a:r>
            <a:endParaRPr lang="zh-CN" altLang="zh-CN" sz="2400" dirty="0"/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739466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拷贝文件：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91" y="939800"/>
            <a:ext cx="8740239" cy="914400"/>
          </a:xfrm>
          <a:prstGeom prst="rect">
            <a:avLst/>
          </a:prstGeom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64085" y="3657600"/>
            <a:ext cx="7772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*解压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linux-0.11.tar.gz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到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linux-0.11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目录，执行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 all,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重新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前先执行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 clean</a:t>
            </a: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*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进入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oslab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 ,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按键观察效果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*修改源文件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keyboard.s;console.c;tty_io.c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，再次编译，然后进入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oslab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目录执行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，根据实验目的观察实验效果。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注：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./run 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init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可把修改文件回复初始状态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 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、前述执行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make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的过程中，如果提示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as86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。。。错   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    </a:t>
            </a:r>
            <a:r>
              <a:rPr lang="zh-CN" altLang="en-US" sz="2400" kern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误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信息，请先输入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as86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按提示信息安装工具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7639944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743200" y="5486400"/>
            <a:ext cx="41148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endParaRPr lang="zh-CN" altLang="en-US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6248" y="0"/>
            <a:ext cx="7772400" cy="109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实验任务：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57200" y="1612900"/>
            <a:ext cx="8153400" cy="387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charset="-128"/>
                <a:cs typeface="ヒラギノ角ゴ ProN W6" charset="-128"/>
                <a:sym typeface="Calibri Bold" charset="0"/>
              </a:defRPr>
            </a:lvl9pPr>
          </a:lstStyle>
          <a:p>
            <a:r>
              <a:rPr lang="zh-CN" altLang="en-US" b="1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任务</a:t>
            </a:r>
            <a:r>
              <a:rPr lang="en-US" altLang="zh-CN" b="1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）键入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，激活*功能，键入学生姓名，将名字首末字母以及名字中包含首末字幕单词修改为*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	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比如：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zhangsan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，显示为：*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ha*</a:t>
            </a:r>
            <a:r>
              <a:rPr lang="en-US" altLang="zh-CN" sz="2400" kern="0" dirty="0" err="1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gsa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*</a:t>
            </a: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）再次键入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F12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，取消该功能，正常显示。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zh-CN" altLang="en-US" b="1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任务</a:t>
            </a:r>
            <a:r>
              <a:rPr lang="en-US" altLang="zh-CN" b="1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1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）键入“学号”，激活*功能，键入学生姓名，将名字首末字母以及名字中包含首末字幕单词修改为*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  <a:p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2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）键入“学号</a:t>
            </a:r>
            <a:r>
              <a:rPr lang="en-US" altLang="zh-CN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-</a:t>
            </a:r>
            <a:r>
              <a:rPr lang="zh-CN" altLang="en-US" sz="2400" kern="0" dirty="0">
                <a:solidFill>
                  <a:srgbClr val="FF0000"/>
                </a:solidFill>
                <a:latin typeface="方正大标宋简体" charset="-122"/>
                <a:ea typeface="方正大标宋简体" charset="-122"/>
              </a:rPr>
              <a:t>”，取消该功能，正常显示。</a:t>
            </a:r>
            <a:endParaRPr lang="en-US" altLang="zh-CN" sz="2400" kern="0" dirty="0">
              <a:solidFill>
                <a:srgbClr val="FF0000"/>
              </a:solidFill>
              <a:latin typeface="方正大标宋简体" charset="-122"/>
              <a:ea typeface="方正大标宋简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002032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2"/>
</p:tagLst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-128"/>
            <a:cs typeface="ヒラギノ角ゴ ProN W3" charset="-128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13349</TotalTime>
  <Pages>0</Pages>
  <Words>1910</Words>
  <Characters>0</Characters>
  <Application>Microsoft Office PowerPoint</Application>
  <PresentationFormat>全屏显示(4:3)</PresentationFormat>
  <Lines>0</Lines>
  <Paragraphs>139</Paragraphs>
  <Slides>38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Gill Sans</vt:lpstr>
      <vt:lpstr>方正大标宋简体</vt:lpstr>
      <vt:lpstr>方正楷体简体</vt:lpstr>
      <vt:lpstr>华文楷体</vt:lpstr>
      <vt:lpstr>华文行楷</vt:lpstr>
      <vt:lpstr>宋体</vt:lpstr>
      <vt:lpstr>Calibri</vt:lpstr>
      <vt:lpstr>Calibri Bold</vt:lpstr>
      <vt:lpstr>Times New Roman</vt:lpstr>
      <vt:lpstr>Wingdings</vt:lpstr>
      <vt:lpstr>Wingdings 2</vt:lpstr>
      <vt:lpstr>Title Slide</vt:lpstr>
      <vt:lpstr>Title and Content</vt:lpstr>
      <vt:lpstr>Visio</vt:lpstr>
      <vt:lpstr>Paintbrush Picture</vt:lpstr>
      <vt:lpstr>PowerPoint 演示文稿</vt:lpstr>
      <vt:lpstr>Linux操作系统</vt:lpstr>
      <vt:lpstr>Linux内核</vt:lpstr>
      <vt:lpstr>Linux内核</vt:lpstr>
      <vt:lpstr>Linux内核</vt:lpstr>
      <vt:lpstr>Linux内核版本</vt:lpstr>
      <vt:lpstr>实验采用Linux内核版本Linux-0.11？</vt:lpstr>
      <vt:lpstr>使用tar命令将linux-0.11.tar.gz解压时，结构如下</vt:lpstr>
      <vt:lpstr>PowerPoint 演示文稿</vt:lpstr>
      <vt:lpstr>PowerPoint 演示文稿</vt:lpstr>
      <vt:lpstr>内核空间与用户空间</vt:lpstr>
      <vt:lpstr>PowerPoint 演示文稿</vt:lpstr>
      <vt:lpstr> 用户程序如何同设备打交道？</vt:lpstr>
      <vt:lpstr>PowerPoint 演示文稿</vt:lpstr>
      <vt:lpstr>PowerPoint 演示文稿</vt:lpstr>
      <vt:lpstr>PowerPoint 演示文稿</vt:lpstr>
      <vt:lpstr>内核中设备驱动的层次</vt:lpstr>
      <vt:lpstr>虚拟文件系统 Virtual Filesystem Switch</vt:lpstr>
      <vt:lpstr>VFS在一个简单文件复制操作中的作用</vt:lpstr>
      <vt:lpstr>Linux系统中的设备文件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 1st Lecture, Jan. 12th</dc:title>
  <dc:creator>Markus Pueschel</dc:creator>
  <dc:description>Redesign of slides created by Randal E. Bryant and David R. O'Hallaron</dc:description>
  <cp:lastModifiedBy>文斌 姚</cp:lastModifiedBy>
  <cp:revision>297</cp:revision>
  <cp:lastPrinted>2011-08-30T03:47:10Z</cp:lastPrinted>
  <dcterms:created xsi:type="dcterms:W3CDTF">2012-08-28T17:04:18Z</dcterms:created>
  <dcterms:modified xsi:type="dcterms:W3CDTF">2025-12-01T02:48:55Z</dcterms:modified>
</cp:coreProperties>
</file>